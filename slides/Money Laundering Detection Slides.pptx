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325" r:id="rId2"/>
    <p:sldId id="262" r:id="rId3"/>
    <p:sldId id="327" r:id="rId4"/>
    <p:sldId id="333" r:id="rId5"/>
    <p:sldId id="353" r:id="rId6"/>
    <p:sldId id="403" r:id="rId7"/>
    <p:sldId id="381" r:id="rId8"/>
    <p:sldId id="383" r:id="rId9"/>
    <p:sldId id="328" r:id="rId10"/>
    <p:sldId id="384" r:id="rId11"/>
    <p:sldId id="376" r:id="rId12"/>
    <p:sldId id="329" r:id="rId13"/>
    <p:sldId id="377" r:id="rId14"/>
    <p:sldId id="330" r:id="rId15"/>
    <p:sldId id="385" r:id="rId16"/>
    <p:sldId id="394" r:id="rId17"/>
    <p:sldId id="395" r:id="rId18"/>
    <p:sldId id="390" r:id="rId19"/>
    <p:sldId id="364" r:id="rId20"/>
    <p:sldId id="386" r:id="rId21"/>
    <p:sldId id="387" r:id="rId22"/>
    <p:sldId id="388" r:id="rId23"/>
    <p:sldId id="389" r:id="rId24"/>
    <p:sldId id="396" r:id="rId25"/>
    <p:sldId id="397" r:id="rId26"/>
    <p:sldId id="368" r:id="rId27"/>
    <p:sldId id="398" r:id="rId28"/>
    <p:sldId id="401" r:id="rId29"/>
    <p:sldId id="402" r:id="rId30"/>
    <p:sldId id="399" r:id="rId31"/>
    <p:sldId id="400" r:id="rId32"/>
    <p:sldId id="331" r:id="rId33"/>
    <p:sldId id="378" r:id="rId34"/>
    <p:sldId id="37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2D22BE1-5288-41C1-902B-47565AFE8463}">
          <p14:sldIdLst>
            <p14:sldId id="325"/>
            <p14:sldId id="262"/>
            <p14:sldId id="327"/>
            <p14:sldId id="333"/>
            <p14:sldId id="353"/>
            <p14:sldId id="403"/>
            <p14:sldId id="381"/>
            <p14:sldId id="383"/>
            <p14:sldId id="328"/>
            <p14:sldId id="384"/>
            <p14:sldId id="376"/>
            <p14:sldId id="329"/>
            <p14:sldId id="377"/>
            <p14:sldId id="330"/>
            <p14:sldId id="385"/>
            <p14:sldId id="394"/>
            <p14:sldId id="395"/>
            <p14:sldId id="390"/>
            <p14:sldId id="364"/>
            <p14:sldId id="386"/>
            <p14:sldId id="387"/>
            <p14:sldId id="388"/>
            <p14:sldId id="389"/>
            <p14:sldId id="396"/>
            <p14:sldId id="397"/>
            <p14:sldId id="368"/>
            <p14:sldId id="398"/>
            <p14:sldId id="401"/>
            <p14:sldId id="402"/>
            <p14:sldId id="399"/>
            <p14:sldId id="400"/>
            <p14:sldId id="331"/>
            <p14:sldId id="378"/>
            <p14:sldId id="37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6C1D3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780" autoAdjust="0"/>
  </p:normalViewPr>
  <p:slideViewPr>
    <p:cSldViewPr snapToGrid="0">
      <p:cViewPr varScale="1">
        <p:scale>
          <a:sx n="71" d="100"/>
          <a:sy n="71" d="100"/>
        </p:scale>
        <p:origin x="1061" y="4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A509BF-53EE-4D84-844F-BEC1430829BC}" type="datetimeFigureOut">
              <a:rPr lang="en-US" smtClean="0"/>
              <a:t>1/21/2026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2B6879-5321-45FF-A6AE-E6B1BB62CBAD}" type="slidenum">
              <a:rPr lang="en-US" smtClean="0"/>
              <a:t>‹#›</a:t>
            </a:fld>
            <a:endParaRPr lang="en-US"/>
          </a:p>
        </p:txBody>
      </p:sp>
    </p:spTree>
    <p:extLst>
      <p:ext uri="{BB962C8B-B14F-4D97-AF65-F5344CB8AC3E}">
        <p14:creationId xmlns:p14="http://schemas.microsoft.com/office/powerpoint/2010/main" val="3381741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092B6879-5321-45FF-A6AE-E6B1BB62CBAD}" type="slidenum">
              <a:rPr lang="en-US" smtClean="0"/>
              <a:t>1</a:t>
            </a:fld>
            <a:endParaRPr lang="en-US"/>
          </a:p>
        </p:txBody>
      </p:sp>
    </p:spTree>
    <p:extLst>
      <p:ext uri="{BB962C8B-B14F-4D97-AF65-F5344CB8AC3E}">
        <p14:creationId xmlns:p14="http://schemas.microsoft.com/office/powerpoint/2010/main" val="19652701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Money laundering is a serious global issue linked to crimes like fraud and drug trafficking, and with evolving techniques, traditional rule-based systems are no longer sufficient — creating a need for machine learning in AML efforts.</a:t>
            </a:r>
            <a:endParaRPr lang="en-MY" dirty="0"/>
          </a:p>
        </p:txBody>
      </p:sp>
      <p:sp>
        <p:nvSpPr>
          <p:cNvPr id="4" name="Slide Number Placeholder 3"/>
          <p:cNvSpPr>
            <a:spLocks noGrp="1"/>
          </p:cNvSpPr>
          <p:nvPr>
            <p:ph type="sldNum" sz="quarter" idx="5"/>
          </p:nvPr>
        </p:nvSpPr>
        <p:spPr/>
        <p:txBody>
          <a:bodyPr/>
          <a:lstStyle/>
          <a:p>
            <a:fld id="{092B6879-5321-45FF-A6AE-E6B1BB62CBAD}" type="slidenum">
              <a:rPr lang="en-US" smtClean="0"/>
              <a:t>4</a:t>
            </a:fld>
            <a:endParaRPr lang="en-US"/>
          </a:p>
        </p:txBody>
      </p:sp>
    </p:spTree>
    <p:extLst>
      <p:ext uri="{BB962C8B-B14F-4D97-AF65-F5344CB8AC3E}">
        <p14:creationId xmlns:p14="http://schemas.microsoft.com/office/powerpoint/2010/main" val="796125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2">
          <a:extLst>
            <a:ext uri="{FF2B5EF4-FFF2-40B4-BE49-F238E27FC236}">
              <a16:creationId xmlns:a16="http://schemas.microsoft.com/office/drawing/2014/main" id="{71F92C70-06C7-6F12-6054-E1068C9C8B75}"/>
            </a:ext>
          </a:extLst>
        </p:cNvPr>
        <p:cNvGrpSpPr/>
        <p:nvPr/>
      </p:nvGrpSpPr>
      <p:grpSpPr>
        <a:xfrm>
          <a:off x="0" y="0"/>
          <a:ext cx="0" cy="0"/>
          <a:chOff x="0" y="0"/>
          <a:chExt cx="0" cy="0"/>
        </a:xfrm>
      </p:grpSpPr>
      <p:sp>
        <p:nvSpPr>
          <p:cNvPr id="3963" name="Google Shape;3963;gdf72209481_0_180:notes">
            <a:extLst>
              <a:ext uri="{FF2B5EF4-FFF2-40B4-BE49-F238E27FC236}">
                <a16:creationId xmlns:a16="http://schemas.microsoft.com/office/drawing/2014/main" id="{5B7F693B-38F1-CF11-0B54-8BCC0C16AF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4" name="Google Shape;3964;gdf72209481_0_180:notes">
            <a:extLst>
              <a:ext uri="{FF2B5EF4-FFF2-40B4-BE49-F238E27FC236}">
                <a16:creationId xmlns:a16="http://schemas.microsoft.com/office/drawing/2014/main" id="{0D0656B6-5959-6466-60F6-7810EB7CBA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Globally, trillions of dollars are laundered each year, but existing systems generate many false positives, overwhelming investigators, which is why financial institutions are beginning to adopt machine learning for more reliable detection.</a:t>
            </a:r>
            <a:endParaRPr dirty="0"/>
          </a:p>
        </p:txBody>
      </p:sp>
    </p:spTree>
    <p:extLst>
      <p:ext uri="{BB962C8B-B14F-4D97-AF65-F5344CB8AC3E}">
        <p14:creationId xmlns:p14="http://schemas.microsoft.com/office/powerpoint/2010/main" val="2473914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722C2-6D9E-7080-B1E0-0D3B271643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FB1D45-0FE6-76F2-B66C-9A5F39192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3C040B-FE16-2F9E-4E54-3F800660D23D}"/>
              </a:ext>
            </a:extLst>
          </p:cNvPr>
          <p:cNvSpPr>
            <a:spLocks noGrp="1"/>
          </p:cNvSpPr>
          <p:nvPr>
            <p:ph type="body" idx="1"/>
          </p:nvPr>
        </p:nvSpPr>
        <p:spPr/>
        <p:txBody>
          <a:bodyPr/>
          <a:lstStyle/>
          <a:p>
            <a:r>
              <a:rPr lang="en-US" dirty="0"/>
              <a:t>Manual monitoring is impossible with millions of transactions happening every second, and rule-based systems create too many false positives. The ML promise better accuracy. However, challenges such as lack of access to real datasets and limited interpretability still remain, so there is a strong need to develop intelligent and adaptive machine learning systems that can accurately classify suspicious activities with fewer false alarms.</a:t>
            </a:r>
            <a:endParaRPr lang="en-MY" dirty="0"/>
          </a:p>
        </p:txBody>
      </p:sp>
      <p:sp>
        <p:nvSpPr>
          <p:cNvPr id="4" name="Slide Number Placeholder 3">
            <a:extLst>
              <a:ext uri="{FF2B5EF4-FFF2-40B4-BE49-F238E27FC236}">
                <a16:creationId xmlns:a16="http://schemas.microsoft.com/office/drawing/2014/main" id="{8AA8B886-5ACA-84F6-D73D-D6883CE2067C}"/>
              </a:ext>
            </a:extLst>
          </p:cNvPr>
          <p:cNvSpPr>
            <a:spLocks noGrp="1"/>
          </p:cNvSpPr>
          <p:nvPr>
            <p:ph type="sldNum" sz="quarter" idx="5"/>
          </p:nvPr>
        </p:nvSpPr>
        <p:spPr/>
        <p:txBody>
          <a:bodyPr/>
          <a:lstStyle/>
          <a:p>
            <a:fld id="{092B6879-5321-45FF-A6AE-E6B1BB62CBAD}" type="slidenum">
              <a:rPr lang="en-US" smtClean="0"/>
              <a:t>6</a:t>
            </a:fld>
            <a:endParaRPr lang="en-US"/>
          </a:p>
        </p:txBody>
      </p:sp>
    </p:spTree>
    <p:extLst>
      <p:ext uri="{BB962C8B-B14F-4D97-AF65-F5344CB8AC3E}">
        <p14:creationId xmlns:p14="http://schemas.microsoft.com/office/powerpoint/2010/main" val="1803686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This project used Synthetic Anti-Money Laundering Dataset (SAML-D) that is developed by a research paper and publicly available in Kaggle.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Two supervised machine learning algorithms to classify the suspicious transactions are Random Forest and </a:t>
            </a:r>
            <a:r>
              <a:rPr lang="en-US" sz="1200" b="0" i="0" u="none" strike="noStrike" kern="1200" baseline="0" dirty="0" err="1">
                <a:solidFill>
                  <a:schemeClr val="tx1"/>
                </a:solidFill>
                <a:latin typeface="+mn-lt"/>
                <a:ea typeface="+mn-ea"/>
                <a:cs typeface="+mn-cs"/>
              </a:rPr>
              <a:t>XGBoost</a:t>
            </a:r>
            <a:r>
              <a:rPr lang="en-US" sz="1200" b="0" i="0" u="none" strike="noStrike" kern="1200" baseline="0" dirty="0">
                <a:solidFill>
                  <a:schemeClr val="tx1"/>
                </a:solidFill>
                <a:latin typeface="+mn-lt"/>
                <a:ea typeface="+mn-ea"/>
                <a:cs typeface="+mn-cs"/>
              </a:rPr>
              <a:t>.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Google </a:t>
            </a:r>
            <a:r>
              <a:rPr lang="en-US" sz="1200" b="0" i="0" u="none" strike="noStrike" kern="1200" baseline="0" dirty="0" err="1">
                <a:solidFill>
                  <a:schemeClr val="tx1"/>
                </a:solidFill>
                <a:latin typeface="+mn-lt"/>
                <a:ea typeface="+mn-ea"/>
                <a:cs typeface="+mn-cs"/>
              </a:rPr>
              <a:t>Colab</a:t>
            </a:r>
            <a:r>
              <a:rPr lang="en-US" sz="1200" b="0" i="0" u="none" strike="noStrike" kern="1200" baseline="0" dirty="0">
                <a:solidFill>
                  <a:schemeClr val="tx1"/>
                </a:solidFill>
                <a:latin typeface="+mn-lt"/>
                <a:ea typeface="+mn-ea"/>
                <a:cs typeface="+mn-cs"/>
              </a:rPr>
              <a:t> is the platform used to run the Python code for building the machine learning algorithms. Microsoft Power BI is the data visualization tools to present the insights and findings from the project.</a:t>
            </a:r>
          </a:p>
          <a:p>
            <a:endParaRPr lang="en-US" sz="1200" b="0" i="0" u="none" strike="noStrike" kern="1200" baseline="0" dirty="0">
              <a:solidFill>
                <a:schemeClr val="tx1"/>
              </a:solidFill>
              <a:latin typeface="+mn-lt"/>
              <a:ea typeface="+mn-ea"/>
              <a:cs typeface="+mn-cs"/>
            </a:endParaRPr>
          </a:p>
          <a:p>
            <a:r>
              <a:rPr lang="en-US" dirty="0"/>
              <a:t>This project aims to support financial institutions in fighting money laundering by applying machine learning to improve detection accuracy and efficiency.</a:t>
            </a:r>
          </a:p>
          <a:p>
            <a:r>
              <a:rPr lang="en-US" dirty="0"/>
              <a:t>A well-trained model with a </a:t>
            </a:r>
            <a:r>
              <a:rPr lang="en-US" b="1" dirty="0"/>
              <a:t>low false positive rate</a:t>
            </a:r>
            <a:r>
              <a:rPr lang="en-US" dirty="0"/>
              <a:t> can reduce unnecessary alerts and help enforcement agencies focus on truly suspicious cases.</a:t>
            </a:r>
          </a:p>
          <a:p>
            <a:r>
              <a:rPr lang="en-US" dirty="0"/>
              <a:t>Ultimately, this research contributes to strengthening the integrity of the global financial system through an </a:t>
            </a:r>
            <a:r>
              <a:rPr lang="en-US" b="1" dirty="0"/>
              <a:t>innovative, data-driven approach</a:t>
            </a:r>
            <a:r>
              <a:rPr lang="en-US" dirty="0"/>
              <a:t> to money laundering detection.</a:t>
            </a:r>
          </a:p>
          <a:p>
            <a:endParaRPr lang="en-MY" dirty="0"/>
          </a:p>
        </p:txBody>
      </p:sp>
      <p:sp>
        <p:nvSpPr>
          <p:cNvPr id="4" name="Slide Number Placeholder 3"/>
          <p:cNvSpPr>
            <a:spLocks noGrp="1"/>
          </p:cNvSpPr>
          <p:nvPr>
            <p:ph type="sldNum" sz="quarter" idx="5"/>
          </p:nvPr>
        </p:nvSpPr>
        <p:spPr/>
        <p:txBody>
          <a:bodyPr/>
          <a:lstStyle/>
          <a:p>
            <a:fld id="{092B6879-5321-45FF-A6AE-E6B1BB62CBAD}" type="slidenum">
              <a:rPr lang="en-US" smtClean="0"/>
              <a:t>8</a:t>
            </a:fld>
            <a:endParaRPr lang="en-US"/>
          </a:p>
        </p:txBody>
      </p:sp>
    </p:spTree>
    <p:extLst>
      <p:ext uri="{BB962C8B-B14F-4D97-AF65-F5344CB8AC3E}">
        <p14:creationId xmlns:p14="http://schemas.microsoft.com/office/powerpoint/2010/main" val="21667117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2">
          <a:extLst>
            <a:ext uri="{FF2B5EF4-FFF2-40B4-BE49-F238E27FC236}">
              <a16:creationId xmlns:a16="http://schemas.microsoft.com/office/drawing/2014/main" id="{45A89260-C9AD-4A4C-32CF-7557FF91A482}"/>
            </a:ext>
          </a:extLst>
        </p:cNvPr>
        <p:cNvGrpSpPr/>
        <p:nvPr/>
      </p:nvGrpSpPr>
      <p:grpSpPr>
        <a:xfrm>
          <a:off x="0" y="0"/>
          <a:ext cx="0" cy="0"/>
          <a:chOff x="0" y="0"/>
          <a:chExt cx="0" cy="0"/>
        </a:xfrm>
      </p:grpSpPr>
      <p:sp>
        <p:nvSpPr>
          <p:cNvPr id="1983" name="Google Shape;1983;ge9869f8ffe_0_621:notes">
            <a:extLst>
              <a:ext uri="{FF2B5EF4-FFF2-40B4-BE49-F238E27FC236}">
                <a16:creationId xmlns:a16="http://schemas.microsoft.com/office/drawing/2014/main" id="{839D9028-0C9E-67D8-E0C3-F5CD49A15E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4" name="Google Shape;1984;ge9869f8ffe_0_621:notes">
            <a:extLst>
              <a:ext uri="{FF2B5EF4-FFF2-40B4-BE49-F238E27FC236}">
                <a16:creationId xmlns:a16="http://schemas.microsoft.com/office/drawing/2014/main" id="{48862F87-39C2-326D-895E-7365B3637A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This slide summarizes key previous studies that applied machine learning methods to detect money laundering.</a:t>
            </a:r>
          </a:p>
          <a:p>
            <a:r>
              <a:rPr lang="en-US" dirty="0"/>
              <a:t>The first study by </a:t>
            </a:r>
            <a:r>
              <a:rPr lang="en-US" b="1" dirty="0" err="1"/>
              <a:t>Tundis</a:t>
            </a:r>
            <a:r>
              <a:rPr lang="en-US" b="1" dirty="0"/>
              <a:t> et al. (2021)</a:t>
            </a:r>
            <a:r>
              <a:rPr lang="en-US" dirty="0"/>
              <a:t> used multiple algorithms on the </a:t>
            </a:r>
            <a:r>
              <a:rPr lang="en-US" dirty="0" err="1"/>
              <a:t>PaySim</a:t>
            </a:r>
            <a:r>
              <a:rPr lang="en-US" dirty="0"/>
              <a:t> dataset and found that </a:t>
            </a:r>
            <a:r>
              <a:rPr lang="en-US" b="1" dirty="0"/>
              <a:t>Random Forest</a:t>
            </a:r>
            <a:r>
              <a:rPr lang="en-US" dirty="0"/>
              <a:t> achieved over </a:t>
            </a:r>
            <a:r>
              <a:rPr lang="en-US" b="1" dirty="0"/>
              <a:t>94% accuracy, recall, and F1-score</a:t>
            </a:r>
            <a:r>
              <a:rPr lang="en-US" dirty="0"/>
              <a:t>, with low false positives. They also analyzed which features were most important.</a:t>
            </a:r>
          </a:p>
          <a:p>
            <a:r>
              <a:rPr lang="en-US" b="1" dirty="0"/>
              <a:t>Zhang &amp; Trubey (2019)</a:t>
            </a:r>
            <a:r>
              <a:rPr lang="en-US" dirty="0"/>
              <a:t> worked with real US bank data and showed that </a:t>
            </a:r>
            <a:r>
              <a:rPr lang="en-US" b="1" dirty="0"/>
              <a:t>Artificial Neural Networks</a:t>
            </a:r>
            <a:r>
              <a:rPr lang="en-US" dirty="0"/>
              <a:t> performed best, especially after handling data imbalance.</a:t>
            </a:r>
          </a:p>
          <a:p>
            <a:r>
              <a:rPr lang="en-US" b="1" dirty="0"/>
              <a:t>Reite et al. (2024)</a:t>
            </a:r>
            <a:r>
              <a:rPr lang="en-US" dirty="0"/>
              <a:t> used </a:t>
            </a:r>
            <a:r>
              <a:rPr lang="en-US" b="1" dirty="0" err="1"/>
              <a:t>XGBoost</a:t>
            </a:r>
            <a:r>
              <a:rPr lang="en-US" dirty="0"/>
              <a:t> on real Norwegian SME client data and successfully improved client risk classification while reducing false alarms.</a:t>
            </a:r>
          </a:p>
          <a:p>
            <a:r>
              <a:rPr lang="en-US" dirty="0"/>
              <a:t>Several studies used neural networks. For instance, </a:t>
            </a:r>
            <a:r>
              <a:rPr lang="en-US" b="1" dirty="0"/>
              <a:t>Yang et al. (2023)</a:t>
            </a:r>
            <a:r>
              <a:rPr lang="en-US" dirty="0"/>
              <a:t> focused on Bitcoin-related anomalies, and </a:t>
            </a:r>
            <a:r>
              <a:rPr lang="en-US" b="1" dirty="0"/>
              <a:t>X. Luo et al. (2022)</a:t>
            </a:r>
            <a:r>
              <a:rPr lang="en-US" dirty="0"/>
              <a:t> captured evolving transaction behaviors using law enforcement data. Meanwhile, </a:t>
            </a:r>
            <a:r>
              <a:rPr lang="en-US" b="1" dirty="0"/>
              <a:t>Cheng et al. (2023)</a:t>
            </a:r>
            <a:r>
              <a:rPr lang="en-US" dirty="0"/>
              <a:t> used user transaction graphs from UnionPay to detect organized laundering.</a:t>
            </a:r>
          </a:p>
          <a:p>
            <a:r>
              <a:rPr lang="en-US" dirty="0"/>
              <a:t>Another interesting approach by </a:t>
            </a:r>
            <a:r>
              <a:rPr lang="en-US" b="1" dirty="0"/>
              <a:t>Labanca et al. (2022)</a:t>
            </a:r>
            <a:r>
              <a:rPr lang="en-US" dirty="0"/>
              <a:t>, which combines Random Forest with Isolation Forest in an active learning framework to improve detection and reduce compliance cost.</a:t>
            </a:r>
          </a:p>
          <a:p>
            <a:r>
              <a:rPr lang="en-US" b="1" dirty="0"/>
              <a:t>J. Luo et al. (2024)</a:t>
            </a:r>
            <a:r>
              <a:rPr lang="en-US" dirty="0"/>
              <a:t> used an Edge-Node Fusion method to improve detection at the transaction edge level, while </a:t>
            </a:r>
            <a:r>
              <a:rPr lang="en-US" b="1" dirty="0" err="1"/>
              <a:t>Pambudi</a:t>
            </a:r>
            <a:r>
              <a:rPr lang="en-US" b="1" dirty="0"/>
              <a:t> et al. (2019)</a:t>
            </a:r>
            <a:r>
              <a:rPr lang="en-US" dirty="0"/>
              <a:t> optimized Support Vector Machines, achieving a </a:t>
            </a:r>
            <a:r>
              <a:rPr lang="en-US" b="1" dirty="0"/>
              <a:t>22.8% increase in F1-score</a:t>
            </a:r>
            <a:r>
              <a:rPr lang="en-US" dirty="0"/>
              <a:t> and </a:t>
            </a:r>
            <a:r>
              <a:rPr lang="en-US" b="1" dirty="0"/>
              <a:t>40.8% precision improvement</a:t>
            </a:r>
            <a:r>
              <a:rPr lang="en-US" dirty="0"/>
              <a:t> with data balancing.</a:t>
            </a:r>
          </a:p>
          <a:p>
            <a:r>
              <a:rPr lang="en-US" dirty="0"/>
              <a:t>These studies show the growing potential of machine learning to improve accuracy, reduce false positives, and adapt to complex laundering behaviors.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123406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2">
          <a:extLst>
            <a:ext uri="{FF2B5EF4-FFF2-40B4-BE49-F238E27FC236}">
              <a16:creationId xmlns:a16="http://schemas.microsoft.com/office/drawing/2014/main" id="{4AEEBD45-B899-5A0D-EBB2-6E829E12CCE8}"/>
            </a:ext>
          </a:extLst>
        </p:cNvPr>
        <p:cNvGrpSpPr/>
        <p:nvPr/>
      </p:nvGrpSpPr>
      <p:grpSpPr>
        <a:xfrm>
          <a:off x="0" y="0"/>
          <a:ext cx="0" cy="0"/>
          <a:chOff x="0" y="0"/>
          <a:chExt cx="0" cy="0"/>
        </a:xfrm>
      </p:grpSpPr>
      <p:sp>
        <p:nvSpPr>
          <p:cNvPr id="1983" name="Google Shape;1983;ge9869f8ffe_0_621:notes">
            <a:extLst>
              <a:ext uri="{FF2B5EF4-FFF2-40B4-BE49-F238E27FC236}">
                <a16:creationId xmlns:a16="http://schemas.microsoft.com/office/drawing/2014/main" id="{6439D108-D3E2-DE42-E46D-C05075DF5D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4" name="Google Shape;1984;ge9869f8ffe_0_621:notes">
            <a:extLst>
              <a:ext uri="{FF2B5EF4-FFF2-40B4-BE49-F238E27FC236}">
                <a16:creationId xmlns:a16="http://schemas.microsoft.com/office/drawing/2014/main" id="{E03E8178-306E-F107-1E61-DD0F90CB50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A major limitation in money laundering research is the lack of access to </a:t>
            </a:r>
            <a:r>
              <a:rPr lang="en-US" b="1" dirty="0"/>
              <a:t>real-world transaction data</a:t>
            </a:r>
            <a:r>
              <a:rPr lang="en-US" dirty="0"/>
              <a:t>, due to privacy and security concerns. To address this, our project uses a </a:t>
            </a:r>
            <a:r>
              <a:rPr lang="en-US" b="1" dirty="0"/>
              <a:t>synthetic dataset</a:t>
            </a:r>
            <a:r>
              <a:rPr lang="en-US" dirty="0"/>
              <a:t> that simulates realistic behavior while protecting sensitive information.</a:t>
            </a:r>
          </a:p>
          <a:p>
            <a:r>
              <a:rPr lang="en-US" dirty="0"/>
              <a:t>Another challenge is </a:t>
            </a:r>
            <a:r>
              <a:rPr lang="en-US" b="1" dirty="0"/>
              <a:t>data imbalance</a:t>
            </a:r>
            <a:r>
              <a:rPr lang="en-US" dirty="0"/>
              <a:t>, where suspicious transactions are much fewer than normal ones. This can lead to biased predictions, so we apply techniques which is </a:t>
            </a:r>
            <a:r>
              <a:rPr lang="en-US" b="1" dirty="0"/>
              <a:t>Random Under Sampling</a:t>
            </a:r>
            <a:r>
              <a:rPr lang="en-US" dirty="0"/>
              <a:t> to improve model performance.</a:t>
            </a:r>
          </a:p>
          <a:p>
            <a:r>
              <a:rPr lang="en-US" dirty="0"/>
              <a:t>We also identified a gap in studies involving </a:t>
            </a:r>
            <a:r>
              <a:rPr lang="en-US" b="1" dirty="0"/>
              <a:t>typologies</a:t>
            </a:r>
            <a:r>
              <a:rPr lang="en-US" dirty="0"/>
              <a:t>, as most focus only on behavioral features. This project plan to includes typology feature to enhance detection.</a:t>
            </a:r>
          </a:p>
          <a:p>
            <a:r>
              <a:rPr lang="en-US" dirty="0"/>
              <a:t>Lastly, many models are </a:t>
            </a:r>
            <a:r>
              <a:rPr lang="en-US" b="1" dirty="0"/>
              <a:t>black boxes</a:t>
            </a:r>
            <a:r>
              <a:rPr lang="en-US" dirty="0"/>
              <a:t>—accurate but not explainable. To improve interpretability, plan to integrate </a:t>
            </a:r>
            <a:r>
              <a:rPr lang="en-US" b="1" dirty="0"/>
              <a:t>SHAP</a:t>
            </a:r>
            <a:r>
              <a:rPr lang="en-US" dirty="0"/>
              <a:t> to help understand how the model makes its predictions.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664245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a:extLst>
            <a:ext uri="{FF2B5EF4-FFF2-40B4-BE49-F238E27FC236}">
              <a16:creationId xmlns:a16="http://schemas.microsoft.com/office/drawing/2014/main" id="{12B16E19-907B-0AF3-799F-331C0EFDE42B}"/>
            </a:ext>
          </a:extLst>
        </p:cNvPr>
        <p:cNvGrpSpPr/>
        <p:nvPr/>
      </p:nvGrpSpPr>
      <p:grpSpPr>
        <a:xfrm>
          <a:off x="0" y="0"/>
          <a:ext cx="0" cy="0"/>
          <a:chOff x="0" y="0"/>
          <a:chExt cx="0" cy="0"/>
        </a:xfrm>
      </p:grpSpPr>
      <p:sp>
        <p:nvSpPr>
          <p:cNvPr id="1879" name="Google Shape;1879;gdbfa01cdba_0_25:notes">
            <a:extLst>
              <a:ext uri="{FF2B5EF4-FFF2-40B4-BE49-F238E27FC236}">
                <a16:creationId xmlns:a16="http://schemas.microsoft.com/office/drawing/2014/main" id="{39336BFE-2C89-B517-7EE3-21E47578D4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dbfa01cdba_0_25:notes">
            <a:extLst>
              <a:ext uri="{FF2B5EF4-FFF2-40B4-BE49-F238E27FC236}">
                <a16:creationId xmlns:a16="http://schemas.microsoft.com/office/drawing/2014/main" id="{4D849741-EB13-68E8-2639-A7BB1F3FBD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FontTx/>
              <a:buNone/>
            </a:pPr>
            <a:endParaRPr dirty="0"/>
          </a:p>
        </p:txBody>
      </p:sp>
    </p:spTree>
    <p:extLst>
      <p:ext uri="{BB962C8B-B14F-4D97-AF65-F5344CB8AC3E}">
        <p14:creationId xmlns:p14="http://schemas.microsoft.com/office/powerpoint/2010/main" val="2779284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2">
          <a:extLst>
            <a:ext uri="{FF2B5EF4-FFF2-40B4-BE49-F238E27FC236}">
              <a16:creationId xmlns:a16="http://schemas.microsoft.com/office/drawing/2014/main" id="{ED0ABB3E-0028-21D7-3464-1F65DBAFCB92}"/>
            </a:ext>
          </a:extLst>
        </p:cNvPr>
        <p:cNvGrpSpPr/>
        <p:nvPr/>
      </p:nvGrpSpPr>
      <p:grpSpPr>
        <a:xfrm>
          <a:off x="0" y="0"/>
          <a:ext cx="0" cy="0"/>
          <a:chOff x="0" y="0"/>
          <a:chExt cx="0" cy="0"/>
        </a:xfrm>
      </p:grpSpPr>
      <p:sp>
        <p:nvSpPr>
          <p:cNvPr id="1983" name="Google Shape;1983;ge9869f8ffe_0_621:notes">
            <a:extLst>
              <a:ext uri="{FF2B5EF4-FFF2-40B4-BE49-F238E27FC236}">
                <a16:creationId xmlns:a16="http://schemas.microsoft.com/office/drawing/2014/main" id="{5C7E8B24-8539-7787-6C7D-D8471EE6C3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4" name="Google Shape;1984;ge9869f8ffe_0_621:notes">
            <a:extLst>
              <a:ext uri="{FF2B5EF4-FFF2-40B4-BE49-F238E27FC236}">
                <a16:creationId xmlns:a16="http://schemas.microsoft.com/office/drawing/2014/main" id="{A25B31B2-685E-715A-48E8-340514C939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FontTx/>
              <a:buNone/>
            </a:pPr>
            <a:endParaRPr dirty="0"/>
          </a:p>
        </p:txBody>
      </p:sp>
    </p:spTree>
    <p:extLst>
      <p:ext uri="{BB962C8B-B14F-4D97-AF65-F5344CB8AC3E}">
        <p14:creationId xmlns:p14="http://schemas.microsoft.com/office/powerpoint/2010/main" val="6700455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2">
          <a:extLst>
            <a:ext uri="{FF2B5EF4-FFF2-40B4-BE49-F238E27FC236}">
              <a16:creationId xmlns:a16="http://schemas.microsoft.com/office/drawing/2014/main" id="{F526181E-AF23-947D-DD33-39B0ACBFDAE6}"/>
            </a:ext>
          </a:extLst>
        </p:cNvPr>
        <p:cNvGrpSpPr/>
        <p:nvPr/>
      </p:nvGrpSpPr>
      <p:grpSpPr>
        <a:xfrm>
          <a:off x="0" y="0"/>
          <a:ext cx="0" cy="0"/>
          <a:chOff x="0" y="0"/>
          <a:chExt cx="0" cy="0"/>
        </a:xfrm>
      </p:grpSpPr>
      <p:sp>
        <p:nvSpPr>
          <p:cNvPr id="1983" name="Google Shape;1983;ge9869f8ffe_0_621:notes">
            <a:extLst>
              <a:ext uri="{FF2B5EF4-FFF2-40B4-BE49-F238E27FC236}">
                <a16:creationId xmlns:a16="http://schemas.microsoft.com/office/drawing/2014/main" id="{654904AD-FA55-7860-2B53-C77AEB5E05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4" name="Google Shape;1984;ge9869f8ffe_0_621:notes">
            <a:extLst>
              <a:ext uri="{FF2B5EF4-FFF2-40B4-BE49-F238E27FC236}">
                <a16:creationId xmlns:a16="http://schemas.microsoft.com/office/drawing/2014/main" id="{97823936-6812-2029-8B5B-43F00407DE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600388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2">
          <a:extLst>
            <a:ext uri="{FF2B5EF4-FFF2-40B4-BE49-F238E27FC236}">
              <a16:creationId xmlns:a16="http://schemas.microsoft.com/office/drawing/2014/main" id="{569177A5-491E-D93E-E7D0-00A5EA574D45}"/>
            </a:ext>
          </a:extLst>
        </p:cNvPr>
        <p:cNvGrpSpPr/>
        <p:nvPr/>
      </p:nvGrpSpPr>
      <p:grpSpPr>
        <a:xfrm>
          <a:off x="0" y="0"/>
          <a:ext cx="0" cy="0"/>
          <a:chOff x="0" y="0"/>
          <a:chExt cx="0" cy="0"/>
        </a:xfrm>
      </p:grpSpPr>
      <p:sp>
        <p:nvSpPr>
          <p:cNvPr id="1983" name="Google Shape;1983;ge9869f8ffe_0_621:notes">
            <a:extLst>
              <a:ext uri="{FF2B5EF4-FFF2-40B4-BE49-F238E27FC236}">
                <a16:creationId xmlns:a16="http://schemas.microsoft.com/office/drawing/2014/main" id="{294D64F5-CCE3-270E-EBAD-08EBE14FC1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4" name="Google Shape;1984;ge9869f8ffe_0_621:notes">
            <a:extLst>
              <a:ext uri="{FF2B5EF4-FFF2-40B4-BE49-F238E27FC236}">
                <a16:creationId xmlns:a16="http://schemas.microsoft.com/office/drawing/2014/main" id="{8416DE34-E0B0-E213-8F38-45FC572588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875511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2">
          <a:extLst>
            <a:ext uri="{FF2B5EF4-FFF2-40B4-BE49-F238E27FC236}">
              <a16:creationId xmlns:a16="http://schemas.microsoft.com/office/drawing/2014/main" id="{F928BBBA-615E-345F-C652-E1AA314DE8F3}"/>
            </a:ext>
          </a:extLst>
        </p:cNvPr>
        <p:cNvGrpSpPr/>
        <p:nvPr/>
      </p:nvGrpSpPr>
      <p:grpSpPr>
        <a:xfrm>
          <a:off x="0" y="0"/>
          <a:ext cx="0" cy="0"/>
          <a:chOff x="0" y="0"/>
          <a:chExt cx="0" cy="0"/>
        </a:xfrm>
      </p:grpSpPr>
      <p:sp>
        <p:nvSpPr>
          <p:cNvPr id="1983" name="Google Shape;1983;ge9869f8ffe_0_621:notes">
            <a:extLst>
              <a:ext uri="{FF2B5EF4-FFF2-40B4-BE49-F238E27FC236}">
                <a16:creationId xmlns:a16="http://schemas.microsoft.com/office/drawing/2014/main" id="{C7DE54D4-8B05-CFFF-3225-609E9D65D2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4" name="Google Shape;1984;ge9869f8ffe_0_621:notes">
            <a:extLst>
              <a:ext uri="{FF2B5EF4-FFF2-40B4-BE49-F238E27FC236}">
                <a16:creationId xmlns:a16="http://schemas.microsoft.com/office/drawing/2014/main" id="{42060DAF-9B27-19F8-1ED3-1D0C3C915A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14828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2">
          <a:extLst>
            <a:ext uri="{FF2B5EF4-FFF2-40B4-BE49-F238E27FC236}">
              <a16:creationId xmlns:a16="http://schemas.microsoft.com/office/drawing/2014/main" id="{95E84B9E-6E34-2B69-7482-CA8679D2A68F}"/>
            </a:ext>
          </a:extLst>
        </p:cNvPr>
        <p:cNvGrpSpPr/>
        <p:nvPr/>
      </p:nvGrpSpPr>
      <p:grpSpPr>
        <a:xfrm>
          <a:off x="0" y="0"/>
          <a:ext cx="0" cy="0"/>
          <a:chOff x="0" y="0"/>
          <a:chExt cx="0" cy="0"/>
        </a:xfrm>
      </p:grpSpPr>
      <p:sp>
        <p:nvSpPr>
          <p:cNvPr id="1983" name="Google Shape;1983;ge9869f8ffe_0_621:notes">
            <a:extLst>
              <a:ext uri="{FF2B5EF4-FFF2-40B4-BE49-F238E27FC236}">
                <a16:creationId xmlns:a16="http://schemas.microsoft.com/office/drawing/2014/main" id="{E2F58B61-C616-C275-B54C-66B2C5106D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4" name="Google Shape;1984;ge9869f8ffe_0_621:notes">
            <a:extLst>
              <a:ext uri="{FF2B5EF4-FFF2-40B4-BE49-F238E27FC236}">
                <a16:creationId xmlns:a16="http://schemas.microsoft.com/office/drawing/2014/main" id="{73043B11-87F2-238B-E7DB-C3BC6B4D2E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585662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2">
          <a:extLst>
            <a:ext uri="{FF2B5EF4-FFF2-40B4-BE49-F238E27FC236}">
              <a16:creationId xmlns:a16="http://schemas.microsoft.com/office/drawing/2014/main" id="{F5C6B270-9972-46B3-25FE-35366550D77A}"/>
            </a:ext>
          </a:extLst>
        </p:cNvPr>
        <p:cNvGrpSpPr/>
        <p:nvPr/>
      </p:nvGrpSpPr>
      <p:grpSpPr>
        <a:xfrm>
          <a:off x="0" y="0"/>
          <a:ext cx="0" cy="0"/>
          <a:chOff x="0" y="0"/>
          <a:chExt cx="0" cy="0"/>
        </a:xfrm>
      </p:grpSpPr>
      <p:sp>
        <p:nvSpPr>
          <p:cNvPr id="1983" name="Google Shape;1983;ge9869f8ffe_0_621:notes">
            <a:extLst>
              <a:ext uri="{FF2B5EF4-FFF2-40B4-BE49-F238E27FC236}">
                <a16:creationId xmlns:a16="http://schemas.microsoft.com/office/drawing/2014/main" id="{00A03BC3-1431-2444-05B7-616B3A0FCEC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4" name="Google Shape;1984;ge9869f8ffe_0_621:notes">
            <a:extLst>
              <a:ext uri="{FF2B5EF4-FFF2-40B4-BE49-F238E27FC236}">
                <a16:creationId xmlns:a16="http://schemas.microsoft.com/office/drawing/2014/main" id="{D0CF93A5-1811-1FE1-7908-FFF37D0761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676420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2">
          <a:extLst>
            <a:ext uri="{FF2B5EF4-FFF2-40B4-BE49-F238E27FC236}">
              <a16:creationId xmlns:a16="http://schemas.microsoft.com/office/drawing/2014/main" id="{1013446A-6E1B-56ED-0A31-2CB1C8F50B34}"/>
            </a:ext>
          </a:extLst>
        </p:cNvPr>
        <p:cNvGrpSpPr/>
        <p:nvPr/>
      </p:nvGrpSpPr>
      <p:grpSpPr>
        <a:xfrm>
          <a:off x="0" y="0"/>
          <a:ext cx="0" cy="0"/>
          <a:chOff x="0" y="0"/>
          <a:chExt cx="0" cy="0"/>
        </a:xfrm>
      </p:grpSpPr>
      <p:sp>
        <p:nvSpPr>
          <p:cNvPr id="1983" name="Google Shape;1983;ge9869f8ffe_0_621:notes">
            <a:extLst>
              <a:ext uri="{FF2B5EF4-FFF2-40B4-BE49-F238E27FC236}">
                <a16:creationId xmlns:a16="http://schemas.microsoft.com/office/drawing/2014/main" id="{905A3994-8F68-D205-EF15-2DCD3A52F9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4" name="Google Shape;1984;ge9869f8ffe_0_621:notes">
            <a:extLst>
              <a:ext uri="{FF2B5EF4-FFF2-40B4-BE49-F238E27FC236}">
                <a16:creationId xmlns:a16="http://schemas.microsoft.com/office/drawing/2014/main" id="{ECB5642B-6503-C5C2-76B1-F91A128544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This ratio provides a good </a:t>
            </a:r>
            <a:r>
              <a:rPr lang="en-US" b="1" dirty="0"/>
              <a:t>balance between model learning and evaluation</a:t>
            </a:r>
            <a:r>
              <a:rPr lang="en-US" dirty="0"/>
              <a:t>.</a:t>
            </a:r>
          </a:p>
          <a:p>
            <a:r>
              <a:rPr lang="en-US" dirty="0"/>
              <a:t>With 70% of the data, the model has </a:t>
            </a:r>
            <a:r>
              <a:rPr lang="en-US" b="1" dirty="0"/>
              <a:t>enough information to learn patterns</a:t>
            </a:r>
            <a:r>
              <a:rPr lang="en-US" dirty="0"/>
              <a:t> effectively. At the same time, the 30% test set is </a:t>
            </a:r>
            <a:r>
              <a:rPr lang="en-US" b="1" dirty="0"/>
              <a:t>large enough to give reliable and unbiased evaluation results</a:t>
            </a:r>
            <a:r>
              <a:rPr lang="en-US" dirty="0"/>
              <a:t>.</a:t>
            </a:r>
          </a:p>
          <a:p>
            <a:r>
              <a:rPr lang="en-US" dirty="0"/>
              <a:t>This split is widely accepted in machine learning, especially when working with medium to large datasets. It helps reduce the risk of </a:t>
            </a:r>
            <a:r>
              <a:rPr lang="en-US" b="1" dirty="0"/>
              <a:t>overfitting</a:t>
            </a:r>
            <a:r>
              <a:rPr lang="en-US" dirty="0"/>
              <a:t> while still ensuring the model is tested on </a:t>
            </a:r>
            <a:r>
              <a:rPr lang="en-US" b="1" dirty="0"/>
              <a:t>unseen data</a:t>
            </a:r>
            <a:r>
              <a:rPr lang="en-US" dirty="0"/>
              <a:t>.</a:t>
            </a:r>
          </a:p>
          <a:p>
            <a:pPr marL="0" lvl="0" indent="0" algn="l" rtl="0">
              <a:spcBef>
                <a:spcPts val="0"/>
              </a:spcBef>
              <a:spcAft>
                <a:spcPts val="0"/>
              </a:spcAft>
              <a:buFontTx/>
              <a:buNone/>
            </a:pPr>
            <a:endParaRPr dirty="0"/>
          </a:p>
        </p:txBody>
      </p:sp>
    </p:spTree>
    <p:extLst>
      <p:ext uri="{BB962C8B-B14F-4D97-AF65-F5344CB8AC3E}">
        <p14:creationId xmlns:p14="http://schemas.microsoft.com/office/powerpoint/2010/main" val="23600031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a:extLst>
            <a:ext uri="{FF2B5EF4-FFF2-40B4-BE49-F238E27FC236}">
              <a16:creationId xmlns:a16="http://schemas.microsoft.com/office/drawing/2014/main" id="{82B4ADED-6657-E11B-5B39-D432E87BAF5F}"/>
            </a:ext>
          </a:extLst>
        </p:cNvPr>
        <p:cNvGrpSpPr/>
        <p:nvPr/>
      </p:nvGrpSpPr>
      <p:grpSpPr>
        <a:xfrm>
          <a:off x="0" y="0"/>
          <a:ext cx="0" cy="0"/>
          <a:chOff x="0" y="0"/>
          <a:chExt cx="0" cy="0"/>
        </a:xfrm>
      </p:grpSpPr>
      <p:sp>
        <p:nvSpPr>
          <p:cNvPr id="1879" name="Google Shape;1879;gdbfa01cdba_0_25:notes">
            <a:extLst>
              <a:ext uri="{FF2B5EF4-FFF2-40B4-BE49-F238E27FC236}">
                <a16:creationId xmlns:a16="http://schemas.microsoft.com/office/drawing/2014/main" id="{05B0B4F7-D056-BED6-622E-92898970DB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dbfa01cdba_0_25:notes">
            <a:extLst>
              <a:ext uri="{FF2B5EF4-FFF2-40B4-BE49-F238E27FC236}">
                <a16:creationId xmlns:a16="http://schemas.microsoft.com/office/drawing/2014/main" id="{A06177CF-5F7A-6EA8-DA99-3BEFE6AA75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lang="en-MY" sz="1800" kern="0" dirty="0">
              <a:effectLst/>
              <a:latin typeface="Times New Roman" panose="02020603050405020304" pitchFamily="18" charset="0"/>
              <a:ea typeface="Times New Roman" panose="02020603050405020304" pitchFamily="18" charset="0"/>
            </a:endParaRPr>
          </a:p>
          <a:p>
            <a:pPr marL="171450" lvl="0" indent="-171450" algn="l" rtl="0">
              <a:spcBef>
                <a:spcPts val="0"/>
              </a:spcBef>
              <a:spcAft>
                <a:spcPts val="0"/>
              </a:spcAft>
              <a:buFontTx/>
              <a:buChar char="-"/>
            </a:pPr>
            <a:r>
              <a:rPr lang="en-MY" dirty="0"/>
              <a:t>During model training only to keep the validation and testing set with original class distribution so that the evaluation reflected real-world scenarios.</a:t>
            </a:r>
          </a:p>
          <a:p>
            <a:pPr marL="171450" lvl="0" indent="-171450" algn="l" rtl="0">
              <a:spcBef>
                <a:spcPts val="0"/>
              </a:spcBef>
              <a:spcAft>
                <a:spcPts val="0"/>
              </a:spcAft>
              <a:buFontTx/>
              <a:buChar char="-"/>
            </a:pPr>
            <a:endParaRPr lang="en-MY" dirty="0"/>
          </a:p>
          <a:p>
            <a:pPr marL="171450" lvl="0" indent="-171450" algn="l" rtl="0">
              <a:spcBef>
                <a:spcPts val="0"/>
              </a:spcBef>
              <a:spcAft>
                <a:spcPts val="0"/>
              </a:spcAft>
              <a:buFontTx/>
              <a:buChar char="-"/>
            </a:pPr>
            <a:r>
              <a:rPr lang="en-MY" dirty="0"/>
              <a:t>But still not better than baseline</a:t>
            </a:r>
          </a:p>
          <a:p>
            <a:pPr marL="171450" lvl="0" indent="-171450" algn="l" rtl="0">
              <a:spcBef>
                <a:spcPts val="0"/>
              </a:spcBef>
              <a:spcAft>
                <a:spcPts val="0"/>
              </a:spcAft>
              <a:buFontTx/>
              <a:buChar char="-"/>
            </a:pPr>
            <a:endParaRPr lang="en-MY" dirty="0"/>
          </a:p>
          <a:p>
            <a:pPr marL="171450" lvl="0" indent="-171450" algn="l" rtl="0">
              <a:spcBef>
                <a:spcPts val="0"/>
              </a:spcBef>
              <a:spcAft>
                <a:spcPts val="0"/>
              </a:spcAft>
              <a:buFontTx/>
              <a:buChar char="-"/>
            </a:pPr>
            <a:r>
              <a:rPr lang="en-MY" dirty="0"/>
              <a:t>Study about class weight, different between RF and XGB</a:t>
            </a:r>
          </a:p>
          <a:p>
            <a:pPr marL="171450" lvl="0" indent="-171450" algn="l" rtl="0">
              <a:spcBef>
                <a:spcPts val="0"/>
              </a:spcBef>
              <a:spcAft>
                <a:spcPts val="0"/>
              </a:spcAft>
              <a:buFontTx/>
              <a:buChar char="-"/>
            </a:pPr>
            <a:endParaRPr lang="en-MY" dirty="0"/>
          </a:p>
          <a:p>
            <a:pPr marL="171450" lvl="0" indent="-171450" algn="l" rtl="0">
              <a:spcBef>
                <a:spcPts val="0"/>
              </a:spcBef>
              <a:spcAft>
                <a:spcPts val="0"/>
              </a:spcAft>
              <a:buFontTx/>
              <a:buChar char="-"/>
            </a:pPr>
            <a:r>
              <a:rPr lang="en-MY" dirty="0"/>
              <a:t>Minimize false positives and catch as much true suspicious transactions as possible</a:t>
            </a:r>
            <a:endParaRPr dirty="0"/>
          </a:p>
        </p:txBody>
      </p:sp>
    </p:spTree>
    <p:extLst>
      <p:ext uri="{BB962C8B-B14F-4D97-AF65-F5344CB8AC3E}">
        <p14:creationId xmlns:p14="http://schemas.microsoft.com/office/powerpoint/2010/main" val="26834665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a:extLst>
            <a:ext uri="{FF2B5EF4-FFF2-40B4-BE49-F238E27FC236}">
              <a16:creationId xmlns:a16="http://schemas.microsoft.com/office/drawing/2014/main" id="{7A7B3103-80B1-5B07-51A9-B38924215119}"/>
            </a:ext>
          </a:extLst>
        </p:cNvPr>
        <p:cNvGrpSpPr/>
        <p:nvPr/>
      </p:nvGrpSpPr>
      <p:grpSpPr>
        <a:xfrm>
          <a:off x="0" y="0"/>
          <a:ext cx="0" cy="0"/>
          <a:chOff x="0" y="0"/>
          <a:chExt cx="0" cy="0"/>
        </a:xfrm>
      </p:grpSpPr>
      <p:sp>
        <p:nvSpPr>
          <p:cNvPr id="1879" name="Google Shape;1879;gdbfa01cdba_0_25:notes">
            <a:extLst>
              <a:ext uri="{FF2B5EF4-FFF2-40B4-BE49-F238E27FC236}">
                <a16:creationId xmlns:a16="http://schemas.microsoft.com/office/drawing/2014/main" id="{2BC31FBF-BF31-4652-F711-CA496A5107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dbfa01cdba_0_25:notes">
            <a:extLst>
              <a:ext uri="{FF2B5EF4-FFF2-40B4-BE49-F238E27FC236}">
                <a16:creationId xmlns:a16="http://schemas.microsoft.com/office/drawing/2014/main" id="{8BD2E3A2-12D6-9E28-C61A-2B6AC70D1F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r>
              <a:rPr lang="en-MY" sz="1800" kern="0" dirty="0">
                <a:effectLst/>
                <a:latin typeface="Times New Roman" panose="02020603050405020304" pitchFamily="18" charset="0"/>
                <a:ea typeface="Times New Roman" panose="02020603050405020304" pitchFamily="18" charset="0"/>
              </a:rPr>
              <a:t>Compared to </a:t>
            </a:r>
            <a:r>
              <a:rPr lang="en-MY" sz="1800" kern="0" dirty="0" err="1">
                <a:effectLst/>
                <a:latin typeface="Times New Roman" panose="02020603050405020304" pitchFamily="18" charset="0"/>
                <a:ea typeface="Times New Roman" panose="02020603050405020304" pitchFamily="18" charset="0"/>
              </a:rPr>
              <a:t>GridSearchCV</a:t>
            </a:r>
            <a:r>
              <a:rPr lang="en-MY" sz="1800" kern="0" dirty="0">
                <a:effectLst/>
                <a:latin typeface="Times New Roman" panose="02020603050405020304" pitchFamily="18" charset="0"/>
                <a:ea typeface="Times New Roman" panose="02020603050405020304" pitchFamily="18" charset="0"/>
              </a:rPr>
              <a:t> which exhaustively test all possible hyperparameters combination</a:t>
            </a:r>
          </a:p>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lang="en-MY" sz="1800" kern="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r>
              <a:rPr lang="en-MY" sz="1800" kern="0" dirty="0">
                <a:effectLst/>
                <a:latin typeface="Times New Roman" panose="02020603050405020304" pitchFamily="18" charset="0"/>
                <a:ea typeface="Times New Roman" panose="02020603050405020304" pitchFamily="18" charset="0"/>
              </a:rPr>
              <a:t>But this default threshold often </a:t>
            </a:r>
            <a:r>
              <a:rPr lang="en-MY" sz="1800" kern="0" dirty="0" err="1">
                <a:effectLst/>
                <a:latin typeface="Times New Roman" panose="02020603050405020304" pitchFamily="18" charset="0"/>
                <a:ea typeface="Times New Roman" panose="02020603050405020304" pitchFamily="18" charset="0"/>
              </a:rPr>
              <a:t>favors</a:t>
            </a:r>
            <a:r>
              <a:rPr lang="en-MY" sz="1800" kern="0" dirty="0">
                <a:effectLst/>
                <a:latin typeface="Times New Roman" panose="02020603050405020304" pitchFamily="18" charset="0"/>
                <a:ea typeface="Times New Roman" panose="02020603050405020304" pitchFamily="18" charset="0"/>
              </a:rPr>
              <a:t> majority class in highly imbalance dataset which leads to low recall for the minority class.</a:t>
            </a:r>
          </a:p>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lang="en-MY" sz="1800" kern="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lang="en-MY" sz="1800" kern="0" dirty="0">
              <a:effectLst/>
              <a:latin typeface="Times New Roman" panose="02020603050405020304" pitchFamily="18" charset="0"/>
              <a:ea typeface="Times New Roman" panose="02020603050405020304" pitchFamily="18" charset="0"/>
            </a:endParaRPr>
          </a:p>
          <a:p>
            <a:pPr marL="171450" lvl="0" indent="-171450" algn="l" rtl="0">
              <a:spcBef>
                <a:spcPts val="0"/>
              </a:spcBef>
              <a:spcAft>
                <a:spcPts val="0"/>
              </a:spcAft>
              <a:buFontTx/>
              <a:buChar char="-"/>
            </a:pPr>
            <a:endParaRPr dirty="0"/>
          </a:p>
        </p:txBody>
      </p:sp>
    </p:spTree>
    <p:extLst>
      <p:ext uri="{BB962C8B-B14F-4D97-AF65-F5344CB8AC3E}">
        <p14:creationId xmlns:p14="http://schemas.microsoft.com/office/powerpoint/2010/main" val="7092168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a:extLst>
            <a:ext uri="{FF2B5EF4-FFF2-40B4-BE49-F238E27FC236}">
              <a16:creationId xmlns:a16="http://schemas.microsoft.com/office/drawing/2014/main" id="{D1ABBB3C-1BDB-2F7B-26D0-6C702CB7A5D8}"/>
            </a:ext>
          </a:extLst>
        </p:cNvPr>
        <p:cNvGrpSpPr/>
        <p:nvPr/>
      </p:nvGrpSpPr>
      <p:grpSpPr>
        <a:xfrm>
          <a:off x="0" y="0"/>
          <a:ext cx="0" cy="0"/>
          <a:chOff x="0" y="0"/>
          <a:chExt cx="0" cy="0"/>
        </a:xfrm>
      </p:grpSpPr>
      <p:sp>
        <p:nvSpPr>
          <p:cNvPr id="1879" name="Google Shape;1879;gdbfa01cdba_0_25:notes">
            <a:extLst>
              <a:ext uri="{FF2B5EF4-FFF2-40B4-BE49-F238E27FC236}">
                <a16:creationId xmlns:a16="http://schemas.microsoft.com/office/drawing/2014/main" id="{EE85E020-9700-5E2E-F30A-9100C11DDC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dbfa01cdba_0_25:notes">
            <a:extLst>
              <a:ext uri="{FF2B5EF4-FFF2-40B4-BE49-F238E27FC236}">
                <a16:creationId xmlns:a16="http://schemas.microsoft.com/office/drawing/2014/main" id="{E3D87BBE-430B-7348-7148-34E1B5D278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r>
              <a:rPr lang="en-MY" sz="1800" kern="0" dirty="0">
                <a:effectLst/>
                <a:latin typeface="Times New Roman" panose="02020603050405020304" pitchFamily="18" charset="0"/>
                <a:ea typeface="Times New Roman" panose="02020603050405020304" pitchFamily="18" charset="0"/>
              </a:rPr>
              <a:t>Compared to </a:t>
            </a:r>
            <a:r>
              <a:rPr lang="en-MY" sz="1800" kern="0" dirty="0" err="1">
                <a:effectLst/>
                <a:latin typeface="Times New Roman" panose="02020603050405020304" pitchFamily="18" charset="0"/>
                <a:ea typeface="Times New Roman" panose="02020603050405020304" pitchFamily="18" charset="0"/>
              </a:rPr>
              <a:t>GridSearchCV</a:t>
            </a:r>
            <a:r>
              <a:rPr lang="en-MY" sz="1800" kern="0" dirty="0">
                <a:effectLst/>
                <a:latin typeface="Times New Roman" panose="02020603050405020304" pitchFamily="18" charset="0"/>
                <a:ea typeface="Times New Roman" panose="02020603050405020304" pitchFamily="18" charset="0"/>
              </a:rPr>
              <a:t> which exhaustively test all possible hyperparameters combination</a:t>
            </a:r>
          </a:p>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lang="en-MY" sz="1800" kern="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r>
              <a:rPr lang="en-MY" sz="1800" kern="0" dirty="0">
                <a:effectLst/>
                <a:latin typeface="Times New Roman" panose="02020603050405020304" pitchFamily="18" charset="0"/>
                <a:ea typeface="Times New Roman" panose="02020603050405020304" pitchFamily="18" charset="0"/>
              </a:rPr>
              <a:t>But this default threshold often </a:t>
            </a:r>
            <a:r>
              <a:rPr lang="en-MY" sz="1800" kern="0" dirty="0" err="1">
                <a:effectLst/>
                <a:latin typeface="Times New Roman" panose="02020603050405020304" pitchFamily="18" charset="0"/>
                <a:ea typeface="Times New Roman" panose="02020603050405020304" pitchFamily="18" charset="0"/>
              </a:rPr>
              <a:t>favors</a:t>
            </a:r>
            <a:r>
              <a:rPr lang="en-MY" sz="1800" kern="0" dirty="0">
                <a:effectLst/>
                <a:latin typeface="Times New Roman" panose="02020603050405020304" pitchFamily="18" charset="0"/>
                <a:ea typeface="Times New Roman" panose="02020603050405020304" pitchFamily="18" charset="0"/>
              </a:rPr>
              <a:t> majority class in highly imbalance dataset which leads to low recall for the minority class.</a:t>
            </a:r>
          </a:p>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lang="en-MY" sz="1800" kern="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lang="en-MY" sz="1800" kern="0" dirty="0">
              <a:effectLst/>
              <a:latin typeface="Times New Roman" panose="02020603050405020304" pitchFamily="18" charset="0"/>
              <a:ea typeface="Times New Roman" panose="02020603050405020304" pitchFamily="18" charset="0"/>
            </a:endParaRPr>
          </a:p>
          <a:p>
            <a:pPr marL="171450" lvl="0" indent="-171450" algn="l" rtl="0">
              <a:spcBef>
                <a:spcPts val="0"/>
              </a:spcBef>
              <a:spcAft>
                <a:spcPts val="0"/>
              </a:spcAft>
              <a:buFontTx/>
              <a:buChar char="-"/>
            </a:pPr>
            <a:endParaRPr dirty="0"/>
          </a:p>
        </p:txBody>
      </p:sp>
    </p:spTree>
    <p:extLst>
      <p:ext uri="{BB962C8B-B14F-4D97-AF65-F5344CB8AC3E}">
        <p14:creationId xmlns:p14="http://schemas.microsoft.com/office/powerpoint/2010/main" val="20824617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a:extLst>
            <a:ext uri="{FF2B5EF4-FFF2-40B4-BE49-F238E27FC236}">
              <a16:creationId xmlns:a16="http://schemas.microsoft.com/office/drawing/2014/main" id="{732B11BF-4241-88E6-F23C-4D3B5732A13E}"/>
            </a:ext>
          </a:extLst>
        </p:cNvPr>
        <p:cNvGrpSpPr/>
        <p:nvPr/>
      </p:nvGrpSpPr>
      <p:grpSpPr>
        <a:xfrm>
          <a:off x="0" y="0"/>
          <a:ext cx="0" cy="0"/>
          <a:chOff x="0" y="0"/>
          <a:chExt cx="0" cy="0"/>
        </a:xfrm>
      </p:grpSpPr>
      <p:sp>
        <p:nvSpPr>
          <p:cNvPr id="1879" name="Google Shape;1879;gdbfa01cdba_0_25:notes">
            <a:extLst>
              <a:ext uri="{FF2B5EF4-FFF2-40B4-BE49-F238E27FC236}">
                <a16:creationId xmlns:a16="http://schemas.microsoft.com/office/drawing/2014/main" id="{C14FFA0A-BB35-9D61-8C1A-136B5B6EF5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dbfa01cdba_0_25:notes">
            <a:extLst>
              <a:ext uri="{FF2B5EF4-FFF2-40B4-BE49-F238E27FC236}">
                <a16:creationId xmlns:a16="http://schemas.microsoft.com/office/drawing/2014/main" id="{E909F0CE-CBD9-4077-C25F-94C0F1CACB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r>
              <a:rPr lang="en-MY" sz="1800" kern="0" dirty="0">
                <a:effectLst/>
                <a:latin typeface="Times New Roman" panose="02020603050405020304" pitchFamily="18" charset="0"/>
                <a:ea typeface="Times New Roman" panose="02020603050405020304" pitchFamily="18" charset="0"/>
              </a:rPr>
              <a:t>Compared to </a:t>
            </a:r>
            <a:r>
              <a:rPr lang="en-MY" sz="1800" kern="0" dirty="0" err="1">
                <a:effectLst/>
                <a:latin typeface="Times New Roman" panose="02020603050405020304" pitchFamily="18" charset="0"/>
                <a:ea typeface="Times New Roman" panose="02020603050405020304" pitchFamily="18" charset="0"/>
              </a:rPr>
              <a:t>GridSearchCV</a:t>
            </a:r>
            <a:r>
              <a:rPr lang="en-MY" sz="1800" kern="0" dirty="0">
                <a:effectLst/>
                <a:latin typeface="Times New Roman" panose="02020603050405020304" pitchFamily="18" charset="0"/>
                <a:ea typeface="Times New Roman" panose="02020603050405020304" pitchFamily="18" charset="0"/>
              </a:rPr>
              <a:t> which exhaustively test all possible hyperparameters combination</a:t>
            </a:r>
          </a:p>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lang="en-MY" sz="1800" kern="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r>
              <a:rPr lang="en-MY" sz="1800" kern="0" dirty="0">
                <a:effectLst/>
                <a:latin typeface="Times New Roman" panose="02020603050405020304" pitchFamily="18" charset="0"/>
                <a:ea typeface="Times New Roman" panose="02020603050405020304" pitchFamily="18" charset="0"/>
              </a:rPr>
              <a:t>But this default threshold often </a:t>
            </a:r>
            <a:r>
              <a:rPr lang="en-MY" sz="1800" kern="0" dirty="0" err="1">
                <a:effectLst/>
                <a:latin typeface="Times New Roman" panose="02020603050405020304" pitchFamily="18" charset="0"/>
                <a:ea typeface="Times New Roman" panose="02020603050405020304" pitchFamily="18" charset="0"/>
              </a:rPr>
              <a:t>favors</a:t>
            </a:r>
            <a:r>
              <a:rPr lang="en-MY" sz="1800" kern="0" dirty="0">
                <a:effectLst/>
                <a:latin typeface="Times New Roman" panose="02020603050405020304" pitchFamily="18" charset="0"/>
                <a:ea typeface="Times New Roman" panose="02020603050405020304" pitchFamily="18" charset="0"/>
              </a:rPr>
              <a:t> majority class in highly imbalance dataset which leads to low recall for the minority class.</a:t>
            </a:r>
          </a:p>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lang="en-MY" sz="1800" kern="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lang="en-MY" sz="1800" kern="0" dirty="0">
              <a:effectLst/>
              <a:latin typeface="Times New Roman" panose="02020603050405020304" pitchFamily="18" charset="0"/>
              <a:ea typeface="Times New Roman" panose="02020603050405020304" pitchFamily="18" charset="0"/>
            </a:endParaRPr>
          </a:p>
          <a:p>
            <a:pPr marL="171450" lvl="0" indent="-171450" algn="l" rtl="0">
              <a:spcBef>
                <a:spcPts val="0"/>
              </a:spcBef>
              <a:spcAft>
                <a:spcPts val="0"/>
              </a:spcAft>
              <a:buFontTx/>
              <a:buChar char="-"/>
            </a:pPr>
            <a:endParaRPr dirty="0"/>
          </a:p>
        </p:txBody>
      </p:sp>
    </p:spTree>
    <p:extLst>
      <p:ext uri="{BB962C8B-B14F-4D97-AF65-F5344CB8AC3E}">
        <p14:creationId xmlns:p14="http://schemas.microsoft.com/office/powerpoint/2010/main" val="9661905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a:extLst>
            <a:ext uri="{FF2B5EF4-FFF2-40B4-BE49-F238E27FC236}">
              <a16:creationId xmlns:a16="http://schemas.microsoft.com/office/drawing/2014/main" id="{DE2EB843-8AE0-2493-90D8-7BB1FE47FC4D}"/>
            </a:ext>
          </a:extLst>
        </p:cNvPr>
        <p:cNvGrpSpPr/>
        <p:nvPr/>
      </p:nvGrpSpPr>
      <p:grpSpPr>
        <a:xfrm>
          <a:off x="0" y="0"/>
          <a:ext cx="0" cy="0"/>
          <a:chOff x="0" y="0"/>
          <a:chExt cx="0" cy="0"/>
        </a:xfrm>
      </p:grpSpPr>
      <p:sp>
        <p:nvSpPr>
          <p:cNvPr id="1879" name="Google Shape;1879;gdbfa01cdba_0_25:notes">
            <a:extLst>
              <a:ext uri="{FF2B5EF4-FFF2-40B4-BE49-F238E27FC236}">
                <a16:creationId xmlns:a16="http://schemas.microsoft.com/office/drawing/2014/main" id="{ABAB8C0C-9808-99E8-A8E0-BA9506395C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dbfa01cdba_0_25:notes">
            <a:extLst>
              <a:ext uri="{FF2B5EF4-FFF2-40B4-BE49-F238E27FC236}">
                <a16:creationId xmlns:a16="http://schemas.microsoft.com/office/drawing/2014/main" id="{5CC49628-6D8C-2C44-4C13-8025FBAF28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Tx/>
              <a:buNone/>
              <a:tabLst/>
              <a:defRPr/>
            </a:pPr>
            <a:endParaRPr lang="en-MY" sz="1800" kern="0" dirty="0">
              <a:effectLst/>
              <a:latin typeface="Times New Roman" panose="02020603050405020304" pitchFamily="18" charset="0"/>
              <a:ea typeface="Times New Roman" panose="02020603050405020304" pitchFamily="18" charset="0"/>
            </a:endParaRPr>
          </a:p>
          <a:p>
            <a:pPr marL="171450" lvl="0" indent="-171450" algn="l" rtl="0">
              <a:spcBef>
                <a:spcPts val="0"/>
              </a:spcBef>
              <a:spcAft>
                <a:spcPts val="0"/>
              </a:spcAft>
              <a:buFontTx/>
              <a:buChar char="-"/>
            </a:pPr>
            <a:endParaRPr dirty="0"/>
          </a:p>
        </p:txBody>
      </p:sp>
    </p:spTree>
    <p:extLst>
      <p:ext uri="{BB962C8B-B14F-4D97-AF65-F5344CB8AC3E}">
        <p14:creationId xmlns:p14="http://schemas.microsoft.com/office/powerpoint/2010/main" val="5681893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5"/>
        <p:cNvGrpSpPr/>
        <p:nvPr/>
      </p:nvGrpSpPr>
      <p:grpSpPr>
        <a:xfrm>
          <a:off x="0" y="0"/>
          <a:ext cx="0" cy="0"/>
          <a:chOff x="0" y="0"/>
          <a:chExt cx="0" cy="0"/>
        </a:xfrm>
      </p:grpSpPr>
      <p:sp>
        <p:nvSpPr>
          <p:cNvPr id="1296" name="Google Shape;1296;ge7dc8ff590_1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7" name="Google Shape;1297;ge7dc8ff590_1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sv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2.tiff"/><Relationship Id="rId5" Type="http://schemas.openxmlformats.org/officeDocument/2006/relationships/image" Target="../media/image6.svg"/><Relationship Id="rId10" Type="http://schemas.openxmlformats.org/officeDocument/2006/relationships/image" Target="../media/image10.svg"/><Relationship Id="rId4" Type="http://schemas.openxmlformats.org/officeDocument/2006/relationships/image" Target="../media/image5.png"/><Relationship Id="rId9"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A77FC49-908E-7282-71D1-FF9B45CC794D}"/>
              </a:ext>
            </a:extLst>
          </p:cNvPr>
          <p:cNvPicPr>
            <a:picLocks noChangeAspect="1"/>
          </p:cNvPicPr>
          <p:nvPr userDrawn="1"/>
        </p:nvPicPr>
        <p:blipFill>
          <a:blip r:embed="rId2">
            <a:alphaModFix amt="34000"/>
            <a:extLst>
              <a:ext uri="{28A0092B-C50C-407E-A947-70E740481C1C}">
                <a14:useLocalDpi xmlns:a14="http://schemas.microsoft.com/office/drawing/2010/main" val="0"/>
              </a:ext>
            </a:extLst>
          </a:blip>
          <a:stretch>
            <a:fillRect/>
          </a:stretch>
        </p:blipFill>
        <p:spPr>
          <a:xfrm rot="16200000">
            <a:off x="1428041" y="-1428041"/>
            <a:ext cx="6880030" cy="9736110"/>
          </a:xfrm>
          <a:prstGeom prst="rect">
            <a:avLst/>
          </a:prstGeom>
        </p:spPr>
      </p:pic>
      <p:pic>
        <p:nvPicPr>
          <p:cNvPr id="11" name="Picture 10">
            <a:extLst>
              <a:ext uri="{FF2B5EF4-FFF2-40B4-BE49-F238E27FC236}">
                <a16:creationId xmlns:a16="http://schemas.microsoft.com/office/drawing/2014/main" id="{B9FB5ACA-D821-A539-94D6-EEC7337F3AF1}"/>
              </a:ext>
            </a:extLst>
          </p:cNvPr>
          <p:cNvPicPr>
            <a:picLocks noChangeAspect="1"/>
          </p:cNvPicPr>
          <p:nvPr userDrawn="1"/>
        </p:nvPicPr>
        <p:blipFill>
          <a:blip r:embed="rId3">
            <a:alphaModFix amt="99000"/>
          </a:blip>
          <a:stretch>
            <a:fillRect/>
          </a:stretch>
        </p:blipFill>
        <p:spPr>
          <a:xfrm rot="10800000" flipV="1">
            <a:off x="59093" y="0"/>
            <a:ext cx="12073813" cy="3109189"/>
          </a:xfrm>
          <a:prstGeom prst="rect">
            <a:avLst/>
          </a:prstGeom>
        </p:spPr>
      </p:pic>
      <p:sp>
        <p:nvSpPr>
          <p:cNvPr id="3" name="Rectangle 2">
            <a:extLst>
              <a:ext uri="{FF2B5EF4-FFF2-40B4-BE49-F238E27FC236}">
                <a16:creationId xmlns:a16="http://schemas.microsoft.com/office/drawing/2014/main" id="{6500D8EF-2DF1-88B7-4784-92F60D932A2D}"/>
              </a:ext>
            </a:extLst>
          </p:cNvPr>
          <p:cNvSpPr/>
          <p:nvPr userDrawn="1"/>
        </p:nvSpPr>
        <p:spPr>
          <a:xfrm rot="5400000">
            <a:off x="5953544" y="641578"/>
            <a:ext cx="28490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7418E44-B184-3318-E83E-1ED0427C4C32}"/>
              </a:ext>
            </a:extLst>
          </p:cNvPr>
          <p:cNvSpPr txBox="1"/>
          <p:nvPr userDrawn="1"/>
        </p:nvSpPr>
        <p:spPr>
          <a:xfrm>
            <a:off x="5479363" y="6595121"/>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spTree>
    <p:extLst>
      <p:ext uri="{BB962C8B-B14F-4D97-AF65-F5344CB8AC3E}">
        <p14:creationId xmlns:p14="http://schemas.microsoft.com/office/powerpoint/2010/main" val="2959644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20C8336-6E97-19E8-88CA-FE902FF18424}"/>
              </a:ext>
            </a:extLst>
          </p:cNvPr>
          <p:cNvSpPr>
            <a:spLocks noGrp="1"/>
          </p:cNvSpPr>
          <p:nvPr>
            <p:ph type="dt" sz="half" idx="10"/>
          </p:nvPr>
        </p:nvSpPr>
        <p:spPr/>
        <p:txBody>
          <a:bodyPr/>
          <a:lstStyle/>
          <a:p>
            <a:fld id="{EF9959E7-45DE-4A2D-ACFD-0D8C8BBAB79F}" type="datetimeFigureOut">
              <a:rPr lang="en-US" smtClean="0"/>
              <a:t>1/21/2026</a:t>
            </a:fld>
            <a:endParaRPr lang="en-US"/>
          </a:p>
        </p:txBody>
      </p:sp>
      <p:sp>
        <p:nvSpPr>
          <p:cNvPr id="4" name="Footer Placeholder 3">
            <a:extLst>
              <a:ext uri="{FF2B5EF4-FFF2-40B4-BE49-F238E27FC236}">
                <a16:creationId xmlns:a16="http://schemas.microsoft.com/office/drawing/2014/main" id="{940694A3-909C-4BC7-8684-CF6A8DF611A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EA586F0-1709-92BF-CEC8-7DFA93F80910}"/>
              </a:ext>
            </a:extLst>
          </p:cNvPr>
          <p:cNvSpPr>
            <a:spLocks noGrp="1"/>
          </p:cNvSpPr>
          <p:nvPr>
            <p:ph type="sldNum" sz="quarter" idx="12"/>
          </p:nvPr>
        </p:nvSpPr>
        <p:spPr/>
        <p:txBody>
          <a:bodyPr/>
          <a:lstStyle/>
          <a:p>
            <a:fld id="{B5912E74-8957-4046-8937-1199D0665174}" type="slidenum">
              <a:rPr lang="en-US" smtClean="0"/>
              <a:t>‹#›</a:t>
            </a:fld>
            <a:endParaRPr lang="en-US"/>
          </a:p>
        </p:txBody>
      </p:sp>
      <p:grpSp>
        <p:nvGrpSpPr>
          <p:cNvPr id="10" name="Group 9">
            <a:extLst>
              <a:ext uri="{FF2B5EF4-FFF2-40B4-BE49-F238E27FC236}">
                <a16:creationId xmlns:a16="http://schemas.microsoft.com/office/drawing/2014/main" id="{C7993728-E209-C557-FA87-A687A2439D90}"/>
              </a:ext>
            </a:extLst>
          </p:cNvPr>
          <p:cNvGrpSpPr/>
          <p:nvPr userDrawn="1"/>
        </p:nvGrpSpPr>
        <p:grpSpPr>
          <a:xfrm>
            <a:off x="0" y="0"/>
            <a:ext cx="4323456" cy="7438348"/>
            <a:chOff x="0" y="0"/>
            <a:chExt cx="4323456" cy="7438348"/>
          </a:xfrm>
        </p:grpSpPr>
        <p:pic>
          <p:nvPicPr>
            <p:cNvPr id="12" name="Graphic 11">
              <a:extLst>
                <a:ext uri="{FF2B5EF4-FFF2-40B4-BE49-F238E27FC236}">
                  <a16:creationId xmlns:a16="http://schemas.microsoft.com/office/drawing/2014/main" id="{C291997A-C196-DCDE-0EA0-51D4FDEDADA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18649" cy="4463581"/>
            </a:xfrm>
            <a:prstGeom prst="rect">
              <a:avLst/>
            </a:prstGeom>
          </p:spPr>
        </p:pic>
        <p:sp>
          <p:nvSpPr>
            <p:cNvPr id="2" name="Parallelogram 1">
              <a:extLst>
                <a:ext uri="{FF2B5EF4-FFF2-40B4-BE49-F238E27FC236}">
                  <a16:creationId xmlns:a16="http://schemas.microsoft.com/office/drawing/2014/main" id="{14354985-0AB8-E860-28D0-17AD10E6B863}"/>
                </a:ext>
              </a:extLst>
            </p:cNvPr>
            <p:cNvSpPr/>
            <p:nvPr userDrawn="1"/>
          </p:nvSpPr>
          <p:spPr>
            <a:xfrm rot="8446488">
              <a:off x="1155879" y="3069975"/>
              <a:ext cx="2214654" cy="3120244"/>
            </a:xfrm>
            <a:prstGeom prst="parallelogram">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arallelogram 5">
              <a:extLst>
                <a:ext uri="{FF2B5EF4-FFF2-40B4-BE49-F238E27FC236}">
                  <a16:creationId xmlns:a16="http://schemas.microsoft.com/office/drawing/2014/main" id="{9C95F9B9-2A5B-F93A-EA33-600D61519C46}"/>
                </a:ext>
              </a:extLst>
            </p:cNvPr>
            <p:cNvSpPr/>
            <p:nvPr userDrawn="1"/>
          </p:nvSpPr>
          <p:spPr>
            <a:xfrm rot="8446488">
              <a:off x="2539020" y="5497285"/>
              <a:ext cx="1784436" cy="1941063"/>
            </a:xfrm>
            <a:custGeom>
              <a:avLst/>
              <a:gdLst>
                <a:gd name="connsiteX0" fmla="*/ 0 w 2214654"/>
                <a:gd name="connsiteY0" fmla="*/ 3120244 h 3120244"/>
                <a:gd name="connsiteX1" fmla="*/ 553664 w 2214654"/>
                <a:gd name="connsiteY1" fmla="*/ 0 h 3120244"/>
                <a:gd name="connsiteX2" fmla="*/ 2214654 w 2214654"/>
                <a:gd name="connsiteY2" fmla="*/ 0 h 3120244"/>
                <a:gd name="connsiteX3" fmla="*/ 1660991 w 2214654"/>
                <a:gd name="connsiteY3" fmla="*/ 3120244 h 3120244"/>
                <a:gd name="connsiteX4" fmla="*/ 0 w 2214654"/>
                <a:gd name="connsiteY4" fmla="*/ 3120244 h 3120244"/>
                <a:gd name="connsiteX0" fmla="*/ 0 w 2214654"/>
                <a:gd name="connsiteY0" fmla="*/ 3120244 h 3120244"/>
                <a:gd name="connsiteX1" fmla="*/ 341522 w 2214654"/>
                <a:gd name="connsiteY1" fmla="*/ 1179181 h 3120244"/>
                <a:gd name="connsiteX2" fmla="*/ 2214654 w 2214654"/>
                <a:gd name="connsiteY2" fmla="*/ 0 h 3120244"/>
                <a:gd name="connsiteX3" fmla="*/ 1660991 w 2214654"/>
                <a:gd name="connsiteY3" fmla="*/ 3120244 h 3120244"/>
                <a:gd name="connsiteX4" fmla="*/ 0 w 2214654"/>
                <a:gd name="connsiteY4" fmla="*/ 3120244 h 3120244"/>
                <a:gd name="connsiteX0" fmla="*/ 0 w 1784436"/>
                <a:gd name="connsiteY0" fmla="*/ 1941063 h 1941063"/>
                <a:gd name="connsiteX1" fmla="*/ 341522 w 1784436"/>
                <a:gd name="connsiteY1" fmla="*/ 0 h 1941063"/>
                <a:gd name="connsiteX2" fmla="*/ 1784436 w 1784436"/>
                <a:gd name="connsiteY2" fmla="*/ 1205605 h 1941063"/>
                <a:gd name="connsiteX3" fmla="*/ 1660991 w 1784436"/>
                <a:gd name="connsiteY3" fmla="*/ 1941063 h 1941063"/>
                <a:gd name="connsiteX4" fmla="*/ 0 w 1784436"/>
                <a:gd name="connsiteY4" fmla="*/ 1941063 h 1941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4436" h="1941063">
                  <a:moveTo>
                    <a:pt x="0" y="1941063"/>
                  </a:moveTo>
                  <a:lnTo>
                    <a:pt x="341522" y="0"/>
                  </a:lnTo>
                  <a:lnTo>
                    <a:pt x="1784436" y="1205605"/>
                  </a:lnTo>
                  <a:lnTo>
                    <a:pt x="1660991" y="1941063"/>
                  </a:lnTo>
                  <a:lnTo>
                    <a:pt x="0" y="1941063"/>
                  </a:lnTo>
                  <a:close/>
                </a:path>
              </a:pathLst>
            </a:cu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Graphic 14">
            <a:extLst>
              <a:ext uri="{FF2B5EF4-FFF2-40B4-BE49-F238E27FC236}">
                <a16:creationId xmlns:a16="http://schemas.microsoft.com/office/drawing/2014/main" id="{0B5606AF-41C6-0137-32A8-807A0A5D0D4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2126331" y="-1062392"/>
            <a:ext cx="2405080" cy="3385097"/>
          </a:xfrm>
          <a:prstGeom prst="rect">
            <a:avLst/>
          </a:prstGeom>
        </p:spPr>
      </p:pic>
      <p:pic>
        <p:nvPicPr>
          <p:cNvPr id="13" name="Picture 12">
            <a:extLst>
              <a:ext uri="{FF2B5EF4-FFF2-40B4-BE49-F238E27FC236}">
                <a16:creationId xmlns:a16="http://schemas.microsoft.com/office/drawing/2014/main" id="{9AF4D5AD-886B-F49D-187E-EF188BA5C869}"/>
              </a:ext>
            </a:extLst>
          </p:cNvPr>
          <p:cNvPicPr>
            <a:picLocks noChangeAspect="1"/>
          </p:cNvPicPr>
          <p:nvPr userDrawn="1"/>
        </p:nvPicPr>
        <p:blipFill>
          <a:blip r:embed="rId6">
            <a:alphaModFix amt="99000"/>
          </a:blip>
          <a:stretch>
            <a:fillRect/>
          </a:stretch>
        </p:blipFill>
        <p:spPr>
          <a:xfrm rot="5400000" flipV="1">
            <a:off x="-2602281" y="2616106"/>
            <a:ext cx="7046892" cy="1814681"/>
          </a:xfrm>
          <a:prstGeom prst="rect">
            <a:avLst/>
          </a:prstGeom>
        </p:spPr>
      </p:pic>
      <p:pic>
        <p:nvPicPr>
          <p:cNvPr id="16" name="Graphic 15">
            <a:extLst>
              <a:ext uri="{FF2B5EF4-FFF2-40B4-BE49-F238E27FC236}">
                <a16:creationId xmlns:a16="http://schemas.microsoft.com/office/drawing/2014/main" id="{ADB128DF-CD31-0CEB-4D7C-71A65806236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rot="10800000">
            <a:off x="283211" y="3743462"/>
            <a:ext cx="2080701" cy="2978013"/>
          </a:xfrm>
          <a:prstGeom prst="rect">
            <a:avLst/>
          </a:prstGeom>
        </p:spPr>
      </p:pic>
      <p:pic>
        <p:nvPicPr>
          <p:cNvPr id="25" name="Graphic 24">
            <a:extLst>
              <a:ext uri="{FF2B5EF4-FFF2-40B4-BE49-F238E27FC236}">
                <a16:creationId xmlns:a16="http://schemas.microsoft.com/office/drawing/2014/main" id="{3FF214BE-EBD1-4C75-B559-2A68D3A7182D}"/>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rot="5400000">
            <a:off x="1830037" y="6046777"/>
            <a:ext cx="419100" cy="790575"/>
          </a:xfrm>
          <a:prstGeom prst="rect">
            <a:avLst/>
          </a:prstGeom>
        </p:spPr>
      </p:pic>
    </p:spTree>
    <p:extLst>
      <p:ext uri="{BB962C8B-B14F-4D97-AF65-F5344CB8AC3E}">
        <p14:creationId xmlns:p14="http://schemas.microsoft.com/office/powerpoint/2010/main" val="864249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E22F56BC-829B-3BC8-96F9-8B26B69F0FD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6333" b="7973"/>
          <a:stretch/>
        </p:blipFill>
        <p:spPr>
          <a:xfrm>
            <a:off x="0" y="0"/>
            <a:ext cx="12192000" cy="6858000"/>
          </a:xfrm>
          <a:prstGeom prst="rect">
            <a:avLst/>
          </a:prstGeom>
        </p:spPr>
      </p:pic>
      <p:sp>
        <p:nvSpPr>
          <p:cNvPr id="34" name="Rectangle 33">
            <a:extLst>
              <a:ext uri="{FF2B5EF4-FFF2-40B4-BE49-F238E27FC236}">
                <a16:creationId xmlns:a16="http://schemas.microsoft.com/office/drawing/2014/main" id="{6D44EBC3-45F4-19C6-0AEB-16C907B4BCB5}"/>
              </a:ext>
            </a:extLst>
          </p:cNvPr>
          <p:cNvSpPr/>
          <p:nvPr userDrawn="1"/>
        </p:nvSpPr>
        <p:spPr>
          <a:xfrm>
            <a:off x="0" y="1"/>
            <a:ext cx="12192000" cy="6858000"/>
          </a:xfrm>
          <a:prstGeom prst="rect">
            <a:avLst/>
          </a:prstGeom>
          <a:gradFill flip="none" rotWithShape="1">
            <a:gsLst>
              <a:gs pos="12000">
                <a:srgbClr val="6C1D35">
                  <a:alpha val="68000"/>
                </a:srgbClr>
              </a:gs>
              <a:gs pos="77000">
                <a:schemeClr val="accent1">
                  <a:lumMod val="75000"/>
                </a:schemeClr>
              </a:gs>
            </a:gsLst>
            <a:lin ang="135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6528AE63-F58B-C295-2F24-0E7B07553C61}"/>
              </a:ext>
            </a:extLst>
          </p:cNvPr>
          <p:cNvSpPr>
            <a:spLocks noGrp="1"/>
          </p:cNvSpPr>
          <p:nvPr>
            <p:ph type="dt" sz="half" idx="10"/>
          </p:nvPr>
        </p:nvSpPr>
        <p:spPr/>
        <p:txBody>
          <a:bodyPr/>
          <a:lstStyle/>
          <a:p>
            <a:fld id="{EF9959E7-45DE-4A2D-ACFD-0D8C8BBAB79F}" type="datetimeFigureOut">
              <a:rPr lang="en-US" smtClean="0"/>
              <a:t>1/21/2026</a:t>
            </a:fld>
            <a:endParaRPr lang="en-US"/>
          </a:p>
        </p:txBody>
      </p:sp>
      <p:sp>
        <p:nvSpPr>
          <p:cNvPr id="4" name="Footer Placeholder 3">
            <a:extLst>
              <a:ext uri="{FF2B5EF4-FFF2-40B4-BE49-F238E27FC236}">
                <a16:creationId xmlns:a16="http://schemas.microsoft.com/office/drawing/2014/main" id="{62D40798-1691-00D6-C3D9-64CC3EB826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1A835F-2749-4B9F-A9CB-5E0BF4302B2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41" name="Graphic 40">
            <a:extLst>
              <a:ext uri="{FF2B5EF4-FFF2-40B4-BE49-F238E27FC236}">
                <a16:creationId xmlns:a16="http://schemas.microsoft.com/office/drawing/2014/main" id="{BBA782F0-1339-9AD7-88E8-E482862A0C7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7112000" y="-35081"/>
            <a:ext cx="4917440" cy="6921189"/>
          </a:xfrm>
          <a:prstGeom prst="rect">
            <a:avLst/>
          </a:prstGeom>
        </p:spPr>
      </p:pic>
      <p:pic>
        <p:nvPicPr>
          <p:cNvPr id="42" name="Graphic 41">
            <a:extLst>
              <a:ext uri="{FF2B5EF4-FFF2-40B4-BE49-F238E27FC236}">
                <a16:creationId xmlns:a16="http://schemas.microsoft.com/office/drawing/2014/main" id="{955F31CF-FB2A-3612-E2CA-58665EF22E3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11268262" y="349094"/>
            <a:ext cx="2010036" cy="2829081"/>
          </a:xfrm>
          <a:prstGeom prst="rect">
            <a:avLst/>
          </a:prstGeom>
        </p:spPr>
      </p:pic>
    </p:spTree>
    <p:extLst>
      <p:ext uri="{BB962C8B-B14F-4D97-AF65-F5344CB8AC3E}">
        <p14:creationId xmlns:p14="http://schemas.microsoft.com/office/powerpoint/2010/main" val="1186884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d pag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9A0EB9F-5240-3366-0373-E8B7C3C2A4FE}"/>
              </a:ext>
            </a:extLst>
          </p:cNvPr>
          <p:cNvSpPr/>
          <p:nvPr userDrawn="1"/>
        </p:nvSpPr>
        <p:spPr>
          <a:xfrm>
            <a:off x="0" y="-2"/>
            <a:ext cx="12230100" cy="6858001"/>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BAF7B2D7-FB34-55B3-113A-7F96DDA7A845}"/>
              </a:ext>
            </a:extLst>
          </p:cNvPr>
          <p:cNvPicPr>
            <a:picLocks noChangeAspect="1"/>
          </p:cNvPicPr>
          <p:nvPr userDrawn="1"/>
        </p:nvPicPr>
        <p:blipFill rotWithShape="1">
          <a:blip r:embed="rId2">
            <a:alphaModFix amt="32000"/>
            <a:extLst>
              <a:ext uri="{28A0092B-C50C-407E-A947-70E740481C1C}">
                <a14:useLocalDpi xmlns:a14="http://schemas.microsoft.com/office/drawing/2010/main" val="0"/>
              </a:ext>
            </a:extLst>
          </a:blip>
          <a:srcRect l="20647"/>
          <a:stretch/>
        </p:blipFill>
        <p:spPr>
          <a:xfrm rot="16200000">
            <a:off x="2686050" y="-2686050"/>
            <a:ext cx="6858000" cy="12230100"/>
          </a:xfrm>
          <a:prstGeom prst="rect">
            <a:avLst/>
          </a:prstGeom>
        </p:spPr>
      </p:pic>
      <p:sp>
        <p:nvSpPr>
          <p:cNvPr id="3" name="Date Placeholder 2">
            <a:extLst>
              <a:ext uri="{FF2B5EF4-FFF2-40B4-BE49-F238E27FC236}">
                <a16:creationId xmlns:a16="http://schemas.microsoft.com/office/drawing/2014/main" id="{837B2BBA-3015-27B9-D210-D15544F2C44D}"/>
              </a:ext>
            </a:extLst>
          </p:cNvPr>
          <p:cNvSpPr>
            <a:spLocks noGrp="1"/>
          </p:cNvSpPr>
          <p:nvPr>
            <p:ph type="dt" sz="half" idx="10"/>
          </p:nvPr>
        </p:nvSpPr>
        <p:spPr/>
        <p:txBody>
          <a:bodyPr/>
          <a:lstStyle/>
          <a:p>
            <a:fld id="{EF9959E7-45DE-4A2D-ACFD-0D8C8BBAB79F}" type="datetimeFigureOut">
              <a:rPr lang="en-US" smtClean="0"/>
              <a:t>1/21/2026</a:t>
            </a:fld>
            <a:endParaRPr lang="en-US"/>
          </a:p>
        </p:txBody>
      </p:sp>
      <p:sp>
        <p:nvSpPr>
          <p:cNvPr id="4" name="Footer Placeholder 3">
            <a:extLst>
              <a:ext uri="{FF2B5EF4-FFF2-40B4-BE49-F238E27FC236}">
                <a16:creationId xmlns:a16="http://schemas.microsoft.com/office/drawing/2014/main" id="{02FAB71C-4835-3D07-2B7F-A7456A46C5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DE7A9C-9AFC-99CF-42E5-627A58693AE1}"/>
              </a:ext>
            </a:extLst>
          </p:cNvPr>
          <p:cNvSpPr>
            <a:spLocks noGrp="1"/>
          </p:cNvSpPr>
          <p:nvPr>
            <p:ph type="sldNum" sz="quarter" idx="12"/>
          </p:nvPr>
        </p:nvSpPr>
        <p:spPr/>
        <p:txBody>
          <a:bodyPr/>
          <a:lstStyle/>
          <a:p>
            <a:fld id="{B5912E74-8957-4046-8937-1199D0665174}" type="slidenum">
              <a:rPr lang="en-US" smtClean="0"/>
              <a:t>‹#›</a:t>
            </a:fld>
            <a:endParaRPr lang="en-US"/>
          </a:p>
        </p:txBody>
      </p:sp>
    </p:spTree>
    <p:extLst>
      <p:ext uri="{BB962C8B-B14F-4D97-AF65-F5344CB8AC3E}">
        <p14:creationId xmlns:p14="http://schemas.microsoft.com/office/powerpoint/2010/main" val="2395643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ECAB3E7-A192-D902-B47D-B2CC33AF3A17}"/>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grpSp>
        <p:nvGrpSpPr>
          <p:cNvPr id="29" name="Group 28">
            <a:extLst>
              <a:ext uri="{FF2B5EF4-FFF2-40B4-BE49-F238E27FC236}">
                <a16:creationId xmlns:a16="http://schemas.microsoft.com/office/drawing/2014/main" id="{9956ED8E-CF4D-D756-5FA9-5F3263853A9C}"/>
              </a:ext>
            </a:extLst>
          </p:cNvPr>
          <p:cNvGrpSpPr/>
          <p:nvPr userDrawn="1"/>
        </p:nvGrpSpPr>
        <p:grpSpPr>
          <a:xfrm>
            <a:off x="0" y="6438899"/>
            <a:ext cx="4425450" cy="419100"/>
            <a:chOff x="0" y="6438899"/>
            <a:chExt cx="4425450" cy="419100"/>
          </a:xfrm>
        </p:grpSpPr>
        <p:sp>
          <p:nvSpPr>
            <p:cNvPr id="27" name="Rectangle 26">
              <a:extLst>
                <a:ext uri="{FF2B5EF4-FFF2-40B4-BE49-F238E27FC236}">
                  <a16:creationId xmlns:a16="http://schemas.microsoft.com/office/drawing/2014/main" id="{4185CCF7-2507-F40E-2E71-04B5C07C7F09}"/>
                </a:ext>
              </a:extLst>
            </p:cNvPr>
            <p:cNvSpPr/>
            <p:nvPr userDrawn="1"/>
          </p:nvSpPr>
          <p:spPr>
            <a:xfrm>
              <a:off x="0" y="6438900"/>
              <a:ext cx="4115884" cy="41909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Triangle 27">
              <a:extLst>
                <a:ext uri="{FF2B5EF4-FFF2-40B4-BE49-F238E27FC236}">
                  <a16:creationId xmlns:a16="http://schemas.microsoft.com/office/drawing/2014/main" id="{891B4BFE-7090-CB15-ACE2-E76D3D5E6402}"/>
                </a:ext>
              </a:extLst>
            </p:cNvPr>
            <p:cNvSpPr/>
            <p:nvPr userDrawn="1"/>
          </p:nvSpPr>
          <p:spPr>
            <a:xfrm>
              <a:off x="4115884" y="6438899"/>
              <a:ext cx="309566" cy="419100"/>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1796ACF-1284-B0D3-20AC-1A411B0BC639}"/>
              </a:ext>
            </a:extLst>
          </p:cNvPr>
          <p:cNvSpPr>
            <a:spLocks noGrp="1"/>
          </p:cNvSpPr>
          <p:nvPr>
            <p:ph type="title"/>
          </p:nvPr>
        </p:nvSpPr>
        <p:spPr>
          <a:xfrm>
            <a:off x="831850" y="1047751"/>
            <a:ext cx="10515600" cy="1500187"/>
          </a:xfrm>
        </p:spPr>
        <p:txBody>
          <a:bodyPr anchor="t">
            <a:normAutofit/>
          </a:bodyPr>
          <a:lstStyle>
            <a:lvl1pPr>
              <a:defRPr sz="4000">
                <a:latin typeface="+mn-lt"/>
              </a:defRPr>
            </a:lvl1pPr>
          </a:lstStyle>
          <a:p>
            <a:r>
              <a:rPr lang="en-US" dirty="0"/>
              <a:t>Click to edit Master title style</a:t>
            </a:r>
          </a:p>
        </p:txBody>
      </p:sp>
      <p:sp>
        <p:nvSpPr>
          <p:cNvPr id="3" name="Text Placeholder 2">
            <a:extLst>
              <a:ext uri="{FF2B5EF4-FFF2-40B4-BE49-F238E27FC236}">
                <a16:creationId xmlns:a16="http://schemas.microsoft.com/office/drawing/2014/main" id="{CAE66E6B-CFF2-F241-A3D1-4FD4DAC4FAC5}"/>
              </a:ext>
            </a:extLst>
          </p:cNvPr>
          <p:cNvSpPr>
            <a:spLocks noGrp="1"/>
          </p:cNvSpPr>
          <p:nvPr>
            <p:ph type="body" idx="1"/>
          </p:nvPr>
        </p:nvSpPr>
        <p:spPr>
          <a:xfrm>
            <a:off x="831850" y="2814638"/>
            <a:ext cx="10515600" cy="3357562"/>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916DBAF-8EC8-76B5-BD68-4EE498D12AED}"/>
              </a:ext>
            </a:extLst>
          </p:cNvPr>
          <p:cNvSpPr>
            <a:spLocks noGrp="1"/>
          </p:cNvSpPr>
          <p:nvPr>
            <p:ph type="dt" sz="half" idx="10"/>
          </p:nvPr>
        </p:nvSpPr>
        <p:spPr/>
        <p:txBody>
          <a:bodyPr/>
          <a:lstStyle/>
          <a:p>
            <a:fld id="{EF9959E7-45DE-4A2D-ACFD-0D8C8BBAB79F}" type="datetimeFigureOut">
              <a:rPr lang="en-US" smtClean="0"/>
              <a:t>1/21/2026</a:t>
            </a:fld>
            <a:endParaRPr lang="en-US"/>
          </a:p>
        </p:txBody>
      </p:sp>
      <p:sp>
        <p:nvSpPr>
          <p:cNvPr id="5" name="Footer Placeholder 4">
            <a:extLst>
              <a:ext uri="{FF2B5EF4-FFF2-40B4-BE49-F238E27FC236}">
                <a16:creationId xmlns:a16="http://schemas.microsoft.com/office/drawing/2014/main" id="{14FC1A71-0977-DB43-6672-9DD2B43F03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41AA75-9A52-677C-BAAB-361020BE450C}"/>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1" name="Picture 10">
            <a:extLst>
              <a:ext uri="{FF2B5EF4-FFF2-40B4-BE49-F238E27FC236}">
                <a16:creationId xmlns:a16="http://schemas.microsoft.com/office/drawing/2014/main" id="{14CA6469-707B-4B2D-CE38-C2E80563F89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24" name="Group 23">
            <a:extLst>
              <a:ext uri="{FF2B5EF4-FFF2-40B4-BE49-F238E27FC236}">
                <a16:creationId xmlns:a16="http://schemas.microsoft.com/office/drawing/2014/main" id="{DB94ABDC-D409-D0CF-BFD9-E874B46B7EEF}"/>
              </a:ext>
            </a:extLst>
          </p:cNvPr>
          <p:cNvGrpSpPr/>
          <p:nvPr userDrawn="1"/>
        </p:nvGrpSpPr>
        <p:grpSpPr>
          <a:xfrm>
            <a:off x="0" y="0"/>
            <a:ext cx="2135014" cy="390908"/>
            <a:chOff x="0" y="0"/>
            <a:chExt cx="2135014" cy="390908"/>
          </a:xfrm>
        </p:grpSpPr>
        <p:sp>
          <p:nvSpPr>
            <p:cNvPr id="21" name="Rectangle 20">
              <a:extLst>
                <a:ext uri="{FF2B5EF4-FFF2-40B4-BE49-F238E27FC236}">
                  <a16:creationId xmlns:a16="http://schemas.microsoft.com/office/drawing/2014/main" id="{15CC8F0A-14AF-F65B-6D14-A51CBEFF1729}"/>
                </a:ext>
              </a:extLst>
            </p:cNvPr>
            <p:cNvSpPr/>
            <p:nvPr userDrawn="1"/>
          </p:nvSpPr>
          <p:spPr>
            <a:xfrm>
              <a:off x="0" y="1"/>
              <a:ext cx="1921715" cy="3909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7D170A48-ED14-4722-ED48-412F8B7C44AA}"/>
                </a:ext>
              </a:extLst>
            </p:cNvPr>
            <p:cNvSpPr/>
            <p:nvPr userDrawn="1"/>
          </p:nvSpPr>
          <p:spPr>
            <a:xfrm flipV="1">
              <a:off x="1921715" y="0"/>
              <a:ext cx="213299" cy="390907"/>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A4B6D801-7EDC-E981-F405-040472A43AB5}"/>
              </a:ext>
            </a:extLst>
          </p:cNvPr>
          <p:cNvGrpSpPr/>
          <p:nvPr userDrawn="1"/>
        </p:nvGrpSpPr>
        <p:grpSpPr>
          <a:xfrm>
            <a:off x="11930388" y="4900065"/>
            <a:ext cx="261612" cy="1456285"/>
            <a:chOff x="-7479" y="4982614"/>
            <a:chExt cx="261612" cy="1456285"/>
          </a:xfrm>
        </p:grpSpPr>
        <p:sp>
          <p:nvSpPr>
            <p:cNvPr id="32" name="Rectangle 31">
              <a:extLst>
                <a:ext uri="{FF2B5EF4-FFF2-40B4-BE49-F238E27FC236}">
                  <a16:creationId xmlns:a16="http://schemas.microsoft.com/office/drawing/2014/main" id="{790F7BDA-9A67-4500-FC96-D0DCA5669FC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E6D3808A-7510-8E14-D035-56A7CA6C58A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184226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45FB79D-2789-2E82-ACD5-FA141CFFB85B}"/>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sp>
        <p:nvSpPr>
          <p:cNvPr id="2" name="Title 1">
            <a:extLst>
              <a:ext uri="{FF2B5EF4-FFF2-40B4-BE49-F238E27FC236}">
                <a16:creationId xmlns:a16="http://schemas.microsoft.com/office/drawing/2014/main" id="{D306C3F4-36B0-1561-8EFF-3B31A7774228}"/>
              </a:ext>
            </a:extLst>
          </p:cNvPr>
          <p:cNvSpPr>
            <a:spLocks noGrp="1"/>
          </p:cNvSpPr>
          <p:nvPr>
            <p:ph type="ctrTitle"/>
          </p:nvPr>
        </p:nvSpPr>
        <p:spPr>
          <a:xfrm>
            <a:off x="1524000" y="1122363"/>
            <a:ext cx="9144000" cy="1381125"/>
          </a:xfrm>
        </p:spPr>
        <p:txBody>
          <a:bodyPr anchor="t">
            <a:normAutofit/>
          </a:bodyPr>
          <a:lstStyle>
            <a:lvl1pPr algn="l">
              <a:defRPr sz="4000">
                <a:latin typeface="+mn-lt"/>
              </a:defRPr>
            </a:lvl1pPr>
          </a:lstStyle>
          <a:p>
            <a:r>
              <a:rPr lang="en-US" dirty="0"/>
              <a:t>Click to edit Master title style</a:t>
            </a:r>
          </a:p>
        </p:txBody>
      </p:sp>
      <p:sp>
        <p:nvSpPr>
          <p:cNvPr id="3" name="Subtitle 2">
            <a:extLst>
              <a:ext uri="{FF2B5EF4-FFF2-40B4-BE49-F238E27FC236}">
                <a16:creationId xmlns:a16="http://schemas.microsoft.com/office/drawing/2014/main" id="{FDC4E23C-BC64-3E31-C7C9-1CCB71C593F3}"/>
              </a:ext>
            </a:extLst>
          </p:cNvPr>
          <p:cNvSpPr>
            <a:spLocks noGrp="1"/>
          </p:cNvSpPr>
          <p:nvPr>
            <p:ph type="subTitle" idx="1"/>
          </p:nvPr>
        </p:nvSpPr>
        <p:spPr>
          <a:xfrm>
            <a:off x="1524000" y="2601118"/>
            <a:ext cx="9144000" cy="3461751"/>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8BAAB4A-F681-D1CE-536F-A8600B878509}"/>
              </a:ext>
            </a:extLst>
          </p:cNvPr>
          <p:cNvSpPr>
            <a:spLocks noGrp="1"/>
          </p:cNvSpPr>
          <p:nvPr>
            <p:ph type="dt" sz="half" idx="10"/>
          </p:nvPr>
        </p:nvSpPr>
        <p:spPr/>
        <p:txBody>
          <a:bodyPr/>
          <a:lstStyle/>
          <a:p>
            <a:fld id="{EF9959E7-45DE-4A2D-ACFD-0D8C8BBAB79F}" type="datetimeFigureOut">
              <a:rPr lang="en-US" smtClean="0"/>
              <a:t>1/21/2026</a:t>
            </a:fld>
            <a:endParaRPr lang="en-US"/>
          </a:p>
        </p:txBody>
      </p:sp>
      <p:sp>
        <p:nvSpPr>
          <p:cNvPr id="5" name="Footer Placeholder 4">
            <a:extLst>
              <a:ext uri="{FF2B5EF4-FFF2-40B4-BE49-F238E27FC236}">
                <a16:creationId xmlns:a16="http://schemas.microsoft.com/office/drawing/2014/main" id="{5872C815-2D69-C272-C63C-A195EBFE39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D7A072-5E8E-BDBB-35CA-3A355E5D5FFB}"/>
              </a:ext>
            </a:extLst>
          </p:cNvPr>
          <p:cNvSpPr>
            <a:spLocks noGrp="1"/>
          </p:cNvSpPr>
          <p:nvPr>
            <p:ph type="sldNum" sz="quarter" idx="12"/>
          </p:nvPr>
        </p:nvSpPr>
        <p:spPr/>
        <p:txBody>
          <a:bodyPr/>
          <a:lstStyle>
            <a:lvl1pPr>
              <a:defRPr>
                <a:solidFill>
                  <a:srgbClr val="6C1D35"/>
                </a:solidFill>
              </a:defRPr>
            </a:lvl1pPr>
          </a:lstStyle>
          <a:p>
            <a:fld id="{B5912E74-8957-4046-8937-1199D0665174}" type="slidenum">
              <a:rPr lang="en-US" smtClean="0"/>
              <a:pPr/>
              <a:t>‹#›</a:t>
            </a:fld>
            <a:endParaRPr lang="en-US" dirty="0"/>
          </a:p>
        </p:txBody>
      </p:sp>
      <p:pic>
        <p:nvPicPr>
          <p:cNvPr id="7" name="Picture 6">
            <a:extLst>
              <a:ext uri="{FF2B5EF4-FFF2-40B4-BE49-F238E27FC236}">
                <a16:creationId xmlns:a16="http://schemas.microsoft.com/office/drawing/2014/main" id="{1AFB2FEB-1CDE-753F-3231-2131ED23FF1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24" name="Group 23">
            <a:extLst>
              <a:ext uri="{FF2B5EF4-FFF2-40B4-BE49-F238E27FC236}">
                <a16:creationId xmlns:a16="http://schemas.microsoft.com/office/drawing/2014/main" id="{60EA2A08-0768-E840-71C5-CB5BA198C844}"/>
              </a:ext>
            </a:extLst>
          </p:cNvPr>
          <p:cNvGrpSpPr/>
          <p:nvPr userDrawn="1"/>
        </p:nvGrpSpPr>
        <p:grpSpPr>
          <a:xfrm>
            <a:off x="0" y="336866"/>
            <a:ext cx="838200" cy="390908"/>
            <a:chOff x="0" y="585597"/>
            <a:chExt cx="838200" cy="390908"/>
          </a:xfrm>
        </p:grpSpPr>
        <p:sp>
          <p:nvSpPr>
            <p:cNvPr id="22" name="Rectangle 21">
              <a:extLst>
                <a:ext uri="{FF2B5EF4-FFF2-40B4-BE49-F238E27FC236}">
                  <a16:creationId xmlns:a16="http://schemas.microsoft.com/office/drawing/2014/main" id="{87FE56D3-CDFF-99C8-081E-21872711345C}"/>
                </a:ext>
              </a:extLst>
            </p:cNvPr>
            <p:cNvSpPr/>
            <p:nvPr userDrawn="1"/>
          </p:nvSpPr>
          <p:spPr>
            <a:xfrm>
              <a:off x="0" y="585598"/>
              <a:ext cx="624901" cy="3909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55D81439-E4CF-3498-4773-82E6A34DB949}"/>
                </a:ext>
              </a:extLst>
            </p:cNvPr>
            <p:cNvSpPr/>
            <p:nvPr userDrawn="1"/>
          </p:nvSpPr>
          <p:spPr>
            <a:xfrm flipV="1">
              <a:off x="624901" y="585597"/>
              <a:ext cx="213299" cy="390907"/>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4F56CB3B-27D6-0844-017F-CFA08F52311B}"/>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845E31CA-977D-9659-5E4D-1E4EC75ABA70}"/>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B4385F2-2245-0F8C-C446-564E2DE5084A}"/>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2065987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5386308-8E2B-C701-D9C5-CFF5B6D9F8D4}"/>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2" name="Title 1">
            <a:extLst>
              <a:ext uri="{FF2B5EF4-FFF2-40B4-BE49-F238E27FC236}">
                <a16:creationId xmlns:a16="http://schemas.microsoft.com/office/drawing/2014/main" id="{048221F6-B30E-6574-4F98-77B2C4903734}"/>
              </a:ext>
            </a:extLst>
          </p:cNvPr>
          <p:cNvSpPr>
            <a:spLocks noGrp="1"/>
          </p:cNvSpPr>
          <p:nvPr>
            <p:ph type="title"/>
          </p:nvPr>
        </p:nvSpPr>
        <p:spPr/>
        <p:txBody>
          <a:bodyPr>
            <a:normAutofit/>
          </a:bodyPr>
          <a:lstStyle>
            <a:lvl1pPr algn="ctr">
              <a:defRPr sz="40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ADB6BEFF-E786-80CC-C462-EC9F1C9C357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7B6CF37-673E-EFC4-46AD-C8B8CC64E1D0}"/>
              </a:ext>
            </a:extLst>
          </p:cNvPr>
          <p:cNvSpPr>
            <a:spLocks noGrp="1"/>
          </p:cNvSpPr>
          <p:nvPr>
            <p:ph type="dt" sz="half" idx="10"/>
          </p:nvPr>
        </p:nvSpPr>
        <p:spPr/>
        <p:txBody>
          <a:bodyPr/>
          <a:lstStyle/>
          <a:p>
            <a:fld id="{EF9959E7-45DE-4A2D-ACFD-0D8C8BBAB79F}" type="datetimeFigureOut">
              <a:rPr lang="en-US" smtClean="0"/>
              <a:t>1/21/2026</a:t>
            </a:fld>
            <a:endParaRPr lang="en-US"/>
          </a:p>
        </p:txBody>
      </p:sp>
      <p:sp>
        <p:nvSpPr>
          <p:cNvPr id="5" name="Footer Placeholder 4">
            <a:extLst>
              <a:ext uri="{FF2B5EF4-FFF2-40B4-BE49-F238E27FC236}">
                <a16:creationId xmlns:a16="http://schemas.microsoft.com/office/drawing/2014/main" id="{9C3B8A85-2B88-6B89-6CF8-4D396AB7B4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84774E-879A-AA6A-5AEF-0FD775B9793F}"/>
              </a:ext>
            </a:extLst>
          </p:cNvPr>
          <p:cNvSpPr>
            <a:spLocks noGrp="1"/>
          </p:cNvSpPr>
          <p:nvPr>
            <p:ph type="sldNum" sz="quarter" idx="12"/>
          </p:nvPr>
        </p:nvSpPr>
        <p:spPr/>
        <p:txBody>
          <a:bodyPr/>
          <a:lstStyle/>
          <a:p>
            <a:fld id="{B5912E74-8957-4046-8937-1199D0665174}" type="slidenum">
              <a:rPr lang="en-US" smtClean="0"/>
              <a:t>‹#›</a:t>
            </a:fld>
            <a:endParaRPr lang="en-US"/>
          </a:p>
        </p:txBody>
      </p:sp>
      <p:sp>
        <p:nvSpPr>
          <p:cNvPr id="8" name="Rectangle 7">
            <a:extLst>
              <a:ext uri="{FF2B5EF4-FFF2-40B4-BE49-F238E27FC236}">
                <a16:creationId xmlns:a16="http://schemas.microsoft.com/office/drawing/2014/main" id="{68F9B18A-4C13-213C-5ECD-7D00902A82F8}"/>
              </a:ext>
            </a:extLst>
          </p:cNvPr>
          <p:cNvSpPr/>
          <p:nvPr userDrawn="1"/>
        </p:nvSpPr>
        <p:spPr>
          <a:xfrm>
            <a:off x="3894421" y="21431"/>
            <a:ext cx="4460168" cy="2565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B8A0DAC0-1D7C-425C-A3EA-189775AB007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1" name="Rectangle 10">
            <a:extLst>
              <a:ext uri="{FF2B5EF4-FFF2-40B4-BE49-F238E27FC236}">
                <a16:creationId xmlns:a16="http://schemas.microsoft.com/office/drawing/2014/main" id="{73A6FB34-FC21-998E-F2ED-B41CC15A4311}"/>
              </a:ext>
            </a:extLst>
          </p:cNvPr>
          <p:cNvSpPr/>
          <p:nvPr userDrawn="1"/>
        </p:nvSpPr>
        <p:spPr>
          <a:xfrm>
            <a:off x="-1" y="6808662"/>
            <a:ext cx="12249013" cy="10897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191E5DFC-83E6-86F2-21A3-C9353A831D94}"/>
              </a:ext>
            </a:extLst>
          </p:cNvPr>
          <p:cNvGrpSpPr/>
          <p:nvPr userDrawn="1"/>
        </p:nvGrpSpPr>
        <p:grpSpPr>
          <a:xfrm>
            <a:off x="11930388" y="4900065"/>
            <a:ext cx="261612" cy="1456285"/>
            <a:chOff x="-7479" y="4982614"/>
            <a:chExt cx="261612" cy="1456285"/>
          </a:xfrm>
        </p:grpSpPr>
        <p:sp>
          <p:nvSpPr>
            <p:cNvPr id="9" name="Rectangle 8">
              <a:extLst>
                <a:ext uri="{FF2B5EF4-FFF2-40B4-BE49-F238E27FC236}">
                  <a16:creationId xmlns:a16="http://schemas.microsoft.com/office/drawing/2014/main" id="{00E6CDA0-D409-8B80-7C3D-EE78328F12C7}"/>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1DCC3F2-36B2-C662-DECB-01503AFCAA9E}"/>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2848066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660D2230-4C54-C188-62C4-95CC76262BA7}"/>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11" name="Rectangle 10">
            <a:extLst>
              <a:ext uri="{FF2B5EF4-FFF2-40B4-BE49-F238E27FC236}">
                <a16:creationId xmlns:a16="http://schemas.microsoft.com/office/drawing/2014/main" id="{1466CAA0-852B-2260-4E79-4DCDC5D3C474}"/>
              </a:ext>
            </a:extLst>
          </p:cNvPr>
          <p:cNvSpPr/>
          <p:nvPr userDrawn="1"/>
        </p:nvSpPr>
        <p:spPr>
          <a:xfrm>
            <a:off x="-38100" y="1690688"/>
            <a:ext cx="12230100" cy="5167312"/>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D09984-B07C-717A-A1FC-A0212B127BE0}"/>
              </a:ext>
            </a:extLst>
          </p:cNvPr>
          <p:cNvSpPr>
            <a:spLocks noGrp="1"/>
          </p:cNvSpPr>
          <p:nvPr>
            <p:ph type="title"/>
          </p:nvPr>
        </p:nvSpPr>
        <p:spPr/>
        <p:txBody>
          <a:bodyPr>
            <a:normAutofit/>
          </a:bodyPr>
          <a:lstStyle>
            <a:lvl1pPr>
              <a:defRPr sz="40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D7D56CC2-F4AE-C871-25CA-0693B8E51D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04C4D5-028B-CF4F-DB83-2E7DAE1451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84ECB3-6230-1C4A-4271-8B1B329A9B88}"/>
              </a:ext>
            </a:extLst>
          </p:cNvPr>
          <p:cNvSpPr>
            <a:spLocks noGrp="1"/>
          </p:cNvSpPr>
          <p:nvPr>
            <p:ph type="dt" sz="half" idx="10"/>
          </p:nvPr>
        </p:nvSpPr>
        <p:spPr/>
        <p:txBody>
          <a:bodyPr/>
          <a:lstStyle/>
          <a:p>
            <a:fld id="{EF9959E7-45DE-4A2D-ACFD-0D8C8BBAB79F}" type="datetimeFigureOut">
              <a:rPr lang="en-US" smtClean="0"/>
              <a:t>1/21/2026</a:t>
            </a:fld>
            <a:endParaRPr lang="en-US"/>
          </a:p>
        </p:txBody>
      </p:sp>
      <p:sp>
        <p:nvSpPr>
          <p:cNvPr id="6" name="Footer Placeholder 5">
            <a:extLst>
              <a:ext uri="{FF2B5EF4-FFF2-40B4-BE49-F238E27FC236}">
                <a16:creationId xmlns:a16="http://schemas.microsoft.com/office/drawing/2014/main" id="{A9D0EBE9-6EE3-30E5-37E9-966CEBBA44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D42C9F-71DE-08A3-B2D8-60F040A88956}"/>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0" name="Picture 9">
            <a:extLst>
              <a:ext uri="{FF2B5EF4-FFF2-40B4-BE49-F238E27FC236}">
                <a16:creationId xmlns:a16="http://schemas.microsoft.com/office/drawing/2014/main" id="{431BACEB-C3CA-5C73-C1CD-7E28828923B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8" name="Group 7">
            <a:extLst>
              <a:ext uri="{FF2B5EF4-FFF2-40B4-BE49-F238E27FC236}">
                <a16:creationId xmlns:a16="http://schemas.microsoft.com/office/drawing/2014/main" id="{F32450C2-7E85-EAB2-8C8F-8B13B9657507}"/>
              </a:ext>
            </a:extLst>
          </p:cNvPr>
          <p:cNvGrpSpPr/>
          <p:nvPr userDrawn="1"/>
        </p:nvGrpSpPr>
        <p:grpSpPr>
          <a:xfrm>
            <a:off x="11930388" y="4900065"/>
            <a:ext cx="261612" cy="1456285"/>
            <a:chOff x="-7479" y="4982614"/>
            <a:chExt cx="261612" cy="1456285"/>
          </a:xfrm>
        </p:grpSpPr>
        <p:sp>
          <p:nvSpPr>
            <p:cNvPr id="9" name="Rectangle 8">
              <a:extLst>
                <a:ext uri="{FF2B5EF4-FFF2-40B4-BE49-F238E27FC236}">
                  <a16:creationId xmlns:a16="http://schemas.microsoft.com/office/drawing/2014/main" id="{E593644A-0A35-6B8C-F216-AC1945DFC79E}"/>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A806244-EF9A-642C-8573-A2BFA17DB33E}"/>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16536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F169F28-4F60-04EA-2355-80F723258DB7}"/>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sp>
        <p:nvSpPr>
          <p:cNvPr id="2" name="Title 1">
            <a:extLst>
              <a:ext uri="{FF2B5EF4-FFF2-40B4-BE49-F238E27FC236}">
                <a16:creationId xmlns:a16="http://schemas.microsoft.com/office/drawing/2014/main" id="{D7D3BD4A-F379-8CFF-EBD6-707DD0E70908}"/>
              </a:ext>
            </a:extLst>
          </p:cNvPr>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FD159623-7488-E134-22F1-5329048ED4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9D7D39-C4CD-9439-3408-FF0BFA1B11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750B8F-83C3-D985-5919-F1A3FDF4D0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CCF953-DD56-9B85-AB4B-B9C9F0FF06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D25C81-2863-04F8-8182-D218BA273C24}"/>
              </a:ext>
            </a:extLst>
          </p:cNvPr>
          <p:cNvSpPr>
            <a:spLocks noGrp="1"/>
          </p:cNvSpPr>
          <p:nvPr>
            <p:ph type="dt" sz="half" idx="10"/>
          </p:nvPr>
        </p:nvSpPr>
        <p:spPr/>
        <p:txBody>
          <a:bodyPr/>
          <a:lstStyle/>
          <a:p>
            <a:fld id="{EF9959E7-45DE-4A2D-ACFD-0D8C8BBAB79F}" type="datetimeFigureOut">
              <a:rPr lang="en-US" smtClean="0"/>
              <a:t>1/21/2026</a:t>
            </a:fld>
            <a:endParaRPr lang="en-US"/>
          </a:p>
        </p:txBody>
      </p:sp>
      <p:sp>
        <p:nvSpPr>
          <p:cNvPr id="8" name="Footer Placeholder 7">
            <a:extLst>
              <a:ext uri="{FF2B5EF4-FFF2-40B4-BE49-F238E27FC236}">
                <a16:creationId xmlns:a16="http://schemas.microsoft.com/office/drawing/2014/main" id="{A3A521E1-8180-A360-8696-A84620A87D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3D6C59-8054-7190-9FD8-FAA596348D42}"/>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2" name="Picture 11">
            <a:extLst>
              <a:ext uri="{FF2B5EF4-FFF2-40B4-BE49-F238E27FC236}">
                <a16:creationId xmlns:a16="http://schemas.microsoft.com/office/drawing/2014/main" id="{C023B567-24C2-C088-6F75-913992BE2D8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5" name="Rectangle 14">
            <a:extLst>
              <a:ext uri="{FF2B5EF4-FFF2-40B4-BE49-F238E27FC236}">
                <a16:creationId xmlns:a16="http://schemas.microsoft.com/office/drawing/2014/main" id="{A32B20C0-22D4-422D-2940-7F540F191BF7}"/>
              </a:ext>
            </a:extLst>
          </p:cNvPr>
          <p:cNvSpPr/>
          <p:nvPr userDrawn="1"/>
        </p:nvSpPr>
        <p:spPr>
          <a:xfrm>
            <a:off x="6764" y="342265"/>
            <a:ext cx="10269639" cy="4571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1870257A-EF80-EF1A-EE95-68EB9FBC2F71}"/>
              </a:ext>
            </a:extLst>
          </p:cNvPr>
          <p:cNvGrpSpPr/>
          <p:nvPr userDrawn="1"/>
        </p:nvGrpSpPr>
        <p:grpSpPr>
          <a:xfrm>
            <a:off x="11930388" y="4900065"/>
            <a:ext cx="261612" cy="1456285"/>
            <a:chOff x="-7479" y="4982614"/>
            <a:chExt cx="261612" cy="1456285"/>
          </a:xfrm>
        </p:grpSpPr>
        <p:sp>
          <p:nvSpPr>
            <p:cNvPr id="13" name="Rectangle 12">
              <a:extLst>
                <a:ext uri="{FF2B5EF4-FFF2-40B4-BE49-F238E27FC236}">
                  <a16:creationId xmlns:a16="http://schemas.microsoft.com/office/drawing/2014/main" id="{BAEA7E83-8757-44B8-B8ED-EFD855548FA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603E4A3-2F29-E99E-59AA-19FD2D71718A}"/>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140199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C5A05E41-FECA-555C-4DA5-FBDABE88EAD3}"/>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grpSp>
        <p:nvGrpSpPr>
          <p:cNvPr id="13" name="Group 12">
            <a:extLst>
              <a:ext uri="{FF2B5EF4-FFF2-40B4-BE49-F238E27FC236}">
                <a16:creationId xmlns:a16="http://schemas.microsoft.com/office/drawing/2014/main" id="{6EFDB3D2-BABB-4614-ACBD-74206D54EFA7}"/>
              </a:ext>
            </a:extLst>
          </p:cNvPr>
          <p:cNvGrpSpPr/>
          <p:nvPr userDrawn="1"/>
        </p:nvGrpSpPr>
        <p:grpSpPr>
          <a:xfrm flipH="1">
            <a:off x="8896479" y="6438899"/>
            <a:ext cx="3295521" cy="419101"/>
            <a:chOff x="0" y="6438899"/>
            <a:chExt cx="4425450" cy="419100"/>
          </a:xfrm>
        </p:grpSpPr>
        <p:sp>
          <p:nvSpPr>
            <p:cNvPr id="14" name="Rectangle 13">
              <a:extLst>
                <a:ext uri="{FF2B5EF4-FFF2-40B4-BE49-F238E27FC236}">
                  <a16:creationId xmlns:a16="http://schemas.microsoft.com/office/drawing/2014/main" id="{B3C9DBE5-42FF-593C-82CE-C4B2774E3AD0}"/>
                </a:ext>
              </a:extLst>
            </p:cNvPr>
            <p:cNvSpPr/>
            <p:nvPr userDrawn="1"/>
          </p:nvSpPr>
          <p:spPr>
            <a:xfrm>
              <a:off x="0" y="6438900"/>
              <a:ext cx="4115884" cy="41909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ight Triangle 14">
              <a:extLst>
                <a:ext uri="{FF2B5EF4-FFF2-40B4-BE49-F238E27FC236}">
                  <a16:creationId xmlns:a16="http://schemas.microsoft.com/office/drawing/2014/main" id="{D8516993-C2D5-28D4-6E6E-D3A5B19FD20F}"/>
                </a:ext>
              </a:extLst>
            </p:cNvPr>
            <p:cNvSpPr/>
            <p:nvPr userDrawn="1"/>
          </p:nvSpPr>
          <p:spPr>
            <a:xfrm>
              <a:off x="4115884" y="6438899"/>
              <a:ext cx="309566" cy="419100"/>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EB218D0-0E4A-6601-1430-D75D1D89819B}"/>
              </a:ext>
            </a:extLst>
          </p:cNvPr>
          <p:cNvSpPr>
            <a:spLocks noGrp="1"/>
          </p:cNvSpPr>
          <p:nvPr>
            <p:ph type="title"/>
          </p:nvPr>
        </p:nvSpPr>
        <p:spPr>
          <a:xfrm>
            <a:off x="1364974" y="2766218"/>
            <a:ext cx="10515600" cy="1325563"/>
          </a:xfrm>
        </p:spPr>
        <p:txBody>
          <a:bodyPr/>
          <a:lstStyle>
            <a:lvl1pPr>
              <a:defRPr>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65407DD1-72E8-53B4-A8B5-16105BC66947}"/>
              </a:ext>
            </a:extLst>
          </p:cNvPr>
          <p:cNvSpPr>
            <a:spLocks noGrp="1"/>
          </p:cNvSpPr>
          <p:nvPr>
            <p:ph type="dt" sz="half" idx="10"/>
          </p:nvPr>
        </p:nvSpPr>
        <p:spPr/>
        <p:txBody>
          <a:bodyPr/>
          <a:lstStyle/>
          <a:p>
            <a:fld id="{EF9959E7-45DE-4A2D-ACFD-0D8C8BBAB79F}" type="datetimeFigureOut">
              <a:rPr lang="en-US" smtClean="0"/>
              <a:t>1/21/2026</a:t>
            </a:fld>
            <a:endParaRPr lang="en-US"/>
          </a:p>
        </p:txBody>
      </p:sp>
      <p:sp>
        <p:nvSpPr>
          <p:cNvPr id="4" name="Footer Placeholder 3">
            <a:extLst>
              <a:ext uri="{FF2B5EF4-FFF2-40B4-BE49-F238E27FC236}">
                <a16:creationId xmlns:a16="http://schemas.microsoft.com/office/drawing/2014/main" id="{F3621DE3-618B-CDA6-C30A-1DB7F4E9C6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568125-E5E8-EEE2-D064-3848DBBA63B9}"/>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0" name="Picture 9">
            <a:extLst>
              <a:ext uri="{FF2B5EF4-FFF2-40B4-BE49-F238E27FC236}">
                <a16:creationId xmlns:a16="http://schemas.microsoft.com/office/drawing/2014/main" id="{19F13517-FB38-BE9B-5A77-235BBF8CE80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6" name="Group 5">
            <a:extLst>
              <a:ext uri="{FF2B5EF4-FFF2-40B4-BE49-F238E27FC236}">
                <a16:creationId xmlns:a16="http://schemas.microsoft.com/office/drawing/2014/main" id="{715FA5D2-1257-770C-1E2F-2CCA5238FD2A}"/>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F29FA834-B150-3245-D347-588904243A5E}"/>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8EF11FA-4280-83FF-5E5F-70581310F2C4}"/>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1611669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C80EC996-29B5-35CD-CAA8-09FAAB535A3F}"/>
              </a:ext>
            </a:extLst>
          </p:cNvPr>
          <p:cNvPicPr>
            <a:picLocks noChangeAspect="1"/>
          </p:cNvPicPr>
          <p:nvPr userDrawn="1"/>
        </p:nvPicPr>
        <p:blipFill>
          <a:blip r:embed="rId2"/>
          <a:stretch>
            <a:fillRect/>
          </a:stretch>
        </p:blipFill>
        <p:spPr>
          <a:xfrm rot="10800000" flipV="1">
            <a:off x="4713261" y="1270"/>
            <a:ext cx="7112053" cy="1831461"/>
          </a:xfrm>
          <a:prstGeom prst="rect">
            <a:avLst/>
          </a:prstGeom>
        </p:spPr>
      </p:pic>
      <p:sp>
        <p:nvSpPr>
          <p:cNvPr id="10" name="Rectangle 9">
            <a:extLst>
              <a:ext uri="{FF2B5EF4-FFF2-40B4-BE49-F238E27FC236}">
                <a16:creationId xmlns:a16="http://schemas.microsoft.com/office/drawing/2014/main" id="{C4E085B5-6456-E991-6904-BB25D1005185}"/>
              </a:ext>
            </a:extLst>
          </p:cNvPr>
          <p:cNvSpPr/>
          <p:nvPr userDrawn="1"/>
        </p:nvSpPr>
        <p:spPr>
          <a:xfrm>
            <a:off x="-38099" y="0"/>
            <a:ext cx="4764088" cy="6858000"/>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B5AF6C-3A58-DD89-B778-7C9B4E4937D6}"/>
              </a:ext>
            </a:extLst>
          </p:cNvPr>
          <p:cNvSpPr>
            <a:spLocks noGrp="1"/>
          </p:cNvSpPr>
          <p:nvPr>
            <p:ph type="title"/>
          </p:nvPr>
        </p:nvSpPr>
        <p:spPr>
          <a:xfrm>
            <a:off x="839788" y="457200"/>
            <a:ext cx="3771969" cy="1600200"/>
          </a:xfrm>
        </p:spPr>
        <p:txBody>
          <a:bodyPr anchor="b">
            <a:normAutofit/>
          </a:bodyPr>
          <a:lstStyle>
            <a:lvl1pPr>
              <a:defRPr sz="28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4C730643-5DEF-0301-05FB-43BFE78104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C84E7D-D23B-8AA6-561F-6482F0A1224C}"/>
              </a:ext>
            </a:extLst>
          </p:cNvPr>
          <p:cNvSpPr>
            <a:spLocks noGrp="1"/>
          </p:cNvSpPr>
          <p:nvPr>
            <p:ph type="body" sz="half" idx="2"/>
          </p:nvPr>
        </p:nvSpPr>
        <p:spPr>
          <a:xfrm>
            <a:off x="839788" y="2057400"/>
            <a:ext cx="377196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060D1C3-135E-09A0-2E54-EFBC9A5D9940}"/>
              </a:ext>
            </a:extLst>
          </p:cNvPr>
          <p:cNvSpPr>
            <a:spLocks noGrp="1"/>
          </p:cNvSpPr>
          <p:nvPr>
            <p:ph type="dt" sz="half" idx="10"/>
          </p:nvPr>
        </p:nvSpPr>
        <p:spPr/>
        <p:txBody>
          <a:bodyPr/>
          <a:lstStyle/>
          <a:p>
            <a:fld id="{EF9959E7-45DE-4A2D-ACFD-0D8C8BBAB79F}" type="datetimeFigureOut">
              <a:rPr lang="en-US" smtClean="0"/>
              <a:t>1/21/2026</a:t>
            </a:fld>
            <a:endParaRPr lang="en-US"/>
          </a:p>
        </p:txBody>
      </p:sp>
      <p:sp>
        <p:nvSpPr>
          <p:cNvPr id="6" name="Footer Placeholder 5">
            <a:extLst>
              <a:ext uri="{FF2B5EF4-FFF2-40B4-BE49-F238E27FC236}">
                <a16:creationId xmlns:a16="http://schemas.microsoft.com/office/drawing/2014/main" id="{B1E11F67-329D-954C-CD5C-1AA093EC26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5EB87E-06D7-61E3-D9E0-49BF14B3E008}"/>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9" name="Picture 8">
            <a:extLst>
              <a:ext uri="{FF2B5EF4-FFF2-40B4-BE49-F238E27FC236}">
                <a16:creationId xmlns:a16="http://schemas.microsoft.com/office/drawing/2014/main" id="{0C8EA7C3-CAA4-9F46-F633-CAA69D61B61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1" name="Rectangle 10">
            <a:extLst>
              <a:ext uri="{FF2B5EF4-FFF2-40B4-BE49-F238E27FC236}">
                <a16:creationId xmlns:a16="http://schemas.microsoft.com/office/drawing/2014/main" id="{7DD1F696-3383-CCD0-5F6F-4B9E89375262}"/>
              </a:ext>
            </a:extLst>
          </p:cNvPr>
          <p:cNvSpPr/>
          <p:nvPr userDrawn="1"/>
        </p:nvSpPr>
        <p:spPr>
          <a:xfrm rot="5400000">
            <a:off x="1324286" y="3399184"/>
            <a:ext cx="6858000" cy="5963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7DF8517-697A-D659-D645-CCC025297F18}"/>
              </a:ext>
            </a:extLst>
          </p:cNvPr>
          <p:cNvGrpSpPr/>
          <p:nvPr userDrawn="1"/>
        </p:nvGrpSpPr>
        <p:grpSpPr>
          <a:xfrm>
            <a:off x="11930388" y="4900065"/>
            <a:ext cx="261612" cy="1456285"/>
            <a:chOff x="-7479" y="4982614"/>
            <a:chExt cx="261612" cy="1456285"/>
          </a:xfrm>
        </p:grpSpPr>
        <p:sp>
          <p:nvSpPr>
            <p:cNvPr id="12" name="Rectangle 11">
              <a:extLst>
                <a:ext uri="{FF2B5EF4-FFF2-40B4-BE49-F238E27FC236}">
                  <a16:creationId xmlns:a16="http://schemas.microsoft.com/office/drawing/2014/main" id="{028F6DD2-968A-9801-9B22-22DBD1C894E0}"/>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F835E16-0810-A050-7387-E04FC0CFD8C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41201097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BDE0F43-CB86-1C9B-53B1-54930B9BBDB8}"/>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2" name="Date Placeholder 1">
            <a:extLst>
              <a:ext uri="{FF2B5EF4-FFF2-40B4-BE49-F238E27FC236}">
                <a16:creationId xmlns:a16="http://schemas.microsoft.com/office/drawing/2014/main" id="{C938C0B1-8B0B-33DB-42B1-6BBD5950DE08}"/>
              </a:ext>
            </a:extLst>
          </p:cNvPr>
          <p:cNvSpPr>
            <a:spLocks noGrp="1"/>
          </p:cNvSpPr>
          <p:nvPr>
            <p:ph type="dt" sz="half" idx="10"/>
          </p:nvPr>
        </p:nvSpPr>
        <p:spPr/>
        <p:txBody>
          <a:bodyPr/>
          <a:lstStyle/>
          <a:p>
            <a:fld id="{EF9959E7-45DE-4A2D-ACFD-0D8C8BBAB79F}" type="datetimeFigureOut">
              <a:rPr lang="en-US" smtClean="0"/>
              <a:t>1/21/2026</a:t>
            </a:fld>
            <a:endParaRPr lang="en-US"/>
          </a:p>
        </p:txBody>
      </p:sp>
      <p:sp>
        <p:nvSpPr>
          <p:cNvPr id="3" name="Footer Placeholder 2">
            <a:extLst>
              <a:ext uri="{FF2B5EF4-FFF2-40B4-BE49-F238E27FC236}">
                <a16:creationId xmlns:a16="http://schemas.microsoft.com/office/drawing/2014/main" id="{E07F86FD-0946-30C8-BC74-577779A4D6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2CEAC2-352E-92E4-C579-C2A59B6940E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6" name="Picture 5">
            <a:extLst>
              <a:ext uri="{FF2B5EF4-FFF2-40B4-BE49-F238E27FC236}">
                <a16:creationId xmlns:a16="http://schemas.microsoft.com/office/drawing/2014/main" id="{ABA7D5CF-8052-62A2-8652-9E5660A058F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5" name="Group 4">
            <a:extLst>
              <a:ext uri="{FF2B5EF4-FFF2-40B4-BE49-F238E27FC236}">
                <a16:creationId xmlns:a16="http://schemas.microsoft.com/office/drawing/2014/main" id="{7CEA865B-9359-931D-9136-36413785F784}"/>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990C6828-16EB-91B9-7078-52ADFDC0F2F1}"/>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BEA9D62-1A2E-5482-2A68-9FCEFEB913F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3996132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colo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6208AF-0FB5-0709-9E4A-86BB9C81B267}"/>
              </a:ext>
            </a:extLst>
          </p:cNvPr>
          <p:cNvSpPr/>
          <p:nvPr userDrawn="1"/>
        </p:nvSpPr>
        <p:spPr>
          <a:xfrm>
            <a:off x="-38100" y="0"/>
            <a:ext cx="12230100" cy="6858000"/>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57D46B25-0C92-A630-DD9E-0DC228627926}"/>
              </a:ext>
            </a:extLst>
          </p:cNvPr>
          <p:cNvGrpSpPr/>
          <p:nvPr userDrawn="1"/>
        </p:nvGrpSpPr>
        <p:grpSpPr>
          <a:xfrm>
            <a:off x="7180119" y="6473574"/>
            <a:ext cx="5011881" cy="390911"/>
            <a:chOff x="7180118" y="6489891"/>
            <a:chExt cx="5011881" cy="390911"/>
          </a:xfrm>
        </p:grpSpPr>
        <p:sp>
          <p:nvSpPr>
            <p:cNvPr id="16" name="Rectangle 15">
              <a:extLst>
                <a:ext uri="{FF2B5EF4-FFF2-40B4-BE49-F238E27FC236}">
                  <a16:creationId xmlns:a16="http://schemas.microsoft.com/office/drawing/2014/main" id="{BA51D9DD-D54B-BD6E-1FC0-1E96064A7DD4}"/>
                </a:ext>
              </a:extLst>
            </p:cNvPr>
            <p:cNvSpPr/>
            <p:nvPr userDrawn="1"/>
          </p:nvSpPr>
          <p:spPr>
            <a:xfrm rot="10800000">
              <a:off x="7393415" y="6489891"/>
              <a:ext cx="4798584" cy="3909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ight Triangle 16">
              <a:extLst>
                <a:ext uri="{FF2B5EF4-FFF2-40B4-BE49-F238E27FC236}">
                  <a16:creationId xmlns:a16="http://schemas.microsoft.com/office/drawing/2014/main" id="{B12D63A4-B45F-D7EE-07AE-ED4F2AA9FBF6}"/>
                </a:ext>
              </a:extLst>
            </p:cNvPr>
            <p:cNvSpPr/>
            <p:nvPr userDrawn="1"/>
          </p:nvSpPr>
          <p:spPr>
            <a:xfrm rot="10800000" flipV="1">
              <a:off x="7180118" y="6489895"/>
              <a:ext cx="213299" cy="390907"/>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CE4DBBFF-D866-CE38-8CC8-48E42BA7EF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76220" y="283589"/>
            <a:ext cx="1470825" cy="497461"/>
          </a:xfrm>
          <a:prstGeom prst="rect">
            <a:avLst/>
          </a:prstGeom>
        </p:spPr>
      </p:pic>
      <p:sp>
        <p:nvSpPr>
          <p:cNvPr id="2" name="Date Placeholder 1">
            <a:extLst>
              <a:ext uri="{FF2B5EF4-FFF2-40B4-BE49-F238E27FC236}">
                <a16:creationId xmlns:a16="http://schemas.microsoft.com/office/drawing/2014/main" id="{C938C0B1-8B0B-33DB-42B1-6BBD5950DE08}"/>
              </a:ext>
            </a:extLst>
          </p:cNvPr>
          <p:cNvSpPr>
            <a:spLocks noGrp="1"/>
          </p:cNvSpPr>
          <p:nvPr>
            <p:ph type="dt" sz="half" idx="10"/>
          </p:nvPr>
        </p:nvSpPr>
        <p:spPr/>
        <p:txBody>
          <a:bodyPr/>
          <a:lstStyle/>
          <a:p>
            <a:fld id="{EF9959E7-45DE-4A2D-ACFD-0D8C8BBAB79F}" type="datetimeFigureOut">
              <a:rPr lang="en-US" smtClean="0"/>
              <a:t>1/21/2026</a:t>
            </a:fld>
            <a:endParaRPr lang="en-US"/>
          </a:p>
        </p:txBody>
      </p:sp>
      <p:sp>
        <p:nvSpPr>
          <p:cNvPr id="3" name="Footer Placeholder 2">
            <a:extLst>
              <a:ext uri="{FF2B5EF4-FFF2-40B4-BE49-F238E27FC236}">
                <a16:creationId xmlns:a16="http://schemas.microsoft.com/office/drawing/2014/main" id="{E07F86FD-0946-30C8-BC74-577779A4D6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2CEAC2-352E-92E4-C579-C2A59B6940E0}"/>
              </a:ext>
            </a:extLst>
          </p:cNvPr>
          <p:cNvSpPr>
            <a:spLocks noGrp="1"/>
          </p:cNvSpPr>
          <p:nvPr>
            <p:ph type="sldNum" sz="quarter" idx="12"/>
          </p:nvPr>
        </p:nvSpPr>
        <p:spPr/>
        <p:txBody>
          <a:bodyPr/>
          <a:lstStyle/>
          <a:p>
            <a:fld id="{B5912E74-8957-4046-8937-1199D0665174}" type="slidenum">
              <a:rPr lang="en-US" smtClean="0"/>
              <a:t>‹#›</a:t>
            </a:fld>
            <a:endParaRPr lang="en-US"/>
          </a:p>
        </p:txBody>
      </p:sp>
      <p:grpSp>
        <p:nvGrpSpPr>
          <p:cNvPr id="10" name="Group 9">
            <a:extLst>
              <a:ext uri="{FF2B5EF4-FFF2-40B4-BE49-F238E27FC236}">
                <a16:creationId xmlns:a16="http://schemas.microsoft.com/office/drawing/2014/main" id="{DEECA337-96B6-AF15-88CE-5A1B9B8EBDB6}"/>
              </a:ext>
            </a:extLst>
          </p:cNvPr>
          <p:cNvGrpSpPr/>
          <p:nvPr userDrawn="1"/>
        </p:nvGrpSpPr>
        <p:grpSpPr>
          <a:xfrm>
            <a:off x="-58882" y="0"/>
            <a:ext cx="2130820" cy="390908"/>
            <a:chOff x="-58882" y="0"/>
            <a:chExt cx="2130820" cy="390908"/>
          </a:xfrm>
        </p:grpSpPr>
        <p:sp>
          <p:nvSpPr>
            <p:cNvPr id="13" name="Rectangle 12">
              <a:extLst>
                <a:ext uri="{FF2B5EF4-FFF2-40B4-BE49-F238E27FC236}">
                  <a16:creationId xmlns:a16="http://schemas.microsoft.com/office/drawing/2014/main" id="{755327DB-3941-6535-2638-26DDF5148B23}"/>
                </a:ext>
              </a:extLst>
            </p:cNvPr>
            <p:cNvSpPr/>
            <p:nvPr userDrawn="1"/>
          </p:nvSpPr>
          <p:spPr>
            <a:xfrm>
              <a:off x="-58882" y="1"/>
              <a:ext cx="1921715" cy="3909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ight Triangle 13">
              <a:extLst>
                <a:ext uri="{FF2B5EF4-FFF2-40B4-BE49-F238E27FC236}">
                  <a16:creationId xmlns:a16="http://schemas.microsoft.com/office/drawing/2014/main" id="{751988F2-DBDB-53FA-2E8B-DE674D6D2B6A}"/>
                </a:ext>
              </a:extLst>
            </p:cNvPr>
            <p:cNvSpPr/>
            <p:nvPr userDrawn="1"/>
          </p:nvSpPr>
          <p:spPr>
            <a:xfrm flipV="1">
              <a:off x="1858639" y="0"/>
              <a:ext cx="213299" cy="390907"/>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A5B451E3-7C30-F7E8-27F1-20A1711850CE}"/>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2AF9E3A6-8792-EBEF-E21F-6506CA347F7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2D7814D-56F3-7C85-157F-E73DAB5F042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3928284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50D105-3168-9AA2-1E36-18264E43F5DD}"/>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5" name="Date Placeholder 4">
            <a:extLst>
              <a:ext uri="{FF2B5EF4-FFF2-40B4-BE49-F238E27FC236}">
                <a16:creationId xmlns:a16="http://schemas.microsoft.com/office/drawing/2014/main" id="{EBC3EA9C-34EA-199C-CEF0-8463AAE7DDB7}"/>
              </a:ext>
            </a:extLst>
          </p:cNvPr>
          <p:cNvSpPr>
            <a:spLocks noGrp="1"/>
          </p:cNvSpPr>
          <p:nvPr>
            <p:ph type="dt" sz="half" idx="10"/>
          </p:nvPr>
        </p:nvSpPr>
        <p:spPr/>
        <p:txBody>
          <a:bodyPr/>
          <a:lstStyle/>
          <a:p>
            <a:fld id="{EF9959E7-45DE-4A2D-ACFD-0D8C8BBAB79F}" type="datetimeFigureOut">
              <a:rPr lang="en-US" smtClean="0"/>
              <a:t>1/21/2026</a:t>
            </a:fld>
            <a:endParaRPr lang="en-US"/>
          </a:p>
        </p:txBody>
      </p:sp>
      <p:sp>
        <p:nvSpPr>
          <p:cNvPr id="6" name="Footer Placeholder 5">
            <a:extLst>
              <a:ext uri="{FF2B5EF4-FFF2-40B4-BE49-F238E27FC236}">
                <a16:creationId xmlns:a16="http://schemas.microsoft.com/office/drawing/2014/main" id="{A16D9ED6-2507-9043-2434-14990C2905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5142B-2BCF-3584-CF46-5568AF2394B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1E117FA9-E26A-4F12-3480-6499E26C73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9" name="Group 8">
            <a:extLst>
              <a:ext uri="{FF2B5EF4-FFF2-40B4-BE49-F238E27FC236}">
                <a16:creationId xmlns:a16="http://schemas.microsoft.com/office/drawing/2014/main" id="{C2F26ABC-4A2D-3F29-949F-D733E61C91B2}"/>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70ED001F-8063-F3C7-2FEF-E453A15D6F8A}"/>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8584E66-4123-80C8-F229-404A09AEC33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
        <p:nvSpPr>
          <p:cNvPr id="12" name="Rectangle 11">
            <a:extLst>
              <a:ext uri="{FF2B5EF4-FFF2-40B4-BE49-F238E27FC236}">
                <a16:creationId xmlns:a16="http://schemas.microsoft.com/office/drawing/2014/main" id="{812957FA-0954-130C-016A-4BAA3351102F}"/>
              </a:ext>
            </a:extLst>
          </p:cNvPr>
          <p:cNvSpPr/>
          <p:nvPr userDrawn="1"/>
        </p:nvSpPr>
        <p:spPr>
          <a:xfrm rot="5400000">
            <a:off x="6073139" y="761174"/>
            <a:ext cx="4571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6B5F1816-5F6B-7928-15B1-1910931B275B}"/>
              </a:ext>
            </a:extLst>
          </p:cNvPr>
          <p:cNvSpPr>
            <a:spLocks noGrp="1"/>
          </p:cNvSpPr>
          <p:nvPr>
            <p:ph type="title"/>
          </p:nvPr>
        </p:nvSpPr>
        <p:spPr>
          <a:xfrm>
            <a:off x="838198" y="781051"/>
            <a:ext cx="10515600" cy="1325563"/>
          </a:xfrm>
        </p:spPr>
        <p:txBody>
          <a:bodyPr/>
          <a:lstStyle>
            <a:lvl1pPr>
              <a:defRPr>
                <a:latin typeface="+mn-lt"/>
              </a:defRPr>
            </a:lvl1pPr>
          </a:lstStyle>
          <a:p>
            <a:r>
              <a:rPr lang="en-US" dirty="0"/>
              <a:t>Click to edit Master title style</a:t>
            </a:r>
          </a:p>
        </p:txBody>
      </p:sp>
    </p:spTree>
    <p:extLst>
      <p:ext uri="{BB962C8B-B14F-4D97-AF65-F5344CB8AC3E}">
        <p14:creationId xmlns:p14="http://schemas.microsoft.com/office/powerpoint/2010/main" val="27433504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50D105-3168-9AA2-1E36-18264E43F5DD}"/>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5" name="Date Placeholder 4">
            <a:extLst>
              <a:ext uri="{FF2B5EF4-FFF2-40B4-BE49-F238E27FC236}">
                <a16:creationId xmlns:a16="http://schemas.microsoft.com/office/drawing/2014/main" id="{EBC3EA9C-34EA-199C-CEF0-8463AAE7DDB7}"/>
              </a:ext>
            </a:extLst>
          </p:cNvPr>
          <p:cNvSpPr>
            <a:spLocks noGrp="1"/>
          </p:cNvSpPr>
          <p:nvPr>
            <p:ph type="dt" sz="half" idx="10"/>
          </p:nvPr>
        </p:nvSpPr>
        <p:spPr/>
        <p:txBody>
          <a:bodyPr/>
          <a:lstStyle/>
          <a:p>
            <a:fld id="{EF9959E7-45DE-4A2D-ACFD-0D8C8BBAB79F}" type="datetimeFigureOut">
              <a:rPr lang="en-US" smtClean="0"/>
              <a:t>1/21/2026</a:t>
            </a:fld>
            <a:endParaRPr lang="en-US"/>
          </a:p>
        </p:txBody>
      </p:sp>
      <p:sp>
        <p:nvSpPr>
          <p:cNvPr id="6" name="Footer Placeholder 5">
            <a:extLst>
              <a:ext uri="{FF2B5EF4-FFF2-40B4-BE49-F238E27FC236}">
                <a16:creationId xmlns:a16="http://schemas.microsoft.com/office/drawing/2014/main" id="{A16D9ED6-2507-9043-2434-14990C2905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5142B-2BCF-3584-CF46-5568AF2394B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1E117FA9-E26A-4F12-3480-6499E26C73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9" name="Group 8">
            <a:extLst>
              <a:ext uri="{FF2B5EF4-FFF2-40B4-BE49-F238E27FC236}">
                <a16:creationId xmlns:a16="http://schemas.microsoft.com/office/drawing/2014/main" id="{C2F26ABC-4A2D-3F29-949F-D733E61C91B2}"/>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70ED001F-8063-F3C7-2FEF-E453A15D6F8A}"/>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8584E66-4123-80C8-F229-404A09AEC33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
        <p:nvSpPr>
          <p:cNvPr id="13" name="Rectangle 12">
            <a:extLst>
              <a:ext uri="{FF2B5EF4-FFF2-40B4-BE49-F238E27FC236}">
                <a16:creationId xmlns:a16="http://schemas.microsoft.com/office/drawing/2014/main" id="{CAE4AFB9-D289-5BB8-FC6E-3A98AE611BFD}"/>
              </a:ext>
            </a:extLst>
          </p:cNvPr>
          <p:cNvSpPr/>
          <p:nvPr userDrawn="1"/>
        </p:nvSpPr>
        <p:spPr>
          <a:xfrm rot="5400000">
            <a:off x="6079906" y="-6086095"/>
            <a:ext cx="4571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59C5E7F-48AB-BACC-5157-81B702629420}"/>
              </a:ext>
            </a:extLst>
          </p:cNvPr>
          <p:cNvSpPr>
            <a:spLocks noGrp="1"/>
          </p:cNvSpPr>
          <p:nvPr>
            <p:ph type="title"/>
          </p:nvPr>
        </p:nvSpPr>
        <p:spPr>
          <a:xfrm>
            <a:off x="838198" y="781051"/>
            <a:ext cx="10515600" cy="1325563"/>
          </a:xfrm>
        </p:spPr>
        <p:txBody>
          <a:bodyPr/>
          <a:lstStyle>
            <a:lvl1pPr>
              <a:defRPr>
                <a:latin typeface="+mn-lt"/>
              </a:defRPr>
            </a:lvl1pPr>
          </a:lstStyle>
          <a:p>
            <a:r>
              <a:rPr lang="en-US" dirty="0"/>
              <a:t>Click to edit Master title style</a:t>
            </a:r>
          </a:p>
        </p:txBody>
      </p:sp>
    </p:spTree>
    <p:extLst>
      <p:ext uri="{BB962C8B-B14F-4D97-AF65-F5344CB8AC3E}">
        <p14:creationId xmlns:p14="http://schemas.microsoft.com/office/powerpoint/2010/main" val="1788661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781"/>
        <p:cNvGrpSpPr/>
        <p:nvPr/>
      </p:nvGrpSpPr>
      <p:grpSpPr>
        <a:xfrm>
          <a:off x="0" y="0"/>
          <a:ext cx="0" cy="0"/>
          <a:chOff x="0" y="0"/>
          <a:chExt cx="0" cy="0"/>
        </a:xfrm>
      </p:grpSpPr>
      <p:grpSp>
        <p:nvGrpSpPr>
          <p:cNvPr id="782" name="Google Shape;782;p39"/>
          <p:cNvGrpSpPr/>
          <p:nvPr/>
        </p:nvGrpSpPr>
        <p:grpSpPr>
          <a:xfrm>
            <a:off x="1" y="0"/>
            <a:ext cx="12192001" cy="6858000"/>
            <a:chOff x="0" y="0"/>
            <a:chExt cx="9144001" cy="5143500"/>
          </a:xfrm>
        </p:grpSpPr>
        <p:sp>
          <p:nvSpPr>
            <p:cNvPr id="783" name="Google Shape;783;p39"/>
            <p:cNvSpPr/>
            <p:nvPr/>
          </p:nvSpPr>
          <p:spPr>
            <a:xfrm rot="10800000">
              <a:off x="7473300" y="0"/>
              <a:ext cx="1670700" cy="16707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784" name="Google Shape;784;p39"/>
            <p:cNvGrpSpPr/>
            <p:nvPr/>
          </p:nvGrpSpPr>
          <p:grpSpPr>
            <a:xfrm rot="-5400000">
              <a:off x="7935331" y="96836"/>
              <a:ext cx="1107019" cy="1096564"/>
              <a:chOff x="498850" y="3224050"/>
              <a:chExt cx="1482350" cy="1468350"/>
            </a:xfrm>
          </p:grpSpPr>
          <p:sp>
            <p:nvSpPr>
              <p:cNvPr id="785" name="Google Shape;785;p39"/>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6" name="Google Shape;786;p39"/>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7" name="Google Shape;787;p39"/>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88" name="Google Shape;788;p39"/>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789" name="Google Shape;789;p39"/>
            <p:cNvGrpSpPr/>
            <p:nvPr/>
          </p:nvGrpSpPr>
          <p:grpSpPr>
            <a:xfrm rot="10800000" flipH="1">
              <a:off x="570385" y="4053600"/>
              <a:ext cx="834163" cy="834075"/>
              <a:chOff x="713388" y="3717894"/>
              <a:chExt cx="885900" cy="885900"/>
            </a:xfrm>
          </p:grpSpPr>
          <p:grpSp>
            <p:nvGrpSpPr>
              <p:cNvPr id="790" name="Google Shape;790;p39"/>
              <p:cNvGrpSpPr/>
              <p:nvPr/>
            </p:nvGrpSpPr>
            <p:grpSpPr>
              <a:xfrm>
                <a:off x="1139136" y="3851384"/>
                <a:ext cx="454563" cy="703194"/>
                <a:chOff x="1139136" y="3851384"/>
                <a:chExt cx="454563" cy="703194"/>
              </a:xfrm>
            </p:grpSpPr>
            <p:sp>
              <p:nvSpPr>
                <p:cNvPr id="791" name="Google Shape;791;p39"/>
                <p:cNvSpPr/>
                <p:nvPr/>
              </p:nvSpPr>
              <p:spPr>
                <a:xfrm>
                  <a:off x="1311460" y="4104215"/>
                  <a:ext cx="34407" cy="281810"/>
                </a:xfrm>
                <a:custGeom>
                  <a:avLst/>
                  <a:gdLst/>
                  <a:ahLst/>
                  <a:cxnLst/>
                  <a:rect l="l" t="t" r="r" b="b"/>
                  <a:pathLst>
                    <a:path w="977" h="8002" extrusionOk="0">
                      <a:moveTo>
                        <a:pt x="977" y="1"/>
                      </a:moveTo>
                      <a:lnTo>
                        <a:pt x="0" y="989"/>
                      </a:lnTo>
                      <a:lnTo>
                        <a:pt x="0" y="8001"/>
                      </a:lnTo>
                      <a:lnTo>
                        <a:pt x="977" y="7013"/>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2" name="Google Shape;792;p39"/>
                <p:cNvSpPr/>
                <p:nvPr/>
              </p:nvSpPr>
              <p:spPr>
                <a:xfrm>
                  <a:off x="1228838" y="4188069"/>
                  <a:ext cx="34443" cy="282233"/>
                </a:xfrm>
                <a:custGeom>
                  <a:avLst/>
                  <a:gdLst/>
                  <a:ahLst/>
                  <a:cxnLst/>
                  <a:rect l="l" t="t" r="r" b="b"/>
                  <a:pathLst>
                    <a:path w="978" h="8014" extrusionOk="0">
                      <a:moveTo>
                        <a:pt x="977" y="1"/>
                      </a:moveTo>
                      <a:lnTo>
                        <a:pt x="1" y="989"/>
                      </a:lnTo>
                      <a:lnTo>
                        <a:pt x="1" y="8014"/>
                      </a:lnTo>
                      <a:lnTo>
                        <a:pt x="977" y="7025"/>
                      </a:lnTo>
                      <a:lnTo>
                        <a:pt x="97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3" name="Google Shape;793;p39"/>
                <p:cNvSpPr/>
                <p:nvPr/>
              </p:nvSpPr>
              <p:spPr>
                <a:xfrm>
                  <a:off x="1559292" y="3851384"/>
                  <a:ext cx="34407" cy="281810"/>
                </a:xfrm>
                <a:custGeom>
                  <a:avLst/>
                  <a:gdLst/>
                  <a:ahLst/>
                  <a:cxnLst/>
                  <a:rect l="l" t="t" r="r" b="b"/>
                  <a:pathLst>
                    <a:path w="977" h="8002" extrusionOk="0">
                      <a:moveTo>
                        <a:pt x="976" y="0"/>
                      </a:moveTo>
                      <a:lnTo>
                        <a:pt x="0" y="988"/>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4" name="Google Shape;794;p39"/>
                <p:cNvSpPr/>
                <p:nvPr/>
              </p:nvSpPr>
              <p:spPr>
                <a:xfrm>
                  <a:off x="1394082" y="4019938"/>
                  <a:ext cx="34407" cy="281810"/>
                </a:xfrm>
                <a:custGeom>
                  <a:avLst/>
                  <a:gdLst/>
                  <a:ahLst/>
                  <a:cxnLst/>
                  <a:rect l="l" t="t" r="r" b="b"/>
                  <a:pathLst>
                    <a:path w="977" h="8002" extrusionOk="0">
                      <a:moveTo>
                        <a:pt x="976" y="0"/>
                      </a:moveTo>
                      <a:lnTo>
                        <a:pt x="0" y="977"/>
                      </a:lnTo>
                      <a:lnTo>
                        <a:pt x="0" y="8001"/>
                      </a:lnTo>
                      <a:lnTo>
                        <a:pt x="976" y="7013"/>
                      </a:lnTo>
                      <a:lnTo>
                        <a:pt x="97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5" name="Google Shape;795;p39"/>
                <p:cNvSpPr/>
                <p:nvPr/>
              </p:nvSpPr>
              <p:spPr>
                <a:xfrm>
                  <a:off x="1139136" y="4272768"/>
                  <a:ext cx="34407" cy="281810"/>
                </a:xfrm>
                <a:custGeom>
                  <a:avLst/>
                  <a:gdLst/>
                  <a:ahLst/>
                  <a:cxnLst/>
                  <a:rect l="l" t="t" r="r" b="b"/>
                  <a:pathLst>
                    <a:path w="977" h="8002" extrusionOk="0">
                      <a:moveTo>
                        <a:pt x="976" y="1"/>
                      </a:moveTo>
                      <a:lnTo>
                        <a:pt x="0" y="977"/>
                      </a:lnTo>
                      <a:lnTo>
                        <a:pt x="0" y="8002"/>
                      </a:lnTo>
                      <a:lnTo>
                        <a:pt x="976" y="7014"/>
                      </a:lnTo>
                      <a:lnTo>
                        <a:pt x="97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6" name="Google Shape;796;p39"/>
                <p:cNvSpPr/>
                <p:nvPr/>
              </p:nvSpPr>
              <p:spPr>
                <a:xfrm>
                  <a:off x="1476669" y="3935661"/>
                  <a:ext cx="34407" cy="281810"/>
                </a:xfrm>
                <a:custGeom>
                  <a:avLst/>
                  <a:gdLst/>
                  <a:ahLst/>
                  <a:cxnLst/>
                  <a:rect l="l" t="t" r="r" b="b"/>
                  <a:pathLst>
                    <a:path w="977" h="8002" extrusionOk="0">
                      <a:moveTo>
                        <a:pt x="977" y="0"/>
                      </a:moveTo>
                      <a:lnTo>
                        <a:pt x="1" y="977"/>
                      </a:lnTo>
                      <a:lnTo>
                        <a:pt x="1" y="8001"/>
                      </a:lnTo>
                      <a:lnTo>
                        <a:pt x="977" y="7013"/>
                      </a:lnTo>
                      <a:lnTo>
                        <a:pt x="97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cxnSp>
            <p:nvCxnSpPr>
              <p:cNvPr id="797" name="Google Shape;797;p39"/>
              <p:cNvCxnSpPr/>
              <p:nvPr/>
            </p:nvCxnSpPr>
            <p:spPr>
              <a:xfrm rot="10800000" flipH="1">
                <a:off x="713388" y="3717894"/>
                <a:ext cx="885900" cy="885900"/>
              </a:xfrm>
              <a:prstGeom prst="straightConnector1">
                <a:avLst/>
              </a:prstGeom>
              <a:noFill/>
              <a:ln w="19050" cap="flat" cmpd="sng">
                <a:solidFill>
                  <a:schemeClr val="accent1"/>
                </a:solidFill>
                <a:prstDash val="solid"/>
                <a:round/>
                <a:headEnd type="none" w="med" len="med"/>
                <a:tailEnd type="none" w="med" len="med"/>
              </a:ln>
            </p:spPr>
          </p:cxnSp>
          <p:cxnSp>
            <p:nvCxnSpPr>
              <p:cNvPr id="798" name="Google Shape;798;p39"/>
              <p:cNvCxnSpPr/>
              <p:nvPr/>
            </p:nvCxnSpPr>
            <p:spPr>
              <a:xfrm rot="10800000" flipH="1">
                <a:off x="960650" y="4001657"/>
                <a:ext cx="219900" cy="219900"/>
              </a:xfrm>
              <a:prstGeom prst="straightConnector1">
                <a:avLst/>
              </a:prstGeom>
              <a:noFill/>
              <a:ln w="19050" cap="flat" cmpd="sng">
                <a:solidFill>
                  <a:schemeClr val="accent1"/>
                </a:solidFill>
                <a:prstDash val="solid"/>
                <a:round/>
                <a:headEnd type="none" w="med" len="med"/>
                <a:tailEnd type="none" w="med" len="med"/>
              </a:ln>
            </p:spPr>
          </p:cxnSp>
        </p:grpSp>
        <p:sp>
          <p:nvSpPr>
            <p:cNvPr id="799" name="Google Shape;799;p39"/>
            <p:cNvSpPr/>
            <p:nvPr/>
          </p:nvSpPr>
          <p:spPr>
            <a:xfrm>
              <a:off x="0" y="3863177"/>
              <a:ext cx="1280100" cy="12801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00" name="Google Shape;800;p39"/>
          <p:cNvSpPr/>
          <p:nvPr/>
        </p:nvSpPr>
        <p:spPr>
          <a:xfrm>
            <a:off x="0" y="549133"/>
            <a:ext cx="8857200" cy="7636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01" name="Google Shape;801;p39"/>
          <p:cNvSpPr txBox="1">
            <a:spLocks noGrp="1"/>
          </p:cNvSpPr>
          <p:nvPr>
            <p:ph type="title" hasCustomPrompt="1"/>
          </p:nvPr>
        </p:nvSpPr>
        <p:spPr>
          <a:xfrm>
            <a:off x="5273800" y="2367880"/>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467"/>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802" name="Google Shape;802;p39"/>
          <p:cNvSpPr txBox="1">
            <a:spLocks noGrp="1"/>
          </p:cNvSpPr>
          <p:nvPr>
            <p:ph type="title" idx="2"/>
          </p:nvPr>
        </p:nvSpPr>
        <p:spPr>
          <a:xfrm>
            <a:off x="4479600" y="3387969"/>
            <a:ext cx="32328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800"/>
            </a:lvl1pPr>
            <a:lvl2pPr lvl="1" rtl="0">
              <a:spcBef>
                <a:spcPts val="0"/>
              </a:spcBef>
              <a:spcAft>
                <a:spcPts val="0"/>
              </a:spcAft>
              <a:buSzPts val="2000"/>
              <a:buNone/>
              <a:defRPr sz="2667"/>
            </a:lvl2pPr>
            <a:lvl3pPr lvl="2" rtl="0">
              <a:spcBef>
                <a:spcPts val="0"/>
              </a:spcBef>
              <a:spcAft>
                <a:spcPts val="0"/>
              </a:spcAft>
              <a:buSzPts val="2000"/>
              <a:buNone/>
              <a:defRPr sz="2667"/>
            </a:lvl3pPr>
            <a:lvl4pPr lvl="3" rtl="0">
              <a:spcBef>
                <a:spcPts val="0"/>
              </a:spcBef>
              <a:spcAft>
                <a:spcPts val="0"/>
              </a:spcAft>
              <a:buSzPts val="2000"/>
              <a:buNone/>
              <a:defRPr sz="2667"/>
            </a:lvl4pPr>
            <a:lvl5pPr lvl="4" rtl="0">
              <a:spcBef>
                <a:spcPts val="0"/>
              </a:spcBef>
              <a:spcAft>
                <a:spcPts val="0"/>
              </a:spcAft>
              <a:buSzPts val="2000"/>
              <a:buNone/>
              <a:defRPr sz="2667"/>
            </a:lvl5pPr>
            <a:lvl6pPr lvl="5" rtl="0">
              <a:spcBef>
                <a:spcPts val="0"/>
              </a:spcBef>
              <a:spcAft>
                <a:spcPts val="0"/>
              </a:spcAft>
              <a:buSzPts val="2000"/>
              <a:buNone/>
              <a:defRPr sz="2667"/>
            </a:lvl6pPr>
            <a:lvl7pPr lvl="6" rtl="0">
              <a:spcBef>
                <a:spcPts val="0"/>
              </a:spcBef>
              <a:spcAft>
                <a:spcPts val="0"/>
              </a:spcAft>
              <a:buSzPts val="2000"/>
              <a:buNone/>
              <a:defRPr sz="2667"/>
            </a:lvl7pPr>
            <a:lvl8pPr lvl="7" rtl="0">
              <a:spcBef>
                <a:spcPts val="0"/>
              </a:spcBef>
              <a:spcAft>
                <a:spcPts val="0"/>
              </a:spcAft>
              <a:buSzPts val="2000"/>
              <a:buNone/>
              <a:defRPr sz="2667"/>
            </a:lvl8pPr>
            <a:lvl9pPr lvl="8" rtl="0">
              <a:spcBef>
                <a:spcPts val="0"/>
              </a:spcBef>
              <a:spcAft>
                <a:spcPts val="0"/>
              </a:spcAft>
              <a:buSzPts val="2000"/>
              <a:buNone/>
              <a:defRPr sz="2667"/>
            </a:lvl9pPr>
          </a:lstStyle>
          <a:p>
            <a:endParaRPr/>
          </a:p>
        </p:txBody>
      </p:sp>
      <p:sp>
        <p:nvSpPr>
          <p:cNvPr id="803" name="Google Shape;803;p39"/>
          <p:cNvSpPr txBox="1">
            <a:spLocks noGrp="1"/>
          </p:cNvSpPr>
          <p:nvPr>
            <p:ph type="title" idx="3"/>
          </p:nvPr>
        </p:nvSpPr>
        <p:spPr>
          <a:xfrm>
            <a:off x="4479600" y="3987381"/>
            <a:ext cx="32328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20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endParaRPr/>
          </a:p>
        </p:txBody>
      </p:sp>
      <p:sp>
        <p:nvSpPr>
          <p:cNvPr id="804" name="Google Shape;804;p39"/>
          <p:cNvSpPr txBox="1">
            <a:spLocks noGrp="1"/>
          </p:cNvSpPr>
          <p:nvPr>
            <p:ph type="title" idx="4" hasCustomPrompt="1"/>
          </p:nvPr>
        </p:nvSpPr>
        <p:spPr>
          <a:xfrm>
            <a:off x="1745497" y="2367880"/>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467"/>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805" name="Google Shape;805;p39"/>
          <p:cNvSpPr txBox="1">
            <a:spLocks noGrp="1"/>
          </p:cNvSpPr>
          <p:nvPr>
            <p:ph type="title" idx="5"/>
          </p:nvPr>
        </p:nvSpPr>
        <p:spPr>
          <a:xfrm>
            <a:off x="951297" y="3387969"/>
            <a:ext cx="32328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800"/>
            </a:lvl1pPr>
            <a:lvl2pPr lvl="1" rtl="0">
              <a:spcBef>
                <a:spcPts val="0"/>
              </a:spcBef>
              <a:spcAft>
                <a:spcPts val="0"/>
              </a:spcAft>
              <a:buSzPts val="2000"/>
              <a:buNone/>
              <a:defRPr sz="2667"/>
            </a:lvl2pPr>
            <a:lvl3pPr lvl="2" rtl="0">
              <a:spcBef>
                <a:spcPts val="0"/>
              </a:spcBef>
              <a:spcAft>
                <a:spcPts val="0"/>
              </a:spcAft>
              <a:buSzPts val="2000"/>
              <a:buNone/>
              <a:defRPr sz="2667"/>
            </a:lvl3pPr>
            <a:lvl4pPr lvl="3" rtl="0">
              <a:spcBef>
                <a:spcPts val="0"/>
              </a:spcBef>
              <a:spcAft>
                <a:spcPts val="0"/>
              </a:spcAft>
              <a:buSzPts val="2000"/>
              <a:buNone/>
              <a:defRPr sz="2667"/>
            </a:lvl4pPr>
            <a:lvl5pPr lvl="4" rtl="0">
              <a:spcBef>
                <a:spcPts val="0"/>
              </a:spcBef>
              <a:spcAft>
                <a:spcPts val="0"/>
              </a:spcAft>
              <a:buSzPts val="2000"/>
              <a:buNone/>
              <a:defRPr sz="2667"/>
            </a:lvl5pPr>
            <a:lvl6pPr lvl="5" rtl="0">
              <a:spcBef>
                <a:spcPts val="0"/>
              </a:spcBef>
              <a:spcAft>
                <a:spcPts val="0"/>
              </a:spcAft>
              <a:buSzPts val="2000"/>
              <a:buNone/>
              <a:defRPr sz="2667"/>
            </a:lvl6pPr>
            <a:lvl7pPr lvl="6" rtl="0">
              <a:spcBef>
                <a:spcPts val="0"/>
              </a:spcBef>
              <a:spcAft>
                <a:spcPts val="0"/>
              </a:spcAft>
              <a:buSzPts val="2000"/>
              <a:buNone/>
              <a:defRPr sz="2667"/>
            </a:lvl7pPr>
            <a:lvl8pPr lvl="7" rtl="0">
              <a:spcBef>
                <a:spcPts val="0"/>
              </a:spcBef>
              <a:spcAft>
                <a:spcPts val="0"/>
              </a:spcAft>
              <a:buSzPts val="2000"/>
              <a:buNone/>
              <a:defRPr sz="2667"/>
            </a:lvl8pPr>
            <a:lvl9pPr lvl="8" rtl="0">
              <a:spcBef>
                <a:spcPts val="0"/>
              </a:spcBef>
              <a:spcAft>
                <a:spcPts val="0"/>
              </a:spcAft>
              <a:buSzPts val="2000"/>
              <a:buNone/>
              <a:defRPr sz="2667"/>
            </a:lvl9pPr>
          </a:lstStyle>
          <a:p>
            <a:endParaRPr/>
          </a:p>
        </p:txBody>
      </p:sp>
      <p:sp>
        <p:nvSpPr>
          <p:cNvPr id="806" name="Google Shape;806;p39"/>
          <p:cNvSpPr txBox="1">
            <a:spLocks noGrp="1"/>
          </p:cNvSpPr>
          <p:nvPr>
            <p:ph type="title" idx="6"/>
          </p:nvPr>
        </p:nvSpPr>
        <p:spPr>
          <a:xfrm>
            <a:off x="951297" y="3987381"/>
            <a:ext cx="32328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20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endParaRPr/>
          </a:p>
        </p:txBody>
      </p:sp>
      <p:sp>
        <p:nvSpPr>
          <p:cNvPr id="807" name="Google Shape;807;p39"/>
          <p:cNvSpPr txBox="1">
            <a:spLocks noGrp="1"/>
          </p:cNvSpPr>
          <p:nvPr>
            <p:ph type="title" idx="7" hasCustomPrompt="1"/>
          </p:nvPr>
        </p:nvSpPr>
        <p:spPr>
          <a:xfrm>
            <a:off x="8802141" y="2367880"/>
            <a:ext cx="1644400" cy="7088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467"/>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808" name="Google Shape;808;p39"/>
          <p:cNvSpPr txBox="1">
            <a:spLocks noGrp="1"/>
          </p:cNvSpPr>
          <p:nvPr>
            <p:ph type="title" idx="8"/>
          </p:nvPr>
        </p:nvSpPr>
        <p:spPr>
          <a:xfrm>
            <a:off x="8007941" y="3387969"/>
            <a:ext cx="3232800" cy="7088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None/>
              <a:defRPr sz="2800"/>
            </a:lvl1pPr>
            <a:lvl2pPr lvl="1" rtl="0">
              <a:spcBef>
                <a:spcPts val="0"/>
              </a:spcBef>
              <a:spcAft>
                <a:spcPts val="0"/>
              </a:spcAft>
              <a:buSzPts val="2000"/>
              <a:buNone/>
              <a:defRPr sz="2667"/>
            </a:lvl2pPr>
            <a:lvl3pPr lvl="2" rtl="0">
              <a:spcBef>
                <a:spcPts val="0"/>
              </a:spcBef>
              <a:spcAft>
                <a:spcPts val="0"/>
              </a:spcAft>
              <a:buSzPts val="2000"/>
              <a:buNone/>
              <a:defRPr sz="2667"/>
            </a:lvl3pPr>
            <a:lvl4pPr lvl="3" rtl="0">
              <a:spcBef>
                <a:spcPts val="0"/>
              </a:spcBef>
              <a:spcAft>
                <a:spcPts val="0"/>
              </a:spcAft>
              <a:buSzPts val="2000"/>
              <a:buNone/>
              <a:defRPr sz="2667"/>
            </a:lvl4pPr>
            <a:lvl5pPr lvl="4" rtl="0">
              <a:spcBef>
                <a:spcPts val="0"/>
              </a:spcBef>
              <a:spcAft>
                <a:spcPts val="0"/>
              </a:spcAft>
              <a:buSzPts val="2000"/>
              <a:buNone/>
              <a:defRPr sz="2667"/>
            </a:lvl5pPr>
            <a:lvl6pPr lvl="5" rtl="0">
              <a:spcBef>
                <a:spcPts val="0"/>
              </a:spcBef>
              <a:spcAft>
                <a:spcPts val="0"/>
              </a:spcAft>
              <a:buSzPts val="2000"/>
              <a:buNone/>
              <a:defRPr sz="2667"/>
            </a:lvl6pPr>
            <a:lvl7pPr lvl="6" rtl="0">
              <a:spcBef>
                <a:spcPts val="0"/>
              </a:spcBef>
              <a:spcAft>
                <a:spcPts val="0"/>
              </a:spcAft>
              <a:buSzPts val="2000"/>
              <a:buNone/>
              <a:defRPr sz="2667"/>
            </a:lvl7pPr>
            <a:lvl8pPr lvl="7" rtl="0">
              <a:spcBef>
                <a:spcPts val="0"/>
              </a:spcBef>
              <a:spcAft>
                <a:spcPts val="0"/>
              </a:spcAft>
              <a:buSzPts val="2000"/>
              <a:buNone/>
              <a:defRPr sz="2667"/>
            </a:lvl8pPr>
            <a:lvl9pPr lvl="8" rtl="0">
              <a:spcBef>
                <a:spcPts val="0"/>
              </a:spcBef>
              <a:spcAft>
                <a:spcPts val="0"/>
              </a:spcAft>
              <a:buSzPts val="2000"/>
              <a:buNone/>
              <a:defRPr sz="2667"/>
            </a:lvl9pPr>
          </a:lstStyle>
          <a:p>
            <a:endParaRPr/>
          </a:p>
        </p:txBody>
      </p:sp>
      <p:sp>
        <p:nvSpPr>
          <p:cNvPr id="809" name="Google Shape;809;p39"/>
          <p:cNvSpPr txBox="1">
            <a:spLocks noGrp="1"/>
          </p:cNvSpPr>
          <p:nvPr>
            <p:ph type="title" idx="9"/>
          </p:nvPr>
        </p:nvSpPr>
        <p:spPr>
          <a:xfrm>
            <a:off x="8007941" y="3987381"/>
            <a:ext cx="3232800" cy="1167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2000" b="0">
                <a:solidFill>
                  <a:schemeClr val="dk2"/>
                </a:solidFill>
                <a:latin typeface="Titillium Web"/>
                <a:ea typeface="Titillium Web"/>
                <a:cs typeface="Titillium Web"/>
                <a:sym typeface="Titillium Web"/>
              </a:defRPr>
            </a:lvl1pPr>
            <a:lvl2pPr lvl="1" rtl="0">
              <a:spcBef>
                <a:spcPts val="0"/>
              </a:spcBef>
              <a:spcAft>
                <a:spcPts val="0"/>
              </a:spcAft>
              <a:buSzPts val="1400"/>
              <a:buFont typeface="Nunito"/>
              <a:buNone/>
              <a:defRPr sz="1867">
                <a:latin typeface="Nunito"/>
                <a:ea typeface="Nunito"/>
                <a:cs typeface="Nunito"/>
                <a:sym typeface="Nunito"/>
              </a:defRPr>
            </a:lvl2pPr>
            <a:lvl3pPr lvl="2" rtl="0">
              <a:spcBef>
                <a:spcPts val="0"/>
              </a:spcBef>
              <a:spcAft>
                <a:spcPts val="0"/>
              </a:spcAft>
              <a:buSzPts val="1400"/>
              <a:buFont typeface="Nunito"/>
              <a:buNone/>
              <a:defRPr sz="1867">
                <a:latin typeface="Nunito"/>
                <a:ea typeface="Nunito"/>
                <a:cs typeface="Nunito"/>
                <a:sym typeface="Nunito"/>
              </a:defRPr>
            </a:lvl3pPr>
            <a:lvl4pPr lvl="3" rtl="0">
              <a:spcBef>
                <a:spcPts val="0"/>
              </a:spcBef>
              <a:spcAft>
                <a:spcPts val="0"/>
              </a:spcAft>
              <a:buSzPts val="1400"/>
              <a:buFont typeface="Nunito"/>
              <a:buNone/>
              <a:defRPr sz="1867">
                <a:latin typeface="Nunito"/>
                <a:ea typeface="Nunito"/>
                <a:cs typeface="Nunito"/>
                <a:sym typeface="Nunito"/>
              </a:defRPr>
            </a:lvl4pPr>
            <a:lvl5pPr lvl="4" rtl="0">
              <a:spcBef>
                <a:spcPts val="0"/>
              </a:spcBef>
              <a:spcAft>
                <a:spcPts val="0"/>
              </a:spcAft>
              <a:buSzPts val="1400"/>
              <a:buFont typeface="Nunito"/>
              <a:buNone/>
              <a:defRPr sz="1867">
                <a:latin typeface="Nunito"/>
                <a:ea typeface="Nunito"/>
                <a:cs typeface="Nunito"/>
                <a:sym typeface="Nunito"/>
              </a:defRPr>
            </a:lvl5pPr>
            <a:lvl6pPr lvl="5" rtl="0">
              <a:spcBef>
                <a:spcPts val="0"/>
              </a:spcBef>
              <a:spcAft>
                <a:spcPts val="0"/>
              </a:spcAft>
              <a:buSzPts val="1400"/>
              <a:buFont typeface="Nunito"/>
              <a:buNone/>
              <a:defRPr sz="1867">
                <a:latin typeface="Nunito"/>
                <a:ea typeface="Nunito"/>
                <a:cs typeface="Nunito"/>
                <a:sym typeface="Nunito"/>
              </a:defRPr>
            </a:lvl6pPr>
            <a:lvl7pPr lvl="6" rtl="0">
              <a:spcBef>
                <a:spcPts val="0"/>
              </a:spcBef>
              <a:spcAft>
                <a:spcPts val="0"/>
              </a:spcAft>
              <a:buSzPts val="1400"/>
              <a:buFont typeface="Nunito"/>
              <a:buNone/>
              <a:defRPr sz="1867">
                <a:latin typeface="Nunito"/>
                <a:ea typeface="Nunito"/>
                <a:cs typeface="Nunito"/>
                <a:sym typeface="Nunito"/>
              </a:defRPr>
            </a:lvl7pPr>
            <a:lvl8pPr lvl="7" rtl="0">
              <a:spcBef>
                <a:spcPts val="0"/>
              </a:spcBef>
              <a:spcAft>
                <a:spcPts val="0"/>
              </a:spcAft>
              <a:buSzPts val="1400"/>
              <a:buFont typeface="Nunito"/>
              <a:buNone/>
              <a:defRPr sz="1867">
                <a:latin typeface="Nunito"/>
                <a:ea typeface="Nunito"/>
                <a:cs typeface="Nunito"/>
                <a:sym typeface="Nunito"/>
              </a:defRPr>
            </a:lvl8pPr>
            <a:lvl9pPr lvl="8" rtl="0">
              <a:spcBef>
                <a:spcPts val="0"/>
              </a:spcBef>
              <a:spcAft>
                <a:spcPts val="0"/>
              </a:spcAft>
              <a:buSzPts val="1400"/>
              <a:buFont typeface="Nunito"/>
              <a:buNone/>
              <a:defRPr sz="1867">
                <a:latin typeface="Nunito"/>
                <a:ea typeface="Nunito"/>
                <a:cs typeface="Nunito"/>
                <a:sym typeface="Nunito"/>
              </a:defRPr>
            </a:lvl9pPr>
          </a:lstStyle>
          <a:p>
            <a:endParaRPr/>
          </a:p>
        </p:txBody>
      </p:sp>
      <p:sp>
        <p:nvSpPr>
          <p:cNvPr id="810" name="Google Shape;810;p39"/>
          <p:cNvSpPr txBox="1">
            <a:spLocks noGrp="1"/>
          </p:cNvSpPr>
          <p:nvPr>
            <p:ph type="title" idx="13"/>
          </p:nvPr>
        </p:nvSpPr>
        <p:spPr>
          <a:xfrm>
            <a:off x="804511" y="575333"/>
            <a:ext cx="10391200" cy="7636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4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14021031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552"/>
        <p:cNvGrpSpPr/>
        <p:nvPr/>
      </p:nvGrpSpPr>
      <p:grpSpPr>
        <a:xfrm>
          <a:off x="0" y="0"/>
          <a:ext cx="0" cy="0"/>
          <a:chOff x="0" y="0"/>
          <a:chExt cx="0" cy="0"/>
        </a:xfrm>
      </p:grpSpPr>
      <p:sp>
        <p:nvSpPr>
          <p:cNvPr id="553" name="Google Shape;553;p27"/>
          <p:cNvSpPr/>
          <p:nvPr/>
        </p:nvSpPr>
        <p:spPr>
          <a:xfrm>
            <a:off x="0" y="549133"/>
            <a:ext cx="8857200" cy="7636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54" name="Google Shape;554;p27"/>
          <p:cNvSpPr txBox="1">
            <a:spLocks noGrp="1"/>
          </p:cNvSpPr>
          <p:nvPr>
            <p:ph type="title"/>
          </p:nvPr>
        </p:nvSpPr>
        <p:spPr>
          <a:xfrm>
            <a:off x="804511" y="575333"/>
            <a:ext cx="10391200" cy="7636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4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grpSp>
        <p:nvGrpSpPr>
          <p:cNvPr id="555" name="Google Shape;555;p27"/>
          <p:cNvGrpSpPr/>
          <p:nvPr/>
        </p:nvGrpSpPr>
        <p:grpSpPr>
          <a:xfrm>
            <a:off x="3" y="0"/>
            <a:ext cx="12192000" cy="6858000"/>
            <a:chOff x="2" y="0"/>
            <a:chExt cx="9144000" cy="5143500"/>
          </a:xfrm>
        </p:grpSpPr>
        <p:sp>
          <p:nvSpPr>
            <p:cNvPr id="556" name="Google Shape;556;p27"/>
            <p:cNvSpPr/>
            <p:nvPr/>
          </p:nvSpPr>
          <p:spPr>
            <a:xfrm rot="-5400000">
              <a:off x="7791001" y="3790275"/>
              <a:ext cx="1353000" cy="13530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557" name="Google Shape;557;p27"/>
            <p:cNvGrpSpPr/>
            <p:nvPr/>
          </p:nvGrpSpPr>
          <p:grpSpPr>
            <a:xfrm rot="-5400000">
              <a:off x="7935331" y="96836"/>
              <a:ext cx="1107019" cy="1096564"/>
              <a:chOff x="498850" y="3224050"/>
              <a:chExt cx="1482350" cy="1468350"/>
            </a:xfrm>
          </p:grpSpPr>
          <p:sp>
            <p:nvSpPr>
              <p:cNvPr id="558" name="Google Shape;558;p27"/>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9" name="Google Shape;559;p27"/>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0" name="Google Shape;560;p27"/>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61" name="Google Shape;561;p27"/>
            <p:cNvSpPr/>
            <p:nvPr/>
          </p:nvSpPr>
          <p:spPr>
            <a:xfrm>
              <a:off x="2" y="0"/>
              <a:ext cx="9144000" cy="5143500"/>
            </a:xfrm>
            <a:prstGeom prst="frame">
              <a:avLst>
                <a:gd name="adj1" fmla="val 237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2" name="Google Shape;562;p27"/>
            <p:cNvSpPr/>
            <p:nvPr/>
          </p:nvSpPr>
          <p:spPr>
            <a:xfrm rot="-5400000">
              <a:off x="8169672" y="4184176"/>
              <a:ext cx="959100" cy="9591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563" name="Google Shape;563;p27"/>
            <p:cNvGrpSpPr/>
            <p:nvPr/>
          </p:nvGrpSpPr>
          <p:grpSpPr>
            <a:xfrm>
              <a:off x="270392" y="4282054"/>
              <a:ext cx="603122" cy="585781"/>
              <a:chOff x="546392" y="539692"/>
              <a:chExt cx="603122" cy="585781"/>
            </a:xfrm>
          </p:grpSpPr>
          <p:sp>
            <p:nvSpPr>
              <p:cNvPr id="564" name="Google Shape;564;p27"/>
              <p:cNvSpPr/>
              <p:nvPr/>
            </p:nvSpPr>
            <p:spPr>
              <a:xfrm>
                <a:off x="611503" y="587030"/>
                <a:ext cx="538010" cy="538443"/>
              </a:xfrm>
              <a:custGeom>
                <a:avLst/>
                <a:gdLst/>
                <a:ahLst/>
                <a:cxnLst/>
                <a:rect l="l" t="t" r="r" b="b"/>
                <a:pathLst>
                  <a:path w="13682" h="13693" fill="none" extrusionOk="0">
                    <a:moveTo>
                      <a:pt x="8276" y="798"/>
                    </a:moveTo>
                    <a:cubicBezTo>
                      <a:pt x="11621" y="1596"/>
                      <a:pt x="13681" y="4942"/>
                      <a:pt x="12883" y="8287"/>
                    </a:cubicBezTo>
                    <a:cubicBezTo>
                      <a:pt x="12098" y="11621"/>
                      <a:pt x="8740" y="13693"/>
                      <a:pt x="5406" y="12895"/>
                    </a:cubicBezTo>
                    <a:cubicBezTo>
                      <a:pt x="2061" y="12097"/>
                      <a:pt x="1" y="8752"/>
                      <a:pt x="799" y="5406"/>
                    </a:cubicBezTo>
                    <a:cubicBezTo>
                      <a:pt x="1584" y="2072"/>
                      <a:pt x="4942" y="0"/>
                      <a:pt x="8276" y="798"/>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5" name="Google Shape;565;p27"/>
              <p:cNvSpPr/>
              <p:nvPr/>
            </p:nvSpPr>
            <p:spPr>
              <a:xfrm>
                <a:off x="546392" y="539692"/>
                <a:ext cx="381625" cy="381625"/>
              </a:xfrm>
              <a:custGeom>
                <a:avLst/>
                <a:gdLst/>
                <a:ahLst/>
                <a:cxnLst/>
                <a:rect l="l" t="t" r="r" b="b"/>
                <a:pathLst>
                  <a:path w="9705" h="9705" fill="none" extrusionOk="0">
                    <a:moveTo>
                      <a:pt x="7978" y="1727"/>
                    </a:moveTo>
                    <a:cubicBezTo>
                      <a:pt x="9704" y="3454"/>
                      <a:pt x="9704" y="6252"/>
                      <a:pt x="7978" y="7978"/>
                    </a:cubicBezTo>
                    <a:cubicBezTo>
                      <a:pt x="6251" y="9704"/>
                      <a:pt x="3454" y="9704"/>
                      <a:pt x="1727" y="7978"/>
                    </a:cubicBezTo>
                    <a:cubicBezTo>
                      <a:pt x="1" y="6252"/>
                      <a:pt x="1" y="3454"/>
                      <a:pt x="1727" y="1727"/>
                    </a:cubicBezTo>
                    <a:cubicBezTo>
                      <a:pt x="3454" y="1"/>
                      <a:pt x="6251" y="1"/>
                      <a:pt x="7978" y="1727"/>
                    </a:cubicBezTo>
                    <a:close/>
                  </a:path>
                </a:pathLst>
              </a:custGeom>
              <a:noFill/>
              <a:ln w="19050" cap="flat" cmpd="sng">
                <a:solidFill>
                  <a:srgbClr val="DFC09F"/>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12401601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42"/>
        <p:cNvGrpSpPr/>
        <p:nvPr/>
      </p:nvGrpSpPr>
      <p:grpSpPr>
        <a:xfrm>
          <a:off x="0" y="0"/>
          <a:ext cx="0" cy="0"/>
          <a:chOff x="0" y="0"/>
          <a:chExt cx="0" cy="0"/>
        </a:xfrm>
      </p:grpSpPr>
      <p:sp>
        <p:nvSpPr>
          <p:cNvPr id="543" name="Google Shape;543;p26"/>
          <p:cNvSpPr/>
          <p:nvPr/>
        </p:nvSpPr>
        <p:spPr>
          <a:xfrm>
            <a:off x="0" y="549133"/>
            <a:ext cx="8857200" cy="7636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44" name="Google Shape;544;p26"/>
          <p:cNvSpPr txBox="1">
            <a:spLocks noGrp="1"/>
          </p:cNvSpPr>
          <p:nvPr>
            <p:ph type="title"/>
          </p:nvPr>
        </p:nvSpPr>
        <p:spPr>
          <a:xfrm>
            <a:off x="804511" y="575333"/>
            <a:ext cx="10391200" cy="763600"/>
          </a:xfrm>
          <a:prstGeom prst="rect">
            <a:avLst/>
          </a:prstGeom>
        </p:spPr>
        <p:txBody>
          <a:bodyPr spcFirstLastPara="1" wrap="square" lIns="91425" tIns="91425" rIns="91425" bIns="91425" anchor="ctr" anchorCtr="0">
            <a:noAutofit/>
          </a:bodyPr>
          <a:lstStyle>
            <a:lvl1pPr lvl="0" algn="l" rtl="0">
              <a:spcBef>
                <a:spcPts val="0"/>
              </a:spcBef>
              <a:spcAft>
                <a:spcPts val="0"/>
              </a:spcAft>
              <a:buClr>
                <a:schemeClr val="lt1"/>
              </a:buClr>
              <a:buSzPts val="2800"/>
              <a:buNone/>
              <a:defRPr sz="4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545" name="Google Shape;545;p26"/>
          <p:cNvSpPr/>
          <p:nvPr/>
        </p:nvSpPr>
        <p:spPr>
          <a:xfrm rot="10800000">
            <a:off x="9964400" y="0"/>
            <a:ext cx="2227600" cy="2227600"/>
          </a:xfrm>
          <a:prstGeom prst="rtTriangle">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46" name="Google Shape;546;p26"/>
          <p:cNvGrpSpPr/>
          <p:nvPr/>
        </p:nvGrpSpPr>
        <p:grpSpPr>
          <a:xfrm rot="-5400000">
            <a:off x="10580442" y="129115"/>
            <a:ext cx="1476025" cy="1462085"/>
            <a:chOff x="498850" y="3224050"/>
            <a:chExt cx="1482350" cy="1468350"/>
          </a:xfrm>
        </p:grpSpPr>
        <p:sp>
          <p:nvSpPr>
            <p:cNvPr id="547" name="Google Shape;547;p26"/>
            <p:cNvSpPr/>
            <p:nvPr/>
          </p:nvSpPr>
          <p:spPr>
            <a:xfrm>
              <a:off x="1742175" y="3224050"/>
              <a:ext cx="239025" cy="202725"/>
            </a:xfrm>
            <a:custGeom>
              <a:avLst/>
              <a:gdLst/>
              <a:ahLst/>
              <a:cxnLst/>
              <a:rect l="l" t="t" r="r" b="b"/>
              <a:pathLst>
                <a:path w="9561" h="8109" extrusionOk="0">
                  <a:moveTo>
                    <a:pt x="8192" y="0"/>
                  </a:moveTo>
                  <a:lnTo>
                    <a:pt x="7192" y="988"/>
                  </a:lnTo>
                  <a:cubicBezTo>
                    <a:pt x="7192" y="1334"/>
                    <a:pt x="7192" y="1679"/>
                    <a:pt x="7204" y="2024"/>
                  </a:cubicBezTo>
                  <a:cubicBezTo>
                    <a:pt x="7227" y="3620"/>
                    <a:pt x="7299" y="5215"/>
                    <a:pt x="7346" y="6822"/>
                  </a:cubicBezTo>
                  <a:cubicBezTo>
                    <a:pt x="7358" y="7025"/>
                    <a:pt x="7346" y="7215"/>
                    <a:pt x="7346" y="7477"/>
                  </a:cubicBezTo>
                  <a:cubicBezTo>
                    <a:pt x="7055" y="7487"/>
                    <a:pt x="6767" y="7491"/>
                    <a:pt x="6476" y="7491"/>
                  </a:cubicBezTo>
                  <a:cubicBezTo>
                    <a:pt x="6080" y="7491"/>
                    <a:pt x="5677" y="7484"/>
                    <a:pt x="5251" y="7477"/>
                  </a:cubicBezTo>
                  <a:cubicBezTo>
                    <a:pt x="5310" y="5906"/>
                    <a:pt x="5370" y="4346"/>
                    <a:pt x="5394" y="2786"/>
                  </a:cubicBezTo>
                  <a:lnTo>
                    <a:pt x="5394" y="2786"/>
                  </a:lnTo>
                  <a:lnTo>
                    <a:pt x="4501" y="3691"/>
                  </a:lnTo>
                  <a:cubicBezTo>
                    <a:pt x="4525" y="4715"/>
                    <a:pt x="4560" y="5751"/>
                    <a:pt x="4596" y="6775"/>
                  </a:cubicBezTo>
                  <a:lnTo>
                    <a:pt x="4596" y="7418"/>
                  </a:lnTo>
                  <a:cubicBezTo>
                    <a:pt x="4419" y="7467"/>
                    <a:pt x="3906" y="7496"/>
                    <a:pt x="3414" y="7496"/>
                  </a:cubicBezTo>
                  <a:cubicBezTo>
                    <a:pt x="3078" y="7496"/>
                    <a:pt x="2751" y="7482"/>
                    <a:pt x="2548" y="7453"/>
                  </a:cubicBezTo>
                  <a:cubicBezTo>
                    <a:pt x="2560" y="6834"/>
                    <a:pt x="2572" y="6215"/>
                    <a:pt x="2584" y="5596"/>
                  </a:cubicBezTo>
                  <a:lnTo>
                    <a:pt x="2584" y="5596"/>
                  </a:lnTo>
                  <a:lnTo>
                    <a:pt x="1798" y="6382"/>
                  </a:lnTo>
                  <a:cubicBezTo>
                    <a:pt x="1798" y="6727"/>
                    <a:pt x="1810" y="7084"/>
                    <a:pt x="1810" y="7430"/>
                  </a:cubicBezTo>
                  <a:cubicBezTo>
                    <a:pt x="1504" y="7469"/>
                    <a:pt x="1190" y="7492"/>
                    <a:pt x="882" y="7492"/>
                  </a:cubicBezTo>
                  <a:cubicBezTo>
                    <a:pt x="818" y="7492"/>
                    <a:pt x="754" y="7491"/>
                    <a:pt x="691" y="7489"/>
                  </a:cubicBezTo>
                  <a:lnTo>
                    <a:pt x="0" y="8108"/>
                  </a:lnTo>
                  <a:cubicBezTo>
                    <a:pt x="3215" y="8049"/>
                    <a:pt x="6584" y="7989"/>
                    <a:pt x="9561" y="7941"/>
                  </a:cubicBezTo>
                  <a:lnTo>
                    <a:pt x="9561" y="7465"/>
                  </a:lnTo>
                  <a:lnTo>
                    <a:pt x="8001" y="7465"/>
                  </a:lnTo>
                  <a:cubicBezTo>
                    <a:pt x="8108" y="5239"/>
                    <a:pt x="8168" y="2488"/>
                    <a:pt x="81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8" name="Google Shape;548;p26"/>
            <p:cNvSpPr/>
            <p:nvPr/>
          </p:nvSpPr>
          <p:spPr>
            <a:xfrm>
              <a:off x="567625" y="3448775"/>
              <a:ext cx="1413575" cy="1243625"/>
            </a:xfrm>
            <a:custGeom>
              <a:avLst/>
              <a:gdLst/>
              <a:ahLst/>
              <a:cxnLst/>
              <a:rect l="l" t="t" r="r" b="b"/>
              <a:pathLst>
                <a:path w="56543" h="49745" extrusionOk="0">
                  <a:moveTo>
                    <a:pt x="34838" y="13228"/>
                  </a:moveTo>
                  <a:lnTo>
                    <a:pt x="34838" y="13240"/>
                  </a:lnTo>
                  <a:lnTo>
                    <a:pt x="46137" y="13430"/>
                  </a:lnTo>
                  <a:lnTo>
                    <a:pt x="46137" y="15074"/>
                  </a:lnTo>
                  <a:lnTo>
                    <a:pt x="34850" y="15264"/>
                  </a:lnTo>
                  <a:cubicBezTo>
                    <a:pt x="34778" y="14978"/>
                    <a:pt x="34766" y="13585"/>
                    <a:pt x="34838" y="13228"/>
                  </a:cubicBezTo>
                  <a:close/>
                  <a:moveTo>
                    <a:pt x="34993" y="15978"/>
                  </a:moveTo>
                  <a:lnTo>
                    <a:pt x="46137" y="16181"/>
                  </a:lnTo>
                  <a:lnTo>
                    <a:pt x="46137" y="17812"/>
                  </a:lnTo>
                  <a:lnTo>
                    <a:pt x="34993" y="18002"/>
                  </a:lnTo>
                  <a:lnTo>
                    <a:pt x="34993" y="15978"/>
                  </a:lnTo>
                  <a:close/>
                  <a:moveTo>
                    <a:pt x="34790" y="18693"/>
                  </a:moveTo>
                  <a:cubicBezTo>
                    <a:pt x="36695" y="18753"/>
                    <a:pt x="38588" y="18824"/>
                    <a:pt x="40481" y="18848"/>
                  </a:cubicBezTo>
                  <a:cubicBezTo>
                    <a:pt x="41109" y="18852"/>
                    <a:pt x="41697" y="18853"/>
                    <a:pt x="42286" y="18853"/>
                  </a:cubicBezTo>
                  <a:cubicBezTo>
                    <a:pt x="43465" y="18853"/>
                    <a:pt x="44645" y="18848"/>
                    <a:pt x="46137" y="18848"/>
                  </a:cubicBezTo>
                  <a:lnTo>
                    <a:pt x="46137" y="20538"/>
                  </a:lnTo>
                  <a:lnTo>
                    <a:pt x="34790" y="20753"/>
                  </a:lnTo>
                  <a:cubicBezTo>
                    <a:pt x="34790" y="20443"/>
                    <a:pt x="34790" y="20098"/>
                    <a:pt x="34790" y="19753"/>
                  </a:cubicBezTo>
                  <a:cubicBezTo>
                    <a:pt x="34778" y="19407"/>
                    <a:pt x="34790" y="19086"/>
                    <a:pt x="34790" y="18693"/>
                  </a:cubicBezTo>
                  <a:close/>
                  <a:moveTo>
                    <a:pt x="48649" y="9620"/>
                  </a:moveTo>
                  <a:cubicBezTo>
                    <a:pt x="48649" y="10061"/>
                    <a:pt x="48653" y="10119"/>
                    <a:pt x="48657" y="10119"/>
                  </a:cubicBezTo>
                  <a:cubicBezTo>
                    <a:pt x="48658" y="10119"/>
                    <a:pt x="48659" y="10112"/>
                    <a:pt x="48660" y="10112"/>
                  </a:cubicBezTo>
                  <a:cubicBezTo>
                    <a:pt x="48661" y="10112"/>
                    <a:pt x="48661" y="10118"/>
                    <a:pt x="48661" y="10144"/>
                  </a:cubicBezTo>
                  <a:cubicBezTo>
                    <a:pt x="48673" y="12061"/>
                    <a:pt x="48661" y="14038"/>
                    <a:pt x="48685" y="15943"/>
                  </a:cubicBezTo>
                  <a:cubicBezTo>
                    <a:pt x="48709" y="17467"/>
                    <a:pt x="48780" y="19014"/>
                    <a:pt x="48828" y="20538"/>
                  </a:cubicBezTo>
                  <a:lnTo>
                    <a:pt x="48828" y="21169"/>
                  </a:lnTo>
                  <a:cubicBezTo>
                    <a:pt x="48764" y="21172"/>
                    <a:pt x="48701" y="21173"/>
                    <a:pt x="48638" y="21173"/>
                  </a:cubicBezTo>
                  <a:cubicBezTo>
                    <a:pt x="48003" y="21173"/>
                    <a:pt x="47386" y="21073"/>
                    <a:pt x="46780" y="21062"/>
                  </a:cubicBezTo>
                  <a:cubicBezTo>
                    <a:pt x="46839" y="17264"/>
                    <a:pt x="46899" y="13347"/>
                    <a:pt x="46958" y="9620"/>
                  </a:cubicBezTo>
                  <a:close/>
                  <a:moveTo>
                    <a:pt x="51400" y="9882"/>
                  </a:moveTo>
                  <a:cubicBezTo>
                    <a:pt x="51400" y="10037"/>
                    <a:pt x="51411" y="10168"/>
                    <a:pt x="51411" y="10299"/>
                  </a:cubicBezTo>
                  <a:cubicBezTo>
                    <a:pt x="51411" y="12168"/>
                    <a:pt x="51411" y="14014"/>
                    <a:pt x="51435" y="15871"/>
                  </a:cubicBezTo>
                  <a:cubicBezTo>
                    <a:pt x="51459" y="17419"/>
                    <a:pt x="51530" y="19122"/>
                    <a:pt x="51578" y="20669"/>
                  </a:cubicBezTo>
                  <a:cubicBezTo>
                    <a:pt x="51578" y="20884"/>
                    <a:pt x="51578" y="20765"/>
                    <a:pt x="51578" y="21515"/>
                  </a:cubicBezTo>
                  <a:lnTo>
                    <a:pt x="49530" y="21515"/>
                  </a:lnTo>
                  <a:cubicBezTo>
                    <a:pt x="49590" y="17062"/>
                    <a:pt x="49649" y="13823"/>
                    <a:pt x="49709" y="10025"/>
                  </a:cubicBezTo>
                  <a:cubicBezTo>
                    <a:pt x="49947" y="10025"/>
                    <a:pt x="50221" y="9930"/>
                    <a:pt x="50507" y="9930"/>
                  </a:cubicBezTo>
                  <a:cubicBezTo>
                    <a:pt x="50780" y="9918"/>
                    <a:pt x="51066" y="9882"/>
                    <a:pt x="51400" y="9882"/>
                  </a:cubicBezTo>
                  <a:close/>
                  <a:moveTo>
                    <a:pt x="54305" y="9620"/>
                  </a:moveTo>
                  <a:lnTo>
                    <a:pt x="54305" y="10347"/>
                  </a:lnTo>
                  <a:cubicBezTo>
                    <a:pt x="54305" y="12121"/>
                    <a:pt x="54221" y="13895"/>
                    <a:pt x="54257" y="15669"/>
                  </a:cubicBezTo>
                  <a:cubicBezTo>
                    <a:pt x="54281" y="17288"/>
                    <a:pt x="54317" y="19086"/>
                    <a:pt x="54364" y="20705"/>
                  </a:cubicBezTo>
                  <a:cubicBezTo>
                    <a:pt x="54364" y="20908"/>
                    <a:pt x="54328" y="20765"/>
                    <a:pt x="54328" y="21515"/>
                  </a:cubicBezTo>
                  <a:lnTo>
                    <a:pt x="52221" y="21515"/>
                  </a:lnTo>
                  <a:cubicBezTo>
                    <a:pt x="52388" y="17062"/>
                    <a:pt x="52459" y="13347"/>
                    <a:pt x="52400" y="9620"/>
                  </a:cubicBezTo>
                  <a:close/>
                  <a:moveTo>
                    <a:pt x="34993" y="24396"/>
                  </a:moveTo>
                  <a:lnTo>
                    <a:pt x="34993" y="26468"/>
                  </a:lnTo>
                  <a:cubicBezTo>
                    <a:pt x="32031" y="26345"/>
                    <a:pt x="29084" y="26259"/>
                    <a:pt x="26129" y="26259"/>
                  </a:cubicBezTo>
                  <a:cubicBezTo>
                    <a:pt x="25365" y="26259"/>
                    <a:pt x="24602" y="26265"/>
                    <a:pt x="23837" y="26277"/>
                  </a:cubicBezTo>
                  <a:lnTo>
                    <a:pt x="23837" y="24587"/>
                  </a:lnTo>
                  <a:lnTo>
                    <a:pt x="34993" y="24396"/>
                  </a:lnTo>
                  <a:close/>
                  <a:moveTo>
                    <a:pt x="34993" y="27146"/>
                  </a:moveTo>
                  <a:lnTo>
                    <a:pt x="34993" y="29218"/>
                  </a:lnTo>
                  <a:cubicBezTo>
                    <a:pt x="32038" y="29105"/>
                    <a:pt x="29091" y="29021"/>
                    <a:pt x="25777" y="29021"/>
                  </a:cubicBezTo>
                  <a:cubicBezTo>
                    <a:pt x="24912" y="29021"/>
                    <a:pt x="24021" y="29027"/>
                    <a:pt x="23098" y="29040"/>
                  </a:cubicBezTo>
                  <a:lnTo>
                    <a:pt x="23098" y="27337"/>
                  </a:lnTo>
                  <a:cubicBezTo>
                    <a:pt x="27563" y="27265"/>
                    <a:pt x="31266" y="27206"/>
                    <a:pt x="34993" y="27146"/>
                  </a:cubicBezTo>
                  <a:close/>
                  <a:moveTo>
                    <a:pt x="34993" y="29909"/>
                  </a:moveTo>
                  <a:lnTo>
                    <a:pt x="34993" y="31921"/>
                  </a:lnTo>
                  <a:cubicBezTo>
                    <a:pt x="31266" y="31849"/>
                    <a:pt x="27551" y="31790"/>
                    <a:pt x="23098" y="31730"/>
                  </a:cubicBezTo>
                  <a:lnTo>
                    <a:pt x="23098" y="30099"/>
                  </a:lnTo>
                  <a:cubicBezTo>
                    <a:pt x="27563" y="30028"/>
                    <a:pt x="31266" y="29968"/>
                    <a:pt x="34993" y="29909"/>
                  </a:cubicBezTo>
                  <a:close/>
                  <a:moveTo>
                    <a:pt x="41611" y="21278"/>
                  </a:moveTo>
                  <a:cubicBezTo>
                    <a:pt x="42042" y="21278"/>
                    <a:pt x="42515" y="21299"/>
                    <a:pt x="42756" y="21336"/>
                  </a:cubicBezTo>
                  <a:cubicBezTo>
                    <a:pt x="42684" y="25087"/>
                    <a:pt x="42625" y="28932"/>
                    <a:pt x="42565" y="32647"/>
                  </a:cubicBezTo>
                  <a:lnTo>
                    <a:pt x="40934" y="32647"/>
                  </a:lnTo>
                  <a:cubicBezTo>
                    <a:pt x="40862" y="28944"/>
                    <a:pt x="40803" y="25087"/>
                    <a:pt x="40732" y="21336"/>
                  </a:cubicBezTo>
                  <a:cubicBezTo>
                    <a:pt x="40846" y="21296"/>
                    <a:pt x="41211" y="21278"/>
                    <a:pt x="41611" y="21278"/>
                  </a:cubicBezTo>
                  <a:close/>
                  <a:moveTo>
                    <a:pt x="37255" y="21515"/>
                  </a:moveTo>
                  <a:lnTo>
                    <a:pt x="37064" y="32659"/>
                  </a:lnTo>
                  <a:lnTo>
                    <a:pt x="35374" y="32659"/>
                  </a:lnTo>
                  <a:lnTo>
                    <a:pt x="35374" y="32218"/>
                  </a:lnTo>
                  <a:cubicBezTo>
                    <a:pt x="35350" y="29778"/>
                    <a:pt x="35350" y="27301"/>
                    <a:pt x="35314" y="24872"/>
                  </a:cubicBezTo>
                  <a:cubicBezTo>
                    <a:pt x="35302" y="23848"/>
                    <a:pt x="35231" y="22955"/>
                    <a:pt x="35195" y="21931"/>
                  </a:cubicBezTo>
                  <a:cubicBezTo>
                    <a:pt x="35195" y="21753"/>
                    <a:pt x="35195" y="21515"/>
                    <a:pt x="35195" y="21515"/>
                  </a:cubicBezTo>
                  <a:close/>
                  <a:moveTo>
                    <a:pt x="39278" y="21228"/>
                  </a:moveTo>
                  <a:cubicBezTo>
                    <a:pt x="39542" y="21228"/>
                    <a:pt x="39808" y="21238"/>
                    <a:pt x="40041" y="21265"/>
                  </a:cubicBezTo>
                  <a:cubicBezTo>
                    <a:pt x="40041" y="22503"/>
                    <a:pt x="39934" y="23729"/>
                    <a:pt x="39922" y="24968"/>
                  </a:cubicBezTo>
                  <a:cubicBezTo>
                    <a:pt x="39910" y="26218"/>
                    <a:pt x="39874" y="27551"/>
                    <a:pt x="39862" y="28825"/>
                  </a:cubicBezTo>
                  <a:cubicBezTo>
                    <a:pt x="39850" y="30087"/>
                    <a:pt x="39862" y="31171"/>
                    <a:pt x="39862" y="32659"/>
                  </a:cubicBezTo>
                  <a:lnTo>
                    <a:pt x="38184" y="32659"/>
                  </a:lnTo>
                  <a:cubicBezTo>
                    <a:pt x="38112" y="28944"/>
                    <a:pt x="38053" y="25087"/>
                    <a:pt x="37993" y="21336"/>
                  </a:cubicBezTo>
                  <a:cubicBezTo>
                    <a:pt x="38148" y="21279"/>
                    <a:pt x="38705" y="21228"/>
                    <a:pt x="39278" y="21228"/>
                  </a:cubicBezTo>
                  <a:close/>
                  <a:moveTo>
                    <a:pt x="45494" y="21515"/>
                  </a:moveTo>
                  <a:cubicBezTo>
                    <a:pt x="45434" y="25230"/>
                    <a:pt x="45375" y="28885"/>
                    <a:pt x="45315" y="32683"/>
                  </a:cubicBezTo>
                  <a:cubicBezTo>
                    <a:pt x="45077" y="32683"/>
                    <a:pt x="44803" y="32623"/>
                    <a:pt x="44530" y="32623"/>
                  </a:cubicBezTo>
                  <a:cubicBezTo>
                    <a:pt x="44256" y="32623"/>
                    <a:pt x="43970" y="32588"/>
                    <a:pt x="43660" y="32588"/>
                  </a:cubicBezTo>
                  <a:cubicBezTo>
                    <a:pt x="43649" y="32457"/>
                    <a:pt x="43625" y="32338"/>
                    <a:pt x="43625" y="32230"/>
                  </a:cubicBezTo>
                  <a:cubicBezTo>
                    <a:pt x="43601" y="29575"/>
                    <a:pt x="43589" y="26896"/>
                    <a:pt x="43553" y="24229"/>
                  </a:cubicBezTo>
                  <a:cubicBezTo>
                    <a:pt x="43541" y="23384"/>
                    <a:pt x="43482" y="22682"/>
                    <a:pt x="43446" y="21836"/>
                  </a:cubicBezTo>
                  <a:cubicBezTo>
                    <a:pt x="43434" y="21693"/>
                    <a:pt x="43446" y="21515"/>
                    <a:pt x="43446" y="21515"/>
                  </a:cubicBezTo>
                  <a:close/>
                  <a:moveTo>
                    <a:pt x="34993" y="33135"/>
                  </a:moveTo>
                  <a:cubicBezTo>
                    <a:pt x="37949" y="33268"/>
                    <a:pt x="40905" y="33340"/>
                    <a:pt x="43862" y="33340"/>
                  </a:cubicBezTo>
                  <a:cubicBezTo>
                    <a:pt x="44620" y="33340"/>
                    <a:pt x="45379" y="33335"/>
                    <a:pt x="46137" y="33326"/>
                  </a:cubicBezTo>
                  <a:lnTo>
                    <a:pt x="46137" y="35028"/>
                  </a:lnTo>
                  <a:cubicBezTo>
                    <a:pt x="46042" y="35052"/>
                    <a:pt x="45935" y="35064"/>
                    <a:pt x="45839" y="35064"/>
                  </a:cubicBezTo>
                  <a:cubicBezTo>
                    <a:pt x="43172" y="35088"/>
                    <a:pt x="40505" y="35100"/>
                    <a:pt x="37850" y="35135"/>
                  </a:cubicBezTo>
                  <a:cubicBezTo>
                    <a:pt x="37017" y="35147"/>
                    <a:pt x="36279" y="35207"/>
                    <a:pt x="35445" y="35231"/>
                  </a:cubicBezTo>
                  <a:lnTo>
                    <a:pt x="34993" y="35231"/>
                  </a:lnTo>
                  <a:lnTo>
                    <a:pt x="34993" y="33135"/>
                  </a:lnTo>
                  <a:close/>
                  <a:moveTo>
                    <a:pt x="11954" y="35933"/>
                  </a:moveTo>
                  <a:lnTo>
                    <a:pt x="23098" y="36136"/>
                  </a:lnTo>
                  <a:lnTo>
                    <a:pt x="23098" y="37767"/>
                  </a:lnTo>
                  <a:lnTo>
                    <a:pt x="11954" y="37957"/>
                  </a:lnTo>
                  <a:lnTo>
                    <a:pt x="11954" y="35933"/>
                  </a:lnTo>
                  <a:close/>
                  <a:moveTo>
                    <a:pt x="34993" y="35945"/>
                  </a:moveTo>
                  <a:lnTo>
                    <a:pt x="46137" y="36124"/>
                  </a:lnTo>
                  <a:lnTo>
                    <a:pt x="46137" y="37791"/>
                  </a:lnTo>
                  <a:cubicBezTo>
                    <a:pt x="46018" y="37814"/>
                    <a:pt x="45899" y="37826"/>
                    <a:pt x="45792" y="37826"/>
                  </a:cubicBezTo>
                  <a:cubicBezTo>
                    <a:pt x="43137" y="37850"/>
                    <a:pt x="40493" y="37862"/>
                    <a:pt x="37838" y="37898"/>
                  </a:cubicBezTo>
                  <a:cubicBezTo>
                    <a:pt x="36993" y="37910"/>
                    <a:pt x="36243" y="37969"/>
                    <a:pt x="35398" y="38005"/>
                  </a:cubicBezTo>
                  <a:cubicBezTo>
                    <a:pt x="35342" y="38009"/>
                    <a:pt x="35278" y="38010"/>
                    <a:pt x="35218" y="38010"/>
                  </a:cubicBezTo>
                  <a:cubicBezTo>
                    <a:pt x="35099" y="38010"/>
                    <a:pt x="34993" y="38005"/>
                    <a:pt x="34993" y="38005"/>
                  </a:cubicBezTo>
                  <a:lnTo>
                    <a:pt x="34993" y="35945"/>
                  </a:lnTo>
                  <a:close/>
                  <a:moveTo>
                    <a:pt x="11954" y="38684"/>
                  </a:moveTo>
                  <a:lnTo>
                    <a:pt x="23098" y="38886"/>
                  </a:lnTo>
                  <a:lnTo>
                    <a:pt x="23098" y="40517"/>
                  </a:lnTo>
                  <a:lnTo>
                    <a:pt x="11954" y="40708"/>
                  </a:lnTo>
                  <a:lnTo>
                    <a:pt x="11954" y="38684"/>
                  </a:lnTo>
                  <a:close/>
                  <a:moveTo>
                    <a:pt x="34993" y="38695"/>
                  </a:moveTo>
                  <a:lnTo>
                    <a:pt x="46137" y="38874"/>
                  </a:lnTo>
                  <a:lnTo>
                    <a:pt x="46137" y="40541"/>
                  </a:lnTo>
                  <a:cubicBezTo>
                    <a:pt x="46018" y="40553"/>
                    <a:pt x="45899" y="40565"/>
                    <a:pt x="45792" y="40565"/>
                  </a:cubicBezTo>
                  <a:cubicBezTo>
                    <a:pt x="43196" y="40589"/>
                    <a:pt x="40601" y="40600"/>
                    <a:pt x="38005" y="40636"/>
                  </a:cubicBezTo>
                  <a:cubicBezTo>
                    <a:pt x="37112" y="40648"/>
                    <a:pt x="36314" y="40708"/>
                    <a:pt x="35433" y="40743"/>
                  </a:cubicBezTo>
                  <a:cubicBezTo>
                    <a:pt x="35374" y="40747"/>
                    <a:pt x="35305" y="40749"/>
                    <a:pt x="35240" y="40749"/>
                  </a:cubicBezTo>
                  <a:cubicBezTo>
                    <a:pt x="35109" y="40749"/>
                    <a:pt x="34993" y="40743"/>
                    <a:pt x="34993" y="40743"/>
                  </a:cubicBezTo>
                  <a:lnTo>
                    <a:pt x="34993" y="38695"/>
                  </a:lnTo>
                  <a:close/>
                  <a:moveTo>
                    <a:pt x="11942" y="41434"/>
                  </a:moveTo>
                  <a:lnTo>
                    <a:pt x="23098" y="41636"/>
                  </a:lnTo>
                  <a:lnTo>
                    <a:pt x="23098" y="43279"/>
                  </a:lnTo>
                  <a:cubicBezTo>
                    <a:pt x="23098" y="43291"/>
                    <a:pt x="23063" y="43315"/>
                    <a:pt x="22955" y="43315"/>
                  </a:cubicBezTo>
                  <a:cubicBezTo>
                    <a:pt x="20503" y="43339"/>
                    <a:pt x="18133" y="43351"/>
                    <a:pt x="15693" y="43387"/>
                  </a:cubicBezTo>
                  <a:cubicBezTo>
                    <a:pt x="14645" y="43398"/>
                    <a:pt x="13561" y="43458"/>
                    <a:pt x="12514" y="43494"/>
                  </a:cubicBezTo>
                  <a:lnTo>
                    <a:pt x="11942" y="43494"/>
                  </a:lnTo>
                  <a:lnTo>
                    <a:pt x="11942" y="41434"/>
                  </a:lnTo>
                  <a:close/>
                  <a:moveTo>
                    <a:pt x="34790" y="41410"/>
                  </a:moveTo>
                  <a:cubicBezTo>
                    <a:pt x="36064" y="41410"/>
                    <a:pt x="37314" y="41505"/>
                    <a:pt x="38565" y="41517"/>
                  </a:cubicBezTo>
                  <a:cubicBezTo>
                    <a:pt x="39827" y="41529"/>
                    <a:pt x="41077" y="41565"/>
                    <a:pt x="42327" y="41577"/>
                  </a:cubicBezTo>
                  <a:cubicBezTo>
                    <a:pt x="42744" y="41581"/>
                    <a:pt x="43141" y="41582"/>
                    <a:pt x="43540" y="41582"/>
                  </a:cubicBezTo>
                  <a:cubicBezTo>
                    <a:pt x="44338" y="41582"/>
                    <a:pt x="45145" y="41577"/>
                    <a:pt x="46137" y="41577"/>
                  </a:cubicBezTo>
                  <a:lnTo>
                    <a:pt x="46137" y="43291"/>
                  </a:lnTo>
                  <a:cubicBezTo>
                    <a:pt x="46030" y="43315"/>
                    <a:pt x="45935" y="43327"/>
                    <a:pt x="45827" y="43327"/>
                  </a:cubicBezTo>
                  <a:cubicBezTo>
                    <a:pt x="43387" y="43339"/>
                    <a:pt x="40934" y="43351"/>
                    <a:pt x="38481" y="43387"/>
                  </a:cubicBezTo>
                  <a:cubicBezTo>
                    <a:pt x="37445" y="43398"/>
                    <a:pt x="36386" y="43470"/>
                    <a:pt x="35338" y="43506"/>
                  </a:cubicBezTo>
                  <a:lnTo>
                    <a:pt x="34802" y="43506"/>
                  </a:lnTo>
                  <a:cubicBezTo>
                    <a:pt x="34766" y="43160"/>
                    <a:pt x="34790" y="42815"/>
                    <a:pt x="34790" y="42470"/>
                  </a:cubicBezTo>
                  <a:cubicBezTo>
                    <a:pt x="34778" y="42113"/>
                    <a:pt x="34790" y="41791"/>
                    <a:pt x="34790" y="41410"/>
                  </a:cubicBezTo>
                  <a:close/>
                  <a:moveTo>
                    <a:pt x="54150" y="32659"/>
                  </a:moveTo>
                  <a:cubicBezTo>
                    <a:pt x="54150" y="32659"/>
                    <a:pt x="54162" y="32933"/>
                    <a:pt x="54162" y="33088"/>
                  </a:cubicBezTo>
                  <a:cubicBezTo>
                    <a:pt x="54162" y="34885"/>
                    <a:pt x="54150" y="36659"/>
                    <a:pt x="54186" y="38469"/>
                  </a:cubicBezTo>
                  <a:cubicBezTo>
                    <a:pt x="54209" y="40065"/>
                    <a:pt x="54281" y="41612"/>
                    <a:pt x="54328" y="43208"/>
                  </a:cubicBezTo>
                  <a:lnTo>
                    <a:pt x="54328" y="43803"/>
                  </a:lnTo>
                  <a:lnTo>
                    <a:pt x="52221" y="43803"/>
                  </a:lnTo>
                  <a:cubicBezTo>
                    <a:pt x="52388" y="40088"/>
                    <a:pt x="52459" y="36374"/>
                    <a:pt x="52400" y="32659"/>
                  </a:cubicBezTo>
                  <a:close/>
                  <a:moveTo>
                    <a:pt x="25039" y="32528"/>
                  </a:moveTo>
                  <a:cubicBezTo>
                    <a:pt x="25325" y="32528"/>
                    <a:pt x="25611" y="32540"/>
                    <a:pt x="25932" y="32540"/>
                  </a:cubicBezTo>
                  <a:cubicBezTo>
                    <a:pt x="25932" y="32707"/>
                    <a:pt x="25956" y="32849"/>
                    <a:pt x="25956" y="32992"/>
                  </a:cubicBezTo>
                  <a:cubicBezTo>
                    <a:pt x="25956" y="34897"/>
                    <a:pt x="25956" y="36814"/>
                    <a:pt x="25980" y="38731"/>
                  </a:cubicBezTo>
                  <a:cubicBezTo>
                    <a:pt x="26003" y="40243"/>
                    <a:pt x="26075" y="41732"/>
                    <a:pt x="26123" y="43244"/>
                  </a:cubicBezTo>
                  <a:lnTo>
                    <a:pt x="26123" y="43803"/>
                  </a:lnTo>
                  <a:lnTo>
                    <a:pt x="24075" y="43815"/>
                  </a:lnTo>
                  <a:cubicBezTo>
                    <a:pt x="24134" y="40100"/>
                    <a:pt x="24194" y="36338"/>
                    <a:pt x="24253" y="32528"/>
                  </a:cubicBezTo>
                  <a:cubicBezTo>
                    <a:pt x="24412" y="32528"/>
                    <a:pt x="24587" y="32533"/>
                    <a:pt x="24767" y="32533"/>
                  </a:cubicBezTo>
                  <a:cubicBezTo>
                    <a:pt x="24857" y="32533"/>
                    <a:pt x="24948" y="32532"/>
                    <a:pt x="25039" y="32528"/>
                  </a:cubicBezTo>
                  <a:close/>
                  <a:moveTo>
                    <a:pt x="27789" y="32528"/>
                  </a:moveTo>
                  <a:cubicBezTo>
                    <a:pt x="28075" y="32528"/>
                    <a:pt x="28361" y="32540"/>
                    <a:pt x="28682" y="32540"/>
                  </a:cubicBezTo>
                  <a:cubicBezTo>
                    <a:pt x="28682" y="32707"/>
                    <a:pt x="28706" y="32849"/>
                    <a:pt x="28706" y="32992"/>
                  </a:cubicBezTo>
                  <a:cubicBezTo>
                    <a:pt x="28706" y="34850"/>
                    <a:pt x="28706" y="36707"/>
                    <a:pt x="28730" y="38564"/>
                  </a:cubicBezTo>
                  <a:cubicBezTo>
                    <a:pt x="28754" y="40112"/>
                    <a:pt x="28825" y="41624"/>
                    <a:pt x="28873" y="43172"/>
                  </a:cubicBezTo>
                  <a:lnTo>
                    <a:pt x="28873" y="43803"/>
                  </a:lnTo>
                  <a:lnTo>
                    <a:pt x="26825" y="43815"/>
                  </a:lnTo>
                  <a:cubicBezTo>
                    <a:pt x="26885" y="40088"/>
                    <a:pt x="26944" y="36338"/>
                    <a:pt x="27004" y="32528"/>
                  </a:cubicBezTo>
                  <a:cubicBezTo>
                    <a:pt x="27162" y="32528"/>
                    <a:pt x="27337" y="32533"/>
                    <a:pt x="27517" y="32533"/>
                  </a:cubicBezTo>
                  <a:cubicBezTo>
                    <a:pt x="27607" y="32533"/>
                    <a:pt x="27698" y="32532"/>
                    <a:pt x="27789" y="32528"/>
                  </a:cubicBezTo>
                  <a:close/>
                  <a:moveTo>
                    <a:pt x="31266" y="32671"/>
                  </a:moveTo>
                  <a:lnTo>
                    <a:pt x="31266" y="33052"/>
                  </a:lnTo>
                  <a:cubicBezTo>
                    <a:pt x="31266" y="34826"/>
                    <a:pt x="31349" y="36600"/>
                    <a:pt x="31385" y="38374"/>
                  </a:cubicBezTo>
                  <a:cubicBezTo>
                    <a:pt x="31409" y="40005"/>
                    <a:pt x="31528" y="41589"/>
                    <a:pt x="31576" y="43220"/>
                  </a:cubicBezTo>
                  <a:cubicBezTo>
                    <a:pt x="31576" y="43422"/>
                    <a:pt x="31623" y="43815"/>
                    <a:pt x="31623" y="43815"/>
                  </a:cubicBezTo>
                  <a:lnTo>
                    <a:pt x="29528" y="43815"/>
                  </a:lnTo>
                  <a:cubicBezTo>
                    <a:pt x="29682" y="40092"/>
                    <a:pt x="29766" y="36382"/>
                    <a:pt x="29707" y="32671"/>
                  </a:cubicBezTo>
                  <a:close/>
                  <a:moveTo>
                    <a:pt x="34183" y="32540"/>
                  </a:moveTo>
                  <a:cubicBezTo>
                    <a:pt x="34183" y="32695"/>
                    <a:pt x="34207" y="32838"/>
                    <a:pt x="34207" y="32992"/>
                  </a:cubicBezTo>
                  <a:cubicBezTo>
                    <a:pt x="34207" y="34207"/>
                    <a:pt x="34183" y="35409"/>
                    <a:pt x="34207" y="36624"/>
                  </a:cubicBezTo>
                  <a:cubicBezTo>
                    <a:pt x="34219" y="38374"/>
                    <a:pt x="34266" y="40124"/>
                    <a:pt x="34302" y="41863"/>
                  </a:cubicBezTo>
                  <a:cubicBezTo>
                    <a:pt x="34314" y="42434"/>
                    <a:pt x="34350" y="42958"/>
                    <a:pt x="34374" y="43529"/>
                  </a:cubicBezTo>
                  <a:cubicBezTo>
                    <a:pt x="34374" y="43625"/>
                    <a:pt x="34374" y="43720"/>
                    <a:pt x="34350" y="43827"/>
                  </a:cubicBezTo>
                  <a:lnTo>
                    <a:pt x="32266" y="43827"/>
                  </a:lnTo>
                  <a:cubicBezTo>
                    <a:pt x="32433" y="40092"/>
                    <a:pt x="32516" y="36334"/>
                    <a:pt x="32457" y="32540"/>
                  </a:cubicBezTo>
                  <a:close/>
                  <a:moveTo>
                    <a:pt x="48649" y="32659"/>
                  </a:moveTo>
                  <a:cubicBezTo>
                    <a:pt x="48661" y="32778"/>
                    <a:pt x="48661" y="32897"/>
                    <a:pt x="48661" y="33016"/>
                  </a:cubicBezTo>
                  <a:cubicBezTo>
                    <a:pt x="48673" y="34945"/>
                    <a:pt x="48661" y="36850"/>
                    <a:pt x="48685" y="38779"/>
                  </a:cubicBezTo>
                  <a:cubicBezTo>
                    <a:pt x="48709" y="40279"/>
                    <a:pt x="48780" y="41779"/>
                    <a:pt x="48828" y="43279"/>
                  </a:cubicBezTo>
                  <a:lnTo>
                    <a:pt x="48828" y="43898"/>
                  </a:lnTo>
                  <a:cubicBezTo>
                    <a:pt x="48221" y="43919"/>
                    <a:pt x="47633" y="43948"/>
                    <a:pt x="47054" y="43948"/>
                  </a:cubicBezTo>
                  <a:cubicBezTo>
                    <a:pt x="46962" y="43948"/>
                    <a:pt x="46871" y="43948"/>
                    <a:pt x="46780" y="43946"/>
                  </a:cubicBezTo>
                  <a:cubicBezTo>
                    <a:pt x="46839" y="40148"/>
                    <a:pt x="46899" y="36374"/>
                    <a:pt x="46958" y="32659"/>
                  </a:cubicBezTo>
                  <a:close/>
                  <a:moveTo>
                    <a:pt x="51364" y="32659"/>
                  </a:moveTo>
                  <a:cubicBezTo>
                    <a:pt x="51423" y="36386"/>
                    <a:pt x="51483" y="40136"/>
                    <a:pt x="51542" y="43887"/>
                  </a:cubicBezTo>
                  <a:cubicBezTo>
                    <a:pt x="51370" y="43939"/>
                    <a:pt x="50794" y="43972"/>
                    <a:pt x="50280" y="43972"/>
                  </a:cubicBezTo>
                  <a:cubicBezTo>
                    <a:pt x="49976" y="43972"/>
                    <a:pt x="49694" y="43961"/>
                    <a:pt x="49530" y="43934"/>
                  </a:cubicBezTo>
                  <a:cubicBezTo>
                    <a:pt x="49590" y="40172"/>
                    <a:pt x="49649" y="36374"/>
                    <a:pt x="49709" y="32659"/>
                  </a:cubicBezTo>
                  <a:close/>
                  <a:moveTo>
                    <a:pt x="34993" y="44351"/>
                  </a:moveTo>
                  <a:lnTo>
                    <a:pt x="34993" y="44363"/>
                  </a:lnTo>
                  <a:lnTo>
                    <a:pt x="34993" y="46423"/>
                  </a:lnTo>
                  <a:cubicBezTo>
                    <a:pt x="32129" y="46304"/>
                    <a:pt x="29272" y="46220"/>
                    <a:pt x="26082" y="46220"/>
                  </a:cubicBezTo>
                  <a:cubicBezTo>
                    <a:pt x="25121" y="46220"/>
                    <a:pt x="24129" y="46227"/>
                    <a:pt x="23098" y="46244"/>
                  </a:cubicBezTo>
                  <a:lnTo>
                    <a:pt x="23098" y="44541"/>
                  </a:lnTo>
                  <a:cubicBezTo>
                    <a:pt x="27563" y="44482"/>
                    <a:pt x="31278" y="44410"/>
                    <a:pt x="34993" y="44351"/>
                  </a:cubicBezTo>
                  <a:close/>
                  <a:moveTo>
                    <a:pt x="11954" y="47101"/>
                  </a:moveTo>
                  <a:lnTo>
                    <a:pt x="11954" y="49173"/>
                  </a:lnTo>
                  <a:cubicBezTo>
                    <a:pt x="9002" y="49050"/>
                    <a:pt x="6035" y="48965"/>
                    <a:pt x="3040" y="48965"/>
                  </a:cubicBezTo>
                  <a:cubicBezTo>
                    <a:pt x="2267" y="48965"/>
                    <a:pt x="1492" y="48970"/>
                    <a:pt x="715" y="48982"/>
                  </a:cubicBezTo>
                  <a:cubicBezTo>
                    <a:pt x="703" y="48899"/>
                    <a:pt x="703" y="48804"/>
                    <a:pt x="715" y="48709"/>
                  </a:cubicBezTo>
                  <a:cubicBezTo>
                    <a:pt x="715" y="48244"/>
                    <a:pt x="679" y="47768"/>
                    <a:pt x="679" y="47292"/>
                  </a:cubicBezTo>
                  <a:lnTo>
                    <a:pt x="11954" y="47101"/>
                  </a:lnTo>
                  <a:close/>
                  <a:moveTo>
                    <a:pt x="34993" y="47101"/>
                  </a:moveTo>
                  <a:lnTo>
                    <a:pt x="34993" y="49173"/>
                  </a:lnTo>
                  <a:cubicBezTo>
                    <a:pt x="32083" y="49061"/>
                    <a:pt x="29064" y="48972"/>
                    <a:pt x="26079" y="48972"/>
                  </a:cubicBezTo>
                  <a:cubicBezTo>
                    <a:pt x="25240" y="48972"/>
                    <a:pt x="24405" y="48979"/>
                    <a:pt x="23575" y="48994"/>
                  </a:cubicBezTo>
                  <a:cubicBezTo>
                    <a:pt x="23575" y="48840"/>
                    <a:pt x="23503" y="48732"/>
                    <a:pt x="23503" y="48625"/>
                  </a:cubicBezTo>
                  <a:cubicBezTo>
                    <a:pt x="23503" y="48185"/>
                    <a:pt x="23587" y="47744"/>
                    <a:pt x="23587" y="47292"/>
                  </a:cubicBezTo>
                  <a:cubicBezTo>
                    <a:pt x="27373" y="47232"/>
                    <a:pt x="31266" y="47173"/>
                    <a:pt x="34993" y="47101"/>
                  </a:cubicBezTo>
                  <a:close/>
                  <a:moveTo>
                    <a:pt x="46137" y="0"/>
                  </a:moveTo>
                  <a:lnTo>
                    <a:pt x="45446" y="607"/>
                  </a:lnTo>
                  <a:cubicBezTo>
                    <a:pt x="45399" y="3644"/>
                    <a:pt x="45375" y="6656"/>
                    <a:pt x="45315" y="9632"/>
                  </a:cubicBezTo>
                  <a:lnTo>
                    <a:pt x="43660" y="9632"/>
                  </a:lnTo>
                  <a:cubicBezTo>
                    <a:pt x="43637" y="9561"/>
                    <a:pt x="43625" y="9489"/>
                    <a:pt x="43637" y="9418"/>
                  </a:cubicBezTo>
                  <a:cubicBezTo>
                    <a:pt x="43613" y="7120"/>
                    <a:pt x="43589" y="4858"/>
                    <a:pt x="43565" y="2548"/>
                  </a:cubicBezTo>
                  <a:lnTo>
                    <a:pt x="42672" y="3382"/>
                  </a:lnTo>
                  <a:cubicBezTo>
                    <a:pt x="42637" y="5477"/>
                    <a:pt x="42601" y="7394"/>
                    <a:pt x="42577" y="9632"/>
                  </a:cubicBezTo>
                  <a:lnTo>
                    <a:pt x="40934" y="9632"/>
                  </a:lnTo>
                  <a:cubicBezTo>
                    <a:pt x="40910" y="8144"/>
                    <a:pt x="40886" y="6727"/>
                    <a:pt x="40862" y="5227"/>
                  </a:cubicBezTo>
                  <a:lnTo>
                    <a:pt x="39874" y="6251"/>
                  </a:lnTo>
                  <a:cubicBezTo>
                    <a:pt x="39862" y="7430"/>
                    <a:pt x="39839" y="8632"/>
                    <a:pt x="39827" y="9823"/>
                  </a:cubicBezTo>
                  <a:cubicBezTo>
                    <a:pt x="39303" y="9835"/>
                    <a:pt x="38743" y="9835"/>
                    <a:pt x="38136" y="9835"/>
                  </a:cubicBezTo>
                  <a:cubicBezTo>
                    <a:pt x="38136" y="9680"/>
                    <a:pt x="38124" y="9537"/>
                    <a:pt x="38124" y="9406"/>
                  </a:cubicBezTo>
                  <a:cubicBezTo>
                    <a:pt x="38124" y="8954"/>
                    <a:pt x="38124" y="8513"/>
                    <a:pt x="38112" y="8061"/>
                  </a:cubicBezTo>
                  <a:lnTo>
                    <a:pt x="37088" y="9001"/>
                  </a:lnTo>
                  <a:lnTo>
                    <a:pt x="37088" y="9632"/>
                  </a:lnTo>
                  <a:lnTo>
                    <a:pt x="36350" y="9632"/>
                  </a:lnTo>
                  <a:lnTo>
                    <a:pt x="35719" y="10382"/>
                  </a:lnTo>
                  <a:cubicBezTo>
                    <a:pt x="38757" y="10507"/>
                    <a:pt x="41614" y="10641"/>
                    <a:pt x="44765" y="10641"/>
                  </a:cubicBezTo>
                  <a:cubicBezTo>
                    <a:pt x="45220" y="10641"/>
                    <a:pt x="45681" y="10638"/>
                    <a:pt x="46149" y="10632"/>
                  </a:cubicBezTo>
                  <a:lnTo>
                    <a:pt x="46149" y="12323"/>
                  </a:lnTo>
                  <a:lnTo>
                    <a:pt x="35005" y="12526"/>
                  </a:lnTo>
                  <a:lnTo>
                    <a:pt x="35005" y="11371"/>
                  </a:lnTo>
                  <a:lnTo>
                    <a:pt x="34278" y="12156"/>
                  </a:lnTo>
                  <a:cubicBezTo>
                    <a:pt x="34326" y="15216"/>
                    <a:pt x="34290" y="17812"/>
                    <a:pt x="34338" y="21515"/>
                  </a:cubicBezTo>
                  <a:lnTo>
                    <a:pt x="32278" y="21515"/>
                  </a:lnTo>
                  <a:cubicBezTo>
                    <a:pt x="32373" y="18538"/>
                    <a:pt x="32445" y="16371"/>
                    <a:pt x="32469" y="13883"/>
                  </a:cubicBezTo>
                  <a:lnTo>
                    <a:pt x="32469" y="13883"/>
                  </a:lnTo>
                  <a:lnTo>
                    <a:pt x="31468" y="14788"/>
                  </a:lnTo>
                  <a:lnTo>
                    <a:pt x="31468" y="15669"/>
                  </a:lnTo>
                  <a:cubicBezTo>
                    <a:pt x="31492" y="17312"/>
                    <a:pt x="31564" y="19098"/>
                    <a:pt x="31623" y="20729"/>
                  </a:cubicBezTo>
                  <a:lnTo>
                    <a:pt x="31623" y="21515"/>
                  </a:lnTo>
                  <a:lnTo>
                    <a:pt x="29528" y="21515"/>
                  </a:lnTo>
                  <a:cubicBezTo>
                    <a:pt x="29587" y="19276"/>
                    <a:pt x="29635" y="18229"/>
                    <a:pt x="29671" y="16669"/>
                  </a:cubicBezTo>
                  <a:lnTo>
                    <a:pt x="29671" y="16669"/>
                  </a:lnTo>
                  <a:lnTo>
                    <a:pt x="28766" y="17479"/>
                  </a:lnTo>
                  <a:cubicBezTo>
                    <a:pt x="28801" y="18526"/>
                    <a:pt x="28837" y="19681"/>
                    <a:pt x="28873" y="20717"/>
                  </a:cubicBezTo>
                  <a:lnTo>
                    <a:pt x="28873" y="21515"/>
                  </a:lnTo>
                  <a:lnTo>
                    <a:pt x="26825" y="21515"/>
                  </a:lnTo>
                  <a:cubicBezTo>
                    <a:pt x="26837" y="20765"/>
                    <a:pt x="26849" y="20098"/>
                    <a:pt x="26861" y="19479"/>
                  </a:cubicBezTo>
                  <a:lnTo>
                    <a:pt x="26861" y="19479"/>
                  </a:lnTo>
                  <a:lnTo>
                    <a:pt x="26111" y="20146"/>
                  </a:lnTo>
                  <a:cubicBezTo>
                    <a:pt x="26111" y="20312"/>
                    <a:pt x="26123" y="20598"/>
                    <a:pt x="26134" y="20753"/>
                  </a:cubicBezTo>
                  <a:lnTo>
                    <a:pt x="26134" y="21515"/>
                  </a:lnTo>
                  <a:lnTo>
                    <a:pt x="25003" y="21515"/>
                  </a:lnTo>
                  <a:lnTo>
                    <a:pt x="24468" y="21991"/>
                  </a:lnTo>
                  <a:cubicBezTo>
                    <a:pt x="27932" y="21931"/>
                    <a:pt x="31278" y="21705"/>
                    <a:pt x="34993" y="21646"/>
                  </a:cubicBezTo>
                  <a:lnTo>
                    <a:pt x="34993" y="23670"/>
                  </a:lnTo>
                  <a:lnTo>
                    <a:pt x="23848" y="23467"/>
                  </a:lnTo>
                  <a:lnTo>
                    <a:pt x="23848" y="22693"/>
                  </a:lnTo>
                  <a:lnTo>
                    <a:pt x="22955" y="23467"/>
                  </a:lnTo>
                  <a:cubicBezTo>
                    <a:pt x="22908" y="26503"/>
                    <a:pt x="22670" y="29682"/>
                    <a:pt x="22622" y="32659"/>
                  </a:cubicBezTo>
                  <a:lnTo>
                    <a:pt x="20979" y="32659"/>
                  </a:lnTo>
                  <a:cubicBezTo>
                    <a:pt x="20943" y="30433"/>
                    <a:pt x="20896" y="27777"/>
                    <a:pt x="20860" y="25384"/>
                  </a:cubicBezTo>
                  <a:lnTo>
                    <a:pt x="19979" y="26301"/>
                  </a:lnTo>
                  <a:cubicBezTo>
                    <a:pt x="19943" y="28408"/>
                    <a:pt x="19907" y="30433"/>
                    <a:pt x="19872" y="32659"/>
                  </a:cubicBezTo>
                  <a:lnTo>
                    <a:pt x="18205" y="32659"/>
                  </a:lnTo>
                  <a:cubicBezTo>
                    <a:pt x="18181" y="32528"/>
                    <a:pt x="18169" y="32385"/>
                    <a:pt x="18169" y="32254"/>
                  </a:cubicBezTo>
                  <a:cubicBezTo>
                    <a:pt x="18157" y="30861"/>
                    <a:pt x="18157" y="29444"/>
                    <a:pt x="18145" y="28063"/>
                  </a:cubicBezTo>
                  <a:lnTo>
                    <a:pt x="17169" y="29087"/>
                  </a:lnTo>
                  <a:cubicBezTo>
                    <a:pt x="17157" y="30254"/>
                    <a:pt x="17133" y="31171"/>
                    <a:pt x="17121" y="32659"/>
                  </a:cubicBezTo>
                  <a:lnTo>
                    <a:pt x="15478" y="32659"/>
                  </a:lnTo>
                  <a:cubicBezTo>
                    <a:pt x="15466" y="31909"/>
                    <a:pt x="15455" y="31385"/>
                    <a:pt x="15443" y="30790"/>
                  </a:cubicBezTo>
                  <a:lnTo>
                    <a:pt x="14419" y="31849"/>
                  </a:lnTo>
                  <a:lnTo>
                    <a:pt x="14419" y="32659"/>
                  </a:lnTo>
                  <a:lnTo>
                    <a:pt x="13633" y="32659"/>
                  </a:lnTo>
                  <a:lnTo>
                    <a:pt x="12811" y="33254"/>
                  </a:lnTo>
                  <a:cubicBezTo>
                    <a:pt x="16288" y="33314"/>
                    <a:pt x="20134" y="33314"/>
                    <a:pt x="23098" y="33373"/>
                  </a:cubicBezTo>
                  <a:lnTo>
                    <a:pt x="23098" y="35005"/>
                  </a:lnTo>
                  <a:lnTo>
                    <a:pt x="11954" y="35207"/>
                  </a:lnTo>
                  <a:lnTo>
                    <a:pt x="11954" y="34064"/>
                  </a:lnTo>
                  <a:lnTo>
                    <a:pt x="11418" y="34635"/>
                  </a:lnTo>
                  <a:cubicBezTo>
                    <a:pt x="11466" y="37707"/>
                    <a:pt x="11585" y="40827"/>
                    <a:pt x="11645" y="43803"/>
                  </a:cubicBezTo>
                  <a:lnTo>
                    <a:pt x="9573" y="43803"/>
                  </a:lnTo>
                  <a:cubicBezTo>
                    <a:pt x="9680" y="41565"/>
                    <a:pt x="9740" y="38862"/>
                    <a:pt x="9763" y="36374"/>
                  </a:cubicBezTo>
                  <a:lnTo>
                    <a:pt x="9763" y="36374"/>
                  </a:lnTo>
                  <a:lnTo>
                    <a:pt x="8763" y="37386"/>
                  </a:lnTo>
                  <a:lnTo>
                    <a:pt x="8763" y="38422"/>
                  </a:lnTo>
                  <a:cubicBezTo>
                    <a:pt x="8787" y="40029"/>
                    <a:pt x="8870" y="41589"/>
                    <a:pt x="8918" y="43184"/>
                  </a:cubicBezTo>
                  <a:lnTo>
                    <a:pt x="8918" y="43803"/>
                  </a:lnTo>
                  <a:lnTo>
                    <a:pt x="6823" y="43803"/>
                  </a:lnTo>
                  <a:cubicBezTo>
                    <a:pt x="6882" y="42315"/>
                    <a:pt x="6930" y="40720"/>
                    <a:pt x="6965" y="39160"/>
                  </a:cubicBezTo>
                  <a:lnTo>
                    <a:pt x="6965" y="39160"/>
                  </a:lnTo>
                  <a:lnTo>
                    <a:pt x="6061" y="40077"/>
                  </a:lnTo>
                  <a:cubicBezTo>
                    <a:pt x="6096" y="41112"/>
                    <a:pt x="6132" y="42124"/>
                    <a:pt x="6168" y="43160"/>
                  </a:cubicBezTo>
                  <a:lnTo>
                    <a:pt x="6168" y="43803"/>
                  </a:lnTo>
                  <a:lnTo>
                    <a:pt x="4120" y="43803"/>
                  </a:lnTo>
                  <a:cubicBezTo>
                    <a:pt x="4132" y="43053"/>
                    <a:pt x="4144" y="42601"/>
                    <a:pt x="4156" y="41970"/>
                  </a:cubicBezTo>
                  <a:lnTo>
                    <a:pt x="4156" y="41970"/>
                  </a:lnTo>
                  <a:lnTo>
                    <a:pt x="3405" y="42744"/>
                  </a:lnTo>
                  <a:cubicBezTo>
                    <a:pt x="3405" y="42910"/>
                    <a:pt x="3417" y="43089"/>
                    <a:pt x="3429" y="43256"/>
                  </a:cubicBezTo>
                  <a:cubicBezTo>
                    <a:pt x="3429" y="43434"/>
                    <a:pt x="3429" y="43637"/>
                    <a:pt x="3429" y="43827"/>
                  </a:cubicBezTo>
                  <a:cubicBezTo>
                    <a:pt x="3102" y="43877"/>
                    <a:pt x="2783" y="43901"/>
                    <a:pt x="2458" y="43901"/>
                  </a:cubicBezTo>
                  <a:cubicBezTo>
                    <a:pt x="2393" y="43901"/>
                    <a:pt x="2328" y="43900"/>
                    <a:pt x="2262" y="43898"/>
                  </a:cubicBezTo>
                  <a:lnTo>
                    <a:pt x="1596" y="44518"/>
                  </a:lnTo>
                  <a:cubicBezTo>
                    <a:pt x="5060" y="44458"/>
                    <a:pt x="8239" y="44399"/>
                    <a:pt x="11954" y="44339"/>
                  </a:cubicBezTo>
                  <a:lnTo>
                    <a:pt x="11954" y="46363"/>
                  </a:lnTo>
                  <a:lnTo>
                    <a:pt x="810" y="46173"/>
                  </a:lnTo>
                  <a:lnTo>
                    <a:pt x="810" y="45399"/>
                  </a:lnTo>
                  <a:lnTo>
                    <a:pt x="84" y="46101"/>
                  </a:lnTo>
                  <a:cubicBezTo>
                    <a:pt x="60" y="47316"/>
                    <a:pt x="24" y="48268"/>
                    <a:pt x="0" y="49744"/>
                  </a:cubicBezTo>
                  <a:lnTo>
                    <a:pt x="12633" y="49744"/>
                  </a:lnTo>
                  <a:cubicBezTo>
                    <a:pt x="12633" y="49006"/>
                    <a:pt x="12621" y="47958"/>
                    <a:pt x="12609" y="47066"/>
                  </a:cubicBezTo>
                  <a:cubicBezTo>
                    <a:pt x="12597" y="46196"/>
                    <a:pt x="12526" y="45268"/>
                    <a:pt x="12490" y="44387"/>
                  </a:cubicBezTo>
                  <a:cubicBezTo>
                    <a:pt x="12490" y="44220"/>
                    <a:pt x="12490" y="43791"/>
                    <a:pt x="12490" y="43791"/>
                  </a:cubicBezTo>
                  <a:lnTo>
                    <a:pt x="14585" y="43791"/>
                  </a:lnTo>
                  <a:cubicBezTo>
                    <a:pt x="14597" y="45280"/>
                    <a:pt x="14490" y="46327"/>
                    <a:pt x="14478" y="47577"/>
                  </a:cubicBezTo>
                  <a:cubicBezTo>
                    <a:pt x="14478" y="48280"/>
                    <a:pt x="14454" y="48994"/>
                    <a:pt x="14443" y="49744"/>
                  </a:cubicBezTo>
                  <a:lnTo>
                    <a:pt x="15383" y="49744"/>
                  </a:lnTo>
                  <a:cubicBezTo>
                    <a:pt x="15383" y="48994"/>
                    <a:pt x="15371" y="47911"/>
                    <a:pt x="15359" y="46994"/>
                  </a:cubicBezTo>
                  <a:cubicBezTo>
                    <a:pt x="15347" y="46137"/>
                    <a:pt x="15276" y="45220"/>
                    <a:pt x="15240" y="44351"/>
                  </a:cubicBezTo>
                  <a:cubicBezTo>
                    <a:pt x="15228" y="44196"/>
                    <a:pt x="15240" y="43791"/>
                    <a:pt x="15240" y="43791"/>
                  </a:cubicBezTo>
                  <a:lnTo>
                    <a:pt x="17300" y="43791"/>
                  </a:lnTo>
                  <a:cubicBezTo>
                    <a:pt x="17276" y="46030"/>
                    <a:pt x="17240" y="47518"/>
                    <a:pt x="17205" y="49744"/>
                  </a:cubicBezTo>
                  <a:lnTo>
                    <a:pt x="18145" y="49744"/>
                  </a:lnTo>
                  <a:cubicBezTo>
                    <a:pt x="18110" y="47506"/>
                    <a:pt x="18074" y="45887"/>
                    <a:pt x="18038" y="43934"/>
                  </a:cubicBezTo>
                  <a:cubicBezTo>
                    <a:pt x="18188" y="43887"/>
                    <a:pt x="18693" y="43859"/>
                    <a:pt x="19175" y="43859"/>
                  </a:cubicBezTo>
                  <a:cubicBezTo>
                    <a:pt x="19538" y="43859"/>
                    <a:pt x="19888" y="43875"/>
                    <a:pt x="20062" y="43910"/>
                  </a:cubicBezTo>
                  <a:cubicBezTo>
                    <a:pt x="20027" y="45851"/>
                    <a:pt x="19991" y="47506"/>
                    <a:pt x="19955" y="49733"/>
                  </a:cubicBezTo>
                  <a:lnTo>
                    <a:pt x="20884" y="49733"/>
                  </a:lnTo>
                  <a:cubicBezTo>
                    <a:pt x="20884" y="48994"/>
                    <a:pt x="20872" y="47851"/>
                    <a:pt x="20860" y="46899"/>
                  </a:cubicBezTo>
                  <a:cubicBezTo>
                    <a:pt x="20848" y="46053"/>
                    <a:pt x="20789" y="45149"/>
                    <a:pt x="20741" y="44303"/>
                  </a:cubicBezTo>
                  <a:lnTo>
                    <a:pt x="20741" y="43791"/>
                  </a:lnTo>
                  <a:lnTo>
                    <a:pt x="22801" y="43791"/>
                  </a:lnTo>
                  <a:cubicBezTo>
                    <a:pt x="22777" y="46018"/>
                    <a:pt x="22741" y="47506"/>
                    <a:pt x="22705" y="49733"/>
                  </a:cubicBezTo>
                  <a:lnTo>
                    <a:pt x="35314" y="49733"/>
                  </a:lnTo>
                  <a:cubicBezTo>
                    <a:pt x="35302" y="48994"/>
                    <a:pt x="35290" y="47554"/>
                    <a:pt x="35278" y="46446"/>
                  </a:cubicBezTo>
                  <a:cubicBezTo>
                    <a:pt x="35267" y="45756"/>
                    <a:pt x="35219" y="44994"/>
                    <a:pt x="35195" y="44303"/>
                  </a:cubicBezTo>
                  <a:lnTo>
                    <a:pt x="35195" y="43791"/>
                  </a:lnTo>
                  <a:lnTo>
                    <a:pt x="37291" y="43791"/>
                  </a:lnTo>
                  <a:cubicBezTo>
                    <a:pt x="37303" y="45280"/>
                    <a:pt x="37195" y="46315"/>
                    <a:pt x="37183" y="47566"/>
                  </a:cubicBezTo>
                  <a:cubicBezTo>
                    <a:pt x="37183" y="48268"/>
                    <a:pt x="37172" y="48994"/>
                    <a:pt x="37148" y="49733"/>
                  </a:cubicBezTo>
                  <a:lnTo>
                    <a:pt x="38088" y="49733"/>
                  </a:lnTo>
                  <a:cubicBezTo>
                    <a:pt x="38088" y="48994"/>
                    <a:pt x="38076" y="47899"/>
                    <a:pt x="38065" y="46982"/>
                  </a:cubicBezTo>
                  <a:cubicBezTo>
                    <a:pt x="38053" y="46113"/>
                    <a:pt x="37981" y="45208"/>
                    <a:pt x="37945" y="44351"/>
                  </a:cubicBezTo>
                  <a:cubicBezTo>
                    <a:pt x="37945" y="44184"/>
                    <a:pt x="37945" y="43791"/>
                    <a:pt x="37945" y="43791"/>
                  </a:cubicBezTo>
                  <a:lnTo>
                    <a:pt x="40005" y="43791"/>
                  </a:lnTo>
                  <a:cubicBezTo>
                    <a:pt x="39981" y="46018"/>
                    <a:pt x="39946" y="47506"/>
                    <a:pt x="39910" y="49733"/>
                  </a:cubicBezTo>
                  <a:lnTo>
                    <a:pt x="40851" y="49733"/>
                  </a:lnTo>
                  <a:cubicBezTo>
                    <a:pt x="40815" y="47506"/>
                    <a:pt x="40779" y="46018"/>
                    <a:pt x="40743" y="43791"/>
                  </a:cubicBezTo>
                  <a:lnTo>
                    <a:pt x="42756" y="43791"/>
                  </a:lnTo>
                  <a:cubicBezTo>
                    <a:pt x="42732" y="46018"/>
                    <a:pt x="42696" y="47506"/>
                    <a:pt x="42660" y="49733"/>
                  </a:cubicBezTo>
                  <a:lnTo>
                    <a:pt x="43601" y="49733"/>
                  </a:lnTo>
                  <a:cubicBezTo>
                    <a:pt x="43565" y="47506"/>
                    <a:pt x="43529" y="45875"/>
                    <a:pt x="43494" y="43934"/>
                  </a:cubicBezTo>
                  <a:cubicBezTo>
                    <a:pt x="43650" y="43887"/>
                    <a:pt x="44166" y="43859"/>
                    <a:pt x="44647" y="43859"/>
                  </a:cubicBezTo>
                  <a:cubicBezTo>
                    <a:pt x="45009" y="43859"/>
                    <a:pt x="45352" y="43875"/>
                    <a:pt x="45506" y="43910"/>
                  </a:cubicBezTo>
                  <a:cubicBezTo>
                    <a:pt x="45482" y="45851"/>
                    <a:pt x="45446" y="47506"/>
                    <a:pt x="45411" y="49733"/>
                  </a:cubicBezTo>
                  <a:lnTo>
                    <a:pt x="56543" y="49733"/>
                  </a:lnTo>
                  <a:lnTo>
                    <a:pt x="56543" y="49137"/>
                  </a:lnTo>
                  <a:cubicBezTo>
                    <a:pt x="53759" y="49039"/>
                    <a:pt x="51400" y="48968"/>
                    <a:pt x="48836" y="48968"/>
                  </a:cubicBezTo>
                  <a:cubicBezTo>
                    <a:pt x="47968" y="48968"/>
                    <a:pt x="47076" y="48976"/>
                    <a:pt x="46137" y="48994"/>
                  </a:cubicBezTo>
                  <a:lnTo>
                    <a:pt x="46137" y="47292"/>
                  </a:lnTo>
                  <a:cubicBezTo>
                    <a:pt x="49852" y="47232"/>
                    <a:pt x="52828" y="47173"/>
                    <a:pt x="56543" y="47113"/>
                  </a:cubicBezTo>
                  <a:lnTo>
                    <a:pt x="56543" y="46363"/>
                  </a:lnTo>
                  <a:cubicBezTo>
                    <a:pt x="52816" y="46304"/>
                    <a:pt x="49852" y="46244"/>
                    <a:pt x="46137" y="46173"/>
                  </a:cubicBezTo>
                  <a:lnTo>
                    <a:pt x="46137" y="44541"/>
                  </a:lnTo>
                  <a:cubicBezTo>
                    <a:pt x="49852" y="44482"/>
                    <a:pt x="52828" y="44422"/>
                    <a:pt x="56543" y="44363"/>
                  </a:cubicBezTo>
                  <a:lnTo>
                    <a:pt x="56543" y="43803"/>
                  </a:lnTo>
                  <a:lnTo>
                    <a:pt x="54983" y="43803"/>
                  </a:lnTo>
                  <a:cubicBezTo>
                    <a:pt x="55138" y="40088"/>
                    <a:pt x="55221" y="36374"/>
                    <a:pt x="55162" y="32659"/>
                  </a:cubicBezTo>
                  <a:lnTo>
                    <a:pt x="56543" y="32659"/>
                  </a:lnTo>
                  <a:lnTo>
                    <a:pt x="56543" y="31897"/>
                  </a:lnTo>
                  <a:cubicBezTo>
                    <a:pt x="52828" y="31849"/>
                    <a:pt x="49625" y="31790"/>
                    <a:pt x="46089" y="31730"/>
                  </a:cubicBezTo>
                  <a:cubicBezTo>
                    <a:pt x="46077" y="31206"/>
                    <a:pt x="46054" y="30647"/>
                    <a:pt x="46054" y="30087"/>
                  </a:cubicBezTo>
                  <a:cubicBezTo>
                    <a:pt x="49566" y="30028"/>
                    <a:pt x="52828" y="29968"/>
                    <a:pt x="56543" y="29909"/>
                  </a:cubicBezTo>
                  <a:lnTo>
                    <a:pt x="56543" y="29194"/>
                  </a:lnTo>
                  <a:cubicBezTo>
                    <a:pt x="53721" y="29086"/>
                    <a:pt x="51326" y="29018"/>
                    <a:pt x="48709" y="29018"/>
                  </a:cubicBezTo>
                  <a:cubicBezTo>
                    <a:pt x="47880" y="29018"/>
                    <a:pt x="47030" y="29025"/>
                    <a:pt x="46137" y="29040"/>
                  </a:cubicBezTo>
                  <a:lnTo>
                    <a:pt x="46137" y="27313"/>
                  </a:lnTo>
                  <a:cubicBezTo>
                    <a:pt x="46244" y="27301"/>
                    <a:pt x="46351" y="27289"/>
                    <a:pt x="46458" y="27289"/>
                  </a:cubicBezTo>
                  <a:cubicBezTo>
                    <a:pt x="49102" y="27265"/>
                    <a:pt x="51697" y="27242"/>
                    <a:pt x="54340" y="27206"/>
                  </a:cubicBezTo>
                  <a:cubicBezTo>
                    <a:pt x="55090" y="27194"/>
                    <a:pt x="55805" y="27158"/>
                    <a:pt x="56543" y="27123"/>
                  </a:cubicBezTo>
                  <a:lnTo>
                    <a:pt x="56543" y="26444"/>
                  </a:lnTo>
                  <a:cubicBezTo>
                    <a:pt x="53712" y="26335"/>
                    <a:pt x="51321" y="26268"/>
                    <a:pt x="48707" y="26268"/>
                  </a:cubicBezTo>
                  <a:cubicBezTo>
                    <a:pt x="47880" y="26268"/>
                    <a:pt x="47030" y="26275"/>
                    <a:pt x="46137" y="26289"/>
                  </a:cubicBezTo>
                  <a:lnTo>
                    <a:pt x="46137" y="24587"/>
                  </a:lnTo>
                  <a:cubicBezTo>
                    <a:pt x="49864" y="24527"/>
                    <a:pt x="52828" y="24468"/>
                    <a:pt x="56543" y="24408"/>
                  </a:cubicBezTo>
                  <a:lnTo>
                    <a:pt x="56543" y="23646"/>
                  </a:lnTo>
                  <a:cubicBezTo>
                    <a:pt x="52816" y="23586"/>
                    <a:pt x="49852" y="23527"/>
                    <a:pt x="46137" y="23467"/>
                  </a:cubicBezTo>
                  <a:lnTo>
                    <a:pt x="46137" y="21836"/>
                  </a:lnTo>
                  <a:cubicBezTo>
                    <a:pt x="49864" y="21777"/>
                    <a:pt x="52828" y="21717"/>
                    <a:pt x="56543" y="21658"/>
                  </a:cubicBezTo>
                  <a:lnTo>
                    <a:pt x="56543" y="21181"/>
                  </a:lnTo>
                  <a:cubicBezTo>
                    <a:pt x="56454" y="21185"/>
                    <a:pt x="56365" y="21187"/>
                    <a:pt x="56276" y="21187"/>
                  </a:cubicBezTo>
                  <a:cubicBezTo>
                    <a:pt x="55818" y="21187"/>
                    <a:pt x="55361" y="21134"/>
                    <a:pt x="54912" y="21015"/>
                  </a:cubicBezTo>
                  <a:cubicBezTo>
                    <a:pt x="55067" y="17276"/>
                    <a:pt x="55221" y="13335"/>
                    <a:pt x="55162" y="9620"/>
                  </a:cubicBezTo>
                  <a:lnTo>
                    <a:pt x="56543" y="9620"/>
                  </a:lnTo>
                  <a:lnTo>
                    <a:pt x="56543" y="9192"/>
                  </a:lnTo>
                  <a:cubicBezTo>
                    <a:pt x="52816" y="9132"/>
                    <a:pt x="49852" y="9073"/>
                    <a:pt x="46137" y="9025"/>
                  </a:cubicBezTo>
                  <a:lnTo>
                    <a:pt x="46137" y="7394"/>
                  </a:lnTo>
                  <a:cubicBezTo>
                    <a:pt x="49864" y="7334"/>
                    <a:pt x="52828" y="7275"/>
                    <a:pt x="56543" y="7215"/>
                  </a:cubicBezTo>
                  <a:lnTo>
                    <a:pt x="56543" y="6489"/>
                  </a:lnTo>
                  <a:cubicBezTo>
                    <a:pt x="53759" y="6391"/>
                    <a:pt x="51400" y="6320"/>
                    <a:pt x="48836" y="6320"/>
                  </a:cubicBezTo>
                  <a:cubicBezTo>
                    <a:pt x="47968" y="6320"/>
                    <a:pt x="47076" y="6328"/>
                    <a:pt x="46137" y="6346"/>
                  </a:cubicBezTo>
                  <a:lnTo>
                    <a:pt x="46137" y="4632"/>
                  </a:lnTo>
                  <a:cubicBezTo>
                    <a:pt x="49864" y="4572"/>
                    <a:pt x="52828" y="4513"/>
                    <a:pt x="56543" y="4453"/>
                  </a:cubicBezTo>
                  <a:lnTo>
                    <a:pt x="56543" y="3739"/>
                  </a:lnTo>
                  <a:cubicBezTo>
                    <a:pt x="53712" y="3630"/>
                    <a:pt x="51321" y="3563"/>
                    <a:pt x="48707" y="3563"/>
                  </a:cubicBezTo>
                  <a:cubicBezTo>
                    <a:pt x="47880" y="3563"/>
                    <a:pt x="47030" y="3570"/>
                    <a:pt x="46137" y="3584"/>
                  </a:cubicBezTo>
                  <a:lnTo>
                    <a:pt x="46137" y="1881"/>
                  </a:lnTo>
                  <a:cubicBezTo>
                    <a:pt x="49864" y="1822"/>
                    <a:pt x="52828" y="1762"/>
                    <a:pt x="56543" y="1703"/>
                  </a:cubicBezTo>
                  <a:lnTo>
                    <a:pt x="56543" y="965"/>
                  </a:lnTo>
                  <a:cubicBezTo>
                    <a:pt x="55055" y="917"/>
                    <a:pt x="53340" y="869"/>
                    <a:pt x="51721" y="846"/>
                  </a:cubicBezTo>
                  <a:cubicBezTo>
                    <a:pt x="51098" y="838"/>
                    <a:pt x="50517" y="835"/>
                    <a:pt x="49937" y="835"/>
                  </a:cubicBezTo>
                  <a:cubicBezTo>
                    <a:pt x="48777" y="835"/>
                    <a:pt x="47621" y="846"/>
                    <a:pt x="46137" y="846"/>
                  </a:cubicBezTo>
                  <a:lnTo>
                    <a:pt x="4613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9" name="Google Shape;549;p26"/>
            <p:cNvSpPr/>
            <p:nvPr/>
          </p:nvSpPr>
          <p:spPr>
            <a:xfrm>
              <a:off x="498850" y="4648625"/>
              <a:ext cx="23250" cy="43775"/>
            </a:xfrm>
            <a:custGeom>
              <a:avLst/>
              <a:gdLst/>
              <a:ahLst/>
              <a:cxnLst/>
              <a:rect l="l" t="t" r="r" b="b"/>
              <a:pathLst>
                <a:path w="930" h="1751" extrusionOk="0">
                  <a:moveTo>
                    <a:pt x="906" y="0"/>
                  </a:moveTo>
                  <a:lnTo>
                    <a:pt x="13" y="893"/>
                  </a:lnTo>
                  <a:cubicBezTo>
                    <a:pt x="13" y="1191"/>
                    <a:pt x="1" y="1750"/>
                    <a:pt x="1" y="1750"/>
                  </a:cubicBezTo>
                  <a:lnTo>
                    <a:pt x="930" y="1750"/>
                  </a:lnTo>
                  <a:cubicBezTo>
                    <a:pt x="918" y="1012"/>
                    <a:pt x="918" y="584"/>
                    <a:pt x="90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50" name="Google Shape;550;p26"/>
          <p:cNvSpPr/>
          <p:nvPr/>
        </p:nvSpPr>
        <p:spPr>
          <a:xfrm>
            <a:off x="3" y="0"/>
            <a:ext cx="12192000" cy="6858000"/>
          </a:xfrm>
          <a:prstGeom prst="frame">
            <a:avLst>
              <a:gd name="adj1" fmla="val 2370"/>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51" name="Google Shape;551;p26"/>
          <p:cNvSpPr/>
          <p:nvPr/>
        </p:nvSpPr>
        <p:spPr>
          <a:xfrm>
            <a:off x="0" y="5150903"/>
            <a:ext cx="1706800" cy="17068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475843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19975F-708A-F234-4722-AEB2343426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B87F26E-314A-B65E-03F9-0EADD49DAA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FC2CC6-2915-3AF9-A194-7961055772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9959E7-45DE-4A2D-ACFD-0D8C8BBAB79F}" type="datetimeFigureOut">
              <a:rPr lang="en-US" smtClean="0"/>
              <a:t>1/21/2026</a:t>
            </a:fld>
            <a:endParaRPr lang="en-US"/>
          </a:p>
        </p:txBody>
      </p:sp>
      <p:sp>
        <p:nvSpPr>
          <p:cNvPr id="5" name="Footer Placeholder 4">
            <a:extLst>
              <a:ext uri="{FF2B5EF4-FFF2-40B4-BE49-F238E27FC236}">
                <a16:creationId xmlns:a16="http://schemas.microsoft.com/office/drawing/2014/main" id="{4994C745-1356-0A9F-002D-66D467AF4D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DC9A2B0-BC9C-678A-D6F9-6A0D62CAA9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912E74-8957-4046-8937-1199D0665174}" type="slidenum">
              <a:rPr lang="en-US" smtClean="0"/>
              <a:t>‹#›</a:t>
            </a:fld>
            <a:endParaRPr lang="en-US"/>
          </a:p>
        </p:txBody>
      </p:sp>
    </p:spTree>
    <p:extLst>
      <p:ext uri="{BB962C8B-B14F-4D97-AF65-F5344CB8AC3E}">
        <p14:creationId xmlns:p14="http://schemas.microsoft.com/office/powerpoint/2010/main" val="1015553595"/>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6" r:id="rId3"/>
    <p:sldLayoutId id="2147483662" r:id="rId4"/>
    <p:sldLayoutId id="2147483651" r:id="rId5"/>
    <p:sldLayoutId id="2147483649" r:id="rId6"/>
    <p:sldLayoutId id="2147483650" r:id="rId7"/>
    <p:sldLayoutId id="2147483652" r:id="rId8"/>
    <p:sldLayoutId id="2147483653" r:id="rId9"/>
    <p:sldLayoutId id="2147483654" r:id="rId10"/>
    <p:sldLayoutId id="2147483656" r:id="rId11"/>
    <p:sldLayoutId id="2147483655" r:id="rId12"/>
    <p:sldLayoutId id="2147483660" r:id="rId13"/>
    <p:sldLayoutId id="2147483657" r:id="rId14"/>
    <p:sldLayoutId id="2147483663" r:id="rId15"/>
    <p:sldLayoutId id="2147483669" r:id="rId16"/>
    <p:sldLayoutId id="2147483671" r:id="rId17"/>
    <p:sldLayoutId id="2147483672" r:id="rId18"/>
  </p:sldLayoutIdLst>
  <p:txStyles>
    <p:titleStyle>
      <a:lvl1pPr algn="l" defTabSz="914400" rtl="0" eaLnBrk="1" latinLnBrk="0" hangingPunct="1">
        <a:lnSpc>
          <a:spcPct val="90000"/>
        </a:lnSpc>
        <a:spcBef>
          <a:spcPct val="0"/>
        </a:spcBef>
        <a:buNone/>
        <a:defRPr sz="40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5.xml"/><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28.png"/><Relationship Id="rId4" Type="http://schemas.openxmlformats.org/officeDocument/2006/relationships/image" Target="../media/image30.sv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8.png"/><Relationship Id="rId7" Type="http://schemas.openxmlformats.org/officeDocument/2006/relationships/image" Target="../media/image30.svg"/><Relationship Id="rId2" Type="http://schemas.openxmlformats.org/officeDocument/2006/relationships/notesSlide" Target="../notesSlides/notesSlide16.xml"/><Relationship Id="rId1" Type="http://schemas.openxmlformats.org/officeDocument/2006/relationships/slideLayout" Target="../slideLayouts/slideLayout15.xml"/><Relationship Id="rId6" Type="http://schemas.openxmlformats.org/officeDocument/2006/relationships/image" Target="../media/image29.png"/><Relationship Id="rId5" Type="http://schemas.openxmlformats.org/officeDocument/2006/relationships/image" Target="../media/image41.pn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5.xml"/><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31.png"/><Relationship Id="rId5" Type="http://schemas.openxmlformats.org/officeDocument/2006/relationships/image" Target="../media/image28.png"/><Relationship Id="rId4" Type="http://schemas.openxmlformats.org/officeDocument/2006/relationships/image" Target="../media/image46.svg"/></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5.xml"/><Relationship Id="rId5" Type="http://schemas.openxmlformats.org/officeDocument/2006/relationships/image" Target="../media/image48.png"/><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1.xml"/><Relationship Id="rId1" Type="http://schemas.openxmlformats.org/officeDocument/2006/relationships/slideLayout" Target="../slideLayouts/slideLayout15.xml"/><Relationship Id="rId5" Type="http://schemas.openxmlformats.org/officeDocument/2006/relationships/image" Target="../media/image51.pn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5DCC6-2283-708A-7C59-29A88C6B40D4}"/>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9944A93-C9CE-2BE5-070E-9576BE326AC4}"/>
              </a:ext>
            </a:extLst>
          </p:cNvPr>
          <p:cNvSpPr txBox="1"/>
          <p:nvPr/>
        </p:nvSpPr>
        <p:spPr>
          <a:xfrm>
            <a:off x="1038000" y="3987078"/>
            <a:ext cx="10116000" cy="707886"/>
          </a:xfrm>
          <a:prstGeom prst="rect">
            <a:avLst/>
          </a:prstGeom>
          <a:noFill/>
        </p:spPr>
        <p:txBody>
          <a:bodyPr wrap="square" rtlCol="0">
            <a:spAutoFit/>
          </a:bodyPr>
          <a:lstStyle/>
          <a:p>
            <a:pPr algn="ctr"/>
            <a:r>
              <a:rPr lang="en-MY" sz="2000" spc="300" dirty="0">
                <a:solidFill>
                  <a:schemeClr val="bg1"/>
                </a:solidFill>
              </a:rPr>
              <a:t>PRESENTED BY: </a:t>
            </a:r>
          </a:p>
          <a:p>
            <a:pPr algn="ctr"/>
            <a:r>
              <a:rPr lang="en-MY" sz="2000" spc="300" dirty="0">
                <a:solidFill>
                  <a:schemeClr val="bg1"/>
                </a:solidFill>
              </a:rPr>
              <a:t>NUR ADRIANA BATRISYIA BINTI MOHD SUBRI (MCS241007)</a:t>
            </a:r>
          </a:p>
        </p:txBody>
      </p:sp>
      <p:sp>
        <p:nvSpPr>
          <p:cNvPr id="9" name="TextBox 8">
            <a:extLst>
              <a:ext uri="{FF2B5EF4-FFF2-40B4-BE49-F238E27FC236}">
                <a16:creationId xmlns:a16="http://schemas.microsoft.com/office/drawing/2014/main" id="{D926C371-2F58-B41F-44DC-AE1104C0325E}"/>
              </a:ext>
            </a:extLst>
          </p:cNvPr>
          <p:cNvSpPr txBox="1"/>
          <p:nvPr/>
        </p:nvSpPr>
        <p:spPr>
          <a:xfrm>
            <a:off x="0" y="1936484"/>
            <a:ext cx="12192000" cy="584775"/>
          </a:xfrm>
          <a:prstGeom prst="rect">
            <a:avLst/>
          </a:prstGeom>
          <a:noFill/>
        </p:spPr>
        <p:txBody>
          <a:bodyPr wrap="square" rtlCol="0">
            <a:spAutoFit/>
          </a:bodyPr>
          <a:lstStyle/>
          <a:p>
            <a:pPr algn="ctr"/>
            <a:r>
              <a:rPr lang="en-MY" sz="3200" spc="300">
                <a:solidFill>
                  <a:schemeClr val="bg1"/>
                </a:solidFill>
              </a:rPr>
              <a:t>MASTER PROJECT</a:t>
            </a:r>
            <a:endParaRPr lang="en-MY" sz="3200" spc="300" dirty="0">
              <a:solidFill>
                <a:schemeClr val="bg1"/>
              </a:solidFill>
            </a:endParaRPr>
          </a:p>
        </p:txBody>
      </p:sp>
      <p:sp>
        <p:nvSpPr>
          <p:cNvPr id="10" name="TextBox 9">
            <a:extLst>
              <a:ext uri="{FF2B5EF4-FFF2-40B4-BE49-F238E27FC236}">
                <a16:creationId xmlns:a16="http://schemas.microsoft.com/office/drawing/2014/main" id="{387FE381-470A-1EB2-8C34-027B9B383213}"/>
              </a:ext>
            </a:extLst>
          </p:cNvPr>
          <p:cNvSpPr txBox="1"/>
          <p:nvPr/>
        </p:nvSpPr>
        <p:spPr>
          <a:xfrm>
            <a:off x="0" y="2378718"/>
            <a:ext cx="12192000" cy="1323439"/>
          </a:xfrm>
          <a:prstGeom prst="rect">
            <a:avLst/>
          </a:prstGeom>
          <a:noFill/>
        </p:spPr>
        <p:txBody>
          <a:bodyPr wrap="square" rtlCol="0">
            <a:spAutoFit/>
          </a:bodyPr>
          <a:lstStyle/>
          <a:p>
            <a:pPr algn="ctr"/>
            <a:r>
              <a:rPr lang="en-US" sz="4000" b="1" kern="0" dirty="0">
                <a:solidFill>
                  <a:schemeClr val="bg1"/>
                </a:solidFill>
              </a:rPr>
              <a:t>MONEY LAUNDERING TRANSACTION DETECTION </a:t>
            </a:r>
          </a:p>
          <a:p>
            <a:pPr algn="ctr"/>
            <a:r>
              <a:rPr lang="en-US" sz="4000" b="1" kern="0" dirty="0">
                <a:solidFill>
                  <a:schemeClr val="bg1"/>
                </a:solidFill>
              </a:rPr>
              <a:t>USING MACHINE LEARNING ALGORITHMS</a:t>
            </a:r>
          </a:p>
        </p:txBody>
      </p:sp>
      <p:pic>
        <p:nvPicPr>
          <p:cNvPr id="11" name="Picture 10">
            <a:extLst>
              <a:ext uri="{FF2B5EF4-FFF2-40B4-BE49-F238E27FC236}">
                <a16:creationId xmlns:a16="http://schemas.microsoft.com/office/drawing/2014/main" id="{FA3EB41F-1218-FF7F-3537-187BCB7522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682" y="176188"/>
            <a:ext cx="2139445" cy="723600"/>
          </a:xfrm>
          <a:prstGeom prst="rect">
            <a:avLst/>
          </a:prstGeom>
        </p:spPr>
      </p:pic>
      <p:grpSp>
        <p:nvGrpSpPr>
          <p:cNvPr id="3" name="Group 2">
            <a:extLst>
              <a:ext uri="{FF2B5EF4-FFF2-40B4-BE49-F238E27FC236}">
                <a16:creationId xmlns:a16="http://schemas.microsoft.com/office/drawing/2014/main" id="{BD94CD7C-198E-DE51-6E9B-E12EEA1BCB0E}"/>
              </a:ext>
            </a:extLst>
          </p:cNvPr>
          <p:cNvGrpSpPr/>
          <p:nvPr/>
        </p:nvGrpSpPr>
        <p:grpSpPr>
          <a:xfrm>
            <a:off x="-16188" y="4159218"/>
            <a:ext cx="1081882" cy="420848"/>
            <a:chOff x="0" y="3008152"/>
            <a:chExt cx="1081882" cy="420848"/>
          </a:xfrm>
        </p:grpSpPr>
        <p:grpSp>
          <p:nvGrpSpPr>
            <p:cNvPr id="19" name="Group 18">
              <a:extLst>
                <a:ext uri="{FF2B5EF4-FFF2-40B4-BE49-F238E27FC236}">
                  <a16:creationId xmlns:a16="http://schemas.microsoft.com/office/drawing/2014/main" id="{4B71A94D-4362-8E26-DC6A-E938A48C81E6}"/>
                </a:ext>
              </a:extLst>
            </p:cNvPr>
            <p:cNvGrpSpPr/>
            <p:nvPr/>
          </p:nvGrpSpPr>
          <p:grpSpPr>
            <a:xfrm>
              <a:off x="243682" y="3008152"/>
              <a:ext cx="838200" cy="420847"/>
              <a:chOff x="0" y="585597"/>
              <a:chExt cx="838200" cy="390908"/>
            </a:xfrm>
            <a:solidFill>
              <a:schemeClr val="bg1">
                <a:lumMod val="65000"/>
              </a:schemeClr>
            </a:solidFill>
          </p:grpSpPr>
          <p:sp>
            <p:nvSpPr>
              <p:cNvPr id="20" name="Rectangle 19">
                <a:extLst>
                  <a:ext uri="{FF2B5EF4-FFF2-40B4-BE49-F238E27FC236}">
                    <a16:creationId xmlns:a16="http://schemas.microsoft.com/office/drawing/2014/main" id="{98F12169-559F-18E1-C800-1D36CF5F494C}"/>
                  </a:ext>
                </a:extLst>
              </p:cNvPr>
              <p:cNvSpPr/>
              <p:nvPr userDrawn="1"/>
            </p:nvSpPr>
            <p:spPr>
              <a:xfrm>
                <a:off x="0" y="585598"/>
                <a:ext cx="624901" cy="39090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21" name="Right Triangle 20">
                <a:extLst>
                  <a:ext uri="{FF2B5EF4-FFF2-40B4-BE49-F238E27FC236}">
                    <a16:creationId xmlns:a16="http://schemas.microsoft.com/office/drawing/2014/main" id="{A1B6AF16-DBFD-8656-160E-8C97F4A0B4B2}"/>
                  </a:ext>
                </a:extLst>
              </p:cNvPr>
              <p:cNvSpPr/>
              <p:nvPr userDrawn="1"/>
            </p:nvSpPr>
            <p:spPr>
              <a:xfrm flipV="1">
                <a:off x="624901" y="585597"/>
                <a:ext cx="213299" cy="390907"/>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grpSp>
          <p:nvGrpSpPr>
            <p:cNvPr id="16" name="Group 15">
              <a:extLst>
                <a:ext uri="{FF2B5EF4-FFF2-40B4-BE49-F238E27FC236}">
                  <a16:creationId xmlns:a16="http://schemas.microsoft.com/office/drawing/2014/main" id="{0E671D5E-1330-CF36-D86D-A3E1A49611A0}"/>
                </a:ext>
              </a:extLst>
            </p:cNvPr>
            <p:cNvGrpSpPr/>
            <p:nvPr/>
          </p:nvGrpSpPr>
          <p:grpSpPr>
            <a:xfrm>
              <a:off x="0" y="3008153"/>
              <a:ext cx="838200" cy="420847"/>
              <a:chOff x="0" y="585597"/>
              <a:chExt cx="838200" cy="390908"/>
            </a:xfrm>
            <a:solidFill>
              <a:schemeClr val="bg1"/>
            </a:solidFill>
          </p:grpSpPr>
          <p:sp>
            <p:nvSpPr>
              <p:cNvPr id="17" name="Rectangle 16">
                <a:extLst>
                  <a:ext uri="{FF2B5EF4-FFF2-40B4-BE49-F238E27FC236}">
                    <a16:creationId xmlns:a16="http://schemas.microsoft.com/office/drawing/2014/main" id="{34AC7526-DEED-9272-96F9-679E8205956B}"/>
                  </a:ext>
                </a:extLst>
              </p:cNvPr>
              <p:cNvSpPr/>
              <p:nvPr userDrawn="1"/>
            </p:nvSpPr>
            <p:spPr>
              <a:xfrm>
                <a:off x="0" y="585598"/>
                <a:ext cx="624901" cy="39090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8" name="Right Triangle 17">
                <a:extLst>
                  <a:ext uri="{FF2B5EF4-FFF2-40B4-BE49-F238E27FC236}">
                    <a16:creationId xmlns:a16="http://schemas.microsoft.com/office/drawing/2014/main" id="{485F9CA2-6B18-0F21-11BC-471AF7A9A43F}"/>
                  </a:ext>
                </a:extLst>
              </p:cNvPr>
              <p:cNvSpPr/>
              <p:nvPr userDrawn="1"/>
            </p:nvSpPr>
            <p:spPr>
              <a:xfrm flipV="1">
                <a:off x="624901" y="585597"/>
                <a:ext cx="213299" cy="390907"/>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grpSp>
      </p:grpSp>
      <p:pic>
        <p:nvPicPr>
          <p:cNvPr id="2" name="Picture 1">
            <a:extLst>
              <a:ext uri="{FF2B5EF4-FFF2-40B4-BE49-F238E27FC236}">
                <a16:creationId xmlns:a16="http://schemas.microsoft.com/office/drawing/2014/main" id="{DF698CB6-E3A8-0A6E-8397-3E601AF646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66513" y="6383329"/>
            <a:ext cx="2525487" cy="190060"/>
          </a:xfrm>
          <a:prstGeom prst="rect">
            <a:avLst/>
          </a:prstGeom>
        </p:spPr>
      </p:pic>
      <p:cxnSp>
        <p:nvCxnSpPr>
          <p:cNvPr id="5" name="Straight Connector 4">
            <a:extLst>
              <a:ext uri="{FF2B5EF4-FFF2-40B4-BE49-F238E27FC236}">
                <a16:creationId xmlns:a16="http://schemas.microsoft.com/office/drawing/2014/main" id="{C0AED9DE-25FF-9CE7-48C0-E7B0C3CA6505}"/>
              </a:ext>
            </a:extLst>
          </p:cNvPr>
          <p:cNvCxnSpPr>
            <a:cxnSpLocks/>
            <a:endCxn id="2" idx="1"/>
          </p:cNvCxnSpPr>
          <p:nvPr/>
        </p:nvCxnSpPr>
        <p:spPr>
          <a:xfrm>
            <a:off x="-46838" y="6448292"/>
            <a:ext cx="9713351" cy="3006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21863266-115D-1014-429D-AEC4EB68E50D}"/>
              </a:ext>
            </a:extLst>
          </p:cNvPr>
          <p:cNvSpPr txBox="1"/>
          <p:nvPr/>
        </p:nvSpPr>
        <p:spPr>
          <a:xfrm>
            <a:off x="1119384" y="5144847"/>
            <a:ext cx="10019760" cy="369332"/>
          </a:xfrm>
          <a:prstGeom prst="rect">
            <a:avLst/>
          </a:prstGeom>
          <a:noFill/>
        </p:spPr>
        <p:txBody>
          <a:bodyPr wrap="square">
            <a:spAutoFit/>
          </a:bodyPr>
          <a:lstStyle/>
          <a:p>
            <a:pPr algn="ctr"/>
            <a:r>
              <a:rPr lang="en-MY" sz="1800" spc="300" dirty="0">
                <a:solidFill>
                  <a:schemeClr val="bg1"/>
                </a:solidFill>
              </a:rPr>
              <a:t>SUPERVISOR: DR NOR HAIZAN BINTI MOHAMED RADZI</a:t>
            </a:r>
            <a:endParaRPr lang="en-MY" dirty="0"/>
          </a:p>
        </p:txBody>
      </p:sp>
      <p:grpSp>
        <p:nvGrpSpPr>
          <p:cNvPr id="24" name="Group 23">
            <a:extLst>
              <a:ext uri="{FF2B5EF4-FFF2-40B4-BE49-F238E27FC236}">
                <a16:creationId xmlns:a16="http://schemas.microsoft.com/office/drawing/2014/main" id="{F36B8F25-6535-D23E-F4B7-662CE4216702}"/>
              </a:ext>
            </a:extLst>
          </p:cNvPr>
          <p:cNvGrpSpPr/>
          <p:nvPr/>
        </p:nvGrpSpPr>
        <p:grpSpPr>
          <a:xfrm flipH="1">
            <a:off x="11115837" y="4161669"/>
            <a:ext cx="1081882" cy="420848"/>
            <a:chOff x="0" y="3008152"/>
            <a:chExt cx="1081882" cy="420848"/>
          </a:xfrm>
        </p:grpSpPr>
        <p:grpSp>
          <p:nvGrpSpPr>
            <p:cNvPr id="25" name="Group 24">
              <a:extLst>
                <a:ext uri="{FF2B5EF4-FFF2-40B4-BE49-F238E27FC236}">
                  <a16:creationId xmlns:a16="http://schemas.microsoft.com/office/drawing/2014/main" id="{C5C3ADD1-277A-519E-5BD2-46DFCB1EBB59}"/>
                </a:ext>
              </a:extLst>
            </p:cNvPr>
            <p:cNvGrpSpPr/>
            <p:nvPr/>
          </p:nvGrpSpPr>
          <p:grpSpPr>
            <a:xfrm>
              <a:off x="243682" y="3008152"/>
              <a:ext cx="838200" cy="420847"/>
              <a:chOff x="0" y="585597"/>
              <a:chExt cx="838200" cy="390908"/>
            </a:xfrm>
            <a:solidFill>
              <a:schemeClr val="bg1">
                <a:lumMod val="65000"/>
              </a:schemeClr>
            </a:solidFill>
          </p:grpSpPr>
          <p:sp>
            <p:nvSpPr>
              <p:cNvPr id="29" name="Rectangle 28">
                <a:extLst>
                  <a:ext uri="{FF2B5EF4-FFF2-40B4-BE49-F238E27FC236}">
                    <a16:creationId xmlns:a16="http://schemas.microsoft.com/office/drawing/2014/main" id="{BB104DFC-D3C6-8B52-62BA-0EF92DA2E06E}"/>
                  </a:ext>
                </a:extLst>
              </p:cNvPr>
              <p:cNvSpPr/>
              <p:nvPr userDrawn="1"/>
            </p:nvSpPr>
            <p:spPr>
              <a:xfrm>
                <a:off x="0" y="585598"/>
                <a:ext cx="624901" cy="39090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30" name="Right Triangle 29">
                <a:extLst>
                  <a:ext uri="{FF2B5EF4-FFF2-40B4-BE49-F238E27FC236}">
                    <a16:creationId xmlns:a16="http://schemas.microsoft.com/office/drawing/2014/main" id="{52DBE19D-3D2C-AE85-E2E4-C278A7742697}"/>
                  </a:ext>
                </a:extLst>
              </p:cNvPr>
              <p:cNvSpPr/>
              <p:nvPr userDrawn="1"/>
            </p:nvSpPr>
            <p:spPr>
              <a:xfrm flipV="1">
                <a:off x="624901" y="585597"/>
                <a:ext cx="213299" cy="390907"/>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grpSp>
          <p:nvGrpSpPr>
            <p:cNvPr id="26" name="Group 25">
              <a:extLst>
                <a:ext uri="{FF2B5EF4-FFF2-40B4-BE49-F238E27FC236}">
                  <a16:creationId xmlns:a16="http://schemas.microsoft.com/office/drawing/2014/main" id="{14D80F50-D604-8034-4661-45B072412F11}"/>
                </a:ext>
              </a:extLst>
            </p:cNvPr>
            <p:cNvGrpSpPr/>
            <p:nvPr/>
          </p:nvGrpSpPr>
          <p:grpSpPr>
            <a:xfrm>
              <a:off x="0" y="3008153"/>
              <a:ext cx="838200" cy="420847"/>
              <a:chOff x="0" y="585597"/>
              <a:chExt cx="838200" cy="390908"/>
            </a:xfrm>
            <a:solidFill>
              <a:schemeClr val="bg1"/>
            </a:solidFill>
          </p:grpSpPr>
          <p:sp>
            <p:nvSpPr>
              <p:cNvPr id="27" name="Rectangle 26">
                <a:extLst>
                  <a:ext uri="{FF2B5EF4-FFF2-40B4-BE49-F238E27FC236}">
                    <a16:creationId xmlns:a16="http://schemas.microsoft.com/office/drawing/2014/main" id="{1F058B7D-38BA-0010-145D-1A1051628AE2}"/>
                  </a:ext>
                </a:extLst>
              </p:cNvPr>
              <p:cNvSpPr/>
              <p:nvPr userDrawn="1"/>
            </p:nvSpPr>
            <p:spPr>
              <a:xfrm>
                <a:off x="0" y="585598"/>
                <a:ext cx="624901" cy="39090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8" name="Right Triangle 27">
                <a:extLst>
                  <a:ext uri="{FF2B5EF4-FFF2-40B4-BE49-F238E27FC236}">
                    <a16:creationId xmlns:a16="http://schemas.microsoft.com/office/drawing/2014/main" id="{22E8D474-02F0-D9A4-5B91-F28103778DE4}"/>
                  </a:ext>
                </a:extLst>
              </p:cNvPr>
              <p:cNvSpPr/>
              <p:nvPr userDrawn="1"/>
            </p:nvSpPr>
            <p:spPr>
              <a:xfrm flipV="1">
                <a:off x="624901" y="585597"/>
                <a:ext cx="213299" cy="390907"/>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grpSp>
      </p:grpSp>
      <p:grpSp>
        <p:nvGrpSpPr>
          <p:cNvPr id="31" name="Group 30">
            <a:extLst>
              <a:ext uri="{FF2B5EF4-FFF2-40B4-BE49-F238E27FC236}">
                <a16:creationId xmlns:a16="http://schemas.microsoft.com/office/drawing/2014/main" id="{20310132-B789-BB9B-C248-56EC1DBE40A6}"/>
              </a:ext>
            </a:extLst>
          </p:cNvPr>
          <p:cNvGrpSpPr/>
          <p:nvPr/>
        </p:nvGrpSpPr>
        <p:grpSpPr>
          <a:xfrm>
            <a:off x="7119" y="5129200"/>
            <a:ext cx="1081882" cy="420848"/>
            <a:chOff x="0" y="3008152"/>
            <a:chExt cx="1081882" cy="420848"/>
          </a:xfrm>
        </p:grpSpPr>
        <p:grpSp>
          <p:nvGrpSpPr>
            <p:cNvPr id="32" name="Group 31">
              <a:extLst>
                <a:ext uri="{FF2B5EF4-FFF2-40B4-BE49-F238E27FC236}">
                  <a16:creationId xmlns:a16="http://schemas.microsoft.com/office/drawing/2014/main" id="{3C1E58AD-902F-421C-DEDD-5F7323650DBE}"/>
                </a:ext>
              </a:extLst>
            </p:cNvPr>
            <p:cNvGrpSpPr/>
            <p:nvPr/>
          </p:nvGrpSpPr>
          <p:grpSpPr>
            <a:xfrm>
              <a:off x="243682" y="3008152"/>
              <a:ext cx="838200" cy="420847"/>
              <a:chOff x="0" y="585597"/>
              <a:chExt cx="838200" cy="390908"/>
            </a:xfrm>
            <a:solidFill>
              <a:schemeClr val="bg1">
                <a:lumMod val="65000"/>
              </a:schemeClr>
            </a:solidFill>
          </p:grpSpPr>
          <p:sp>
            <p:nvSpPr>
              <p:cNvPr id="36" name="Rectangle 35">
                <a:extLst>
                  <a:ext uri="{FF2B5EF4-FFF2-40B4-BE49-F238E27FC236}">
                    <a16:creationId xmlns:a16="http://schemas.microsoft.com/office/drawing/2014/main" id="{66A53933-9BF2-D44B-9905-155262E25779}"/>
                  </a:ext>
                </a:extLst>
              </p:cNvPr>
              <p:cNvSpPr/>
              <p:nvPr userDrawn="1"/>
            </p:nvSpPr>
            <p:spPr>
              <a:xfrm>
                <a:off x="0" y="585598"/>
                <a:ext cx="624901" cy="39090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37" name="Right Triangle 36">
                <a:extLst>
                  <a:ext uri="{FF2B5EF4-FFF2-40B4-BE49-F238E27FC236}">
                    <a16:creationId xmlns:a16="http://schemas.microsoft.com/office/drawing/2014/main" id="{1BDCBE7D-479E-BC3D-D8B6-F37147D623BB}"/>
                  </a:ext>
                </a:extLst>
              </p:cNvPr>
              <p:cNvSpPr/>
              <p:nvPr userDrawn="1"/>
            </p:nvSpPr>
            <p:spPr>
              <a:xfrm flipV="1">
                <a:off x="624901" y="585597"/>
                <a:ext cx="213299" cy="390907"/>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grpSp>
          <p:nvGrpSpPr>
            <p:cNvPr id="33" name="Group 32">
              <a:extLst>
                <a:ext uri="{FF2B5EF4-FFF2-40B4-BE49-F238E27FC236}">
                  <a16:creationId xmlns:a16="http://schemas.microsoft.com/office/drawing/2014/main" id="{5FF29FC4-C858-D33E-6BC4-3BAC88882DC7}"/>
                </a:ext>
              </a:extLst>
            </p:cNvPr>
            <p:cNvGrpSpPr/>
            <p:nvPr/>
          </p:nvGrpSpPr>
          <p:grpSpPr>
            <a:xfrm>
              <a:off x="0" y="3008153"/>
              <a:ext cx="838200" cy="420847"/>
              <a:chOff x="0" y="585597"/>
              <a:chExt cx="838200" cy="390908"/>
            </a:xfrm>
            <a:solidFill>
              <a:schemeClr val="bg1"/>
            </a:solidFill>
          </p:grpSpPr>
          <p:sp>
            <p:nvSpPr>
              <p:cNvPr id="34" name="Rectangle 33">
                <a:extLst>
                  <a:ext uri="{FF2B5EF4-FFF2-40B4-BE49-F238E27FC236}">
                    <a16:creationId xmlns:a16="http://schemas.microsoft.com/office/drawing/2014/main" id="{164FA17E-6F4C-B875-83A5-A726215A5BBF}"/>
                  </a:ext>
                </a:extLst>
              </p:cNvPr>
              <p:cNvSpPr/>
              <p:nvPr userDrawn="1"/>
            </p:nvSpPr>
            <p:spPr>
              <a:xfrm>
                <a:off x="0" y="585598"/>
                <a:ext cx="624901" cy="39090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35" name="Right Triangle 34">
                <a:extLst>
                  <a:ext uri="{FF2B5EF4-FFF2-40B4-BE49-F238E27FC236}">
                    <a16:creationId xmlns:a16="http://schemas.microsoft.com/office/drawing/2014/main" id="{09B359D9-0EFD-2C1D-CCBA-4DF956437C90}"/>
                  </a:ext>
                </a:extLst>
              </p:cNvPr>
              <p:cNvSpPr/>
              <p:nvPr userDrawn="1"/>
            </p:nvSpPr>
            <p:spPr>
              <a:xfrm flipV="1">
                <a:off x="624901" y="585597"/>
                <a:ext cx="213299" cy="390907"/>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grpSp>
      </p:grpSp>
      <p:grpSp>
        <p:nvGrpSpPr>
          <p:cNvPr id="38" name="Group 37">
            <a:extLst>
              <a:ext uri="{FF2B5EF4-FFF2-40B4-BE49-F238E27FC236}">
                <a16:creationId xmlns:a16="http://schemas.microsoft.com/office/drawing/2014/main" id="{EC13E0CA-6846-876B-E948-2BB0F0F1BA9B}"/>
              </a:ext>
            </a:extLst>
          </p:cNvPr>
          <p:cNvGrpSpPr/>
          <p:nvPr/>
        </p:nvGrpSpPr>
        <p:grpSpPr>
          <a:xfrm flipH="1">
            <a:off x="11139144" y="5131651"/>
            <a:ext cx="1081882" cy="420848"/>
            <a:chOff x="0" y="3008152"/>
            <a:chExt cx="1081882" cy="420848"/>
          </a:xfrm>
        </p:grpSpPr>
        <p:grpSp>
          <p:nvGrpSpPr>
            <p:cNvPr id="39" name="Group 38">
              <a:extLst>
                <a:ext uri="{FF2B5EF4-FFF2-40B4-BE49-F238E27FC236}">
                  <a16:creationId xmlns:a16="http://schemas.microsoft.com/office/drawing/2014/main" id="{EF4FABE6-8D51-7578-211C-E675FA676256}"/>
                </a:ext>
              </a:extLst>
            </p:cNvPr>
            <p:cNvGrpSpPr/>
            <p:nvPr/>
          </p:nvGrpSpPr>
          <p:grpSpPr>
            <a:xfrm>
              <a:off x="243682" y="3008152"/>
              <a:ext cx="838200" cy="420847"/>
              <a:chOff x="0" y="585597"/>
              <a:chExt cx="838200" cy="390908"/>
            </a:xfrm>
            <a:solidFill>
              <a:schemeClr val="bg1">
                <a:lumMod val="65000"/>
              </a:schemeClr>
            </a:solidFill>
          </p:grpSpPr>
          <p:sp>
            <p:nvSpPr>
              <p:cNvPr id="43" name="Rectangle 42">
                <a:extLst>
                  <a:ext uri="{FF2B5EF4-FFF2-40B4-BE49-F238E27FC236}">
                    <a16:creationId xmlns:a16="http://schemas.microsoft.com/office/drawing/2014/main" id="{7EACEE2A-5B87-1322-1B62-8CDA19B10854}"/>
                  </a:ext>
                </a:extLst>
              </p:cNvPr>
              <p:cNvSpPr/>
              <p:nvPr userDrawn="1"/>
            </p:nvSpPr>
            <p:spPr>
              <a:xfrm>
                <a:off x="0" y="585598"/>
                <a:ext cx="624901" cy="39090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44" name="Right Triangle 43">
                <a:extLst>
                  <a:ext uri="{FF2B5EF4-FFF2-40B4-BE49-F238E27FC236}">
                    <a16:creationId xmlns:a16="http://schemas.microsoft.com/office/drawing/2014/main" id="{8242B30E-B3B5-E274-6E76-F4F234F5CD74}"/>
                  </a:ext>
                </a:extLst>
              </p:cNvPr>
              <p:cNvSpPr/>
              <p:nvPr userDrawn="1"/>
            </p:nvSpPr>
            <p:spPr>
              <a:xfrm flipV="1">
                <a:off x="624901" y="585597"/>
                <a:ext cx="213299" cy="390907"/>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p>
            </p:txBody>
          </p:sp>
        </p:grpSp>
        <p:grpSp>
          <p:nvGrpSpPr>
            <p:cNvPr id="40" name="Group 39">
              <a:extLst>
                <a:ext uri="{FF2B5EF4-FFF2-40B4-BE49-F238E27FC236}">
                  <a16:creationId xmlns:a16="http://schemas.microsoft.com/office/drawing/2014/main" id="{4CCB98ED-C0EE-6279-2CDA-613A27D22FCD}"/>
                </a:ext>
              </a:extLst>
            </p:cNvPr>
            <p:cNvGrpSpPr/>
            <p:nvPr/>
          </p:nvGrpSpPr>
          <p:grpSpPr>
            <a:xfrm>
              <a:off x="0" y="3008153"/>
              <a:ext cx="838200" cy="420847"/>
              <a:chOff x="0" y="585597"/>
              <a:chExt cx="838200" cy="390908"/>
            </a:xfrm>
            <a:solidFill>
              <a:schemeClr val="bg1"/>
            </a:solidFill>
          </p:grpSpPr>
          <p:sp>
            <p:nvSpPr>
              <p:cNvPr id="41" name="Rectangle 40">
                <a:extLst>
                  <a:ext uri="{FF2B5EF4-FFF2-40B4-BE49-F238E27FC236}">
                    <a16:creationId xmlns:a16="http://schemas.microsoft.com/office/drawing/2014/main" id="{EABB4E74-73D0-260B-943F-20ADF8E5EEB2}"/>
                  </a:ext>
                </a:extLst>
              </p:cNvPr>
              <p:cNvSpPr/>
              <p:nvPr userDrawn="1"/>
            </p:nvSpPr>
            <p:spPr>
              <a:xfrm>
                <a:off x="0" y="585598"/>
                <a:ext cx="624901" cy="390907"/>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42" name="Right Triangle 41">
                <a:extLst>
                  <a:ext uri="{FF2B5EF4-FFF2-40B4-BE49-F238E27FC236}">
                    <a16:creationId xmlns:a16="http://schemas.microsoft.com/office/drawing/2014/main" id="{2EBC1F1D-472C-A0C2-A488-A3C024A27D3C}"/>
                  </a:ext>
                </a:extLst>
              </p:cNvPr>
              <p:cNvSpPr/>
              <p:nvPr userDrawn="1"/>
            </p:nvSpPr>
            <p:spPr>
              <a:xfrm flipV="1">
                <a:off x="624901" y="585597"/>
                <a:ext cx="213299" cy="390907"/>
              </a:xfrm>
              <a:prstGeom prst="r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grpSp>
      </p:grpSp>
    </p:spTree>
    <p:extLst>
      <p:ext uri="{BB962C8B-B14F-4D97-AF65-F5344CB8AC3E}">
        <p14:creationId xmlns:p14="http://schemas.microsoft.com/office/powerpoint/2010/main" val="765128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63027A-A8CD-9E48-8312-06F52A14B3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
        <p:nvSpPr>
          <p:cNvPr id="6" name="TextBox 5">
            <a:extLst>
              <a:ext uri="{FF2B5EF4-FFF2-40B4-BE49-F238E27FC236}">
                <a16:creationId xmlns:a16="http://schemas.microsoft.com/office/drawing/2014/main" id="{DF47BF80-D0E4-D8E4-E0A2-F6CD74D36CE2}"/>
              </a:ext>
            </a:extLst>
          </p:cNvPr>
          <p:cNvSpPr txBox="1"/>
          <p:nvPr/>
        </p:nvSpPr>
        <p:spPr>
          <a:xfrm>
            <a:off x="132487" y="690357"/>
            <a:ext cx="2875975" cy="1323439"/>
          </a:xfrm>
          <a:prstGeom prst="rect">
            <a:avLst/>
          </a:prstGeom>
          <a:noFill/>
        </p:spPr>
        <p:txBody>
          <a:bodyPr wrap="square" rtlCol="0">
            <a:spAutoFit/>
          </a:bodyPr>
          <a:lstStyle/>
          <a:p>
            <a:r>
              <a:rPr lang="en-US" sz="4000" b="1" kern="0" dirty="0">
                <a:solidFill>
                  <a:schemeClr val="bg1"/>
                </a:solidFill>
                <a:effectLst>
                  <a:outerShdw blurRad="50800" dist="38100" dir="5400000" algn="t" rotWithShape="0">
                    <a:prstClr val="black">
                      <a:alpha val="40000"/>
                    </a:prstClr>
                  </a:outerShdw>
                </a:effectLst>
              </a:rPr>
              <a:t>CONTENT OUTLINES</a:t>
            </a:r>
          </a:p>
        </p:txBody>
      </p:sp>
      <p:grpSp>
        <p:nvGrpSpPr>
          <p:cNvPr id="19" name="Group 18">
            <a:extLst>
              <a:ext uri="{FF2B5EF4-FFF2-40B4-BE49-F238E27FC236}">
                <a16:creationId xmlns:a16="http://schemas.microsoft.com/office/drawing/2014/main" id="{B03CB3AD-D25F-360D-A863-E01AC597A6FA}"/>
              </a:ext>
            </a:extLst>
          </p:cNvPr>
          <p:cNvGrpSpPr/>
          <p:nvPr/>
        </p:nvGrpSpPr>
        <p:grpSpPr>
          <a:xfrm>
            <a:off x="4972586" y="444927"/>
            <a:ext cx="5433327" cy="681887"/>
            <a:chOff x="4993612" y="255261"/>
            <a:chExt cx="5433327" cy="681887"/>
          </a:xfrm>
        </p:grpSpPr>
        <p:sp>
          <p:nvSpPr>
            <p:cNvPr id="12" name="Oval 11">
              <a:extLst>
                <a:ext uri="{FF2B5EF4-FFF2-40B4-BE49-F238E27FC236}">
                  <a16:creationId xmlns:a16="http://schemas.microsoft.com/office/drawing/2014/main" id="{EFF35828-FC2D-317B-06C5-949C9D72465E}"/>
                </a:ext>
              </a:extLst>
            </p:cNvPr>
            <p:cNvSpPr/>
            <p:nvPr/>
          </p:nvSpPr>
          <p:spPr>
            <a:xfrm>
              <a:off x="5131988" y="289148"/>
              <a:ext cx="648000" cy="648000"/>
            </a:xfrm>
            <a:prstGeom prst="ellipse">
              <a:avLst/>
            </a:prstGeom>
            <a:solidFill>
              <a:schemeClr val="accent5">
                <a:lumMod val="60000"/>
                <a:lumOff val="4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27" name="Group 26">
              <a:extLst>
                <a:ext uri="{FF2B5EF4-FFF2-40B4-BE49-F238E27FC236}">
                  <a16:creationId xmlns:a16="http://schemas.microsoft.com/office/drawing/2014/main" id="{8C41E3F1-B7A9-83E6-1569-3C2E2C5D14B6}"/>
                </a:ext>
              </a:extLst>
            </p:cNvPr>
            <p:cNvGrpSpPr/>
            <p:nvPr/>
          </p:nvGrpSpPr>
          <p:grpSpPr>
            <a:xfrm>
              <a:off x="4993612" y="255261"/>
              <a:ext cx="5433327" cy="646331"/>
              <a:chOff x="5266636" y="930276"/>
              <a:chExt cx="5433327" cy="646331"/>
            </a:xfrm>
          </p:grpSpPr>
          <p:sp>
            <p:nvSpPr>
              <p:cNvPr id="10" name="TextBox 9">
                <a:extLst>
                  <a:ext uri="{FF2B5EF4-FFF2-40B4-BE49-F238E27FC236}">
                    <a16:creationId xmlns:a16="http://schemas.microsoft.com/office/drawing/2014/main" id="{E03A9152-69B0-736A-2CFE-04A297940E6A}"/>
                  </a:ext>
                </a:extLst>
              </p:cNvPr>
              <p:cNvSpPr txBox="1"/>
              <p:nvPr/>
            </p:nvSpPr>
            <p:spPr>
              <a:xfrm>
                <a:off x="6192271" y="1129655"/>
                <a:ext cx="4507692" cy="400110"/>
              </a:xfrm>
              <a:prstGeom prst="rect">
                <a:avLst/>
              </a:prstGeom>
              <a:noFill/>
            </p:spPr>
            <p:txBody>
              <a:bodyPr wrap="square" lIns="108000" rIns="108000" rtlCol="0">
                <a:spAutoFit/>
              </a:bodyPr>
              <a:lstStyle/>
              <a:p>
                <a:r>
                  <a:rPr lang="en-US" altLang="ko-KR" sz="2000" b="1" dirty="0">
                    <a:cs typeface="Arial" pitchFamily="34" charset="0"/>
                  </a:rPr>
                  <a:t>INTRODUCTION</a:t>
                </a:r>
                <a:endParaRPr lang="ko-KR" altLang="en-US" sz="2000" b="1" dirty="0">
                  <a:cs typeface="Arial" pitchFamily="34" charset="0"/>
                </a:endParaRPr>
              </a:p>
            </p:txBody>
          </p:sp>
          <p:sp>
            <p:nvSpPr>
              <p:cNvPr id="8" name="TextBox 7">
                <a:extLst>
                  <a:ext uri="{FF2B5EF4-FFF2-40B4-BE49-F238E27FC236}">
                    <a16:creationId xmlns:a16="http://schemas.microsoft.com/office/drawing/2014/main" id="{C25BDAC7-AF3F-67DF-4F18-78B7C660723C}"/>
                  </a:ext>
                </a:extLst>
              </p:cNvPr>
              <p:cNvSpPr txBox="1"/>
              <p:nvPr/>
            </p:nvSpPr>
            <p:spPr>
              <a:xfrm>
                <a:off x="5266636" y="930276"/>
                <a:ext cx="958096" cy="646331"/>
              </a:xfrm>
              <a:prstGeom prst="rect">
                <a:avLst/>
              </a:prstGeom>
              <a:noFill/>
            </p:spPr>
            <p:txBody>
              <a:bodyPr wrap="square" lIns="108000" rIns="108000" rtlCol="0">
                <a:spAutoFit/>
              </a:bodyPr>
              <a:lstStyle/>
              <a:p>
                <a:pPr algn="ctr"/>
                <a:r>
                  <a:rPr lang="en-US" altLang="ko-KR" sz="3600" b="1" dirty="0">
                    <a:cs typeface="Arial" pitchFamily="34" charset="0"/>
                  </a:rPr>
                  <a:t>01</a:t>
                </a:r>
                <a:endParaRPr lang="ko-KR" altLang="en-US" sz="3600" b="1" dirty="0">
                  <a:cs typeface="Arial" pitchFamily="34" charset="0"/>
                </a:endParaRPr>
              </a:p>
            </p:txBody>
          </p:sp>
        </p:grpSp>
      </p:grpSp>
      <p:grpSp>
        <p:nvGrpSpPr>
          <p:cNvPr id="18" name="Group 17">
            <a:extLst>
              <a:ext uri="{FF2B5EF4-FFF2-40B4-BE49-F238E27FC236}">
                <a16:creationId xmlns:a16="http://schemas.microsoft.com/office/drawing/2014/main" id="{6A08D68E-6741-2D22-B1A6-D1F0E20577AB}"/>
              </a:ext>
            </a:extLst>
          </p:cNvPr>
          <p:cNvGrpSpPr/>
          <p:nvPr/>
        </p:nvGrpSpPr>
        <p:grpSpPr>
          <a:xfrm>
            <a:off x="4959886" y="1278397"/>
            <a:ext cx="5446027" cy="663365"/>
            <a:chOff x="4951430" y="1575587"/>
            <a:chExt cx="5446027" cy="663365"/>
          </a:xfrm>
        </p:grpSpPr>
        <p:sp>
          <p:nvSpPr>
            <p:cNvPr id="9" name="Oval 8">
              <a:extLst>
                <a:ext uri="{FF2B5EF4-FFF2-40B4-BE49-F238E27FC236}">
                  <a16:creationId xmlns:a16="http://schemas.microsoft.com/office/drawing/2014/main" id="{26A35E5C-8193-54F6-6074-C832ACEBECC5}"/>
                </a:ext>
              </a:extLst>
            </p:cNvPr>
            <p:cNvSpPr/>
            <p:nvPr/>
          </p:nvSpPr>
          <p:spPr>
            <a:xfrm>
              <a:off x="5123532" y="1590952"/>
              <a:ext cx="648000" cy="648000"/>
            </a:xfrm>
            <a:prstGeom prst="ellipse">
              <a:avLst/>
            </a:prstGeom>
            <a:solidFill>
              <a:schemeClr val="accent5">
                <a:lumMod val="60000"/>
                <a:lumOff val="4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28" name="Group 27">
              <a:extLst>
                <a:ext uri="{FF2B5EF4-FFF2-40B4-BE49-F238E27FC236}">
                  <a16:creationId xmlns:a16="http://schemas.microsoft.com/office/drawing/2014/main" id="{DC77C103-7409-67E1-0766-F8506271AB2A}"/>
                </a:ext>
              </a:extLst>
            </p:cNvPr>
            <p:cNvGrpSpPr/>
            <p:nvPr/>
          </p:nvGrpSpPr>
          <p:grpSpPr>
            <a:xfrm>
              <a:off x="4951430" y="1575587"/>
              <a:ext cx="5446027" cy="646331"/>
              <a:chOff x="5292036" y="1265822"/>
              <a:chExt cx="5446027" cy="646331"/>
            </a:xfrm>
          </p:grpSpPr>
          <p:sp>
            <p:nvSpPr>
              <p:cNvPr id="29" name="TextBox 28">
                <a:extLst>
                  <a:ext uri="{FF2B5EF4-FFF2-40B4-BE49-F238E27FC236}">
                    <a16:creationId xmlns:a16="http://schemas.microsoft.com/office/drawing/2014/main" id="{B6E4D0E0-0363-7D00-9476-926580CC8B81}"/>
                  </a:ext>
                </a:extLst>
              </p:cNvPr>
              <p:cNvSpPr txBox="1"/>
              <p:nvPr/>
            </p:nvSpPr>
            <p:spPr>
              <a:xfrm>
                <a:off x="6230371" y="1417247"/>
                <a:ext cx="4507692" cy="400110"/>
              </a:xfrm>
              <a:prstGeom prst="rect">
                <a:avLst/>
              </a:prstGeom>
              <a:noFill/>
            </p:spPr>
            <p:txBody>
              <a:bodyPr wrap="square" lIns="108000" rIns="108000" rtlCol="0">
                <a:spAutoFit/>
              </a:bodyPr>
              <a:lstStyle/>
              <a:p>
                <a:r>
                  <a:rPr lang="en-US" altLang="ko-KR" sz="2000" b="1" dirty="0">
                    <a:cs typeface="Arial" pitchFamily="34" charset="0"/>
                  </a:rPr>
                  <a:t>LITERATURE REVIEW</a:t>
                </a:r>
                <a:endParaRPr lang="ko-KR" altLang="en-US" sz="2000" b="1" dirty="0">
                  <a:cs typeface="Arial" pitchFamily="34" charset="0"/>
                </a:endParaRPr>
              </a:p>
            </p:txBody>
          </p:sp>
          <p:sp>
            <p:nvSpPr>
              <p:cNvPr id="30" name="TextBox 29">
                <a:extLst>
                  <a:ext uri="{FF2B5EF4-FFF2-40B4-BE49-F238E27FC236}">
                    <a16:creationId xmlns:a16="http://schemas.microsoft.com/office/drawing/2014/main" id="{1533923C-0FE2-D0D7-D3D2-546A2398E56F}"/>
                  </a:ext>
                </a:extLst>
              </p:cNvPr>
              <p:cNvSpPr txBox="1"/>
              <p:nvPr/>
            </p:nvSpPr>
            <p:spPr>
              <a:xfrm>
                <a:off x="5292036" y="1265822"/>
                <a:ext cx="958096" cy="646331"/>
              </a:xfrm>
              <a:prstGeom prst="rect">
                <a:avLst/>
              </a:prstGeom>
              <a:noFill/>
            </p:spPr>
            <p:txBody>
              <a:bodyPr wrap="square" lIns="108000" rIns="108000" rtlCol="0">
                <a:spAutoFit/>
              </a:bodyPr>
              <a:lstStyle/>
              <a:p>
                <a:pPr algn="ctr"/>
                <a:r>
                  <a:rPr lang="en-US" altLang="ko-KR" sz="3600" b="1" dirty="0">
                    <a:cs typeface="Arial" pitchFamily="34" charset="0"/>
                  </a:rPr>
                  <a:t>02</a:t>
                </a:r>
                <a:endParaRPr lang="ko-KR" altLang="en-US" sz="3600" b="1" dirty="0">
                  <a:cs typeface="Arial" pitchFamily="34" charset="0"/>
                </a:endParaRPr>
              </a:p>
            </p:txBody>
          </p:sp>
        </p:grpSp>
      </p:grpSp>
      <p:grpSp>
        <p:nvGrpSpPr>
          <p:cNvPr id="21" name="Group 20">
            <a:extLst>
              <a:ext uri="{FF2B5EF4-FFF2-40B4-BE49-F238E27FC236}">
                <a16:creationId xmlns:a16="http://schemas.microsoft.com/office/drawing/2014/main" id="{19E5C4E6-B4FB-4E9B-F2E8-0D89928DE8D6}"/>
              </a:ext>
            </a:extLst>
          </p:cNvPr>
          <p:cNvGrpSpPr/>
          <p:nvPr/>
        </p:nvGrpSpPr>
        <p:grpSpPr>
          <a:xfrm>
            <a:off x="4972586" y="2093345"/>
            <a:ext cx="5433327" cy="680218"/>
            <a:chOff x="4972586" y="2124024"/>
            <a:chExt cx="5433327" cy="680218"/>
          </a:xfrm>
        </p:grpSpPr>
        <p:sp>
          <p:nvSpPr>
            <p:cNvPr id="11" name="Oval 10">
              <a:extLst>
                <a:ext uri="{FF2B5EF4-FFF2-40B4-BE49-F238E27FC236}">
                  <a16:creationId xmlns:a16="http://schemas.microsoft.com/office/drawing/2014/main" id="{35BB4CBC-B9B8-6B58-EC39-AC7BEB84FC6C}"/>
                </a:ext>
              </a:extLst>
            </p:cNvPr>
            <p:cNvSpPr/>
            <p:nvPr/>
          </p:nvSpPr>
          <p:spPr>
            <a:xfrm>
              <a:off x="5126266" y="2156242"/>
              <a:ext cx="648000" cy="648000"/>
            </a:xfrm>
            <a:prstGeom prst="ellipse">
              <a:avLst/>
            </a:prstGeom>
            <a:solidFill>
              <a:schemeClr val="accent5">
                <a:lumMod val="60000"/>
                <a:lumOff val="4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32" name="Group 31">
              <a:extLst>
                <a:ext uri="{FF2B5EF4-FFF2-40B4-BE49-F238E27FC236}">
                  <a16:creationId xmlns:a16="http://schemas.microsoft.com/office/drawing/2014/main" id="{BD13128B-02AE-1322-E7B7-712C1EDD1CAD}"/>
                </a:ext>
              </a:extLst>
            </p:cNvPr>
            <p:cNvGrpSpPr/>
            <p:nvPr/>
          </p:nvGrpSpPr>
          <p:grpSpPr>
            <a:xfrm>
              <a:off x="4972586" y="2124024"/>
              <a:ext cx="5433327" cy="646331"/>
              <a:chOff x="5304736" y="1277779"/>
              <a:chExt cx="5433327" cy="646331"/>
            </a:xfrm>
          </p:grpSpPr>
          <p:sp>
            <p:nvSpPr>
              <p:cNvPr id="33" name="TextBox 32">
                <a:extLst>
                  <a:ext uri="{FF2B5EF4-FFF2-40B4-BE49-F238E27FC236}">
                    <a16:creationId xmlns:a16="http://schemas.microsoft.com/office/drawing/2014/main" id="{9E4484E9-F589-F0D0-E711-BD1AD2477BB3}"/>
                  </a:ext>
                </a:extLst>
              </p:cNvPr>
              <p:cNvSpPr txBox="1"/>
              <p:nvPr/>
            </p:nvSpPr>
            <p:spPr>
              <a:xfrm>
                <a:off x="6230371" y="1440769"/>
                <a:ext cx="4507692" cy="400110"/>
              </a:xfrm>
              <a:prstGeom prst="rect">
                <a:avLst/>
              </a:prstGeom>
              <a:noFill/>
            </p:spPr>
            <p:txBody>
              <a:bodyPr wrap="square" lIns="108000" rIns="108000" rtlCol="0">
                <a:spAutoFit/>
              </a:bodyPr>
              <a:lstStyle/>
              <a:p>
                <a:r>
                  <a:rPr lang="en-US" altLang="ko-KR" sz="2000" b="1" dirty="0">
                    <a:cs typeface="Arial" pitchFamily="34" charset="0"/>
                  </a:rPr>
                  <a:t>RESEARCH METHODOLOGY</a:t>
                </a:r>
                <a:endParaRPr lang="ko-KR" altLang="en-US" sz="2000" b="1" dirty="0">
                  <a:cs typeface="Arial" pitchFamily="34" charset="0"/>
                </a:endParaRPr>
              </a:p>
            </p:txBody>
          </p:sp>
          <p:sp>
            <p:nvSpPr>
              <p:cNvPr id="34" name="TextBox 33">
                <a:extLst>
                  <a:ext uri="{FF2B5EF4-FFF2-40B4-BE49-F238E27FC236}">
                    <a16:creationId xmlns:a16="http://schemas.microsoft.com/office/drawing/2014/main" id="{F08DE2FE-EE81-76C5-D3F5-E4AFA05286F0}"/>
                  </a:ext>
                </a:extLst>
              </p:cNvPr>
              <p:cNvSpPr txBox="1"/>
              <p:nvPr/>
            </p:nvSpPr>
            <p:spPr>
              <a:xfrm>
                <a:off x="5304736" y="1277779"/>
                <a:ext cx="958096" cy="646331"/>
              </a:xfrm>
              <a:prstGeom prst="rect">
                <a:avLst/>
              </a:prstGeom>
              <a:noFill/>
            </p:spPr>
            <p:txBody>
              <a:bodyPr wrap="square" lIns="108000" rIns="108000" rtlCol="0">
                <a:spAutoFit/>
              </a:bodyPr>
              <a:lstStyle/>
              <a:p>
                <a:pPr algn="ctr"/>
                <a:r>
                  <a:rPr lang="en-US" altLang="ko-KR" sz="3600" b="1" dirty="0">
                    <a:cs typeface="Arial" pitchFamily="34" charset="0"/>
                  </a:rPr>
                  <a:t>03</a:t>
                </a:r>
                <a:endParaRPr lang="ko-KR" altLang="en-US" sz="3600" b="1" dirty="0">
                  <a:cs typeface="Arial" pitchFamily="34" charset="0"/>
                </a:endParaRPr>
              </a:p>
            </p:txBody>
          </p:sp>
        </p:grpSp>
      </p:grpSp>
      <p:grpSp>
        <p:nvGrpSpPr>
          <p:cNvPr id="20" name="Group 19">
            <a:extLst>
              <a:ext uri="{FF2B5EF4-FFF2-40B4-BE49-F238E27FC236}">
                <a16:creationId xmlns:a16="http://schemas.microsoft.com/office/drawing/2014/main" id="{C60BD434-5C83-B5E0-A562-88756F189BF0}"/>
              </a:ext>
            </a:extLst>
          </p:cNvPr>
          <p:cNvGrpSpPr/>
          <p:nvPr/>
        </p:nvGrpSpPr>
        <p:grpSpPr>
          <a:xfrm>
            <a:off x="4972586" y="2925146"/>
            <a:ext cx="5446027" cy="662182"/>
            <a:chOff x="4951430" y="3378433"/>
            <a:chExt cx="5446027" cy="662182"/>
          </a:xfrm>
        </p:grpSpPr>
        <p:sp>
          <p:nvSpPr>
            <p:cNvPr id="14" name="Oval 13">
              <a:extLst>
                <a:ext uri="{FF2B5EF4-FFF2-40B4-BE49-F238E27FC236}">
                  <a16:creationId xmlns:a16="http://schemas.microsoft.com/office/drawing/2014/main" id="{7BE2769C-7550-53B5-585D-7FEE562B84E4}"/>
                </a:ext>
              </a:extLst>
            </p:cNvPr>
            <p:cNvSpPr/>
            <p:nvPr/>
          </p:nvSpPr>
          <p:spPr>
            <a:xfrm>
              <a:off x="5126213" y="3392615"/>
              <a:ext cx="648000" cy="648000"/>
            </a:xfrm>
            <a:prstGeom prst="ellipse">
              <a:avLst/>
            </a:prstGeom>
            <a:solidFill>
              <a:schemeClr val="accent5">
                <a:lumMod val="60000"/>
                <a:lumOff val="4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36" name="Group 35">
              <a:extLst>
                <a:ext uri="{FF2B5EF4-FFF2-40B4-BE49-F238E27FC236}">
                  <a16:creationId xmlns:a16="http://schemas.microsoft.com/office/drawing/2014/main" id="{E9613243-C4DA-5CC5-7318-211CCB5D3BA1}"/>
                </a:ext>
              </a:extLst>
            </p:cNvPr>
            <p:cNvGrpSpPr/>
            <p:nvPr/>
          </p:nvGrpSpPr>
          <p:grpSpPr>
            <a:xfrm>
              <a:off x="4951430" y="3378433"/>
              <a:ext cx="5446027" cy="646331"/>
              <a:chOff x="5292036" y="1197743"/>
              <a:chExt cx="5446027" cy="646331"/>
            </a:xfrm>
          </p:grpSpPr>
          <p:sp>
            <p:nvSpPr>
              <p:cNvPr id="37" name="TextBox 36">
                <a:extLst>
                  <a:ext uri="{FF2B5EF4-FFF2-40B4-BE49-F238E27FC236}">
                    <a16:creationId xmlns:a16="http://schemas.microsoft.com/office/drawing/2014/main" id="{A6B8D799-B9DD-C367-C39E-7D4C8AA8760C}"/>
                  </a:ext>
                </a:extLst>
              </p:cNvPr>
              <p:cNvSpPr txBox="1"/>
              <p:nvPr/>
            </p:nvSpPr>
            <p:spPr>
              <a:xfrm>
                <a:off x="6230371" y="1339467"/>
                <a:ext cx="4507692" cy="400110"/>
              </a:xfrm>
              <a:prstGeom prst="rect">
                <a:avLst/>
              </a:prstGeom>
              <a:noFill/>
            </p:spPr>
            <p:txBody>
              <a:bodyPr wrap="square" lIns="108000" rIns="108000" rtlCol="0">
                <a:spAutoFit/>
              </a:bodyPr>
              <a:lstStyle/>
              <a:p>
                <a:r>
                  <a:rPr lang="en-US" altLang="ko-KR" sz="2000" b="1" dirty="0">
                    <a:cs typeface="Arial" pitchFamily="34" charset="0"/>
                  </a:rPr>
                  <a:t>DATA PREPARATION</a:t>
                </a:r>
                <a:endParaRPr lang="ko-KR" altLang="en-US" sz="2000" b="1" dirty="0">
                  <a:cs typeface="Arial" pitchFamily="34" charset="0"/>
                </a:endParaRPr>
              </a:p>
            </p:txBody>
          </p:sp>
          <p:sp>
            <p:nvSpPr>
              <p:cNvPr id="38" name="TextBox 37">
                <a:extLst>
                  <a:ext uri="{FF2B5EF4-FFF2-40B4-BE49-F238E27FC236}">
                    <a16:creationId xmlns:a16="http://schemas.microsoft.com/office/drawing/2014/main" id="{0B653FF4-B6FB-AB93-3922-3E2C06C965CE}"/>
                  </a:ext>
                </a:extLst>
              </p:cNvPr>
              <p:cNvSpPr txBox="1"/>
              <p:nvPr/>
            </p:nvSpPr>
            <p:spPr>
              <a:xfrm>
                <a:off x="5292036" y="1197743"/>
                <a:ext cx="958096" cy="646331"/>
              </a:xfrm>
              <a:prstGeom prst="rect">
                <a:avLst/>
              </a:prstGeom>
              <a:noFill/>
            </p:spPr>
            <p:txBody>
              <a:bodyPr wrap="square" lIns="108000" rIns="108000" rtlCol="0">
                <a:spAutoFit/>
              </a:bodyPr>
              <a:lstStyle/>
              <a:p>
                <a:pPr algn="ctr"/>
                <a:r>
                  <a:rPr lang="en-US" altLang="ko-KR" sz="3600" b="1" dirty="0">
                    <a:cs typeface="Arial" pitchFamily="34" charset="0"/>
                  </a:rPr>
                  <a:t>04</a:t>
                </a:r>
                <a:endParaRPr lang="ko-KR" altLang="en-US" sz="3600" b="1" dirty="0">
                  <a:cs typeface="Arial" pitchFamily="34" charset="0"/>
                </a:endParaRPr>
              </a:p>
            </p:txBody>
          </p:sp>
        </p:grpSp>
      </p:grpSp>
      <p:grpSp>
        <p:nvGrpSpPr>
          <p:cNvPr id="22" name="Group 21">
            <a:extLst>
              <a:ext uri="{FF2B5EF4-FFF2-40B4-BE49-F238E27FC236}">
                <a16:creationId xmlns:a16="http://schemas.microsoft.com/office/drawing/2014/main" id="{B11F27CF-4632-F9C7-C05E-960D08DE45C4}"/>
              </a:ext>
            </a:extLst>
          </p:cNvPr>
          <p:cNvGrpSpPr/>
          <p:nvPr/>
        </p:nvGrpSpPr>
        <p:grpSpPr>
          <a:xfrm>
            <a:off x="4959886" y="3738769"/>
            <a:ext cx="6045449" cy="801832"/>
            <a:chOff x="4972586" y="4453966"/>
            <a:chExt cx="6045449" cy="801832"/>
          </a:xfrm>
        </p:grpSpPr>
        <p:sp>
          <p:nvSpPr>
            <p:cNvPr id="13" name="Oval 12">
              <a:extLst>
                <a:ext uri="{FF2B5EF4-FFF2-40B4-BE49-F238E27FC236}">
                  <a16:creationId xmlns:a16="http://schemas.microsoft.com/office/drawing/2014/main" id="{6E4D7063-DD38-5BE0-2E51-D14CC7A1E566}"/>
                </a:ext>
              </a:extLst>
            </p:cNvPr>
            <p:cNvSpPr/>
            <p:nvPr/>
          </p:nvSpPr>
          <p:spPr>
            <a:xfrm>
              <a:off x="5174332" y="4453966"/>
              <a:ext cx="648000" cy="648000"/>
            </a:xfrm>
            <a:prstGeom prst="ellipse">
              <a:avLst/>
            </a:prstGeom>
            <a:solidFill>
              <a:schemeClr val="accent5">
                <a:lumMod val="60000"/>
                <a:lumOff val="4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2" name="Group 1">
              <a:extLst>
                <a:ext uri="{FF2B5EF4-FFF2-40B4-BE49-F238E27FC236}">
                  <a16:creationId xmlns:a16="http://schemas.microsoft.com/office/drawing/2014/main" id="{BD5F0E2F-EA81-EEB5-B4BD-7157EB207C19}"/>
                </a:ext>
              </a:extLst>
            </p:cNvPr>
            <p:cNvGrpSpPr/>
            <p:nvPr/>
          </p:nvGrpSpPr>
          <p:grpSpPr>
            <a:xfrm>
              <a:off x="4972586" y="4454278"/>
              <a:ext cx="6045449" cy="801520"/>
              <a:chOff x="5292036" y="1208376"/>
              <a:chExt cx="5335895" cy="801520"/>
            </a:xfrm>
          </p:grpSpPr>
          <p:sp>
            <p:nvSpPr>
              <p:cNvPr id="3" name="TextBox 2">
                <a:extLst>
                  <a:ext uri="{FF2B5EF4-FFF2-40B4-BE49-F238E27FC236}">
                    <a16:creationId xmlns:a16="http://schemas.microsoft.com/office/drawing/2014/main" id="{E6B144FC-95AB-9BBE-AF2F-1F078CA87503}"/>
                  </a:ext>
                </a:extLst>
              </p:cNvPr>
              <p:cNvSpPr txBox="1"/>
              <p:nvPr/>
            </p:nvSpPr>
            <p:spPr>
              <a:xfrm>
                <a:off x="6120239" y="1302010"/>
                <a:ext cx="4507692" cy="707886"/>
              </a:xfrm>
              <a:prstGeom prst="rect">
                <a:avLst/>
              </a:prstGeom>
              <a:noFill/>
            </p:spPr>
            <p:txBody>
              <a:bodyPr wrap="square" lIns="108000" rIns="108000" rtlCol="0">
                <a:spAutoFit/>
              </a:bodyPr>
              <a:lstStyle/>
              <a:p>
                <a:r>
                  <a:rPr lang="en-US" altLang="ko-KR" sz="2000" b="1" dirty="0">
                    <a:cs typeface="Arial" pitchFamily="34" charset="0"/>
                  </a:rPr>
                  <a:t>MODEL DEVELOPMENT AND EVALUATION</a:t>
                </a:r>
                <a:endParaRPr lang="ko-KR" altLang="en-US" sz="2000" b="1" dirty="0">
                  <a:cs typeface="Arial" pitchFamily="34" charset="0"/>
                </a:endParaRPr>
              </a:p>
            </p:txBody>
          </p:sp>
          <p:sp>
            <p:nvSpPr>
              <p:cNvPr id="5" name="TextBox 4">
                <a:extLst>
                  <a:ext uri="{FF2B5EF4-FFF2-40B4-BE49-F238E27FC236}">
                    <a16:creationId xmlns:a16="http://schemas.microsoft.com/office/drawing/2014/main" id="{035CE8D6-CB6C-DD9A-3AAF-25021E9489CC}"/>
                  </a:ext>
                </a:extLst>
              </p:cNvPr>
              <p:cNvSpPr txBox="1"/>
              <p:nvPr/>
            </p:nvSpPr>
            <p:spPr>
              <a:xfrm>
                <a:off x="5292036" y="1208376"/>
                <a:ext cx="958096" cy="646331"/>
              </a:xfrm>
              <a:prstGeom prst="rect">
                <a:avLst/>
              </a:prstGeom>
              <a:noFill/>
            </p:spPr>
            <p:txBody>
              <a:bodyPr wrap="square" lIns="108000" rIns="108000" rtlCol="0">
                <a:spAutoFit/>
              </a:bodyPr>
              <a:lstStyle/>
              <a:p>
                <a:pPr algn="ctr"/>
                <a:r>
                  <a:rPr lang="en-US" altLang="ko-KR" sz="3600" b="1" dirty="0">
                    <a:cs typeface="Arial" pitchFamily="34" charset="0"/>
                  </a:rPr>
                  <a:t>05</a:t>
                </a:r>
                <a:endParaRPr lang="ko-KR" altLang="en-US" sz="3600" b="1" dirty="0">
                  <a:cs typeface="Arial" pitchFamily="34" charset="0"/>
                </a:endParaRPr>
              </a:p>
            </p:txBody>
          </p:sp>
        </p:grpSp>
      </p:grpSp>
      <p:grpSp>
        <p:nvGrpSpPr>
          <p:cNvPr id="35" name="Group 34">
            <a:extLst>
              <a:ext uri="{FF2B5EF4-FFF2-40B4-BE49-F238E27FC236}">
                <a16:creationId xmlns:a16="http://schemas.microsoft.com/office/drawing/2014/main" id="{92080977-87B9-2054-05A3-7630EAC47C34}"/>
              </a:ext>
            </a:extLst>
          </p:cNvPr>
          <p:cNvGrpSpPr/>
          <p:nvPr/>
        </p:nvGrpSpPr>
        <p:grpSpPr>
          <a:xfrm>
            <a:off x="4972586" y="5343800"/>
            <a:ext cx="5446027" cy="660790"/>
            <a:chOff x="4959886" y="5371292"/>
            <a:chExt cx="5446027" cy="660790"/>
          </a:xfrm>
        </p:grpSpPr>
        <p:sp>
          <p:nvSpPr>
            <p:cNvPr id="7" name="Oval 6">
              <a:extLst>
                <a:ext uri="{FF2B5EF4-FFF2-40B4-BE49-F238E27FC236}">
                  <a16:creationId xmlns:a16="http://schemas.microsoft.com/office/drawing/2014/main" id="{45DB2DD5-F110-FE74-DE61-A828190DBBD1}"/>
                </a:ext>
              </a:extLst>
            </p:cNvPr>
            <p:cNvSpPr/>
            <p:nvPr/>
          </p:nvSpPr>
          <p:spPr>
            <a:xfrm>
              <a:off x="5134669" y="5371292"/>
              <a:ext cx="648000" cy="648000"/>
            </a:xfrm>
            <a:prstGeom prst="ellipse">
              <a:avLst/>
            </a:prstGeom>
            <a:solidFill>
              <a:schemeClr val="accent5">
                <a:lumMod val="60000"/>
                <a:lumOff val="4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5" name="Group 14">
              <a:extLst>
                <a:ext uri="{FF2B5EF4-FFF2-40B4-BE49-F238E27FC236}">
                  <a16:creationId xmlns:a16="http://schemas.microsoft.com/office/drawing/2014/main" id="{F0EC5A69-A466-5455-2667-3F7F30E8734B}"/>
                </a:ext>
              </a:extLst>
            </p:cNvPr>
            <p:cNvGrpSpPr/>
            <p:nvPr/>
          </p:nvGrpSpPr>
          <p:grpSpPr>
            <a:xfrm>
              <a:off x="4959886" y="5385751"/>
              <a:ext cx="5446027" cy="646331"/>
              <a:chOff x="5292036" y="1037950"/>
              <a:chExt cx="5446027" cy="646331"/>
            </a:xfrm>
          </p:grpSpPr>
          <p:sp>
            <p:nvSpPr>
              <p:cNvPr id="16" name="TextBox 15">
                <a:extLst>
                  <a:ext uri="{FF2B5EF4-FFF2-40B4-BE49-F238E27FC236}">
                    <a16:creationId xmlns:a16="http://schemas.microsoft.com/office/drawing/2014/main" id="{6AFAB810-F0FC-CE54-F69A-51149DA418E2}"/>
                  </a:ext>
                </a:extLst>
              </p:cNvPr>
              <p:cNvSpPr txBox="1"/>
              <p:nvPr/>
            </p:nvSpPr>
            <p:spPr>
              <a:xfrm>
                <a:off x="6230371" y="1116180"/>
                <a:ext cx="4507692" cy="400110"/>
              </a:xfrm>
              <a:prstGeom prst="rect">
                <a:avLst/>
              </a:prstGeom>
              <a:noFill/>
            </p:spPr>
            <p:txBody>
              <a:bodyPr wrap="square" lIns="108000" rIns="108000" rtlCol="0">
                <a:spAutoFit/>
              </a:bodyPr>
              <a:lstStyle/>
              <a:p>
                <a:r>
                  <a:rPr lang="en-US" altLang="ko-KR" sz="2000" b="1" dirty="0">
                    <a:cs typeface="Arial" pitchFamily="34" charset="0"/>
                  </a:rPr>
                  <a:t>CONCLUSION</a:t>
                </a:r>
                <a:endParaRPr lang="ko-KR" altLang="en-US" sz="2000" b="1" dirty="0">
                  <a:cs typeface="Arial" pitchFamily="34" charset="0"/>
                </a:endParaRPr>
              </a:p>
            </p:txBody>
          </p:sp>
          <p:sp>
            <p:nvSpPr>
              <p:cNvPr id="17" name="TextBox 16">
                <a:extLst>
                  <a:ext uri="{FF2B5EF4-FFF2-40B4-BE49-F238E27FC236}">
                    <a16:creationId xmlns:a16="http://schemas.microsoft.com/office/drawing/2014/main" id="{3C3FBABB-842A-6E7D-EF56-D8C1604BB2D6}"/>
                  </a:ext>
                </a:extLst>
              </p:cNvPr>
              <p:cNvSpPr txBox="1"/>
              <p:nvPr/>
            </p:nvSpPr>
            <p:spPr>
              <a:xfrm>
                <a:off x="5292036" y="1037950"/>
                <a:ext cx="958096" cy="646331"/>
              </a:xfrm>
              <a:prstGeom prst="rect">
                <a:avLst/>
              </a:prstGeom>
              <a:noFill/>
            </p:spPr>
            <p:txBody>
              <a:bodyPr wrap="square" lIns="108000" rIns="108000" rtlCol="0">
                <a:spAutoFit/>
              </a:bodyPr>
              <a:lstStyle/>
              <a:p>
                <a:pPr algn="ctr"/>
                <a:r>
                  <a:rPr lang="en-US" altLang="ko-KR" sz="3600" b="1" dirty="0">
                    <a:cs typeface="Arial" pitchFamily="34" charset="0"/>
                  </a:rPr>
                  <a:t>07</a:t>
                </a:r>
                <a:endParaRPr lang="ko-KR" altLang="en-US" sz="3600" b="1" dirty="0">
                  <a:cs typeface="Arial" pitchFamily="34" charset="0"/>
                </a:endParaRPr>
              </a:p>
            </p:txBody>
          </p:sp>
        </p:grpSp>
      </p:grpSp>
      <p:grpSp>
        <p:nvGrpSpPr>
          <p:cNvPr id="23" name="Group 22">
            <a:extLst>
              <a:ext uri="{FF2B5EF4-FFF2-40B4-BE49-F238E27FC236}">
                <a16:creationId xmlns:a16="http://schemas.microsoft.com/office/drawing/2014/main" id="{57A1CFF9-E9C1-FBFC-ECCE-62B902406B8C}"/>
              </a:ext>
            </a:extLst>
          </p:cNvPr>
          <p:cNvGrpSpPr/>
          <p:nvPr/>
        </p:nvGrpSpPr>
        <p:grpSpPr>
          <a:xfrm>
            <a:off x="4959886" y="4571927"/>
            <a:ext cx="6045449" cy="648000"/>
            <a:chOff x="4972586" y="4453966"/>
            <a:chExt cx="6045449" cy="648000"/>
          </a:xfrm>
        </p:grpSpPr>
        <p:sp>
          <p:nvSpPr>
            <p:cNvPr id="24" name="Oval 23">
              <a:extLst>
                <a:ext uri="{FF2B5EF4-FFF2-40B4-BE49-F238E27FC236}">
                  <a16:creationId xmlns:a16="http://schemas.microsoft.com/office/drawing/2014/main" id="{23E40F5E-C361-9BF3-AB5D-E64167CE215E}"/>
                </a:ext>
              </a:extLst>
            </p:cNvPr>
            <p:cNvSpPr/>
            <p:nvPr/>
          </p:nvSpPr>
          <p:spPr>
            <a:xfrm>
              <a:off x="5174332" y="4453966"/>
              <a:ext cx="648000" cy="648000"/>
            </a:xfrm>
            <a:prstGeom prst="ellipse">
              <a:avLst/>
            </a:prstGeom>
            <a:solidFill>
              <a:schemeClr val="accent5">
                <a:lumMod val="60000"/>
                <a:lumOff val="4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25" name="Group 24">
              <a:extLst>
                <a:ext uri="{FF2B5EF4-FFF2-40B4-BE49-F238E27FC236}">
                  <a16:creationId xmlns:a16="http://schemas.microsoft.com/office/drawing/2014/main" id="{7C7369A9-84A1-986F-F620-D98C59805635}"/>
                </a:ext>
              </a:extLst>
            </p:cNvPr>
            <p:cNvGrpSpPr/>
            <p:nvPr/>
          </p:nvGrpSpPr>
          <p:grpSpPr>
            <a:xfrm>
              <a:off x="4972586" y="4454278"/>
              <a:ext cx="6045449" cy="646331"/>
              <a:chOff x="5292036" y="1208376"/>
              <a:chExt cx="5335895" cy="646331"/>
            </a:xfrm>
          </p:grpSpPr>
          <p:sp>
            <p:nvSpPr>
              <p:cNvPr id="26" name="TextBox 25">
                <a:extLst>
                  <a:ext uri="{FF2B5EF4-FFF2-40B4-BE49-F238E27FC236}">
                    <a16:creationId xmlns:a16="http://schemas.microsoft.com/office/drawing/2014/main" id="{7D5E06F1-22FB-8798-71E1-CF6070DE28F0}"/>
                  </a:ext>
                </a:extLst>
              </p:cNvPr>
              <p:cNvSpPr txBox="1"/>
              <p:nvPr/>
            </p:nvSpPr>
            <p:spPr>
              <a:xfrm>
                <a:off x="6120239" y="1302010"/>
                <a:ext cx="4507692" cy="400110"/>
              </a:xfrm>
              <a:prstGeom prst="rect">
                <a:avLst/>
              </a:prstGeom>
              <a:noFill/>
            </p:spPr>
            <p:txBody>
              <a:bodyPr wrap="square" lIns="108000" rIns="108000" rtlCol="0">
                <a:spAutoFit/>
              </a:bodyPr>
              <a:lstStyle/>
              <a:p>
                <a:r>
                  <a:rPr lang="en-US" altLang="ko-KR" sz="2000" b="1" dirty="0">
                    <a:cs typeface="Arial" pitchFamily="34" charset="0"/>
                  </a:rPr>
                  <a:t>DASHBOARD DEVELOPMENT</a:t>
                </a:r>
                <a:endParaRPr lang="ko-KR" altLang="en-US" sz="2000" b="1" dirty="0">
                  <a:cs typeface="Arial" pitchFamily="34" charset="0"/>
                </a:endParaRPr>
              </a:p>
            </p:txBody>
          </p:sp>
          <p:sp>
            <p:nvSpPr>
              <p:cNvPr id="31" name="TextBox 30">
                <a:extLst>
                  <a:ext uri="{FF2B5EF4-FFF2-40B4-BE49-F238E27FC236}">
                    <a16:creationId xmlns:a16="http://schemas.microsoft.com/office/drawing/2014/main" id="{779CAF08-2516-DA27-6144-85BCFA8D3148}"/>
                  </a:ext>
                </a:extLst>
              </p:cNvPr>
              <p:cNvSpPr txBox="1"/>
              <p:nvPr/>
            </p:nvSpPr>
            <p:spPr>
              <a:xfrm>
                <a:off x="5292036" y="1208376"/>
                <a:ext cx="958096" cy="646331"/>
              </a:xfrm>
              <a:prstGeom prst="rect">
                <a:avLst/>
              </a:prstGeom>
              <a:noFill/>
            </p:spPr>
            <p:txBody>
              <a:bodyPr wrap="square" lIns="108000" rIns="108000" rtlCol="0">
                <a:spAutoFit/>
              </a:bodyPr>
              <a:lstStyle/>
              <a:p>
                <a:pPr algn="ctr"/>
                <a:r>
                  <a:rPr lang="en-US" altLang="ko-KR" sz="3600" b="1" dirty="0">
                    <a:cs typeface="Arial" pitchFamily="34" charset="0"/>
                  </a:rPr>
                  <a:t>06</a:t>
                </a:r>
                <a:endParaRPr lang="ko-KR" altLang="en-US" sz="3600" b="1" dirty="0">
                  <a:cs typeface="Arial" pitchFamily="34" charset="0"/>
                </a:endParaRPr>
              </a:p>
            </p:txBody>
          </p:sp>
        </p:grpSp>
      </p:grpSp>
    </p:spTree>
    <p:extLst>
      <p:ext uri="{BB962C8B-B14F-4D97-AF65-F5344CB8AC3E}">
        <p14:creationId xmlns:p14="http://schemas.microsoft.com/office/powerpoint/2010/main" val="2699332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F8384-EA64-F76B-6DC4-C8B4914C5DC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C44A128-DF2A-DACE-10B0-EE7F269220B3}"/>
              </a:ext>
            </a:extLst>
          </p:cNvPr>
          <p:cNvSpPr txBox="1"/>
          <p:nvPr/>
        </p:nvSpPr>
        <p:spPr>
          <a:xfrm>
            <a:off x="4180114" y="2641219"/>
            <a:ext cx="5943600" cy="461665"/>
          </a:xfrm>
          <a:prstGeom prst="rect">
            <a:avLst/>
          </a:prstGeom>
          <a:noFill/>
        </p:spPr>
        <p:txBody>
          <a:bodyPr wrap="square" rtlCol="0">
            <a:spAutoFit/>
          </a:bodyPr>
          <a:lstStyle/>
          <a:p>
            <a:r>
              <a:rPr lang="en-MY" sz="2400" spc="300" dirty="0">
                <a:solidFill>
                  <a:schemeClr val="tx1">
                    <a:lumMod val="75000"/>
                    <a:lumOff val="25000"/>
                  </a:schemeClr>
                </a:solidFill>
                <a:effectLst>
                  <a:innerShdw blurRad="114300">
                    <a:prstClr val="black"/>
                  </a:innerShdw>
                </a:effectLst>
              </a:rPr>
              <a:t>CHAPTER 1</a:t>
            </a:r>
          </a:p>
        </p:txBody>
      </p:sp>
      <p:sp>
        <p:nvSpPr>
          <p:cNvPr id="4" name="TextBox 3">
            <a:extLst>
              <a:ext uri="{FF2B5EF4-FFF2-40B4-BE49-F238E27FC236}">
                <a16:creationId xmlns:a16="http://schemas.microsoft.com/office/drawing/2014/main" id="{23600031-3834-8FB2-7B2F-CD5F9C150E54}"/>
              </a:ext>
            </a:extLst>
          </p:cNvPr>
          <p:cNvSpPr txBox="1"/>
          <p:nvPr/>
        </p:nvSpPr>
        <p:spPr>
          <a:xfrm>
            <a:off x="4180114" y="2930121"/>
            <a:ext cx="5943600" cy="1015663"/>
          </a:xfrm>
          <a:prstGeom prst="rect">
            <a:avLst/>
          </a:prstGeom>
          <a:noFill/>
        </p:spPr>
        <p:txBody>
          <a:bodyPr wrap="square" rtlCol="0">
            <a:spAutoFit/>
            <a:scene3d>
              <a:camera prst="orthographicFront"/>
              <a:lightRig rig="threePt" dir="t"/>
            </a:scene3d>
            <a:sp3d extrusionH="57150">
              <a:bevelT w="38100" h="38100" prst="angle"/>
            </a:sp3d>
          </a:bodyPr>
          <a:lstStyle/>
          <a:p>
            <a:r>
              <a:rPr lang="en-US" sz="6000" b="1" kern="0" dirty="0">
                <a:solidFill>
                  <a:srgbClr val="6C1D35"/>
                </a:solidFill>
              </a:rPr>
              <a:t>INTRODUCTION</a:t>
            </a:r>
          </a:p>
        </p:txBody>
      </p:sp>
      <p:pic>
        <p:nvPicPr>
          <p:cNvPr id="5" name="Picture 4">
            <a:extLst>
              <a:ext uri="{FF2B5EF4-FFF2-40B4-BE49-F238E27FC236}">
                <a16:creationId xmlns:a16="http://schemas.microsoft.com/office/drawing/2014/main" id="{EA7B987F-C5E8-6467-4940-04A1F33222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2795" y="344422"/>
            <a:ext cx="2249407" cy="751894"/>
          </a:xfrm>
          <a:prstGeom prst="rect">
            <a:avLst/>
          </a:prstGeom>
        </p:spPr>
      </p:pic>
      <p:pic>
        <p:nvPicPr>
          <p:cNvPr id="9" name="Picture 8">
            <a:extLst>
              <a:ext uri="{FF2B5EF4-FFF2-40B4-BE49-F238E27FC236}">
                <a16:creationId xmlns:a16="http://schemas.microsoft.com/office/drawing/2014/main" id="{F4FC4637-335B-D0B8-A4E6-997E6C5B01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3714" y="6529906"/>
            <a:ext cx="2060121" cy="155037"/>
          </a:xfrm>
          <a:prstGeom prst="rect">
            <a:avLst/>
          </a:prstGeom>
        </p:spPr>
      </p:pic>
      <p:cxnSp>
        <p:nvCxnSpPr>
          <p:cNvPr id="10" name="Straight Connector 9">
            <a:extLst>
              <a:ext uri="{FF2B5EF4-FFF2-40B4-BE49-F238E27FC236}">
                <a16:creationId xmlns:a16="http://schemas.microsoft.com/office/drawing/2014/main" id="{1B40E00D-2FB0-1DC2-F32B-49881F7A2B7C}"/>
              </a:ext>
            </a:extLst>
          </p:cNvPr>
          <p:cNvCxnSpPr>
            <a:cxnSpLocks/>
          </p:cNvCxnSpPr>
          <p:nvPr/>
        </p:nvCxnSpPr>
        <p:spPr>
          <a:xfrm>
            <a:off x="0" y="6626873"/>
            <a:ext cx="10286999" cy="0"/>
          </a:xfrm>
          <a:prstGeom prst="line">
            <a:avLst/>
          </a:prstGeom>
          <a:ln w="28575"/>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279631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F402B-52EF-3378-2B9B-8FD46DE6E42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DDD79E9-8B9E-6BA4-38D9-D4FD1F09E4CE}"/>
              </a:ext>
            </a:extLst>
          </p:cNvPr>
          <p:cNvSpPr/>
          <p:nvPr/>
        </p:nvSpPr>
        <p:spPr>
          <a:xfrm>
            <a:off x="0" y="397935"/>
            <a:ext cx="7065282"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Title 1">
            <a:extLst>
              <a:ext uri="{FF2B5EF4-FFF2-40B4-BE49-F238E27FC236}">
                <a16:creationId xmlns:a16="http://schemas.microsoft.com/office/drawing/2014/main" id="{A8A3FA83-52D8-4739-C2CD-FE65E86CE24A}"/>
              </a:ext>
            </a:extLst>
          </p:cNvPr>
          <p:cNvSpPr>
            <a:spLocks noGrp="1"/>
          </p:cNvSpPr>
          <p:nvPr>
            <p:ph type="title"/>
          </p:nvPr>
        </p:nvSpPr>
        <p:spPr>
          <a:xfrm>
            <a:off x="938914" y="445560"/>
            <a:ext cx="4764617" cy="463549"/>
          </a:xfrm>
        </p:spPr>
        <p:txBody>
          <a:bodyPr>
            <a:noAutofit/>
          </a:bodyPr>
          <a:lstStyle/>
          <a:p>
            <a:r>
              <a:rPr lang="en-US" sz="2900" dirty="0">
                <a:solidFill>
                  <a:schemeClr val="bg1"/>
                </a:solidFill>
                <a:effectLst>
                  <a:outerShdw blurRad="38100" dist="38100" dir="2700000" algn="tl">
                    <a:srgbClr val="000000">
                      <a:alpha val="43137"/>
                    </a:srgbClr>
                  </a:outerShdw>
                </a:effectLst>
              </a:rPr>
              <a:t>MONEY LAUNDERING</a:t>
            </a:r>
          </a:p>
        </p:txBody>
      </p:sp>
      <p:sp>
        <p:nvSpPr>
          <p:cNvPr id="3" name="TextBox 2">
            <a:extLst>
              <a:ext uri="{FF2B5EF4-FFF2-40B4-BE49-F238E27FC236}">
                <a16:creationId xmlns:a16="http://schemas.microsoft.com/office/drawing/2014/main" id="{38B07DBE-17A6-346E-C7BE-19E01360068F}"/>
              </a:ext>
            </a:extLst>
          </p:cNvPr>
          <p:cNvSpPr txBox="1"/>
          <p:nvPr/>
        </p:nvSpPr>
        <p:spPr>
          <a:xfrm>
            <a:off x="1022521" y="1403048"/>
            <a:ext cx="10455104" cy="4093428"/>
          </a:xfrm>
          <a:prstGeom prst="rect">
            <a:avLst/>
          </a:prstGeom>
          <a:noFill/>
        </p:spPr>
        <p:txBody>
          <a:bodyPr wrap="square" lIns="0" rIns="0" rtlCol="0">
            <a:spAutoFit/>
          </a:bodyPr>
          <a:lstStyle/>
          <a:p>
            <a:r>
              <a:rPr lang="en-US" sz="2000" dirty="0">
                <a:ea typeface="Roboto Condensed Light" panose="02000000000000000000" pitchFamily="2" charset="0"/>
                <a:cs typeface="Roboto Condensed Light" panose="02000000000000000000" pitchFamily="2" charset="0"/>
              </a:rPr>
              <a:t>A serious global issue since the 1980s. It is recognized as a </a:t>
            </a:r>
            <a:r>
              <a:rPr lang="en-US" sz="2000" b="1" dirty="0">
                <a:solidFill>
                  <a:schemeClr val="accent2"/>
                </a:solidFill>
                <a:ea typeface="Roboto Condensed Light" panose="02000000000000000000" pitchFamily="2" charset="0"/>
                <a:cs typeface="Roboto Condensed Light" panose="02000000000000000000" pitchFamily="2" charset="0"/>
              </a:rPr>
              <a:t>threat to economic stability and security worldwide.</a:t>
            </a:r>
          </a:p>
          <a:p>
            <a:endParaRPr lang="en-US" sz="2000" dirty="0">
              <a:ea typeface="Roboto Condensed Light" panose="02000000000000000000" pitchFamily="2" charset="0"/>
              <a:cs typeface="Roboto Condensed Light" panose="02000000000000000000" pitchFamily="2" charset="0"/>
            </a:endParaRPr>
          </a:p>
          <a:p>
            <a:r>
              <a:rPr lang="en-US" sz="2000" b="1" dirty="0">
                <a:solidFill>
                  <a:schemeClr val="accent2"/>
                </a:solidFill>
                <a:ea typeface="Roboto Condensed Light" panose="02000000000000000000" pitchFamily="2" charset="0"/>
                <a:cs typeface="Roboto Condensed Light" panose="02000000000000000000" pitchFamily="2" charset="0"/>
              </a:rPr>
              <a:t>Linked to crimes </a:t>
            </a:r>
            <a:r>
              <a:rPr lang="en-US" sz="2000" dirty="0">
                <a:ea typeface="Roboto Condensed Light" panose="02000000000000000000" pitchFamily="2" charset="0"/>
                <a:cs typeface="Roboto Condensed Light" panose="02000000000000000000" pitchFamily="2" charset="0"/>
              </a:rPr>
              <a:t>like fraud, drug trafficking – to disguise the origin of illegal funds</a:t>
            </a:r>
          </a:p>
          <a:p>
            <a:endParaRPr lang="en-US" sz="2000" dirty="0">
              <a:ea typeface="Roboto Condensed Light" panose="02000000000000000000" pitchFamily="2" charset="0"/>
              <a:cs typeface="Roboto Condensed Light" panose="02000000000000000000" pitchFamily="2" charset="0"/>
            </a:endParaRPr>
          </a:p>
          <a:p>
            <a:r>
              <a:rPr lang="en-US" sz="2000" dirty="0">
                <a:ea typeface="Roboto Condensed Light" panose="02000000000000000000" pitchFamily="2" charset="0"/>
                <a:cs typeface="Roboto Condensed Light" panose="02000000000000000000" pitchFamily="2" charset="0"/>
              </a:rPr>
              <a:t>Lead to </a:t>
            </a:r>
            <a:r>
              <a:rPr lang="en-US" sz="2000" b="1" dirty="0">
                <a:solidFill>
                  <a:schemeClr val="accent2"/>
                </a:solidFill>
                <a:ea typeface="Roboto Condensed Light" panose="02000000000000000000" pitchFamily="2" charset="0"/>
                <a:cs typeface="Roboto Condensed Light" panose="02000000000000000000" pitchFamily="2" charset="0"/>
              </a:rPr>
              <a:t>higher crime rates, threaten national security risks, increase corruption</a:t>
            </a:r>
          </a:p>
          <a:p>
            <a:endParaRPr lang="en-US" sz="2000" dirty="0">
              <a:ea typeface="Roboto Condensed Light" panose="02000000000000000000" pitchFamily="2" charset="0"/>
              <a:cs typeface="Roboto Condensed Light" panose="02000000000000000000" pitchFamily="2" charset="0"/>
            </a:endParaRPr>
          </a:p>
          <a:p>
            <a:r>
              <a:rPr lang="en-US" sz="2000" dirty="0">
                <a:ea typeface="Roboto Condensed Light" panose="02000000000000000000" pitchFamily="2" charset="0"/>
                <a:cs typeface="Roboto Condensed Light" panose="02000000000000000000" pitchFamily="2" charset="0"/>
              </a:rPr>
              <a:t>Financial institutions are </a:t>
            </a:r>
            <a:r>
              <a:rPr lang="en-US" sz="2000" b="1" dirty="0">
                <a:solidFill>
                  <a:schemeClr val="accent2"/>
                </a:solidFill>
                <a:ea typeface="Roboto Condensed Light" panose="02000000000000000000" pitchFamily="2" charset="0"/>
                <a:cs typeface="Roboto Condensed Light" panose="02000000000000000000" pitchFamily="2" charset="0"/>
              </a:rPr>
              <a:t>under pressure to detect and prevent money laundering</a:t>
            </a:r>
          </a:p>
          <a:p>
            <a:endParaRPr lang="en-US" sz="2000" dirty="0">
              <a:ea typeface="Roboto Condensed Light" panose="02000000000000000000" pitchFamily="2" charset="0"/>
              <a:cs typeface="Roboto Condensed Light" panose="02000000000000000000" pitchFamily="2" charset="0"/>
            </a:endParaRPr>
          </a:p>
          <a:p>
            <a:r>
              <a:rPr lang="en-US" sz="2000" dirty="0">
                <a:ea typeface="Roboto Condensed Light" panose="02000000000000000000" pitchFamily="2" charset="0"/>
                <a:cs typeface="Roboto Condensed Light" panose="02000000000000000000" pitchFamily="2" charset="0"/>
              </a:rPr>
              <a:t>Traditional AML systems are </a:t>
            </a:r>
            <a:r>
              <a:rPr lang="en-US" sz="2000" b="1" dirty="0">
                <a:solidFill>
                  <a:schemeClr val="accent2"/>
                </a:solidFill>
                <a:ea typeface="Roboto Condensed Light" panose="02000000000000000000" pitchFamily="2" charset="0"/>
                <a:cs typeface="Roboto Condensed Light" panose="02000000000000000000" pitchFamily="2" charset="0"/>
              </a:rPr>
              <a:t>rule-based, requiring frequent updates and human review</a:t>
            </a:r>
          </a:p>
          <a:p>
            <a:endParaRPr lang="en-US" sz="2000" dirty="0">
              <a:ea typeface="Roboto Condensed Light" panose="02000000000000000000" pitchFamily="2" charset="0"/>
              <a:cs typeface="Roboto Condensed Light" panose="02000000000000000000" pitchFamily="2" charset="0"/>
            </a:endParaRPr>
          </a:p>
          <a:p>
            <a:r>
              <a:rPr lang="en-US" sz="2000" dirty="0">
                <a:ea typeface="Roboto Condensed Light" panose="02000000000000000000" pitchFamily="2" charset="0"/>
                <a:cs typeface="Roboto Condensed Light" panose="02000000000000000000" pitchFamily="2" charset="0"/>
              </a:rPr>
              <a:t>As laundering techniques become more complex, traditional approach is no longer sufficient. Hence, the need to integrate </a:t>
            </a:r>
            <a:r>
              <a:rPr lang="en-US" sz="2000" b="1" dirty="0">
                <a:solidFill>
                  <a:schemeClr val="accent2"/>
                </a:solidFill>
                <a:ea typeface="Roboto Condensed Light" panose="02000000000000000000" pitchFamily="2" charset="0"/>
                <a:cs typeface="Roboto Condensed Light" panose="02000000000000000000" pitchFamily="2" charset="0"/>
              </a:rPr>
              <a:t>machine learning</a:t>
            </a:r>
            <a:r>
              <a:rPr lang="en-US" sz="2000" b="1" dirty="0">
                <a:ea typeface="Roboto Condensed Light" panose="02000000000000000000" pitchFamily="2" charset="0"/>
                <a:cs typeface="Roboto Condensed Light" panose="02000000000000000000" pitchFamily="2" charset="0"/>
              </a:rPr>
              <a:t> </a:t>
            </a:r>
            <a:r>
              <a:rPr lang="en-US" sz="2000" dirty="0">
                <a:ea typeface="Roboto Condensed Light" panose="02000000000000000000" pitchFamily="2" charset="0"/>
                <a:cs typeface="Roboto Condensed Light" panose="02000000000000000000" pitchFamily="2" charset="0"/>
              </a:rPr>
              <a:t>into AML efforts.</a:t>
            </a:r>
          </a:p>
        </p:txBody>
      </p:sp>
      <p:pic>
        <p:nvPicPr>
          <p:cNvPr id="8" name="Picture 7">
            <a:extLst>
              <a:ext uri="{FF2B5EF4-FFF2-40B4-BE49-F238E27FC236}">
                <a16:creationId xmlns:a16="http://schemas.microsoft.com/office/drawing/2014/main" id="{17E24C7D-E8E5-4025-968E-403748EF2F0C}"/>
              </a:ext>
            </a:extLst>
          </p:cNvPr>
          <p:cNvPicPr>
            <a:picLocks noChangeAspect="1"/>
          </p:cNvPicPr>
          <p:nvPr/>
        </p:nvPicPr>
        <p:blipFill>
          <a:blip r:embed="rId3"/>
          <a:stretch>
            <a:fillRect/>
          </a:stretch>
        </p:blipFill>
        <p:spPr>
          <a:xfrm>
            <a:off x="457200" y="1497710"/>
            <a:ext cx="360000" cy="360000"/>
          </a:xfrm>
          <a:prstGeom prst="rect">
            <a:avLst/>
          </a:prstGeom>
        </p:spPr>
      </p:pic>
      <p:pic>
        <p:nvPicPr>
          <p:cNvPr id="9" name="Picture 8">
            <a:extLst>
              <a:ext uri="{FF2B5EF4-FFF2-40B4-BE49-F238E27FC236}">
                <a16:creationId xmlns:a16="http://schemas.microsoft.com/office/drawing/2014/main" id="{05B30B11-6957-9FCD-32C1-3B2CDC3C9226}"/>
              </a:ext>
            </a:extLst>
          </p:cNvPr>
          <p:cNvPicPr>
            <a:picLocks noChangeAspect="1"/>
          </p:cNvPicPr>
          <p:nvPr/>
        </p:nvPicPr>
        <p:blipFill>
          <a:blip r:embed="rId3"/>
          <a:stretch>
            <a:fillRect/>
          </a:stretch>
        </p:blipFill>
        <p:spPr>
          <a:xfrm>
            <a:off x="457200" y="2360138"/>
            <a:ext cx="360000" cy="360000"/>
          </a:xfrm>
          <a:prstGeom prst="rect">
            <a:avLst/>
          </a:prstGeom>
        </p:spPr>
      </p:pic>
      <p:pic>
        <p:nvPicPr>
          <p:cNvPr id="10" name="Picture 9">
            <a:extLst>
              <a:ext uri="{FF2B5EF4-FFF2-40B4-BE49-F238E27FC236}">
                <a16:creationId xmlns:a16="http://schemas.microsoft.com/office/drawing/2014/main" id="{788C35F0-A7B9-D3EB-F568-CA4484D48EC3}"/>
              </a:ext>
            </a:extLst>
          </p:cNvPr>
          <p:cNvPicPr>
            <a:picLocks noChangeAspect="1"/>
          </p:cNvPicPr>
          <p:nvPr/>
        </p:nvPicPr>
        <p:blipFill>
          <a:blip r:embed="rId3"/>
          <a:stretch>
            <a:fillRect/>
          </a:stretch>
        </p:blipFill>
        <p:spPr>
          <a:xfrm>
            <a:off x="461600" y="2964449"/>
            <a:ext cx="360000" cy="360000"/>
          </a:xfrm>
          <a:prstGeom prst="rect">
            <a:avLst/>
          </a:prstGeom>
        </p:spPr>
      </p:pic>
      <p:pic>
        <p:nvPicPr>
          <p:cNvPr id="11" name="Picture 10">
            <a:extLst>
              <a:ext uri="{FF2B5EF4-FFF2-40B4-BE49-F238E27FC236}">
                <a16:creationId xmlns:a16="http://schemas.microsoft.com/office/drawing/2014/main" id="{8DE937B3-7872-A631-0684-F2426D2C522A}"/>
              </a:ext>
            </a:extLst>
          </p:cNvPr>
          <p:cNvPicPr>
            <a:picLocks noChangeAspect="1"/>
          </p:cNvPicPr>
          <p:nvPr/>
        </p:nvPicPr>
        <p:blipFill>
          <a:blip r:embed="rId3"/>
          <a:stretch>
            <a:fillRect/>
          </a:stretch>
        </p:blipFill>
        <p:spPr>
          <a:xfrm>
            <a:off x="461600" y="3577391"/>
            <a:ext cx="360000" cy="360000"/>
          </a:xfrm>
          <a:prstGeom prst="rect">
            <a:avLst/>
          </a:prstGeom>
        </p:spPr>
      </p:pic>
      <p:pic>
        <p:nvPicPr>
          <p:cNvPr id="12" name="Picture 11">
            <a:extLst>
              <a:ext uri="{FF2B5EF4-FFF2-40B4-BE49-F238E27FC236}">
                <a16:creationId xmlns:a16="http://schemas.microsoft.com/office/drawing/2014/main" id="{8EA7A527-F4D4-0C28-1B26-7B54C7C5BD2A}"/>
              </a:ext>
            </a:extLst>
          </p:cNvPr>
          <p:cNvPicPr>
            <a:picLocks noChangeAspect="1"/>
          </p:cNvPicPr>
          <p:nvPr/>
        </p:nvPicPr>
        <p:blipFill>
          <a:blip r:embed="rId3"/>
          <a:stretch>
            <a:fillRect/>
          </a:stretch>
        </p:blipFill>
        <p:spPr>
          <a:xfrm>
            <a:off x="457200" y="4159809"/>
            <a:ext cx="360000" cy="360000"/>
          </a:xfrm>
          <a:prstGeom prst="rect">
            <a:avLst/>
          </a:prstGeom>
        </p:spPr>
      </p:pic>
      <p:pic>
        <p:nvPicPr>
          <p:cNvPr id="13" name="Picture 12">
            <a:extLst>
              <a:ext uri="{FF2B5EF4-FFF2-40B4-BE49-F238E27FC236}">
                <a16:creationId xmlns:a16="http://schemas.microsoft.com/office/drawing/2014/main" id="{582F7B5B-7775-90A3-499A-A3EC06F272F2}"/>
              </a:ext>
            </a:extLst>
          </p:cNvPr>
          <p:cNvPicPr>
            <a:picLocks noChangeAspect="1"/>
          </p:cNvPicPr>
          <p:nvPr/>
        </p:nvPicPr>
        <p:blipFill>
          <a:blip r:embed="rId3"/>
          <a:stretch>
            <a:fillRect/>
          </a:stretch>
        </p:blipFill>
        <p:spPr>
          <a:xfrm>
            <a:off x="457200" y="4732702"/>
            <a:ext cx="360000" cy="360000"/>
          </a:xfrm>
          <a:prstGeom prst="rect">
            <a:avLst/>
          </a:prstGeom>
        </p:spPr>
      </p:pic>
    </p:spTree>
    <p:extLst>
      <p:ext uri="{BB962C8B-B14F-4D97-AF65-F5344CB8AC3E}">
        <p14:creationId xmlns:p14="http://schemas.microsoft.com/office/powerpoint/2010/main" val="61097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65">
          <a:extLst>
            <a:ext uri="{FF2B5EF4-FFF2-40B4-BE49-F238E27FC236}">
              <a16:creationId xmlns:a16="http://schemas.microsoft.com/office/drawing/2014/main" id="{CD054F2A-0C8D-C56F-8DA8-D9336F1E0B4A}"/>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49C6B4B1-C315-9226-7873-A969ACF1ADE1}"/>
              </a:ext>
            </a:extLst>
          </p:cNvPr>
          <p:cNvSpPr txBox="1"/>
          <p:nvPr/>
        </p:nvSpPr>
        <p:spPr>
          <a:xfrm>
            <a:off x="76200" y="1806558"/>
            <a:ext cx="6034322" cy="2664000"/>
          </a:xfrm>
          <a:prstGeom prst="rect">
            <a:avLst/>
          </a:prstGeom>
          <a:noFill/>
          <a:ln>
            <a:solidFill>
              <a:schemeClr val="accent1"/>
            </a:solidFill>
          </a:ln>
          <a:effectLst>
            <a:outerShdw blurRad="63500" sx="102000" sy="102000" algn="ctr" rotWithShape="0">
              <a:prstClr val="black">
                <a:alpha val="40000"/>
              </a:prstClr>
            </a:outerShdw>
          </a:effectLst>
        </p:spPr>
        <p:txBody>
          <a:bodyPr wrap="square" rtlCol="0">
            <a:spAutoFit/>
          </a:bodyPr>
          <a:lstStyle/>
          <a:p>
            <a:endParaRPr lang="en-MY" dirty="0"/>
          </a:p>
        </p:txBody>
      </p:sp>
      <p:sp>
        <p:nvSpPr>
          <p:cNvPr id="30" name="TextBox 29">
            <a:extLst>
              <a:ext uri="{FF2B5EF4-FFF2-40B4-BE49-F238E27FC236}">
                <a16:creationId xmlns:a16="http://schemas.microsoft.com/office/drawing/2014/main" id="{11F0E96F-0222-6367-6F6C-701200BA954B}"/>
              </a:ext>
            </a:extLst>
          </p:cNvPr>
          <p:cNvSpPr txBox="1"/>
          <p:nvPr/>
        </p:nvSpPr>
        <p:spPr>
          <a:xfrm>
            <a:off x="6220812" y="1807052"/>
            <a:ext cx="5894988" cy="2664000"/>
          </a:xfrm>
          <a:prstGeom prst="rect">
            <a:avLst/>
          </a:prstGeom>
          <a:noFill/>
          <a:ln>
            <a:solidFill>
              <a:schemeClr val="accent1"/>
            </a:solidFill>
          </a:ln>
          <a:effectLst>
            <a:outerShdw blurRad="63500" sx="102000" sy="102000" algn="ctr" rotWithShape="0">
              <a:prstClr val="black">
                <a:alpha val="40000"/>
              </a:prstClr>
            </a:outerShdw>
          </a:effectLst>
        </p:spPr>
        <p:txBody>
          <a:bodyPr wrap="square" rtlCol="0">
            <a:spAutoFit/>
          </a:bodyPr>
          <a:lstStyle/>
          <a:p>
            <a:endParaRPr lang="en-MY" dirty="0"/>
          </a:p>
        </p:txBody>
      </p:sp>
      <p:sp>
        <p:nvSpPr>
          <p:cNvPr id="3987" name="Google Shape;3987;p108">
            <a:extLst>
              <a:ext uri="{FF2B5EF4-FFF2-40B4-BE49-F238E27FC236}">
                <a16:creationId xmlns:a16="http://schemas.microsoft.com/office/drawing/2014/main" id="{B7489A61-8AFD-18AE-823A-304E13D195F1}"/>
              </a:ext>
            </a:extLst>
          </p:cNvPr>
          <p:cNvSpPr txBox="1"/>
          <p:nvPr/>
        </p:nvSpPr>
        <p:spPr>
          <a:xfrm>
            <a:off x="213242" y="2840874"/>
            <a:ext cx="5857357" cy="1477328"/>
          </a:xfrm>
          <a:prstGeom prst="rect">
            <a:avLst/>
          </a:prstGeom>
          <a:noFill/>
          <a:ln>
            <a:noFill/>
          </a:ln>
        </p:spPr>
        <p:txBody>
          <a:bodyPr spcFirstLastPara="1" wrap="square" lIns="121900" tIns="121900" rIns="121900" bIns="121900" anchor="ctr" anchorCtr="0">
            <a:noAutofit/>
          </a:bodyPr>
          <a:lstStyle/>
          <a:p>
            <a:pPr marL="285750" indent="-285750">
              <a:buFont typeface="Wingdings" panose="05000000000000000000" pitchFamily="2" charset="2"/>
              <a:buChar char="Ø"/>
            </a:pPr>
            <a:r>
              <a:rPr lang="de" sz="1400" b="1" dirty="0">
                <a:solidFill>
                  <a:schemeClr val="accent2"/>
                </a:solidFill>
                <a:ea typeface="Oswald"/>
                <a:cs typeface="Oswald"/>
                <a:sym typeface="Oswald"/>
              </a:rPr>
              <a:t>2%-5%</a:t>
            </a:r>
            <a:r>
              <a:rPr lang="de" sz="1400" dirty="0">
                <a:solidFill>
                  <a:schemeClr val="dk1"/>
                </a:solidFill>
                <a:ea typeface="Oswald"/>
                <a:cs typeface="Oswald"/>
                <a:sym typeface="Oswald"/>
              </a:rPr>
              <a:t> of world‘s GDP laundered annually</a:t>
            </a:r>
          </a:p>
          <a:p>
            <a:pPr marL="285750" indent="-285750">
              <a:buFont typeface="Wingdings" panose="05000000000000000000" pitchFamily="2" charset="2"/>
              <a:buChar char="Ø"/>
            </a:pPr>
            <a:r>
              <a:rPr lang="de" sz="1400" dirty="0">
                <a:solidFill>
                  <a:schemeClr val="dk1"/>
                </a:solidFill>
                <a:ea typeface="Oswald"/>
                <a:cs typeface="Oswald"/>
                <a:sym typeface="Oswald"/>
              </a:rPr>
              <a:t>In 2023, around </a:t>
            </a:r>
            <a:r>
              <a:rPr lang="de" sz="1400" b="1" dirty="0">
                <a:solidFill>
                  <a:schemeClr val="accent2"/>
                </a:solidFill>
                <a:ea typeface="Oswald"/>
                <a:cs typeface="Oswald"/>
                <a:sym typeface="Oswald"/>
              </a:rPr>
              <a:t>$3.1 trillion </a:t>
            </a:r>
            <a:r>
              <a:rPr lang="de" sz="1400" dirty="0">
                <a:solidFill>
                  <a:schemeClr val="dk1"/>
                </a:solidFill>
                <a:ea typeface="Oswald"/>
                <a:cs typeface="Oswald"/>
                <a:sym typeface="Oswald"/>
              </a:rPr>
              <a:t>are laundered globally fueling various crimes such as:</a:t>
            </a:r>
          </a:p>
          <a:p>
            <a:pPr marL="742950" lvl="1" indent="-285750">
              <a:buFont typeface="Wingdings" panose="05000000000000000000" pitchFamily="2" charset="2"/>
              <a:buChar char="Ø"/>
            </a:pPr>
            <a:r>
              <a:rPr lang="de" sz="1400" b="1" dirty="0">
                <a:solidFill>
                  <a:schemeClr val="accent2"/>
                </a:solidFill>
                <a:ea typeface="Oswald"/>
                <a:cs typeface="Oswald"/>
                <a:sym typeface="Oswald"/>
              </a:rPr>
              <a:t>$346.7</a:t>
            </a:r>
            <a:r>
              <a:rPr lang="de" sz="1400" dirty="0">
                <a:solidFill>
                  <a:schemeClr val="dk1"/>
                </a:solidFill>
                <a:ea typeface="Oswald"/>
                <a:cs typeface="Oswald"/>
                <a:sym typeface="Oswald"/>
              </a:rPr>
              <a:t> </a:t>
            </a:r>
            <a:r>
              <a:rPr lang="de" sz="1400" b="1" dirty="0">
                <a:solidFill>
                  <a:schemeClr val="accent2"/>
                </a:solidFill>
                <a:ea typeface="Oswald"/>
                <a:cs typeface="Oswald"/>
                <a:sym typeface="Oswald"/>
              </a:rPr>
              <a:t>billion</a:t>
            </a:r>
            <a:r>
              <a:rPr lang="de" sz="1400" dirty="0">
                <a:solidFill>
                  <a:schemeClr val="dk1"/>
                </a:solidFill>
                <a:ea typeface="Oswald"/>
                <a:cs typeface="Oswald"/>
                <a:sym typeface="Oswald"/>
              </a:rPr>
              <a:t> in human trafficking</a:t>
            </a:r>
          </a:p>
          <a:p>
            <a:pPr marL="742950" lvl="1" indent="-285750">
              <a:buFont typeface="Wingdings" panose="05000000000000000000" pitchFamily="2" charset="2"/>
              <a:buChar char="Ø"/>
            </a:pPr>
            <a:r>
              <a:rPr lang="de" sz="1400" b="1" dirty="0">
                <a:solidFill>
                  <a:schemeClr val="accent2"/>
                </a:solidFill>
                <a:ea typeface="Oswald"/>
                <a:cs typeface="Oswald"/>
                <a:sym typeface="Oswald"/>
              </a:rPr>
              <a:t>$782.9 billion</a:t>
            </a:r>
            <a:r>
              <a:rPr lang="de" sz="1400" dirty="0">
                <a:solidFill>
                  <a:schemeClr val="dk1"/>
                </a:solidFill>
                <a:ea typeface="Oswald"/>
                <a:cs typeface="Oswald"/>
                <a:sym typeface="Oswald"/>
              </a:rPr>
              <a:t> in drug trafficking</a:t>
            </a:r>
          </a:p>
          <a:p>
            <a:pPr marL="742950" lvl="1" indent="-285750">
              <a:buFont typeface="Wingdings" panose="05000000000000000000" pitchFamily="2" charset="2"/>
              <a:buChar char="Ø"/>
            </a:pPr>
            <a:r>
              <a:rPr lang="de" sz="1400" b="1" dirty="0">
                <a:solidFill>
                  <a:schemeClr val="accent2"/>
                </a:solidFill>
                <a:ea typeface="Oswald"/>
                <a:cs typeface="Oswald"/>
                <a:sym typeface="Oswald"/>
              </a:rPr>
              <a:t>$11.5 billion </a:t>
            </a:r>
            <a:r>
              <a:rPr lang="de" sz="1400" dirty="0">
                <a:solidFill>
                  <a:schemeClr val="dk1"/>
                </a:solidFill>
                <a:ea typeface="Oswald"/>
                <a:cs typeface="Oswald"/>
                <a:sym typeface="Oswald"/>
              </a:rPr>
              <a:t>in terrorist financing</a:t>
            </a:r>
          </a:p>
        </p:txBody>
      </p:sp>
      <p:sp>
        <p:nvSpPr>
          <p:cNvPr id="3994" name="Google Shape;3994;p108">
            <a:extLst>
              <a:ext uri="{FF2B5EF4-FFF2-40B4-BE49-F238E27FC236}">
                <a16:creationId xmlns:a16="http://schemas.microsoft.com/office/drawing/2014/main" id="{D7F3ECF3-0C2B-66B7-FC12-F0A2EC14942E}"/>
              </a:ext>
            </a:extLst>
          </p:cNvPr>
          <p:cNvSpPr txBox="1"/>
          <p:nvPr/>
        </p:nvSpPr>
        <p:spPr>
          <a:xfrm>
            <a:off x="6319882" y="2964783"/>
            <a:ext cx="5795918" cy="831859"/>
          </a:xfrm>
          <a:prstGeom prst="rect">
            <a:avLst/>
          </a:prstGeom>
          <a:noFill/>
          <a:ln>
            <a:noFill/>
          </a:ln>
        </p:spPr>
        <p:txBody>
          <a:bodyPr spcFirstLastPara="1" wrap="square" lIns="121900" tIns="121900" rIns="121900" bIns="121900" anchor="ctr" anchorCtr="0">
            <a:noAutofit/>
          </a:bodyPr>
          <a:lstStyle/>
          <a:p>
            <a:pPr marL="742950" lvl="1" indent="-285750">
              <a:buFontTx/>
              <a:buChar char="-"/>
            </a:pPr>
            <a:endParaRPr dirty="0">
              <a:solidFill>
                <a:schemeClr val="dk1"/>
              </a:solidFill>
              <a:ea typeface="Oswald"/>
              <a:cs typeface="Oswald"/>
              <a:sym typeface="Oswald"/>
            </a:endParaRPr>
          </a:p>
        </p:txBody>
      </p:sp>
      <p:grpSp>
        <p:nvGrpSpPr>
          <p:cNvPr id="21" name="Group 20">
            <a:extLst>
              <a:ext uri="{FF2B5EF4-FFF2-40B4-BE49-F238E27FC236}">
                <a16:creationId xmlns:a16="http://schemas.microsoft.com/office/drawing/2014/main" id="{BBB393B7-EA7E-6E97-3BA3-44E3D8BB6C72}"/>
              </a:ext>
            </a:extLst>
          </p:cNvPr>
          <p:cNvGrpSpPr/>
          <p:nvPr/>
        </p:nvGrpSpPr>
        <p:grpSpPr>
          <a:xfrm>
            <a:off x="152400" y="1955481"/>
            <a:ext cx="720000" cy="720000"/>
            <a:chOff x="457541" y="2182071"/>
            <a:chExt cx="1081398" cy="1081319"/>
          </a:xfrm>
        </p:grpSpPr>
        <p:sp>
          <p:nvSpPr>
            <p:cNvPr id="3968" name="Google Shape;3968;p108">
              <a:extLst>
                <a:ext uri="{FF2B5EF4-FFF2-40B4-BE49-F238E27FC236}">
                  <a16:creationId xmlns:a16="http://schemas.microsoft.com/office/drawing/2014/main" id="{09FA350E-C21D-898D-9E52-BCA5B785FBBE}"/>
                </a:ext>
              </a:extLst>
            </p:cNvPr>
            <p:cNvSpPr/>
            <p:nvPr/>
          </p:nvSpPr>
          <p:spPr>
            <a:xfrm>
              <a:off x="457541" y="2273451"/>
              <a:ext cx="990016" cy="989939"/>
            </a:xfrm>
            <a:custGeom>
              <a:avLst/>
              <a:gdLst/>
              <a:ahLst/>
              <a:cxnLst/>
              <a:rect l="l" t="t" r="r" b="b"/>
              <a:pathLst>
                <a:path w="22956" h="22956" extrusionOk="0">
                  <a:moveTo>
                    <a:pt x="0" y="1"/>
                  </a:moveTo>
                  <a:lnTo>
                    <a:pt x="0" y="22956"/>
                  </a:lnTo>
                  <a:lnTo>
                    <a:pt x="22956" y="22956"/>
                  </a:lnTo>
                  <a:lnTo>
                    <a:pt x="0" y="1"/>
                  </a:lnTo>
                  <a:close/>
                </a:path>
              </a:pathLst>
            </a:custGeom>
            <a:solidFill>
              <a:schemeClr val="accent2">
                <a:lumMod val="40000"/>
                <a:lumOff val="60000"/>
              </a:schemeClr>
            </a:solidFill>
            <a:ln>
              <a:noFill/>
            </a:ln>
          </p:spPr>
          <p:txBody>
            <a:bodyPr spcFirstLastPara="1" wrap="square" lIns="121900" tIns="121900" rIns="121900" bIns="121900" anchor="ctr" anchorCtr="0">
              <a:noAutofit/>
            </a:bodyPr>
            <a:lstStyle/>
            <a:p>
              <a:endParaRPr sz="2400"/>
            </a:p>
          </p:txBody>
        </p:sp>
        <p:sp>
          <p:nvSpPr>
            <p:cNvPr id="3969" name="Google Shape;3969;p108">
              <a:extLst>
                <a:ext uri="{FF2B5EF4-FFF2-40B4-BE49-F238E27FC236}">
                  <a16:creationId xmlns:a16="http://schemas.microsoft.com/office/drawing/2014/main" id="{1C412B8B-0025-BCFC-2556-2AA409B544B6}"/>
                </a:ext>
              </a:extLst>
            </p:cNvPr>
            <p:cNvSpPr/>
            <p:nvPr/>
          </p:nvSpPr>
          <p:spPr>
            <a:xfrm>
              <a:off x="548923" y="2182071"/>
              <a:ext cx="990016" cy="989939"/>
            </a:xfrm>
            <a:custGeom>
              <a:avLst/>
              <a:gdLst/>
              <a:ahLst/>
              <a:cxnLst/>
              <a:rect l="l" t="t" r="r" b="b"/>
              <a:pathLst>
                <a:path w="22956" h="22956" fill="none" extrusionOk="0">
                  <a:moveTo>
                    <a:pt x="1" y="0"/>
                  </a:moveTo>
                  <a:lnTo>
                    <a:pt x="22956" y="0"/>
                  </a:lnTo>
                  <a:lnTo>
                    <a:pt x="22956" y="22956"/>
                  </a:lnTo>
                  <a:lnTo>
                    <a:pt x="1" y="22956"/>
                  </a:lnTo>
                  <a:close/>
                </a:path>
              </a:pathLst>
            </a:custGeom>
            <a:noFill/>
            <a:ln w="19050" cap="flat" cmpd="sng">
              <a:solidFill>
                <a:schemeClr val="accent1"/>
              </a:solidFill>
              <a:prstDash val="solid"/>
              <a:miter lim="11906"/>
              <a:headEnd type="none" w="sm" len="sm"/>
              <a:tailEnd type="none" w="sm" len="sm"/>
            </a:ln>
          </p:spPr>
          <p:txBody>
            <a:bodyPr spcFirstLastPara="1" wrap="square" lIns="121900" tIns="121900" rIns="121900" bIns="121900" anchor="ctr" anchorCtr="0">
              <a:noAutofit/>
            </a:bodyPr>
            <a:lstStyle/>
            <a:p>
              <a:endParaRPr sz="2400"/>
            </a:p>
          </p:txBody>
        </p:sp>
        <p:pic>
          <p:nvPicPr>
            <p:cNvPr id="3" name="Picture 2" descr="A black background with a black square&#10;&#10;Description automatically generated with medium confidence">
              <a:extLst>
                <a:ext uri="{FF2B5EF4-FFF2-40B4-BE49-F238E27FC236}">
                  <a16:creationId xmlns:a16="http://schemas.microsoft.com/office/drawing/2014/main" id="{4FBAFDF3-34E1-CBC7-9F6D-8DC161FCBC4A}"/>
                </a:ext>
              </a:extLst>
            </p:cNvPr>
            <p:cNvPicPr>
              <a:picLocks noChangeAspect="1"/>
            </p:cNvPicPr>
            <p:nvPr/>
          </p:nvPicPr>
          <p:blipFill>
            <a:blip r:embed="rId3"/>
            <a:stretch>
              <a:fillRect/>
            </a:stretch>
          </p:blipFill>
          <p:spPr>
            <a:xfrm>
              <a:off x="714573" y="2347683"/>
              <a:ext cx="658715" cy="658715"/>
            </a:xfrm>
            <a:prstGeom prst="rect">
              <a:avLst/>
            </a:prstGeom>
          </p:spPr>
        </p:pic>
      </p:grpSp>
      <p:grpSp>
        <p:nvGrpSpPr>
          <p:cNvPr id="22" name="Group 21">
            <a:extLst>
              <a:ext uri="{FF2B5EF4-FFF2-40B4-BE49-F238E27FC236}">
                <a16:creationId xmlns:a16="http://schemas.microsoft.com/office/drawing/2014/main" id="{0A5C0EAC-309F-7E6C-E6F9-8DD4AD9A93ED}"/>
              </a:ext>
            </a:extLst>
          </p:cNvPr>
          <p:cNvGrpSpPr/>
          <p:nvPr/>
        </p:nvGrpSpPr>
        <p:grpSpPr>
          <a:xfrm>
            <a:off x="6294482" y="1946009"/>
            <a:ext cx="720000" cy="720000"/>
            <a:chOff x="991441" y="4214867"/>
            <a:chExt cx="1081398" cy="1081320"/>
          </a:xfrm>
        </p:grpSpPr>
        <p:sp>
          <p:nvSpPr>
            <p:cNvPr id="3966" name="Google Shape;3966;p108">
              <a:extLst>
                <a:ext uri="{FF2B5EF4-FFF2-40B4-BE49-F238E27FC236}">
                  <a16:creationId xmlns:a16="http://schemas.microsoft.com/office/drawing/2014/main" id="{DCA11E5F-601A-9CC7-FEDF-A475DD223D35}"/>
                </a:ext>
              </a:extLst>
            </p:cNvPr>
            <p:cNvSpPr/>
            <p:nvPr/>
          </p:nvSpPr>
          <p:spPr>
            <a:xfrm>
              <a:off x="991441" y="4306248"/>
              <a:ext cx="990016" cy="989939"/>
            </a:xfrm>
            <a:custGeom>
              <a:avLst/>
              <a:gdLst/>
              <a:ahLst/>
              <a:cxnLst/>
              <a:rect l="l" t="t" r="r" b="b"/>
              <a:pathLst>
                <a:path w="22956" h="22956" extrusionOk="0">
                  <a:moveTo>
                    <a:pt x="0" y="1"/>
                  </a:moveTo>
                  <a:lnTo>
                    <a:pt x="0" y="22956"/>
                  </a:lnTo>
                  <a:lnTo>
                    <a:pt x="22956" y="22956"/>
                  </a:lnTo>
                  <a:lnTo>
                    <a:pt x="0" y="1"/>
                  </a:lnTo>
                  <a:close/>
                </a:path>
              </a:pathLst>
            </a:custGeom>
            <a:solidFill>
              <a:schemeClr val="accent2">
                <a:lumMod val="40000"/>
                <a:lumOff val="60000"/>
              </a:schemeClr>
            </a:solidFill>
            <a:ln>
              <a:noFill/>
            </a:ln>
          </p:spPr>
          <p:txBody>
            <a:bodyPr spcFirstLastPara="1" wrap="square" lIns="121900" tIns="121900" rIns="121900" bIns="121900" anchor="ctr" anchorCtr="0">
              <a:noAutofit/>
            </a:bodyPr>
            <a:lstStyle/>
            <a:p>
              <a:endParaRPr sz="2400"/>
            </a:p>
          </p:txBody>
        </p:sp>
        <p:sp>
          <p:nvSpPr>
            <p:cNvPr id="3967" name="Google Shape;3967;p108">
              <a:extLst>
                <a:ext uri="{FF2B5EF4-FFF2-40B4-BE49-F238E27FC236}">
                  <a16:creationId xmlns:a16="http://schemas.microsoft.com/office/drawing/2014/main" id="{4D596330-29F4-9CD8-CAD6-9012EEC34B0F}"/>
                </a:ext>
              </a:extLst>
            </p:cNvPr>
            <p:cNvSpPr/>
            <p:nvPr/>
          </p:nvSpPr>
          <p:spPr>
            <a:xfrm>
              <a:off x="1082823" y="4214867"/>
              <a:ext cx="990016" cy="989939"/>
            </a:xfrm>
            <a:custGeom>
              <a:avLst/>
              <a:gdLst/>
              <a:ahLst/>
              <a:cxnLst/>
              <a:rect l="l" t="t" r="r" b="b"/>
              <a:pathLst>
                <a:path w="22956" h="22956" fill="none" extrusionOk="0">
                  <a:moveTo>
                    <a:pt x="1" y="0"/>
                  </a:moveTo>
                  <a:lnTo>
                    <a:pt x="22956" y="0"/>
                  </a:lnTo>
                  <a:lnTo>
                    <a:pt x="22956" y="22956"/>
                  </a:lnTo>
                  <a:lnTo>
                    <a:pt x="1" y="22956"/>
                  </a:lnTo>
                  <a:close/>
                </a:path>
              </a:pathLst>
            </a:custGeom>
            <a:noFill/>
            <a:ln w="19050" cap="flat" cmpd="sng">
              <a:solidFill>
                <a:schemeClr val="accent1"/>
              </a:solidFill>
              <a:prstDash val="solid"/>
              <a:miter lim="11906"/>
              <a:headEnd type="none" w="sm" len="sm"/>
              <a:tailEnd type="none" w="sm" len="sm"/>
            </a:ln>
          </p:spPr>
          <p:txBody>
            <a:bodyPr spcFirstLastPara="1" wrap="square" lIns="121900" tIns="121900" rIns="121900" bIns="121900" anchor="ctr" anchorCtr="0">
              <a:noAutofit/>
            </a:bodyPr>
            <a:lstStyle/>
            <a:p>
              <a:endParaRPr sz="2400"/>
            </a:p>
          </p:txBody>
        </p:sp>
        <p:pic>
          <p:nvPicPr>
            <p:cNvPr id="7" name="Picture 6" descr="A black background with a black square&#10;&#10;Description automatically generated with medium confidence">
              <a:extLst>
                <a:ext uri="{FF2B5EF4-FFF2-40B4-BE49-F238E27FC236}">
                  <a16:creationId xmlns:a16="http://schemas.microsoft.com/office/drawing/2014/main" id="{18EB733A-22DE-E1CA-CCB6-764435CE5591}"/>
                </a:ext>
              </a:extLst>
            </p:cNvPr>
            <p:cNvPicPr>
              <a:picLocks noChangeAspect="1"/>
            </p:cNvPicPr>
            <p:nvPr/>
          </p:nvPicPr>
          <p:blipFill>
            <a:blip r:embed="rId4"/>
            <a:stretch>
              <a:fillRect/>
            </a:stretch>
          </p:blipFill>
          <p:spPr>
            <a:xfrm>
              <a:off x="1133105" y="4266195"/>
              <a:ext cx="887283" cy="887283"/>
            </a:xfrm>
            <a:prstGeom prst="rect">
              <a:avLst/>
            </a:prstGeom>
          </p:spPr>
        </p:pic>
      </p:grpSp>
      <p:sp>
        <p:nvSpPr>
          <p:cNvPr id="8" name="Google Shape;3987;p108">
            <a:extLst>
              <a:ext uri="{FF2B5EF4-FFF2-40B4-BE49-F238E27FC236}">
                <a16:creationId xmlns:a16="http://schemas.microsoft.com/office/drawing/2014/main" id="{AA98C53D-EC12-F982-A395-1E31024C9C0C}"/>
              </a:ext>
            </a:extLst>
          </p:cNvPr>
          <p:cNvSpPr txBox="1"/>
          <p:nvPr/>
        </p:nvSpPr>
        <p:spPr>
          <a:xfrm>
            <a:off x="921847" y="1966681"/>
            <a:ext cx="5034453" cy="708800"/>
          </a:xfrm>
          <a:prstGeom prst="rect">
            <a:avLst/>
          </a:prstGeom>
          <a:noFill/>
          <a:ln>
            <a:noFill/>
          </a:ln>
        </p:spPr>
        <p:txBody>
          <a:bodyPr spcFirstLastPara="1" wrap="square" lIns="121900" tIns="121900" rIns="121900" bIns="121900" anchor="ctr" anchorCtr="0">
            <a:noAutofit/>
          </a:bodyPr>
          <a:lstStyle/>
          <a:p>
            <a:r>
              <a:rPr lang="de" sz="2000" b="1" dirty="0">
                <a:ea typeface="Oswald"/>
                <a:cs typeface="Oswald"/>
                <a:sym typeface="Oswald"/>
              </a:rPr>
              <a:t>GLOBAL MONEY LAUNDERING </a:t>
            </a:r>
          </a:p>
          <a:p>
            <a:r>
              <a:rPr lang="de" sz="1067" dirty="0">
                <a:ea typeface="Oswald"/>
                <a:cs typeface="Oswald"/>
                <a:sym typeface="Oswald"/>
              </a:rPr>
              <a:t>(source: UNDOC &amp; Global Financial Crime Report 2023) </a:t>
            </a:r>
            <a:endParaRPr sz="2800" dirty="0">
              <a:ea typeface="Oswald"/>
              <a:cs typeface="Oswald"/>
              <a:sym typeface="Oswald"/>
            </a:endParaRPr>
          </a:p>
        </p:txBody>
      </p:sp>
      <p:sp>
        <p:nvSpPr>
          <p:cNvPr id="9" name="Google Shape;3987;p108">
            <a:extLst>
              <a:ext uri="{FF2B5EF4-FFF2-40B4-BE49-F238E27FC236}">
                <a16:creationId xmlns:a16="http://schemas.microsoft.com/office/drawing/2014/main" id="{54349EF9-8FCE-EB5D-C31B-C3FD3D2689DE}"/>
              </a:ext>
            </a:extLst>
          </p:cNvPr>
          <p:cNvSpPr txBox="1"/>
          <p:nvPr/>
        </p:nvSpPr>
        <p:spPr>
          <a:xfrm>
            <a:off x="7044904" y="2321081"/>
            <a:ext cx="4960313" cy="708800"/>
          </a:xfrm>
          <a:prstGeom prst="rect">
            <a:avLst/>
          </a:prstGeom>
          <a:noFill/>
          <a:ln>
            <a:noFill/>
          </a:ln>
        </p:spPr>
        <p:txBody>
          <a:bodyPr spcFirstLastPara="1" wrap="square" lIns="121900" tIns="121900" rIns="121900" bIns="121900" anchor="ctr" anchorCtr="0">
            <a:noAutofit/>
          </a:bodyPr>
          <a:lstStyle/>
          <a:p>
            <a:r>
              <a:rPr lang="de" sz="1400" b="1" dirty="0">
                <a:sym typeface="Oswald"/>
              </a:rPr>
              <a:t>According to BNM Annual Report 2023,</a:t>
            </a:r>
          </a:p>
          <a:p>
            <a:pPr marL="285750" indent="-285750">
              <a:buFont typeface="Wingdings" panose="05000000000000000000" pitchFamily="2" charset="2"/>
              <a:buChar char="Ø"/>
            </a:pPr>
            <a:r>
              <a:rPr lang="de" sz="1400" b="1" dirty="0">
                <a:solidFill>
                  <a:schemeClr val="accent2"/>
                </a:solidFill>
                <a:ea typeface="Oswald"/>
                <a:cs typeface="Oswald"/>
                <a:sym typeface="Oswald"/>
              </a:rPr>
              <a:t>317,435 </a:t>
            </a:r>
            <a:r>
              <a:rPr lang="de" sz="1400" dirty="0">
                <a:solidFill>
                  <a:schemeClr val="dk1"/>
                </a:solidFill>
                <a:ea typeface="Oswald"/>
                <a:cs typeface="Oswald"/>
                <a:sym typeface="Oswald"/>
              </a:rPr>
              <a:t>Suspicious Transaction Reports (STRs) was recorded</a:t>
            </a:r>
          </a:p>
          <a:p>
            <a:pPr marL="742950" lvl="1" indent="-285750">
              <a:buFont typeface="Wingdings" panose="05000000000000000000" pitchFamily="2" charset="2"/>
              <a:buChar char="Ø"/>
            </a:pPr>
            <a:r>
              <a:rPr lang="en-US" sz="1400" dirty="0">
                <a:solidFill>
                  <a:schemeClr val="dk1"/>
                </a:solidFill>
                <a:sym typeface="Titillium Web"/>
              </a:rPr>
              <a:t>Key Offences: </a:t>
            </a:r>
            <a:r>
              <a:rPr lang="en-US" sz="1400" b="1" dirty="0">
                <a:solidFill>
                  <a:schemeClr val="accent2"/>
                </a:solidFill>
                <a:sym typeface="Titillium Web"/>
              </a:rPr>
              <a:t>Fraud, money laundering, tax evasion</a:t>
            </a:r>
          </a:p>
          <a:p>
            <a:pPr marL="742950" lvl="1" indent="-285750">
              <a:buFont typeface="Wingdings" panose="05000000000000000000" pitchFamily="2" charset="2"/>
              <a:buChar char="Ø"/>
            </a:pPr>
            <a:r>
              <a:rPr lang="en-US" sz="1400" dirty="0">
                <a:solidFill>
                  <a:schemeClr val="dk1"/>
                </a:solidFill>
                <a:sym typeface="Titillium Web"/>
              </a:rPr>
              <a:t>Over </a:t>
            </a:r>
            <a:r>
              <a:rPr lang="en-US" sz="1400" b="1" dirty="0">
                <a:solidFill>
                  <a:schemeClr val="accent2"/>
                </a:solidFill>
                <a:sym typeface="Titillium Web"/>
              </a:rPr>
              <a:t>100 individuals arrested and RM290 millions seized</a:t>
            </a:r>
          </a:p>
          <a:p>
            <a:pPr marL="742950" lvl="1" indent="-285750">
              <a:buFont typeface="Wingdings" panose="05000000000000000000" pitchFamily="2" charset="2"/>
              <a:buChar char="Ø"/>
            </a:pPr>
            <a:r>
              <a:rPr lang="en-US" sz="1400" dirty="0">
                <a:solidFill>
                  <a:schemeClr val="dk1"/>
                </a:solidFill>
                <a:sym typeface="Titillium Web"/>
              </a:rPr>
              <a:t>Detected and deactivated </a:t>
            </a:r>
            <a:r>
              <a:rPr lang="en-US" sz="1400" b="1" dirty="0">
                <a:solidFill>
                  <a:schemeClr val="accent2"/>
                </a:solidFill>
                <a:sym typeface="Titillium Web"/>
              </a:rPr>
              <a:t>59,684 mule accounts</a:t>
            </a:r>
            <a:endParaRPr lang="de" sz="1400" b="1" dirty="0">
              <a:solidFill>
                <a:schemeClr val="accent2"/>
              </a:solidFill>
              <a:ea typeface="Oswald"/>
              <a:cs typeface="Oswald"/>
              <a:sym typeface="Oswald"/>
            </a:endParaRPr>
          </a:p>
          <a:p>
            <a:r>
              <a:rPr lang="de" sz="1600" b="1" dirty="0">
                <a:sym typeface="Oswald"/>
              </a:rPr>
              <a:t> </a:t>
            </a:r>
          </a:p>
        </p:txBody>
      </p:sp>
      <p:sp>
        <p:nvSpPr>
          <p:cNvPr id="17" name="Rectangle 16">
            <a:extLst>
              <a:ext uri="{FF2B5EF4-FFF2-40B4-BE49-F238E27FC236}">
                <a16:creationId xmlns:a16="http://schemas.microsoft.com/office/drawing/2014/main" id="{98BD5688-B36E-67FA-4FE6-86FEAFFA03C9}"/>
              </a:ext>
            </a:extLst>
          </p:cNvPr>
          <p:cNvSpPr/>
          <p:nvPr/>
        </p:nvSpPr>
        <p:spPr>
          <a:xfrm>
            <a:off x="0" y="397935"/>
            <a:ext cx="7065282"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8" name="Title 1">
            <a:extLst>
              <a:ext uri="{FF2B5EF4-FFF2-40B4-BE49-F238E27FC236}">
                <a16:creationId xmlns:a16="http://schemas.microsoft.com/office/drawing/2014/main" id="{8F298440-5B7E-981D-23DE-609EC866318C}"/>
              </a:ext>
            </a:extLst>
          </p:cNvPr>
          <p:cNvSpPr>
            <a:spLocks noGrp="1"/>
          </p:cNvSpPr>
          <p:nvPr>
            <p:ph type="title"/>
          </p:nvPr>
        </p:nvSpPr>
        <p:spPr>
          <a:xfrm>
            <a:off x="938914" y="445560"/>
            <a:ext cx="4764617" cy="463549"/>
          </a:xfrm>
        </p:spPr>
        <p:txBody>
          <a:bodyPr>
            <a:noAutofit/>
          </a:bodyPr>
          <a:lstStyle/>
          <a:p>
            <a:r>
              <a:rPr lang="en-US" sz="2900" dirty="0">
                <a:solidFill>
                  <a:schemeClr val="bg1"/>
                </a:solidFill>
                <a:effectLst>
                  <a:outerShdw blurRad="38100" dist="38100" dir="2700000" algn="tl">
                    <a:srgbClr val="000000">
                      <a:alpha val="43137"/>
                    </a:srgbClr>
                  </a:outerShdw>
                </a:effectLst>
              </a:rPr>
              <a:t>PROBLEM BACKGROUND</a:t>
            </a:r>
          </a:p>
        </p:txBody>
      </p:sp>
      <p:sp>
        <p:nvSpPr>
          <p:cNvPr id="20" name="TextBox 19">
            <a:extLst>
              <a:ext uri="{FF2B5EF4-FFF2-40B4-BE49-F238E27FC236}">
                <a16:creationId xmlns:a16="http://schemas.microsoft.com/office/drawing/2014/main" id="{0A62D27C-9922-6954-7094-EF9C8929B9DD}"/>
              </a:ext>
            </a:extLst>
          </p:cNvPr>
          <p:cNvSpPr txBox="1"/>
          <p:nvPr/>
        </p:nvSpPr>
        <p:spPr>
          <a:xfrm>
            <a:off x="3578773" y="1074502"/>
            <a:ext cx="5034453" cy="646331"/>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lang="en-US" altLang="en-US" b="1" dirty="0">
                <a:cs typeface="Arial" panose="020B0604020202020204" pitchFamily="34" charset="0"/>
              </a:rPr>
              <a:t>Money laundering </a:t>
            </a:r>
            <a:r>
              <a:rPr lang="en-US" altLang="en-US" dirty="0">
                <a:cs typeface="Arial" panose="020B0604020202020204" pitchFamily="34" charset="0"/>
              </a:rPr>
              <a:t>i</a:t>
            </a:r>
            <a:r>
              <a:rPr kumimoji="0" lang="en-US" altLang="en-US" sz="1800" b="0" i="0" u="none" strike="noStrike" cap="none" normalizeH="0" baseline="0" dirty="0">
                <a:ln>
                  <a:noFill/>
                </a:ln>
                <a:solidFill>
                  <a:schemeClr val="tx1"/>
                </a:solidFill>
                <a:effectLst/>
                <a:cs typeface="Arial" panose="020B0604020202020204" pitchFamily="34" charset="0"/>
              </a:rPr>
              <a:t>nvolves </a:t>
            </a:r>
            <a:r>
              <a:rPr kumimoji="0" lang="en-US" altLang="en-US" sz="1800" b="1" i="0" u="none" strike="noStrike" cap="none" normalizeH="0" baseline="0" dirty="0">
                <a:ln>
                  <a:noFill/>
                </a:ln>
                <a:solidFill>
                  <a:schemeClr val="tx1"/>
                </a:solidFill>
                <a:effectLst/>
                <a:cs typeface="Arial" panose="020B0604020202020204" pitchFamily="34" charset="0"/>
              </a:rPr>
              <a:t>three stages</a:t>
            </a:r>
            <a:r>
              <a:rPr kumimoji="0" lang="en-US" altLang="en-US" sz="1800" b="0" i="0" u="none" strike="noStrike" cap="none" normalizeH="0" baseline="0" dirty="0">
                <a:ln>
                  <a:noFill/>
                </a:ln>
                <a:solidFill>
                  <a:schemeClr val="tx1"/>
                </a:solidFill>
                <a:effectLst/>
                <a:cs typeface="Arial" panose="020B0604020202020204" pitchFamily="34" charset="0"/>
              </a:rPr>
              <a:t>:</a:t>
            </a:r>
            <a:br>
              <a:rPr kumimoji="0" lang="en-US" altLang="en-US" sz="1800" b="0" i="0" u="none" strike="noStrike" cap="none" normalizeH="0" baseline="0" dirty="0">
                <a:ln>
                  <a:noFill/>
                </a:ln>
                <a:solidFill>
                  <a:schemeClr val="tx1"/>
                </a:solidFill>
                <a:effectLst/>
                <a:cs typeface="Arial" panose="020B0604020202020204" pitchFamily="34" charset="0"/>
              </a:rPr>
            </a:br>
            <a:r>
              <a:rPr kumimoji="0" lang="en-US" altLang="en-US" sz="1800" b="0" i="0" u="none" strike="noStrike" cap="none" normalizeH="0" baseline="0" dirty="0">
                <a:ln>
                  <a:noFill/>
                </a:ln>
                <a:solidFill>
                  <a:schemeClr val="tx1"/>
                </a:solidFill>
                <a:effectLst/>
                <a:cs typeface="Arial" panose="020B0604020202020204" pitchFamily="34" charset="0"/>
              </a:rPr>
              <a:t>🟢 Placement → 🔄 Layering → 💰 Integration</a:t>
            </a:r>
          </a:p>
        </p:txBody>
      </p:sp>
      <p:sp>
        <p:nvSpPr>
          <p:cNvPr id="26" name="TextBox 25">
            <a:extLst>
              <a:ext uri="{FF2B5EF4-FFF2-40B4-BE49-F238E27FC236}">
                <a16:creationId xmlns:a16="http://schemas.microsoft.com/office/drawing/2014/main" id="{380C12C3-0E6E-2833-86B9-1429A9A5FA05}"/>
              </a:ext>
            </a:extLst>
          </p:cNvPr>
          <p:cNvSpPr txBox="1"/>
          <p:nvPr/>
        </p:nvSpPr>
        <p:spPr>
          <a:xfrm>
            <a:off x="219170" y="4635372"/>
            <a:ext cx="11753660" cy="1446550"/>
          </a:xfrm>
          <a:prstGeom prst="rect">
            <a:avLst/>
          </a:prstGeom>
          <a:noFill/>
        </p:spPr>
        <p:txBody>
          <a:bodyPr wrap="square">
            <a:spAutoFit/>
          </a:bodyPr>
          <a:lstStyle/>
          <a:p>
            <a:r>
              <a:rPr lang="en-US" sz="1400" dirty="0"/>
              <a:t>Most financial institutions still rely on </a:t>
            </a:r>
            <a:r>
              <a:rPr lang="en-US" sz="1400" b="1" dirty="0">
                <a:solidFill>
                  <a:schemeClr val="accent1"/>
                </a:solidFill>
              </a:rPr>
              <a:t>rule-based systems</a:t>
            </a:r>
            <a:r>
              <a:rPr lang="en-US" sz="1400" dirty="0"/>
              <a:t>, which generate </a:t>
            </a:r>
            <a:r>
              <a:rPr lang="en-US" sz="1400" b="1" dirty="0">
                <a:solidFill>
                  <a:schemeClr val="accent1"/>
                </a:solidFill>
              </a:rPr>
              <a:t>many false positives</a:t>
            </a:r>
            <a:r>
              <a:rPr lang="en-US" sz="1400" dirty="0">
                <a:solidFill>
                  <a:schemeClr val="accent1"/>
                </a:solidFill>
              </a:rPr>
              <a:t> </a:t>
            </a:r>
            <a:r>
              <a:rPr lang="en-US" sz="1400" dirty="0"/>
              <a:t>and overwhelm investigators. To improve this, financial institutions are now starting to adopt </a:t>
            </a:r>
            <a:r>
              <a:rPr lang="en-US" sz="1400" b="1" dirty="0">
                <a:solidFill>
                  <a:schemeClr val="accent1"/>
                </a:solidFill>
              </a:rPr>
              <a:t>machine learning. </a:t>
            </a:r>
            <a:r>
              <a:rPr lang="en-US" sz="1400" dirty="0"/>
              <a:t>Studies show that:</a:t>
            </a:r>
          </a:p>
          <a:p>
            <a:pPr marL="285750" indent="-285750">
              <a:buFontTx/>
              <a:buChar char="-"/>
            </a:pPr>
            <a:r>
              <a:rPr lang="en-US" sz="1400" b="1" dirty="0"/>
              <a:t>Supervised learning models like Random Forest</a:t>
            </a:r>
            <a:r>
              <a:rPr lang="en-US" sz="1400" dirty="0"/>
              <a:t> can achieve over </a:t>
            </a:r>
            <a:r>
              <a:rPr lang="en-US" sz="1400" b="1" dirty="0"/>
              <a:t>94% accuracy and F1-score</a:t>
            </a:r>
            <a:r>
              <a:rPr lang="en-US" sz="1400" dirty="0"/>
              <a:t>, significantly outperforming traditional methods.</a:t>
            </a:r>
          </a:p>
          <a:p>
            <a:pPr marL="285750" indent="-285750">
              <a:buFontTx/>
              <a:buChar char="-"/>
            </a:pPr>
            <a:r>
              <a:rPr lang="en-US" sz="1400" dirty="0"/>
              <a:t>For unlabeled data, </a:t>
            </a:r>
            <a:r>
              <a:rPr lang="en-US" sz="1400" b="1" dirty="0"/>
              <a:t>unsupervised models like Isolation Forest</a:t>
            </a:r>
            <a:r>
              <a:rPr lang="en-US" sz="1400" dirty="0"/>
              <a:t> effectively detect transaction anomalies.</a:t>
            </a:r>
          </a:p>
          <a:p>
            <a:pPr marL="285750" indent="-285750">
              <a:buFontTx/>
              <a:buChar char="-"/>
            </a:pPr>
            <a:r>
              <a:rPr lang="en-US" sz="1400" dirty="0"/>
              <a:t>Analyzing </a:t>
            </a:r>
            <a:r>
              <a:rPr lang="en-US" sz="1400" b="1" dirty="0"/>
              <a:t>feature importance</a:t>
            </a:r>
            <a:r>
              <a:rPr lang="en-US" sz="1400" dirty="0"/>
              <a:t> helps make these models more transparent and justifiable in real-world financial settings.</a:t>
            </a:r>
          </a:p>
          <a:p>
            <a:pPr marL="285750" indent="-285750">
              <a:buFontTx/>
              <a:buChar char="-"/>
            </a:pPr>
            <a:endParaRPr lang="en-US" dirty="0"/>
          </a:p>
        </p:txBody>
      </p:sp>
      <p:sp>
        <p:nvSpPr>
          <p:cNvPr id="4" name="TextBox 3">
            <a:extLst>
              <a:ext uri="{FF2B5EF4-FFF2-40B4-BE49-F238E27FC236}">
                <a16:creationId xmlns:a16="http://schemas.microsoft.com/office/drawing/2014/main" id="{AECFF5BD-4486-DF49-7937-92E333E6C88A}"/>
              </a:ext>
            </a:extLst>
          </p:cNvPr>
          <p:cNvSpPr txBox="1"/>
          <p:nvPr/>
        </p:nvSpPr>
        <p:spPr>
          <a:xfrm>
            <a:off x="7158528" y="3512443"/>
            <a:ext cx="4960313" cy="738664"/>
          </a:xfrm>
          <a:prstGeom prst="rect">
            <a:avLst/>
          </a:prstGeom>
          <a:noFill/>
        </p:spPr>
        <p:txBody>
          <a:bodyPr wrap="square">
            <a:spAutoFit/>
          </a:bodyPr>
          <a:lstStyle/>
          <a:p>
            <a:r>
              <a:rPr lang="en-US" sz="1400" b="1" dirty="0"/>
              <a:t>Based on Switzerland’s 2015 National Risk Assessment, </a:t>
            </a:r>
          </a:p>
          <a:p>
            <a:pPr marL="285750" indent="-285750">
              <a:buFont typeface="Wingdings" panose="05000000000000000000" pitchFamily="2" charset="2"/>
              <a:buChar char="Ø"/>
            </a:pPr>
            <a:r>
              <a:rPr lang="en-US" sz="1400" b="1" dirty="0">
                <a:solidFill>
                  <a:schemeClr val="accent2"/>
                </a:solidFill>
              </a:rPr>
              <a:t>only 511 out of 47,000</a:t>
            </a:r>
            <a:r>
              <a:rPr lang="en-US" sz="1400" dirty="0"/>
              <a:t> suspicious transactions triggered SARs in which </a:t>
            </a:r>
            <a:r>
              <a:rPr lang="en-US" sz="1400" b="1" dirty="0">
                <a:solidFill>
                  <a:schemeClr val="accent2"/>
                </a:solidFill>
              </a:rPr>
              <a:t>99% were false positives</a:t>
            </a:r>
            <a:endParaRPr lang="en-MY" sz="1400" dirty="0"/>
          </a:p>
        </p:txBody>
      </p:sp>
      <p:grpSp>
        <p:nvGrpSpPr>
          <p:cNvPr id="19" name="Group 18">
            <a:extLst>
              <a:ext uri="{FF2B5EF4-FFF2-40B4-BE49-F238E27FC236}">
                <a16:creationId xmlns:a16="http://schemas.microsoft.com/office/drawing/2014/main" id="{32C2CD52-51A4-11A0-F852-D8D3F3ECFFD6}"/>
              </a:ext>
            </a:extLst>
          </p:cNvPr>
          <p:cNvGrpSpPr/>
          <p:nvPr/>
        </p:nvGrpSpPr>
        <p:grpSpPr>
          <a:xfrm>
            <a:off x="6319882" y="3531107"/>
            <a:ext cx="720000" cy="720000"/>
            <a:chOff x="9275643" y="772642"/>
            <a:chExt cx="720000" cy="720000"/>
          </a:xfrm>
        </p:grpSpPr>
        <p:sp>
          <p:nvSpPr>
            <p:cNvPr id="14" name="Google Shape;3966;p108">
              <a:extLst>
                <a:ext uri="{FF2B5EF4-FFF2-40B4-BE49-F238E27FC236}">
                  <a16:creationId xmlns:a16="http://schemas.microsoft.com/office/drawing/2014/main" id="{A7CBEC55-B51B-4EB7-1C63-DC458014EE7E}"/>
                </a:ext>
              </a:extLst>
            </p:cNvPr>
            <p:cNvSpPr/>
            <p:nvPr/>
          </p:nvSpPr>
          <p:spPr>
            <a:xfrm>
              <a:off x="9275643" y="833488"/>
              <a:ext cx="659157" cy="659154"/>
            </a:xfrm>
            <a:custGeom>
              <a:avLst/>
              <a:gdLst/>
              <a:ahLst/>
              <a:cxnLst/>
              <a:rect l="l" t="t" r="r" b="b"/>
              <a:pathLst>
                <a:path w="22956" h="22956" extrusionOk="0">
                  <a:moveTo>
                    <a:pt x="0" y="1"/>
                  </a:moveTo>
                  <a:lnTo>
                    <a:pt x="0" y="22956"/>
                  </a:lnTo>
                  <a:lnTo>
                    <a:pt x="22956" y="22956"/>
                  </a:lnTo>
                  <a:lnTo>
                    <a:pt x="0" y="1"/>
                  </a:lnTo>
                  <a:close/>
                </a:path>
              </a:pathLst>
            </a:custGeom>
            <a:solidFill>
              <a:schemeClr val="accent2">
                <a:lumMod val="40000"/>
                <a:lumOff val="60000"/>
              </a:schemeClr>
            </a:solidFill>
            <a:ln>
              <a:noFill/>
            </a:ln>
          </p:spPr>
          <p:txBody>
            <a:bodyPr spcFirstLastPara="1" wrap="square" lIns="121900" tIns="121900" rIns="121900" bIns="121900" anchor="ctr" anchorCtr="0">
              <a:noAutofit/>
            </a:bodyPr>
            <a:lstStyle/>
            <a:p>
              <a:endParaRPr sz="2400"/>
            </a:p>
          </p:txBody>
        </p:sp>
        <p:sp>
          <p:nvSpPr>
            <p:cNvPr id="15" name="Google Shape;3967;p108">
              <a:extLst>
                <a:ext uri="{FF2B5EF4-FFF2-40B4-BE49-F238E27FC236}">
                  <a16:creationId xmlns:a16="http://schemas.microsoft.com/office/drawing/2014/main" id="{5F24B358-F104-E1EB-A401-8BB22159349E}"/>
                </a:ext>
              </a:extLst>
            </p:cNvPr>
            <p:cNvSpPr/>
            <p:nvPr/>
          </p:nvSpPr>
          <p:spPr>
            <a:xfrm>
              <a:off x="9336486" y="772642"/>
              <a:ext cx="659157" cy="659154"/>
            </a:xfrm>
            <a:custGeom>
              <a:avLst/>
              <a:gdLst/>
              <a:ahLst/>
              <a:cxnLst/>
              <a:rect l="l" t="t" r="r" b="b"/>
              <a:pathLst>
                <a:path w="22956" h="22956" fill="none" extrusionOk="0">
                  <a:moveTo>
                    <a:pt x="1" y="0"/>
                  </a:moveTo>
                  <a:lnTo>
                    <a:pt x="22956" y="0"/>
                  </a:lnTo>
                  <a:lnTo>
                    <a:pt x="22956" y="22956"/>
                  </a:lnTo>
                  <a:lnTo>
                    <a:pt x="1" y="22956"/>
                  </a:lnTo>
                  <a:close/>
                </a:path>
              </a:pathLst>
            </a:custGeom>
            <a:noFill/>
            <a:ln w="19050" cap="flat" cmpd="sng">
              <a:solidFill>
                <a:schemeClr val="accent1"/>
              </a:solidFill>
              <a:prstDash val="solid"/>
              <a:miter lim="11906"/>
              <a:headEnd type="none" w="sm" len="sm"/>
              <a:tailEnd type="none" w="sm" len="sm"/>
            </a:ln>
          </p:spPr>
          <p:txBody>
            <a:bodyPr spcFirstLastPara="1" wrap="square" lIns="121900" tIns="121900" rIns="121900" bIns="121900" anchor="ctr" anchorCtr="0">
              <a:noAutofit/>
            </a:bodyPr>
            <a:lstStyle/>
            <a:p>
              <a:endParaRPr sz="2400"/>
            </a:p>
          </p:txBody>
        </p:sp>
        <p:pic>
          <p:nvPicPr>
            <p:cNvPr id="6" name="Picture 5">
              <a:extLst>
                <a:ext uri="{FF2B5EF4-FFF2-40B4-BE49-F238E27FC236}">
                  <a16:creationId xmlns:a16="http://schemas.microsoft.com/office/drawing/2014/main" id="{89863527-7BD3-B9B3-AC3B-6247AD293765}"/>
                </a:ext>
              </a:extLst>
            </p:cNvPr>
            <p:cNvPicPr>
              <a:picLocks noChangeAspect="1"/>
            </p:cNvPicPr>
            <p:nvPr/>
          </p:nvPicPr>
          <p:blipFill>
            <a:blip r:embed="rId5"/>
            <a:stretch>
              <a:fillRect/>
            </a:stretch>
          </p:blipFill>
          <p:spPr>
            <a:xfrm flipH="1">
              <a:off x="9376827" y="819001"/>
              <a:ext cx="576000" cy="576000"/>
            </a:xfrm>
            <a:prstGeom prst="rect">
              <a:avLst/>
            </a:prstGeom>
          </p:spPr>
        </p:pic>
      </p:grpSp>
    </p:spTree>
    <p:extLst>
      <p:ext uri="{BB962C8B-B14F-4D97-AF65-F5344CB8AC3E}">
        <p14:creationId xmlns:p14="http://schemas.microsoft.com/office/powerpoint/2010/main" val="1763778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0A372-E791-0DEF-384D-18819416A962}"/>
            </a:ext>
          </a:extLst>
        </p:cNvPr>
        <p:cNvGrpSpPr/>
        <p:nvPr/>
      </p:nvGrpSpPr>
      <p:grpSpPr>
        <a:xfrm>
          <a:off x="0" y="0"/>
          <a:ext cx="0" cy="0"/>
          <a:chOff x="0" y="0"/>
          <a:chExt cx="0" cy="0"/>
        </a:xfrm>
      </p:grpSpPr>
      <p:sp>
        <p:nvSpPr>
          <p:cNvPr id="46" name="TextBox 45">
            <a:extLst>
              <a:ext uri="{FF2B5EF4-FFF2-40B4-BE49-F238E27FC236}">
                <a16:creationId xmlns:a16="http://schemas.microsoft.com/office/drawing/2014/main" id="{5D79E006-D83E-84C4-A021-A4923F86FC37}"/>
              </a:ext>
            </a:extLst>
          </p:cNvPr>
          <p:cNvSpPr txBox="1"/>
          <p:nvPr/>
        </p:nvSpPr>
        <p:spPr>
          <a:xfrm>
            <a:off x="0" y="956734"/>
            <a:ext cx="12192000" cy="2952000"/>
          </a:xfrm>
          <a:prstGeom prst="rect">
            <a:avLst/>
          </a:prstGeom>
          <a:noFill/>
          <a:ln>
            <a:solidFill>
              <a:schemeClr val="accent1"/>
            </a:solidFill>
          </a:ln>
          <a:effectLst>
            <a:outerShdw blurRad="63500" sx="102000" sy="102000" algn="ctr" rotWithShape="0">
              <a:prstClr val="black">
                <a:alpha val="40000"/>
              </a:prstClr>
            </a:outerShdw>
          </a:effectLst>
        </p:spPr>
        <p:txBody>
          <a:bodyPr wrap="square" rtlCol="0">
            <a:spAutoFit/>
          </a:bodyPr>
          <a:lstStyle/>
          <a:p>
            <a:endParaRPr lang="en-MY" dirty="0"/>
          </a:p>
        </p:txBody>
      </p:sp>
      <p:sp>
        <p:nvSpPr>
          <p:cNvPr id="4" name="Rectangle 3">
            <a:extLst>
              <a:ext uri="{FF2B5EF4-FFF2-40B4-BE49-F238E27FC236}">
                <a16:creationId xmlns:a16="http://schemas.microsoft.com/office/drawing/2014/main" id="{64991D15-1573-F30C-BA44-B3649170B258}"/>
              </a:ext>
            </a:extLst>
          </p:cNvPr>
          <p:cNvSpPr/>
          <p:nvPr/>
        </p:nvSpPr>
        <p:spPr>
          <a:xfrm>
            <a:off x="0" y="397935"/>
            <a:ext cx="7065282"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Title 1">
            <a:extLst>
              <a:ext uri="{FF2B5EF4-FFF2-40B4-BE49-F238E27FC236}">
                <a16:creationId xmlns:a16="http://schemas.microsoft.com/office/drawing/2014/main" id="{95A9F56A-5866-E7AE-C407-EEADA16FB948}"/>
              </a:ext>
            </a:extLst>
          </p:cNvPr>
          <p:cNvSpPr>
            <a:spLocks noGrp="1"/>
          </p:cNvSpPr>
          <p:nvPr>
            <p:ph type="title"/>
          </p:nvPr>
        </p:nvSpPr>
        <p:spPr>
          <a:xfrm>
            <a:off x="938914" y="445560"/>
            <a:ext cx="4764617" cy="463549"/>
          </a:xfrm>
        </p:spPr>
        <p:txBody>
          <a:bodyPr>
            <a:noAutofit/>
          </a:bodyPr>
          <a:lstStyle/>
          <a:p>
            <a:r>
              <a:rPr lang="en-US" sz="2900" dirty="0">
                <a:solidFill>
                  <a:schemeClr val="bg1"/>
                </a:solidFill>
                <a:effectLst>
                  <a:outerShdw blurRad="38100" dist="38100" dir="2700000" algn="tl">
                    <a:srgbClr val="000000">
                      <a:alpha val="43137"/>
                    </a:srgbClr>
                  </a:outerShdw>
                </a:effectLst>
              </a:rPr>
              <a:t>PROBLEM STATEMENT</a:t>
            </a:r>
          </a:p>
        </p:txBody>
      </p:sp>
      <p:grpSp>
        <p:nvGrpSpPr>
          <p:cNvPr id="6" name="Group 5">
            <a:extLst>
              <a:ext uri="{FF2B5EF4-FFF2-40B4-BE49-F238E27FC236}">
                <a16:creationId xmlns:a16="http://schemas.microsoft.com/office/drawing/2014/main" id="{8D2F421B-D89C-DFEF-A02B-BED86A65BB61}"/>
              </a:ext>
            </a:extLst>
          </p:cNvPr>
          <p:cNvGrpSpPr/>
          <p:nvPr/>
        </p:nvGrpSpPr>
        <p:grpSpPr>
          <a:xfrm>
            <a:off x="534141" y="3124960"/>
            <a:ext cx="540000" cy="540000"/>
            <a:chOff x="1635023" y="1827003"/>
            <a:chExt cx="1081397" cy="1081320"/>
          </a:xfrm>
        </p:grpSpPr>
        <p:sp>
          <p:nvSpPr>
            <p:cNvPr id="14" name="Google Shape;1462;p80">
              <a:extLst>
                <a:ext uri="{FF2B5EF4-FFF2-40B4-BE49-F238E27FC236}">
                  <a16:creationId xmlns:a16="http://schemas.microsoft.com/office/drawing/2014/main" id="{AAB37D50-EBF3-A831-C6A9-01F35F5A67C0}"/>
                </a:ext>
              </a:extLst>
            </p:cNvPr>
            <p:cNvSpPr/>
            <p:nvPr/>
          </p:nvSpPr>
          <p:spPr>
            <a:xfrm>
              <a:off x="1635023" y="1918384"/>
              <a:ext cx="990016" cy="989939"/>
            </a:xfrm>
            <a:custGeom>
              <a:avLst/>
              <a:gdLst/>
              <a:ahLst/>
              <a:cxnLst/>
              <a:rect l="l" t="t" r="r" b="b"/>
              <a:pathLst>
                <a:path w="22956" h="22956" extrusionOk="0">
                  <a:moveTo>
                    <a:pt x="0" y="1"/>
                  </a:moveTo>
                  <a:lnTo>
                    <a:pt x="0" y="22956"/>
                  </a:lnTo>
                  <a:lnTo>
                    <a:pt x="22956" y="22956"/>
                  </a:lnTo>
                  <a:lnTo>
                    <a:pt x="0" y="1"/>
                  </a:ln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15" name="Google Shape;1463;p80">
              <a:extLst>
                <a:ext uri="{FF2B5EF4-FFF2-40B4-BE49-F238E27FC236}">
                  <a16:creationId xmlns:a16="http://schemas.microsoft.com/office/drawing/2014/main" id="{5189C765-E984-7330-D400-2B8A5FBF097E}"/>
                </a:ext>
              </a:extLst>
            </p:cNvPr>
            <p:cNvSpPr/>
            <p:nvPr/>
          </p:nvSpPr>
          <p:spPr>
            <a:xfrm>
              <a:off x="1726404" y="1827003"/>
              <a:ext cx="990016" cy="989939"/>
            </a:xfrm>
            <a:custGeom>
              <a:avLst/>
              <a:gdLst/>
              <a:ahLst/>
              <a:cxnLst/>
              <a:rect l="l" t="t" r="r" b="b"/>
              <a:pathLst>
                <a:path w="22956" h="22956" fill="none" extrusionOk="0">
                  <a:moveTo>
                    <a:pt x="1" y="0"/>
                  </a:moveTo>
                  <a:lnTo>
                    <a:pt x="22956" y="0"/>
                  </a:lnTo>
                  <a:lnTo>
                    <a:pt x="22956" y="22956"/>
                  </a:lnTo>
                  <a:lnTo>
                    <a:pt x="1" y="22956"/>
                  </a:lnTo>
                  <a:close/>
                </a:path>
              </a:pathLst>
            </a:custGeom>
            <a:noFill/>
            <a:ln w="19050" cap="flat" cmpd="sng">
              <a:solidFill>
                <a:schemeClr val="accent1"/>
              </a:solidFill>
              <a:prstDash val="solid"/>
              <a:miter lim="11906"/>
              <a:headEnd type="none" w="sm" len="sm"/>
              <a:tailEnd type="none" w="sm" len="sm"/>
            </a:ln>
          </p:spPr>
          <p:txBody>
            <a:bodyPr spcFirstLastPara="1" wrap="square" lIns="121900" tIns="121900" rIns="121900" bIns="121900" anchor="ctr" anchorCtr="0">
              <a:noAutofit/>
            </a:bodyPr>
            <a:lstStyle/>
            <a:p>
              <a:endParaRPr sz="2400"/>
            </a:p>
          </p:txBody>
        </p:sp>
        <p:sp>
          <p:nvSpPr>
            <p:cNvPr id="16" name="Google Shape;14178;p149">
              <a:extLst>
                <a:ext uri="{FF2B5EF4-FFF2-40B4-BE49-F238E27FC236}">
                  <a16:creationId xmlns:a16="http://schemas.microsoft.com/office/drawing/2014/main" id="{DDCBA760-1EF1-7DC2-1062-975700E90AA0}"/>
                </a:ext>
              </a:extLst>
            </p:cNvPr>
            <p:cNvSpPr/>
            <p:nvPr/>
          </p:nvSpPr>
          <p:spPr>
            <a:xfrm>
              <a:off x="1804121" y="1974661"/>
              <a:ext cx="826683" cy="694623"/>
            </a:xfrm>
            <a:custGeom>
              <a:avLst/>
              <a:gdLst/>
              <a:ahLst/>
              <a:cxnLst/>
              <a:rect l="l" t="t" r="r" b="b"/>
              <a:pathLst>
                <a:path w="13038" h="11907" extrusionOk="0">
                  <a:moveTo>
                    <a:pt x="6632" y="369"/>
                  </a:moveTo>
                  <a:cubicBezTo>
                    <a:pt x="6680" y="369"/>
                    <a:pt x="6704" y="405"/>
                    <a:pt x="6704" y="441"/>
                  </a:cubicBezTo>
                  <a:lnTo>
                    <a:pt x="6704" y="881"/>
                  </a:lnTo>
                  <a:cubicBezTo>
                    <a:pt x="6644" y="864"/>
                    <a:pt x="6582" y="855"/>
                    <a:pt x="6519" y="855"/>
                  </a:cubicBezTo>
                  <a:cubicBezTo>
                    <a:pt x="6457" y="855"/>
                    <a:pt x="6394" y="864"/>
                    <a:pt x="6335" y="881"/>
                  </a:cubicBezTo>
                  <a:lnTo>
                    <a:pt x="6335" y="441"/>
                  </a:lnTo>
                  <a:lnTo>
                    <a:pt x="6323" y="441"/>
                  </a:lnTo>
                  <a:cubicBezTo>
                    <a:pt x="6323" y="405"/>
                    <a:pt x="6347" y="369"/>
                    <a:pt x="6394" y="369"/>
                  </a:cubicBezTo>
                  <a:close/>
                  <a:moveTo>
                    <a:pt x="6501" y="1251"/>
                  </a:moveTo>
                  <a:cubicBezTo>
                    <a:pt x="7061" y="1251"/>
                    <a:pt x="7275" y="2013"/>
                    <a:pt x="6763" y="2286"/>
                  </a:cubicBezTo>
                  <a:cubicBezTo>
                    <a:pt x="6692" y="2322"/>
                    <a:pt x="6585" y="2346"/>
                    <a:pt x="6501" y="2346"/>
                  </a:cubicBezTo>
                  <a:cubicBezTo>
                    <a:pt x="6204" y="2346"/>
                    <a:pt x="5954" y="2096"/>
                    <a:pt x="5954" y="1798"/>
                  </a:cubicBezTo>
                  <a:cubicBezTo>
                    <a:pt x="5954" y="1489"/>
                    <a:pt x="6204" y="1251"/>
                    <a:pt x="6501" y="1251"/>
                  </a:cubicBezTo>
                  <a:close/>
                  <a:moveTo>
                    <a:pt x="2382" y="2429"/>
                  </a:moveTo>
                  <a:cubicBezTo>
                    <a:pt x="2560" y="2429"/>
                    <a:pt x="2703" y="2572"/>
                    <a:pt x="2703" y="2751"/>
                  </a:cubicBezTo>
                  <a:cubicBezTo>
                    <a:pt x="2703" y="2929"/>
                    <a:pt x="2560" y="3084"/>
                    <a:pt x="2382" y="3084"/>
                  </a:cubicBezTo>
                  <a:cubicBezTo>
                    <a:pt x="2215" y="3084"/>
                    <a:pt x="2048" y="2941"/>
                    <a:pt x="2048" y="2751"/>
                  </a:cubicBezTo>
                  <a:cubicBezTo>
                    <a:pt x="2048" y="2560"/>
                    <a:pt x="2203" y="2429"/>
                    <a:pt x="2382" y="2429"/>
                  </a:cubicBezTo>
                  <a:close/>
                  <a:moveTo>
                    <a:pt x="10657" y="2429"/>
                  </a:moveTo>
                  <a:cubicBezTo>
                    <a:pt x="10835" y="2429"/>
                    <a:pt x="10978" y="2572"/>
                    <a:pt x="10978" y="2751"/>
                  </a:cubicBezTo>
                  <a:cubicBezTo>
                    <a:pt x="10978" y="2929"/>
                    <a:pt x="10835" y="3084"/>
                    <a:pt x="10657" y="3084"/>
                  </a:cubicBezTo>
                  <a:cubicBezTo>
                    <a:pt x="10478" y="3084"/>
                    <a:pt x="10323" y="2941"/>
                    <a:pt x="10323" y="2751"/>
                  </a:cubicBezTo>
                  <a:cubicBezTo>
                    <a:pt x="10323" y="2560"/>
                    <a:pt x="10478" y="2429"/>
                    <a:pt x="10657" y="2429"/>
                  </a:cubicBezTo>
                  <a:close/>
                  <a:moveTo>
                    <a:pt x="2477" y="3441"/>
                  </a:moveTo>
                  <a:lnTo>
                    <a:pt x="3715" y="6025"/>
                  </a:lnTo>
                  <a:lnTo>
                    <a:pt x="1024" y="6025"/>
                  </a:lnTo>
                  <a:lnTo>
                    <a:pt x="2239" y="3441"/>
                  </a:lnTo>
                  <a:cubicBezTo>
                    <a:pt x="2275" y="3447"/>
                    <a:pt x="2316" y="3450"/>
                    <a:pt x="2358" y="3450"/>
                  </a:cubicBezTo>
                  <a:cubicBezTo>
                    <a:pt x="2400" y="3450"/>
                    <a:pt x="2441" y="3447"/>
                    <a:pt x="2477" y="3441"/>
                  </a:cubicBezTo>
                  <a:close/>
                  <a:moveTo>
                    <a:pt x="10776" y="3441"/>
                  </a:moveTo>
                  <a:lnTo>
                    <a:pt x="11990" y="6025"/>
                  </a:lnTo>
                  <a:lnTo>
                    <a:pt x="9299" y="6025"/>
                  </a:lnTo>
                  <a:lnTo>
                    <a:pt x="10538" y="3441"/>
                  </a:lnTo>
                  <a:cubicBezTo>
                    <a:pt x="10573" y="3447"/>
                    <a:pt x="10612" y="3450"/>
                    <a:pt x="10652" y="3450"/>
                  </a:cubicBezTo>
                  <a:cubicBezTo>
                    <a:pt x="10692" y="3450"/>
                    <a:pt x="10734" y="3447"/>
                    <a:pt x="10776" y="3441"/>
                  </a:cubicBezTo>
                  <a:close/>
                  <a:moveTo>
                    <a:pt x="4251" y="6418"/>
                  </a:moveTo>
                  <a:cubicBezTo>
                    <a:pt x="4322" y="6418"/>
                    <a:pt x="4382" y="6477"/>
                    <a:pt x="4382" y="6549"/>
                  </a:cubicBezTo>
                  <a:lnTo>
                    <a:pt x="4382" y="6668"/>
                  </a:lnTo>
                  <a:cubicBezTo>
                    <a:pt x="4382" y="6739"/>
                    <a:pt x="4322" y="6799"/>
                    <a:pt x="4251" y="6799"/>
                  </a:cubicBezTo>
                  <a:lnTo>
                    <a:pt x="501" y="6799"/>
                  </a:lnTo>
                  <a:cubicBezTo>
                    <a:pt x="429" y="6799"/>
                    <a:pt x="370" y="6739"/>
                    <a:pt x="370" y="6668"/>
                  </a:cubicBezTo>
                  <a:lnTo>
                    <a:pt x="370" y="6549"/>
                  </a:lnTo>
                  <a:cubicBezTo>
                    <a:pt x="370" y="6477"/>
                    <a:pt x="429" y="6418"/>
                    <a:pt x="501" y="6418"/>
                  </a:cubicBezTo>
                  <a:close/>
                  <a:moveTo>
                    <a:pt x="12526" y="6418"/>
                  </a:moveTo>
                  <a:cubicBezTo>
                    <a:pt x="12597" y="6418"/>
                    <a:pt x="12657" y="6477"/>
                    <a:pt x="12657" y="6549"/>
                  </a:cubicBezTo>
                  <a:lnTo>
                    <a:pt x="12657" y="6668"/>
                  </a:lnTo>
                  <a:cubicBezTo>
                    <a:pt x="12657" y="6739"/>
                    <a:pt x="12597" y="6799"/>
                    <a:pt x="12526" y="6799"/>
                  </a:cubicBezTo>
                  <a:lnTo>
                    <a:pt x="8775" y="6799"/>
                  </a:lnTo>
                  <a:cubicBezTo>
                    <a:pt x="8704" y="6799"/>
                    <a:pt x="8644" y="6739"/>
                    <a:pt x="8644" y="6668"/>
                  </a:cubicBezTo>
                  <a:lnTo>
                    <a:pt x="8644" y="6549"/>
                  </a:lnTo>
                  <a:cubicBezTo>
                    <a:pt x="8644" y="6477"/>
                    <a:pt x="8704" y="6418"/>
                    <a:pt x="8775" y="6418"/>
                  </a:cubicBezTo>
                  <a:close/>
                  <a:moveTo>
                    <a:pt x="3715" y="7168"/>
                  </a:moveTo>
                  <a:cubicBezTo>
                    <a:pt x="3525" y="7787"/>
                    <a:pt x="2953" y="8228"/>
                    <a:pt x="2298" y="8228"/>
                  </a:cubicBezTo>
                  <a:cubicBezTo>
                    <a:pt x="1644" y="8228"/>
                    <a:pt x="1084" y="7799"/>
                    <a:pt x="905" y="7168"/>
                  </a:cubicBezTo>
                  <a:close/>
                  <a:moveTo>
                    <a:pt x="12145" y="7168"/>
                  </a:moveTo>
                  <a:cubicBezTo>
                    <a:pt x="11942" y="7787"/>
                    <a:pt x="11383" y="8228"/>
                    <a:pt x="10728" y="8228"/>
                  </a:cubicBezTo>
                  <a:cubicBezTo>
                    <a:pt x="10073" y="8228"/>
                    <a:pt x="9502" y="7799"/>
                    <a:pt x="9323" y="7168"/>
                  </a:cubicBezTo>
                  <a:close/>
                  <a:moveTo>
                    <a:pt x="7942" y="10371"/>
                  </a:moveTo>
                  <a:cubicBezTo>
                    <a:pt x="8013" y="10371"/>
                    <a:pt x="8073" y="10430"/>
                    <a:pt x="8073" y="10502"/>
                  </a:cubicBezTo>
                  <a:lnTo>
                    <a:pt x="8073" y="10764"/>
                  </a:lnTo>
                  <a:lnTo>
                    <a:pt x="4918" y="10764"/>
                  </a:lnTo>
                  <a:lnTo>
                    <a:pt x="4918" y="10502"/>
                  </a:lnTo>
                  <a:cubicBezTo>
                    <a:pt x="4918" y="10430"/>
                    <a:pt x="4977" y="10371"/>
                    <a:pt x="5049" y="10371"/>
                  </a:cubicBezTo>
                  <a:close/>
                  <a:moveTo>
                    <a:pt x="6382" y="0"/>
                  </a:moveTo>
                  <a:cubicBezTo>
                    <a:pt x="6132" y="0"/>
                    <a:pt x="5930" y="203"/>
                    <a:pt x="5930" y="441"/>
                  </a:cubicBezTo>
                  <a:lnTo>
                    <a:pt x="5930" y="1060"/>
                  </a:lnTo>
                  <a:cubicBezTo>
                    <a:pt x="5692" y="1251"/>
                    <a:pt x="5549" y="1536"/>
                    <a:pt x="5561" y="1858"/>
                  </a:cubicBezTo>
                  <a:lnTo>
                    <a:pt x="3703" y="2370"/>
                  </a:lnTo>
                  <a:cubicBezTo>
                    <a:pt x="3477" y="2429"/>
                    <a:pt x="3251" y="2465"/>
                    <a:pt x="3037" y="2501"/>
                  </a:cubicBezTo>
                  <a:cubicBezTo>
                    <a:pt x="2929" y="2227"/>
                    <a:pt x="2679" y="2036"/>
                    <a:pt x="2382" y="2036"/>
                  </a:cubicBezTo>
                  <a:cubicBezTo>
                    <a:pt x="1989" y="2036"/>
                    <a:pt x="1679" y="2346"/>
                    <a:pt x="1679" y="2739"/>
                  </a:cubicBezTo>
                  <a:cubicBezTo>
                    <a:pt x="1679" y="2941"/>
                    <a:pt x="1763" y="3132"/>
                    <a:pt x="1917" y="3275"/>
                  </a:cubicBezTo>
                  <a:lnTo>
                    <a:pt x="608" y="6025"/>
                  </a:lnTo>
                  <a:lnTo>
                    <a:pt x="501" y="6025"/>
                  </a:lnTo>
                  <a:cubicBezTo>
                    <a:pt x="215" y="6025"/>
                    <a:pt x="1" y="6251"/>
                    <a:pt x="1" y="6525"/>
                  </a:cubicBezTo>
                  <a:lnTo>
                    <a:pt x="1" y="6644"/>
                  </a:lnTo>
                  <a:cubicBezTo>
                    <a:pt x="1" y="6930"/>
                    <a:pt x="215" y="7156"/>
                    <a:pt x="501" y="7156"/>
                  </a:cubicBezTo>
                  <a:cubicBezTo>
                    <a:pt x="691" y="7989"/>
                    <a:pt x="1441" y="8585"/>
                    <a:pt x="2298" y="8585"/>
                  </a:cubicBezTo>
                  <a:cubicBezTo>
                    <a:pt x="3168" y="8585"/>
                    <a:pt x="3906" y="7978"/>
                    <a:pt x="4108" y="7156"/>
                  </a:cubicBezTo>
                  <a:lnTo>
                    <a:pt x="4251" y="7156"/>
                  </a:lnTo>
                  <a:cubicBezTo>
                    <a:pt x="4537" y="7156"/>
                    <a:pt x="4763" y="6930"/>
                    <a:pt x="4763" y="6644"/>
                  </a:cubicBezTo>
                  <a:lnTo>
                    <a:pt x="4763" y="6525"/>
                  </a:lnTo>
                  <a:cubicBezTo>
                    <a:pt x="4763" y="6251"/>
                    <a:pt x="4537" y="6025"/>
                    <a:pt x="4251" y="6025"/>
                  </a:cubicBezTo>
                  <a:lnTo>
                    <a:pt x="4144" y="6025"/>
                  </a:lnTo>
                  <a:lnTo>
                    <a:pt x="2834" y="3275"/>
                  </a:lnTo>
                  <a:cubicBezTo>
                    <a:pt x="2953" y="3167"/>
                    <a:pt x="3037" y="3036"/>
                    <a:pt x="3060" y="2870"/>
                  </a:cubicBezTo>
                  <a:cubicBezTo>
                    <a:pt x="3310" y="2846"/>
                    <a:pt x="3549" y="2798"/>
                    <a:pt x="3787" y="2727"/>
                  </a:cubicBezTo>
                  <a:lnTo>
                    <a:pt x="5656" y="2215"/>
                  </a:lnTo>
                  <a:cubicBezTo>
                    <a:pt x="5716" y="2346"/>
                    <a:pt x="5811" y="2453"/>
                    <a:pt x="5918" y="2548"/>
                  </a:cubicBezTo>
                  <a:lnTo>
                    <a:pt x="5918" y="10002"/>
                  </a:lnTo>
                  <a:lnTo>
                    <a:pt x="5037" y="10002"/>
                  </a:lnTo>
                  <a:cubicBezTo>
                    <a:pt x="4763" y="10002"/>
                    <a:pt x="4537" y="10228"/>
                    <a:pt x="4537" y="10502"/>
                  </a:cubicBezTo>
                  <a:lnTo>
                    <a:pt x="4537" y="10776"/>
                  </a:lnTo>
                  <a:cubicBezTo>
                    <a:pt x="4299" y="10823"/>
                    <a:pt x="4120" y="11026"/>
                    <a:pt x="4120" y="11276"/>
                  </a:cubicBezTo>
                  <a:lnTo>
                    <a:pt x="4120" y="11395"/>
                  </a:lnTo>
                  <a:cubicBezTo>
                    <a:pt x="4120" y="11680"/>
                    <a:pt x="4346" y="11907"/>
                    <a:pt x="4620" y="11907"/>
                  </a:cubicBezTo>
                  <a:lnTo>
                    <a:pt x="6049" y="11907"/>
                  </a:lnTo>
                  <a:cubicBezTo>
                    <a:pt x="6156" y="11907"/>
                    <a:pt x="6251" y="11811"/>
                    <a:pt x="6251" y="11704"/>
                  </a:cubicBezTo>
                  <a:cubicBezTo>
                    <a:pt x="6251" y="11609"/>
                    <a:pt x="6156" y="11514"/>
                    <a:pt x="6049" y="11514"/>
                  </a:cubicBezTo>
                  <a:lnTo>
                    <a:pt x="4620" y="11514"/>
                  </a:lnTo>
                  <a:cubicBezTo>
                    <a:pt x="4549" y="11514"/>
                    <a:pt x="4489" y="11454"/>
                    <a:pt x="4489" y="11383"/>
                  </a:cubicBezTo>
                  <a:lnTo>
                    <a:pt x="4489" y="11264"/>
                  </a:lnTo>
                  <a:cubicBezTo>
                    <a:pt x="4489" y="11192"/>
                    <a:pt x="4549" y="11133"/>
                    <a:pt x="4620" y="11133"/>
                  </a:cubicBezTo>
                  <a:lnTo>
                    <a:pt x="8371" y="11133"/>
                  </a:lnTo>
                  <a:cubicBezTo>
                    <a:pt x="8454" y="11133"/>
                    <a:pt x="8513" y="11192"/>
                    <a:pt x="8513" y="11264"/>
                  </a:cubicBezTo>
                  <a:lnTo>
                    <a:pt x="8513" y="11383"/>
                  </a:lnTo>
                  <a:cubicBezTo>
                    <a:pt x="8513" y="11454"/>
                    <a:pt x="8454" y="11514"/>
                    <a:pt x="8371" y="11514"/>
                  </a:cubicBezTo>
                  <a:lnTo>
                    <a:pt x="6930" y="11514"/>
                  </a:lnTo>
                  <a:cubicBezTo>
                    <a:pt x="6823" y="11514"/>
                    <a:pt x="6739" y="11609"/>
                    <a:pt x="6739" y="11704"/>
                  </a:cubicBezTo>
                  <a:cubicBezTo>
                    <a:pt x="6739" y="11811"/>
                    <a:pt x="6823" y="11907"/>
                    <a:pt x="6930" y="11907"/>
                  </a:cubicBezTo>
                  <a:lnTo>
                    <a:pt x="8371" y="11907"/>
                  </a:lnTo>
                  <a:cubicBezTo>
                    <a:pt x="8656" y="11907"/>
                    <a:pt x="8883" y="11680"/>
                    <a:pt x="8883" y="11395"/>
                  </a:cubicBezTo>
                  <a:lnTo>
                    <a:pt x="8883" y="11276"/>
                  </a:lnTo>
                  <a:cubicBezTo>
                    <a:pt x="8883" y="11026"/>
                    <a:pt x="8692" y="10799"/>
                    <a:pt x="8454" y="10776"/>
                  </a:cubicBezTo>
                  <a:lnTo>
                    <a:pt x="8454" y="10502"/>
                  </a:lnTo>
                  <a:cubicBezTo>
                    <a:pt x="8454" y="10228"/>
                    <a:pt x="8228" y="10002"/>
                    <a:pt x="7942" y="10002"/>
                  </a:cubicBezTo>
                  <a:lnTo>
                    <a:pt x="7061" y="10002"/>
                  </a:lnTo>
                  <a:lnTo>
                    <a:pt x="7061" y="7049"/>
                  </a:lnTo>
                  <a:cubicBezTo>
                    <a:pt x="7061" y="6954"/>
                    <a:pt x="6978" y="6858"/>
                    <a:pt x="6870" y="6858"/>
                  </a:cubicBezTo>
                  <a:cubicBezTo>
                    <a:pt x="6763" y="6858"/>
                    <a:pt x="6680" y="6954"/>
                    <a:pt x="6680" y="7049"/>
                  </a:cubicBezTo>
                  <a:lnTo>
                    <a:pt x="6680" y="10002"/>
                  </a:lnTo>
                  <a:lnTo>
                    <a:pt x="6311" y="10002"/>
                  </a:lnTo>
                  <a:lnTo>
                    <a:pt x="6311" y="2727"/>
                  </a:lnTo>
                  <a:cubicBezTo>
                    <a:pt x="6370" y="2739"/>
                    <a:pt x="6430" y="2745"/>
                    <a:pt x="6491" y="2745"/>
                  </a:cubicBezTo>
                  <a:cubicBezTo>
                    <a:pt x="6552" y="2745"/>
                    <a:pt x="6614" y="2739"/>
                    <a:pt x="6680" y="2727"/>
                  </a:cubicBezTo>
                  <a:lnTo>
                    <a:pt x="6680" y="6156"/>
                  </a:lnTo>
                  <a:cubicBezTo>
                    <a:pt x="6680" y="6263"/>
                    <a:pt x="6763" y="6358"/>
                    <a:pt x="6870" y="6358"/>
                  </a:cubicBezTo>
                  <a:cubicBezTo>
                    <a:pt x="6978" y="6358"/>
                    <a:pt x="7061" y="6263"/>
                    <a:pt x="7061" y="6156"/>
                  </a:cubicBezTo>
                  <a:lnTo>
                    <a:pt x="7061" y="2548"/>
                  </a:lnTo>
                  <a:cubicBezTo>
                    <a:pt x="7180" y="2453"/>
                    <a:pt x="7275" y="2346"/>
                    <a:pt x="7335" y="2215"/>
                  </a:cubicBezTo>
                  <a:lnTo>
                    <a:pt x="9228" y="2739"/>
                  </a:lnTo>
                  <a:cubicBezTo>
                    <a:pt x="9466" y="2798"/>
                    <a:pt x="9716" y="2858"/>
                    <a:pt x="9954" y="2882"/>
                  </a:cubicBezTo>
                  <a:cubicBezTo>
                    <a:pt x="9978" y="3048"/>
                    <a:pt x="10073" y="3179"/>
                    <a:pt x="10180" y="3287"/>
                  </a:cubicBezTo>
                  <a:lnTo>
                    <a:pt x="8871" y="6037"/>
                  </a:lnTo>
                  <a:lnTo>
                    <a:pt x="8764" y="6037"/>
                  </a:lnTo>
                  <a:cubicBezTo>
                    <a:pt x="8478" y="6037"/>
                    <a:pt x="8252" y="6263"/>
                    <a:pt x="8252" y="6549"/>
                  </a:cubicBezTo>
                  <a:lnTo>
                    <a:pt x="8252" y="6668"/>
                  </a:lnTo>
                  <a:cubicBezTo>
                    <a:pt x="8252" y="6954"/>
                    <a:pt x="8478" y="7168"/>
                    <a:pt x="8764" y="7168"/>
                  </a:cubicBezTo>
                  <a:lnTo>
                    <a:pt x="8906" y="7168"/>
                  </a:lnTo>
                  <a:cubicBezTo>
                    <a:pt x="9109" y="8001"/>
                    <a:pt x="9847" y="8597"/>
                    <a:pt x="10716" y="8597"/>
                  </a:cubicBezTo>
                  <a:cubicBezTo>
                    <a:pt x="11573" y="8597"/>
                    <a:pt x="12323" y="7989"/>
                    <a:pt x="12514" y="7168"/>
                  </a:cubicBezTo>
                  <a:cubicBezTo>
                    <a:pt x="12800" y="7168"/>
                    <a:pt x="13014" y="6954"/>
                    <a:pt x="13014" y="6668"/>
                  </a:cubicBezTo>
                  <a:lnTo>
                    <a:pt x="13014" y="6549"/>
                  </a:lnTo>
                  <a:cubicBezTo>
                    <a:pt x="13038" y="6263"/>
                    <a:pt x="12812" y="6025"/>
                    <a:pt x="12526" y="6025"/>
                  </a:cubicBezTo>
                  <a:lnTo>
                    <a:pt x="12419" y="6025"/>
                  </a:lnTo>
                  <a:lnTo>
                    <a:pt x="11109" y="3275"/>
                  </a:lnTo>
                  <a:cubicBezTo>
                    <a:pt x="11264" y="3144"/>
                    <a:pt x="11347" y="2965"/>
                    <a:pt x="11347" y="2739"/>
                  </a:cubicBezTo>
                  <a:cubicBezTo>
                    <a:pt x="11347" y="2346"/>
                    <a:pt x="11038" y="2036"/>
                    <a:pt x="10657" y="2036"/>
                  </a:cubicBezTo>
                  <a:cubicBezTo>
                    <a:pt x="10359" y="2036"/>
                    <a:pt x="10097" y="2227"/>
                    <a:pt x="10002" y="2501"/>
                  </a:cubicBezTo>
                  <a:cubicBezTo>
                    <a:pt x="9776" y="2465"/>
                    <a:pt x="9549" y="2429"/>
                    <a:pt x="9323" y="2370"/>
                  </a:cubicBezTo>
                  <a:lnTo>
                    <a:pt x="7442" y="1846"/>
                  </a:lnTo>
                  <a:cubicBezTo>
                    <a:pt x="7454" y="1536"/>
                    <a:pt x="7323" y="1239"/>
                    <a:pt x="7061" y="1060"/>
                  </a:cubicBezTo>
                  <a:lnTo>
                    <a:pt x="7061" y="441"/>
                  </a:lnTo>
                  <a:cubicBezTo>
                    <a:pt x="7061" y="191"/>
                    <a:pt x="6859" y="0"/>
                    <a:pt x="6620" y="0"/>
                  </a:cubicBezTo>
                  <a:close/>
                </a:path>
              </a:pathLst>
            </a:custGeom>
            <a:solidFill>
              <a:schemeClr val="tx1"/>
            </a:solidFill>
            <a:ln>
              <a:noFill/>
            </a:ln>
          </p:spPr>
          <p:txBody>
            <a:bodyPr spcFirstLastPara="1" wrap="square" lIns="121900" tIns="121900" rIns="121900" bIns="121900" anchor="ctr" anchorCtr="0">
              <a:noAutofit/>
            </a:bodyPr>
            <a:lstStyle/>
            <a:p>
              <a:endParaRPr sz="2400"/>
            </a:p>
          </p:txBody>
        </p:sp>
      </p:grpSp>
      <p:grpSp>
        <p:nvGrpSpPr>
          <p:cNvPr id="28" name="Group 27">
            <a:extLst>
              <a:ext uri="{FF2B5EF4-FFF2-40B4-BE49-F238E27FC236}">
                <a16:creationId xmlns:a16="http://schemas.microsoft.com/office/drawing/2014/main" id="{BBB0805D-2876-2E56-0FF6-90CF7F724894}"/>
              </a:ext>
            </a:extLst>
          </p:cNvPr>
          <p:cNvGrpSpPr/>
          <p:nvPr/>
        </p:nvGrpSpPr>
        <p:grpSpPr>
          <a:xfrm>
            <a:off x="534141" y="2205116"/>
            <a:ext cx="540000" cy="540000"/>
            <a:chOff x="8700033" y="1827003"/>
            <a:chExt cx="1081398" cy="1081320"/>
          </a:xfrm>
        </p:grpSpPr>
        <p:sp>
          <p:nvSpPr>
            <p:cNvPr id="29" name="Google Shape;1460;p80">
              <a:extLst>
                <a:ext uri="{FF2B5EF4-FFF2-40B4-BE49-F238E27FC236}">
                  <a16:creationId xmlns:a16="http://schemas.microsoft.com/office/drawing/2014/main" id="{DAF07AC8-3B8C-2FF8-B2EF-D5F84E16770C}"/>
                </a:ext>
              </a:extLst>
            </p:cNvPr>
            <p:cNvSpPr/>
            <p:nvPr/>
          </p:nvSpPr>
          <p:spPr>
            <a:xfrm>
              <a:off x="8700033" y="1918384"/>
              <a:ext cx="990016" cy="989939"/>
            </a:xfrm>
            <a:custGeom>
              <a:avLst/>
              <a:gdLst/>
              <a:ahLst/>
              <a:cxnLst/>
              <a:rect l="l" t="t" r="r" b="b"/>
              <a:pathLst>
                <a:path w="22956" h="22956" extrusionOk="0">
                  <a:moveTo>
                    <a:pt x="0" y="1"/>
                  </a:moveTo>
                  <a:lnTo>
                    <a:pt x="0" y="22956"/>
                  </a:lnTo>
                  <a:lnTo>
                    <a:pt x="22956" y="22956"/>
                  </a:lnTo>
                  <a:lnTo>
                    <a:pt x="0" y="1"/>
                  </a:ln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30" name="Google Shape;1461;p80">
              <a:extLst>
                <a:ext uri="{FF2B5EF4-FFF2-40B4-BE49-F238E27FC236}">
                  <a16:creationId xmlns:a16="http://schemas.microsoft.com/office/drawing/2014/main" id="{398390C1-0E28-1834-67DD-57B7BF5BF572}"/>
                </a:ext>
              </a:extLst>
            </p:cNvPr>
            <p:cNvSpPr/>
            <p:nvPr/>
          </p:nvSpPr>
          <p:spPr>
            <a:xfrm>
              <a:off x="8791415" y="1827003"/>
              <a:ext cx="990016" cy="989939"/>
            </a:xfrm>
            <a:custGeom>
              <a:avLst/>
              <a:gdLst/>
              <a:ahLst/>
              <a:cxnLst/>
              <a:rect l="l" t="t" r="r" b="b"/>
              <a:pathLst>
                <a:path w="22956" h="22956" fill="none" extrusionOk="0">
                  <a:moveTo>
                    <a:pt x="1" y="0"/>
                  </a:moveTo>
                  <a:lnTo>
                    <a:pt x="22956" y="0"/>
                  </a:lnTo>
                  <a:lnTo>
                    <a:pt x="22956" y="22956"/>
                  </a:lnTo>
                  <a:lnTo>
                    <a:pt x="1" y="22956"/>
                  </a:lnTo>
                  <a:close/>
                </a:path>
              </a:pathLst>
            </a:custGeom>
            <a:noFill/>
            <a:ln w="19050" cap="flat" cmpd="sng">
              <a:solidFill>
                <a:schemeClr val="accent1"/>
              </a:solidFill>
              <a:prstDash val="solid"/>
              <a:miter lim="11906"/>
              <a:headEnd type="none" w="sm" len="sm"/>
              <a:tailEnd type="none" w="sm" len="sm"/>
            </a:ln>
          </p:spPr>
          <p:txBody>
            <a:bodyPr spcFirstLastPara="1" wrap="square" lIns="121900" tIns="121900" rIns="121900" bIns="121900" anchor="ctr" anchorCtr="0">
              <a:noAutofit/>
            </a:bodyPr>
            <a:lstStyle/>
            <a:p>
              <a:endParaRPr sz="2400"/>
            </a:p>
          </p:txBody>
        </p:sp>
        <p:grpSp>
          <p:nvGrpSpPr>
            <p:cNvPr id="31" name="Google Shape;14231;p149">
              <a:extLst>
                <a:ext uri="{FF2B5EF4-FFF2-40B4-BE49-F238E27FC236}">
                  <a16:creationId xmlns:a16="http://schemas.microsoft.com/office/drawing/2014/main" id="{47806855-8E85-7B0E-5460-BD57471CAC12}"/>
                </a:ext>
              </a:extLst>
            </p:cNvPr>
            <p:cNvGrpSpPr/>
            <p:nvPr/>
          </p:nvGrpSpPr>
          <p:grpSpPr>
            <a:xfrm>
              <a:off x="8974423" y="1982396"/>
              <a:ext cx="624000" cy="624000"/>
              <a:chOff x="1749728" y="2894777"/>
              <a:chExt cx="386927" cy="363438"/>
            </a:xfrm>
            <a:solidFill>
              <a:schemeClr val="tx1"/>
            </a:solidFill>
          </p:grpSpPr>
          <p:sp>
            <p:nvSpPr>
              <p:cNvPr id="32" name="Google Shape;14232;p149">
                <a:extLst>
                  <a:ext uri="{FF2B5EF4-FFF2-40B4-BE49-F238E27FC236}">
                    <a16:creationId xmlns:a16="http://schemas.microsoft.com/office/drawing/2014/main" id="{E64282AA-254D-3001-2192-AC01536AB5CB}"/>
                  </a:ext>
                </a:extLst>
              </p:cNvPr>
              <p:cNvSpPr/>
              <p:nvPr/>
            </p:nvSpPr>
            <p:spPr>
              <a:xfrm>
                <a:off x="1809595" y="3025333"/>
                <a:ext cx="97424" cy="32432"/>
              </a:xfrm>
              <a:custGeom>
                <a:avLst/>
                <a:gdLst/>
                <a:ahLst/>
                <a:cxnLst/>
                <a:rect l="l" t="t" r="r" b="b"/>
                <a:pathLst>
                  <a:path w="3061" h="1019" extrusionOk="0">
                    <a:moveTo>
                      <a:pt x="1208" y="0"/>
                    </a:moveTo>
                    <a:cubicBezTo>
                      <a:pt x="852" y="0"/>
                      <a:pt x="531" y="35"/>
                      <a:pt x="322" y="66"/>
                    </a:cubicBezTo>
                    <a:cubicBezTo>
                      <a:pt x="143" y="101"/>
                      <a:pt x="1" y="244"/>
                      <a:pt x="1" y="423"/>
                    </a:cubicBezTo>
                    <a:lnTo>
                      <a:pt x="1" y="840"/>
                    </a:lnTo>
                    <a:cubicBezTo>
                      <a:pt x="1" y="947"/>
                      <a:pt x="84" y="1018"/>
                      <a:pt x="179" y="1018"/>
                    </a:cubicBezTo>
                    <a:cubicBezTo>
                      <a:pt x="286" y="1018"/>
                      <a:pt x="358" y="947"/>
                      <a:pt x="358" y="840"/>
                    </a:cubicBezTo>
                    <a:lnTo>
                      <a:pt x="358" y="423"/>
                    </a:lnTo>
                    <a:cubicBezTo>
                      <a:pt x="358" y="423"/>
                      <a:pt x="358" y="411"/>
                      <a:pt x="382" y="411"/>
                    </a:cubicBezTo>
                    <a:cubicBezTo>
                      <a:pt x="549" y="383"/>
                      <a:pt x="870" y="340"/>
                      <a:pt x="1231" y="340"/>
                    </a:cubicBezTo>
                    <a:cubicBezTo>
                      <a:pt x="1330" y="340"/>
                      <a:pt x="1433" y="344"/>
                      <a:pt x="1536" y="351"/>
                    </a:cubicBezTo>
                    <a:cubicBezTo>
                      <a:pt x="2084" y="387"/>
                      <a:pt x="2489" y="530"/>
                      <a:pt x="2727" y="768"/>
                    </a:cubicBezTo>
                    <a:cubicBezTo>
                      <a:pt x="2763" y="804"/>
                      <a:pt x="2807" y="822"/>
                      <a:pt x="2852" y="822"/>
                    </a:cubicBezTo>
                    <a:cubicBezTo>
                      <a:pt x="2897" y="822"/>
                      <a:pt x="2941" y="804"/>
                      <a:pt x="2977" y="768"/>
                    </a:cubicBezTo>
                    <a:cubicBezTo>
                      <a:pt x="3060" y="709"/>
                      <a:pt x="3060" y="590"/>
                      <a:pt x="2977" y="530"/>
                    </a:cubicBezTo>
                    <a:cubicBezTo>
                      <a:pt x="2554" y="107"/>
                      <a:pt x="1828" y="0"/>
                      <a:pt x="1208" y="0"/>
                    </a:cubicBezTo>
                    <a:close/>
                  </a:path>
                </a:pathLst>
              </a:custGeom>
              <a:grpFill/>
              <a:ln>
                <a:noFill/>
              </a:ln>
            </p:spPr>
            <p:txBody>
              <a:bodyPr spcFirstLastPara="1" wrap="square" lIns="121900" tIns="121900" rIns="121900" bIns="121900" anchor="ctr" anchorCtr="0">
                <a:noAutofit/>
              </a:bodyPr>
              <a:lstStyle/>
              <a:p>
                <a:endParaRPr sz="2400"/>
              </a:p>
            </p:txBody>
          </p:sp>
          <p:sp>
            <p:nvSpPr>
              <p:cNvPr id="33" name="Google Shape;14233;p149">
                <a:extLst>
                  <a:ext uri="{FF2B5EF4-FFF2-40B4-BE49-F238E27FC236}">
                    <a16:creationId xmlns:a16="http://schemas.microsoft.com/office/drawing/2014/main" id="{60F409AA-DF65-9A77-EF13-F8CE018AE33E}"/>
                  </a:ext>
                </a:extLst>
              </p:cNvPr>
              <p:cNvSpPr/>
              <p:nvPr/>
            </p:nvSpPr>
            <p:spPr>
              <a:xfrm>
                <a:off x="1749728" y="2974346"/>
                <a:ext cx="216777" cy="283869"/>
              </a:xfrm>
              <a:custGeom>
                <a:avLst/>
                <a:gdLst/>
                <a:ahLst/>
                <a:cxnLst/>
                <a:rect l="l" t="t" r="r" b="b"/>
                <a:pathLst>
                  <a:path w="6811" h="8919" extrusionOk="0">
                    <a:moveTo>
                      <a:pt x="5311" y="334"/>
                    </a:moveTo>
                    <a:lnTo>
                      <a:pt x="5311" y="2061"/>
                    </a:lnTo>
                    <a:cubicBezTo>
                      <a:pt x="5311" y="2311"/>
                      <a:pt x="5251" y="2561"/>
                      <a:pt x="5132" y="2799"/>
                    </a:cubicBezTo>
                    <a:cubicBezTo>
                      <a:pt x="5120" y="2835"/>
                      <a:pt x="5120" y="2846"/>
                      <a:pt x="5120" y="2882"/>
                    </a:cubicBezTo>
                    <a:lnTo>
                      <a:pt x="5120" y="3382"/>
                    </a:lnTo>
                    <a:cubicBezTo>
                      <a:pt x="5120" y="3858"/>
                      <a:pt x="4918" y="4311"/>
                      <a:pt x="4560" y="4644"/>
                    </a:cubicBezTo>
                    <a:cubicBezTo>
                      <a:pt x="4227" y="4955"/>
                      <a:pt x="3811" y="5111"/>
                      <a:pt x="3369" y="5111"/>
                    </a:cubicBezTo>
                    <a:cubicBezTo>
                      <a:pt x="3338" y="5111"/>
                      <a:pt x="3306" y="5110"/>
                      <a:pt x="3275" y="5109"/>
                    </a:cubicBezTo>
                    <a:cubicBezTo>
                      <a:pt x="2382" y="5061"/>
                      <a:pt x="1679" y="4275"/>
                      <a:pt x="1679" y="3323"/>
                    </a:cubicBezTo>
                    <a:lnTo>
                      <a:pt x="1679" y="2882"/>
                    </a:lnTo>
                    <a:cubicBezTo>
                      <a:pt x="1679" y="2846"/>
                      <a:pt x="1679" y="2823"/>
                      <a:pt x="1667" y="2799"/>
                    </a:cubicBezTo>
                    <a:cubicBezTo>
                      <a:pt x="1548" y="2561"/>
                      <a:pt x="1489" y="2311"/>
                      <a:pt x="1489" y="2061"/>
                    </a:cubicBezTo>
                    <a:lnTo>
                      <a:pt x="1489" y="1668"/>
                    </a:lnTo>
                    <a:cubicBezTo>
                      <a:pt x="1489" y="930"/>
                      <a:pt x="2096" y="334"/>
                      <a:pt x="2822" y="334"/>
                    </a:cubicBezTo>
                    <a:close/>
                    <a:moveTo>
                      <a:pt x="4358" y="5240"/>
                    </a:moveTo>
                    <a:lnTo>
                      <a:pt x="4358" y="5573"/>
                    </a:lnTo>
                    <a:lnTo>
                      <a:pt x="3406" y="6228"/>
                    </a:lnTo>
                    <a:lnTo>
                      <a:pt x="2441" y="5573"/>
                    </a:lnTo>
                    <a:lnTo>
                      <a:pt x="2441" y="5240"/>
                    </a:lnTo>
                    <a:cubicBezTo>
                      <a:pt x="2691" y="5371"/>
                      <a:pt x="2977" y="5466"/>
                      <a:pt x="3251" y="5478"/>
                    </a:cubicBezTo>
                    <a:lnTo>
                      <a:pt x="3394" y="5478"/>
                    </a:lnTo>
                    <a:cubicBezTo>
                      <a:pt x="3727" y="5478"/>
                      <a:pt x="4060" y="5406"/>
                      <a:pt x="4358" y="5240"/>
                    </a:cubicBezTo>
                    <a:close/>
                    <a:moveTo>
                      <a:pt x="2286" y="5883"/>
                    </a:moveTo>
                    <a:lnTo>
                      <a:pt x="3120" y="6466"/>
                    </a:lnTo>
                    <a:lnTo>
                      <a:pt x="2679" y="6906"/>
                    </a:lnTo>
                    <a:lnTo>
                      <a:pt x="2655" y="6906"/>
                    </a:lnTo>
                    <a:lnTo>
                      <a:pt x="2108" y="6073"/>
                    </a:lnTo>
                    <a:lnTo>
                      <a:pt x="2286" y="5883"/>
                    </a:lnTo>
                    <a:close/>
                    <a:moveTo>
                      <a:pt x="4525" y="5883"/>
                    </a:moveTo>
                    <a:lnTo>
                      <a:pt x="4703" y="6073"/>
                    </a:lnTo>
                    <a:lnTo>
                      <a:pt x="4144" y="6906"/>
                    </a:lnTo>
                    <a:lnTo>
                      <a:pt x="4132" y="6906"/>
                    </a:lnTo>
                    <a:lnTo>
                      <a:pt x="3691" y="6466"/>
                    </a:lnTo>
                    <a:lnTo>
                      <a:pt x="4525" y="5883"/>
                    </a:lnTo>
                    <a:close/>
                    <a:moveTo>
                      <a:pt x="2834" y="1"/>
                    </a:moveTo>
                    <a:cubicBezTo>
                      <a:pt x="1905" y="1"/>
                      <a:pt x="1143" y="763"/>
                      <a:pt x="1143" y="1703"/>
                    </a:cubicBezTo>
                    <a:lnTo>
                      <a:pt x="1143" y="2084"/>
                    </a:lnTo>
                    <a:cubicBezTo>
                      <a:pt x="1143" y="2382"/>
                      <a:pt x="1203" y="2680"/>
                      <a:pt x="1334" y="2954"/>
                    </a:cubicBezTo>
                    <a:lnTo>
                      <a:pt x="1334" y="3358"/>
                    </a:lnTo>
                    <a:cubicBezTo>
                      <a:pt x="1334" y="4025"/>
                      <a:pt x="1631" y="4620"/>
                      <a:pt x="2096" y="5025"/>
                    </a:cubicBezTo>
                    <a:lnTo>
                      <a:pt x="2096" y="5621"/>
                    </a:lnTo>
                    <a:lnTo>
                      <a:pt x="1762" y="5954"/>
                    </a:lnTo>
                    <a:cubicBezTo>
                      <a:pt x="1739" y="6002"/>
                      <a:pt x="1703" y="6049"/>
                      <a:pt x="1727" y="6097"/>
                    </a:cubicBezTo>
                    <a:lnTo>
                      <a:pt x="619" y="6490"/>
                    </a:lnTo>
                    <a:cubicBezTo>
                      <a:pt x="250" y="6633"/>
                      <a:pt x="0" y="6990"/>
                      <a:pt x="0" y="7371"/>
                    </a:cubicBezTo>
                    <a:lnTo>
                      <a:pt x="0" y="8740"/>
                    </a:lnTo>
                    <a:cubicBezTo>
                      <a:pt x="0" y="8847"/>
                      <a:pt x="72" y="8919"/>
                      <a:pt x="179" y="8919"/>
                    </a:cubicBezTo>
                    <a:cubicBezTo>
                      <a:pt x="274" y="8919"/>
                      <a:pt x="358" y="8847"/>
                      <a:pt x="358" y="8740"/>
                    </a:cubicBezTo>
                    <a:lnTo>
                      <a:pt x="358" y="7371"/>
                    </a:lnTo>
                    <a:cubicBezTo>
                      <a:pt x="358" y="7133"/>
                      <a:pt x="500" y="6906"/>
                      <a:pt x="739" y="6823"/>
                    </a:cubicBezTo>
                    <a:lnTo>
                      <a:pt x="1905" y="6406"/>
                    </a:lnTo>
                    <a:lnTo>
                      <a:pt x="2382" y="7121"/>
                    </a:lnTo>
                    <a:cubicBezTo>
                      <a:pt x="2441" y="7204"/>
                      <a:pt x="2536" y="7264"/>
                      <a:pt x="2644" y="7287"/>
                    </a:cubicBezTo>
                    <a:lnTo>
                      <a:pt x="2679" y="7287"/>
                    </a:lnTo>
                    <a:cubicBezTo>
                      <a:pt x="2774" y="7287"/>
                      <a:pt x="2870" y="7240"/>
                      <a:pt x="2929" y="7180"/>
                    </a:cubicBezTo>
                    <a:lnTo>
                      <a:pt x="3227" y="6883"/>
                    </a:lnTo>
                    <a:lnTo>
                      <a:pt x="3227" y="8740"/>
                    </a:lnTo>
                    <a:cubicBezTo>
                      <a:pt x="3227" y="8847"/>
                      <a:pt x="3298" y="8919"/>
                      <a:pt x="3406" y="8919"/>
                    </a:cubicBezTo>
                    <a:cubicBezTo>
                      <a:pt x="3513" y="8919"/>
                      <a:pt x="3584" y="8847"/>
                      <a:pt x="3584" y="8740"/>
                    </a:cubicBezTo>
                    <a:lnTo>
                      <a:pt x="3584" y="6883"/>
                    </a:lnTo>
                    <a:lnTo>
                      <a:pt x="3882" y="7180"/>
                    </a:lnTo>
                    <a:cubicBezTo>
                      <a:pt x="3953" y="7252"/>
                      <a:pt x="4048" y="7287"/>
                      <a:pt x="4132" y="7287"/>
                    </a:cubicBezTo>
                    <a:lnTo>
                      <a:pt x="4168" y="7287"/>
                    </a:lnTo>
                    <a:cubicBezTo>
                      <a:pt x="4263" y="7264"/>
                      <a:pt x="4370" y="7204"/>
                      <a:pt x="4429" y="7121"/>
                    </a:cubicBezTo>
                    <a:lnTo>
                      <a:pt x="4906" y="6406"/>
                    </a:lnTo>
                    <a:lnTo>
                      <a:pt x="6073" y="6823"/>
                    </a:lnTo>
                    <a:cubicBezTo>
                      <a:pt x="6287" y="6906"/>
                      <a:pt x="6454" y="7121"/>
                      <a:pt x="6454" y="7371"/>
                    </a:cubicBezTo>
                    <a:lnTo>
                      <a:pt x="6454" y="8740"/>
                    </a:lnTo>
                    <a:cubicBezTo>
                      <a:pt x="6454" y="8847"/>
                      <a:pt x="6525" y="8919"/>
                      <a:pt x="6632" y="8919"/>
                    </a:cubicBezTo>
                    <a:cubicBezTo>
                      <a:pt x="6739" y="8919"/>
                      <a:pt x="6811" y="8847"/>
                      <a:pt x="6811" y="8740"/>
                    </a:cubicBezTo>
                    <a:lnTo>
                      <a:pt x="6811" y="7371"/>
                    </a:lnTo>
                    <a:cubicBezTo>
                      <a:pt x="6811" y="6954"/>
                      <a:pt x="6573" y="6609"/>
                      <a:pt x="6203" y="6478"/>
                    </a:cubicBezTo>
                    <a:lnTo>
                      <a:pt x="5096" y="6073"/>
                    </a:lnTo>
                    <a:cubicBezTo>
                      <a:pt x="5096" y="6037"/>
                      <a:pt x="5084" y="5966"/>
                      <a:pt x="5060" y="5942"/>
                    </a:cubicBezTo>
                    <a:lnTo>
                      <a:pt x="4727" y="5597"/>
                    </a:lnTo>
                    <a:lnTo>
                      <a:pt x="4727" y="5025"/>
                    </a:lnTo>
                    <a:cubicBezTo>
                      <a:pt x="4763" y="4990"/>
                      <a:pt x="4799" y="4966"/>
                      <a:pt x="4834" y="4930"/>
                    </a:cubicBezTo>
                    <a:cubicBezTo>
                      <a:pt x="5251" y="4549"/>
                      <a:pt x="5489" y="3978"/>
                      <a:pt x="5489" y="3418"/>
                    </a:cubicBezTo>
                    <a:lnTo>
                      <a:pt x="5489" y="2954"/>
                    </a:lnTo>
                    <a:cubicBezTo>
                      <a:pt x="5608" y="2680"/>
                      <a:pt x="5680" y="2382"/>
                      <a:pt x="5680" y="2084"/>
                    </a:cubicBezTo>
                    <a:lnTo>
                      <a:pt x="5680" y="179"/>
                    </a:lnTo>
                    <a:cubicBezTo>
                      <a:pt x="5680" y="84"/>
                      <a:pt x="5608" y="1"/>
                      <a:pt x="5501" y="1"/>
                    </a:cubicBezTo>
                    <a:close/>
                  </a:path>
                </a:pathLst>
              </a:custGeom>
              <a:grpFill/>
              <a:ln>
                <a:noFill/>
              </a:ln>
            </p:spPr>
            <p:txBody>
              <a:bodyPr spcFirstLastPara="1" wrap="square" lIns="121900" tIns="121900" rIns="121900" bIns="121900" anchor="ctr" anchorCtr="0">
                <a:noAutofit/>
              </a:bodyPr>
              <a:lstStyle/>
              <a:p>
                <a:endParaRPr sz="2400"/>
              </a:p>
            </p:txBody>
          </p:sp>
          <p:sp>
            <p:nvSpPr>
              <p:cNvPr id="34" name="Google Shape;14234;p149">
                <a:extLst>
                  <a:ext uri="{FF2B5EF4-FFF2-40B4-BE49-F238E27FC236}">
                    <a16:creationId xmlns:a16="http://schemas.microsoft.com/office/drawing/2014/main" id="{9FB5263C-55C6-687C-CBB8-6EB65953B4C9}"/>
                  </a:ext>
                </a:extLst>
              </p:cNvPr>
              <p:cNvSpPr/>
              <p:nvPr/>
            </p:nvSpPr>
            <p:spPr>
              <a:xfrm>
                <a:off x="1785725" y="3222186"/>
                <a:ext cx="11394" cy="35647"/>
              </a:xfrm>
              <a:custGeom>
                <a:avLst/>
                <a:gdLst/>
                <a:ahLst/>
                <a:cxnLst/>
                <a:rect l="l" t="t" r="r" b="b"/>
                <a:pathLst>
                  <a:path w="358" h="1120" extrusionOk="0">
                    <a:moveTo>
                      <a:pt x="179" y="0"/>
                    </a:moveTo>
                    <a:cubicBezTo>
                      <a:pt x="72" y="0"/>
                      <a:pt x="0" y="72"/>
                      <a:pt x="0" y="179"/>
                    </a:cubicBezTo>
                    <a:lnTo>
                      <a:pt x="0" y="941"/>
                    </a:lnTo>
                    <a:cubicBezTo>
                      <a:pt x="0" y="1048"/>
                      <a:pt x="72" y="1120"/>
                      <a:pt x="179" y="1120"/>
                    </a:cubicBezTo>
                    <a:cubicBezTo>
                      <a:pt x="274" y="1120"/>
                      <a:pt x="358" y="1048"/>
                      <a:pt x="358" y="941"/>
                    </a:cubicBezTo>
                    <a:lnTo>
                      <a:pt x="358" y="179"/>
                    </a:lnTo>
                    <a:cubicBezTo>
                      <a:pt x="358" y="72"/>
                      <a:pt x="274" y="0"/>
                      <a:pt x="179" y="0"/>
                    </a:cubicBezTo>
                    <a:close/>
                  </a:path>
                </a:pathLst>
              </a:custGeom>
              <a:grpFill/>
              <a:ln>
                <a:noFill/>
              </a:ln>
            </p:spPr>
            <p:txBody>
              <a:bodyPr spcFirstLastPara="1" wrap="square" lIns="121900" tIns="121900" rIns="121900" bIns="121900" anchor="ctr" anchorCtr="0">
                <a:noAutofit/>
              </a:bodyPr>
              <a:lstStyle/>
              <a:p>
                <a:endParaRPr sz="2400"/>
              </a:p>
            </p:txBody>
          </p:sp>
          <p:sp>
            <p:nvSpPr>
              <p:cNvPr id="35" name="Google Shape;14235;p149">
                <a:extLst>
                  <a:ext uri="{FF2B5EF4-FFF2-40B4-BE49-F238E27FC236}">
                    <a16:creationId xmlns:a16="http://schemas.microsoft.com/office/drawing/2014/main" id="{EA3E4B98-8B0C-C036-69F5-322C44446458}"/>
                  </a:ext>
                </a:extLst>
              </p:cNvPr>
              <p:cNvSpPr/>
              <p:nvPr/>
            </p:nvSpPr>
            <p:spPr>
              <a:xfrm>
                <a:off x="1919114" y="3222186"/>
                <a:ext cx="11394" cy="35647"/>
              </a:xfrm>
              <a:custGeom>
                <a:avLst/>
                <a:gdLst/>
                <a:ahLst/>
                <a:cxnLst/>
                <a:rect l="l" t="t" r="r" b="b"/>
                <a:pathLst>
                  <a:path w="358" h="1120" extrusionOk="0">
                    <a:moveTo>
                      <a:pt x="179" y="0"/>
                    </a:moveTo>
                    <a:cubicBezTo>
                      <a:pt x="72" y="0"/>
                      <a:pt x="0" y="72"/>
                      <a:pt x="0" y="179"/>
                    </a:cubicBezTo>
                    <a:lnTo>
                      <a:pt x="0" y="941"/>
                    </a:lnTo>
                    <a:cubicBezTo>
                      <a:pt x="0" y="1048"/>
                      <a:pt x="72" y="1120"/>
                      <a:pt x="179" y="1120"/>
                    </a:cubicBezTo>
                    <a:cubicBezTo>
                      <a:pt x="286" y="1120"/>
                      <a:pt x="358" y="1048"/>
                      <a:pt x="358" y="941"/>
                    </a:cubicBezTo>
                    <a:lnTo>
                      <a:pt x="358" y="179"/>
                    </a:lnTo>
                    <a:cubicBezTo>
                      <a:pt x="358" y="72"/>
                      <a:pt x="274" y="0"/>
                      <a:pt x="179" y="0"/>
                    </a:cubicBezTo>
                    <a:close/>
                  </a:path>
                </a:pathLst>
              </a:custGeom>
              <a:grpFill/>
              <a:ln>
                <a:noFill/>
              </a:ln>
            </p:spPr>
            <p:txBody>
              <a:bodyPr spcFirstLastPara="1" wrap="square" lIns="121900" tIns="121900" rIns="121900" bIns="121900" anchor="ctr" anchorCtr="0">
                <a:noAutofit/>
              </a:bodyPr>
              <a:lstStyle/>
              <a:p>
                <a:endParaRPr sz="2400"/>
              </a:p>
            </p:txBody>
          </p:sp>
          <p:sp>
            <p:nvSpPr>
              <p:cNvPr id="36" name="Google Shape;14236;p149">
                <a:extLst>
                  <a:ext uri="{FF2B5EF4-FFF2-40B4-BE49-F238E27FC236}">
                    <a16:creationId xmlns:a16="http://schemas.microsoft.com/office/drawing/2014/main" id="{3C1DB289-FDCB-16B4-F97C-31322DDDB417}"/>
                  </a:ext>
                </a:extLst>
              </p:cNvPr>
              <p:cNvSpPr/>
              <p:nvPr/>
            </p:nvSpPr>
            <p:spPr>
              <a:xfrm>
                <a:off x="1956257" y="2931156"/>
                <a:ext cx="180398" cy="188737"/>
              </a:xfrm>
              <a:custGeom>
                <a:avLst/>
                <a:gdLst/>
                <a:ahLst/>
                <a:cxnLst/>
                <a:rect l="l" t="t" r="r" b="b"/>
                <a:pathLst>
                  <a:path w="5668" h="5930" extrusionOk="0">
                    <a:moveTo>
                      <a:pt x="738" y="1"/>
                    </a:moveTo>
                    <a:cubicBezTo>
                      <a:pt x="322" y="1"/>
                      <a:pt x="0" y="346"/>
                      <a:pt x="0" y="751"/>
                    </a:cubicBezTo>
                    <a:lnTo>
                      <a:pt x="0" y="3799"/>
                    </a:lnTo>
                    <a:cubicBezTo>
                      <a:pt x="0" y="4215"/>
                      <a:pt x="334" y="4549"/>
                      <a:pt x="738" y="4549"/>
                    </a:cubicBezTo>
                    <a:lnTo>
                      <a:pt x="1084" y="4549"/>
                    </a:lnTo>
                    <a:lnTo>
                      <a:pt x="810" y="5585"/>
                    </a:lnTo>
                    <a:cubicBezTo>
                      <a:pt x="786" y="5704"/>
                      <a:pt x="834" y="5811"/>
                      <a:pt x="929" y="5882"/>
                    </a:cubicBezTo>
                    <a:cubicBezTo>
                      <a:pt x="977" y="5918"/>
                      <a:pt x="1036" y="5930"/>
                      <a:pt x="1084" y="5930"/>
                    </a:cubicBezTo>
                    <a:cubicBezTo>
                      <a:pt x="1143" y="5930"/>
                      <a:pt x="1203" y="5918"/>
                      <a:pt x="1250" y="5870"/>
                    </a:cubicBezTo>
                    <a:lnTo>
                      <a:pt x="3072" y="4525"/>
                    </a:lnTo>
                    <a:lnTo>
                      <a:pt x="4918" y="4525"/>
                    </a:lnTo>
                    <a:cubicBezTo>
                      <a:pt x="5334" y="4525"/>
                      <a:pt x="5668" y="4192"/>
                      <a:pt x="5668" y="3787"/>
                    </a:cubicBezTo>
                    <a:lnTo>
                      <a:pt x="5668" y="751"/>
                    </a:lnTo>
                    <a:cubicBezTo>
                      <a:pt x="5656" y="334"/>
                      <a:pt x="5322" y="12"/>
                      <a:pt x="4906" y="12"/>
                    </a:cubicBezTo>
                    <a:lnTo>
                      <a:pt x="3953" y="12"/>
                    </a:lnTo>
                    <a:cubicBezTo>
                      <a:pt x="3846" y="12"/>
                      <a:pt x="3775" y="84"/>
                      <a:pt x="3775" y="191"/>
                    </a:cubicBezTo>
                    <a:cubicBezTo>
                      <a:pt x="3775" y="286"/>
                      <a:pt x="3846" y="370"/>
                      <a:pt x="3953" y="370"/>
                    </a:cubicBezTo>
                    <a:lnTo>
                      <a:pt x="4906" y="370"/>
                    </a:lnTo>
                    <a:cubicBezTo>
                      <a:pt x="5132" y="370"/>
                      <a:pt x="5299" y="548"/>
                      <a:pt x="5299" y="751"/>
                    </a:cubicBezTo>
                    <a:lnTo>
                      <a:pt x="5299" y="3799"/>
                    </a:lnTo>
                    <a:cubicBezTo>
                      <a:pt x="5299" y="4025"/>
                      <a:pt x="5120" y="4192"/>
                      <a:pt x="4906" y="4192"/>
                    </a:cubicBezTo>
                    <a:lnTo>
                      <a:pt x="3001" y="4192"/>
                    </a:lnTo>
                    <a:cubicBezTo>
                      <a:pt x="2953" y="4192"/>
                      <a:pt x="2929" y="4203"/>
                      <a:pt x="2893" y="4215"/>
                    </a:cubicBezTo>
                    <a:lnTo>
                      <a:pt x="1203" y="5454"/>
                    </a:lnTo>
                    <a:lnTo>
                      <a:pt x="1203" y="5454"/>
                    </a:lnTo>
                    <a:lnTo>
                      <a:pt x="1465" y="4418"/>
                    </a:lnTo>
                    <a:cubicBezTo>
                      <a:pt x="1489" y="4358"/>
                      <a:pt x="1465" y="4311"/>
                      <a:pt x="1441" y="4263"/>
                    </a:cubicBezTo>
                    <a:cubicBezTo>
                      <a:pt x="1405" y="4215"/>
                      <a:pt x="1346" y="4192"/>
                      <a:pt x="1310" y="4192"/>
                    </a:cubicBezTo>
                    <a:lnTo>
                      <a:pt x="738" y="4192"/>
                    </a:lnTo>
                    <a:cubicBezTo>
                      <a:pt x="512" y="4192"/>
                      <a:pt x="357" y="4013"/>
                      <a:pt x="357" y="3799"/>
                    </a:cubicBezTo>
                    <a:lnTo>
                      <a:pt x="357" y="751"/>
                    </a:lnTo>
                    <a:cubicBezTo>
                      <a:pt x="357" y="524"/>
                      <a:pt x="536" y="370"/>
                      <a:pt x="738" y="370"/>
                    </a:cubicBezTo>
                    <a:lnTo>
                      <a:pt x="1691" y="370"/>
                    </a:lnTo>
                    <a:cubicBezTo>
                      <a:pt x="1798" y="370"/>
                      <a:pt x="1870" y="286"/>
                      <a:pt x="1870" y="179"/>
                    </a:cubicBezTo>
                    <a:cubicBezTo>
                      <a:pt x="1870" y="84"/>
                      <a:pt x="1798" y="1"/>
                      <a:pt x="1691" y="1"/>
                    </a:cubicBezTo>
                    <a:close/>
                  </a:path>
                </a:pathLst>
              </a:custGeom>
              <a:grpFill/>
              <a:ln>
                <a:noFill/>
              </a:ln>
            </p:spPr>
            <p:txBody>
              <a:bodyPr spcFirstLastPara="1" wrap="square" lIns="121900" tIns="121900" rIns="121900" bIns="121900" anchor="ctr" anchorCtr="0">
                <a:noAutofit/>
              </a:bodyPr>
              <a:lstStyle/>
              <a:p>
                <a:endParaRPr sz="2400"/>
              </a:p>
            </p:txBody>
          </p:sp>
          <p:sp>
            <p:nvSpPr>
              <p:cNvPr id="37" name="Google Shape;14237;p149">
                <a:extLst>
                  <a:ext uri="{FF2B5EF4-FFF2-40B4-BE49-F238E27FC236}">
                    <a16:creationId xmlns:a16="http://schemas.microsoft.com/office/drawing/2014/main" id="{8967859A-AA65-D715-DC8C-57705216E74A}"/>
                  </a:ext>
                </a:extLst>
              </p:cNvPr>
              <p:cNvSpPr/>
              <p:nvPr/>
            </p:nvSpPr>
            <p:spPr>
              <a:xfrm>
                <a:off x="2027487" y="2894777"/>
                <a:ext cx="36029" cy="108786"/>
              </a:xfrm>
              <a:custGeom>
                <a:avLst/>
                <a:gdLst/>
                <a:ahLst/>
                <a:cxnLst/>
                <a:rect l="l" t="t" r="r" b="b"/>
                <a:pathLst>
                  <a:path w="1132" h="3418" extrusionOk="0">
                    <a:moveTo>
                      <a:pt x="775" y="358"/>
                    </a:moveTo>
                    <a:lnTo>
                      <a:pt x="596" y="3049"/>
                    </a:lnTo>
                    <a:lnTo>
                      <a:pt x="560" y="3049"/>
                    </a:lnTo>
                    <a:lnTo>
                      <a:pt x="394" y="358"/>
                    </a:lnTo>
                    <a:close/>
                    <a:moveTo>
                      <a:pt x="179" y="1"/>
                    </a:moveTo>
                    <a:cubicBezTo>
                      <a:pt x="143" y="1"/>
                      <a:pt x="96" y="24"/>
                      <a:pt x="48" y="60"/>
                    </a:cubicBezTo>
                    <a:cubicBezTo>
                      <a:pt x="24" y="96"/>
                      <a:pt x="1" y="155"/>
                      <a:pt x="1" y="203"/>
                    </a:cubicBezTo>
                    <a:lnTo>
                      <a:pt x="203" y="3251"/>
                    </a:lnTo>
                    <a:cubicBezTo>
                      <a:pt x="203" y="3334"/>
                      <a:pt x="286" y="3418"/>
                      <a:pt x="382" y="3418"/>
                    </a:cubicBezTo>
                    <a:lnTo>
                      <a:pt x="763" y="3418"/>
                    </a:lnTo>
                    <a:cubicBezTo>
                      <a:pt x="858" y="3418"/>
                      <a:pt x="941" y="3334"/>
                      <a:pt x="941" y="3251"/>
                    </a:cubicBezTo>
                    <a:lnTo>
                      <a:pt x="1132" y="203"/>
                    </a:lnTo>
                    <a:cubicBezTo>
                      <a:pt x="1132" y="155"/>
                      <a:pt x="1120" y="96"/>
                      <a:pt x="1072" y="60"/>
                    </a:cubicBezTo>
                    <a:cubicBezTo>
                      <a:pt x="1048" y="36"/>
                      <a:pt x="1001" y="1"/>
                      <a:pt x="941" y="1"/>
                    </a:cubicBezTo>
                    <a:close/>
                  </a:path>
                </a:pathLst>
              </a:custGeom>
              <a:grpFill/>
              <a:ln>
                <a:noFill/>
              </a:ln>
            </p:spPr>
            <p:txBody>
              <a:bodyPr spcFirstLastPara="1" wrap="square" lIns="121900" tIns="121900" rIns="121900" bIns="121900" anchor="ctr" anchorCtr="0">
                <a:noAutofit/>
              </a:bodyPr>
              <a:lstStyle/>
              <a:p>
                <a:endParaRPr sz="2400"/>
              </a:p>
            </p:txBody>
          </p:sp>
          <p:sp>
            <p:nvSpPr>
              <p:cNvPr id="38" name="Google Shape;14238;p149">
                <a:extLst>
                  <a:ext uri="{FF2B5EF4-FFF2-40B4-BE49-F238E27FC236}">
                    <a16:creationId xmlns:a16="http://schemas.microsoft.com/office/drawing/2014/main" id="{F03D0AD7-7350-EA03-3940-05569DF33BBC}"/>
                  </a:ext>
                </a:extLst>
              </p:cNvPr>
              <p:cNvSpPr/>
              <p:nvPr/>
            </p:nvSpPr>
            <p:spPr>
              <a:xfrm>
                <a:off x="2027487" y="3009992"/>
                <a:ext cx="36029" cy="36029"/>
              </a:xfrm>
              <a:custGeom>
                <a:avLst/>
                <a:gdLst/>
                <a:ahLst/>
                <a:cxnLst/>
                <a:rect l="l" t="t" r="r" b="b"/>
                <a:pathLst>
                  <a:path w="1132" h="1132" extrusionOk="0">
                    <a:moveTo>
                      <a:pt x="572" y="345"/>
                    </a:moveTo>
                    <a:cubicBezTo>
                      <a:pt x="691" y="345"/>
                      <a:pt x="775" y="429"/>
                      <a:pt x="775" y="548"/>
                    </a:cubicBezTo>
                    <a:cubicBezTo>
                      <a:pt x="775" y="667"/>
                      <a:pt x="691" y="762"/>
                      <a:pt x="572" y="762"/>
                    </a:cubicBezTo>
                    <a:cubicBezTo>
                      <a:pt x="453" y="762"/>
                      <a:pt x="358" y="667"/>
                      <a:pt x="358" y="548"/>
                    </a:cubicBezTo>
                    <a:cubicBezTo>
                      <a:pt x="358" y="429"/>
                      <a:pt x="453" y="345"/>
                      <a:pt x="572" y="345"/>
                    </a:cubicBezTo>
                    <a:close/>
                    <a:moveTo>
                      <a:pt x="572" y="0"/>
                    </a:moveTo>
                    <a:cubicBezTo>
                      <a:pt x="263" y="0"/>
                      <a:pt x="1" y="250"/>
                      <a:pt x="1" y="572"/>
                    </a:cubicBezTo>
                    <a:cubicBezTo>
                      <a:pt x="1" y="881"/>
                      <a:pt x="263" y="1131"/>
                      <a:pt x="572" y="1131"/>
                    </a:cubicBezTo>
                    <a:cubicBezTo>
                      <a:pt x="882" y="1131"/>
                      <a:pt x="1132" y="881"/>
                      <a:pt x="1132" y="572"/>
                    </a:cubicBezTo>
                    <a:cubicBezTo>
                      <a:pt x="1132" y="250"/>
                      <a:pt x="882" y="0"/>
                      <a:pt x="572" y="0"/>
                    </a:cubicBezTo>
                    <a:close/>
                  </a:path>
                </a:pathLst>
              </a:custGeom>
              <a:grpFill/>
              <a:ln>
                <a:noFill/>
              </a:ln>
            </p:spPr>
            <p:txBody>
              <a:bodyPr spcFirstLastPara="1" wrap="square" lIns="121900" tIns="121900" rIns="121900" bIns="121900" anchor="ctr" anchorCtr="0">
                <a:noAutofit/>
              </a:bodyPr>
              <a:lstStyle/>
              <a:p>
                <a:endParaRPr sz="2400"/>
              </a:p>
            </p:txBody>
          </p:sp>
        </p:grpSp>
      </p:grpSp>
      <p:sp>
        <p:nvSpPr>
          <p:cNvPr id="40" name="Title 8">
            <a:extLst>
              <a:ext uri="{FF2B5EF4-FFF2-40B4-BE49-F238E27FC236}">
                <a16:creationId xmlns:a16="http://schemas.microsoft.com/office/drawing/2014/main" id="{495E0F6F-26C7-D532-A28C-B6CDF9A0D291}"/>
              </a:ext>
            </a:extLst>
          </p:cNvPr>
          <p:cNvSpPr txBox="1">
            <a:spLocks/>
          </p:cNvSpPr>
          <p:nvPr/>
        </p:nvSpPr>
        <p:spPr>
          <a:xfrm>
            <a:off x="1110204" y="1323222"/>
            <a:ext cx="10401068" cy="267131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MY" sz="1600" b="1" dirty="0">
                <a:solidFill>
                  <a:schemeClr val="accent2"/>
                </a:solidFill>
              </a:rPr>
              <a:t>Millions of transactions </a:t>
            </a:r>
            <a:r>
              <a:rPr lang="en-MY" sz="1600" dirty="0"/>
              <a:t>every seconds make manual monitoring impractical.</a:t>
            </a:r>
          </a:p>
          <a:p>
            <a:endParaRPr lang="en-MY" sz="1600" b="1" dirty="0">
              <a:solidFill>
                <a:schemeClr val="accent2"/>
              </a:solidFill>
            </a:endParaRPr>
          </a:p>
          <a:p>
            <a:endParaRPr lang="en-MY" sz="1600" b="1" dirty="0">
              <a:solidFill>
                <a:schemeClr val="accent2"/>
              </a:solidFill>
            </a:endParaRPr>
          </a:p>
          <a:p>
            <a:r>
              <a:rPr lang="en-MY" sz="1600" dirty="0"/>
              <a:t>Rule-based system generates </a:t>
            </a:r>
            <a:r>
              <a:rPr lang="en-MY" sz="1600" b="1" dirty="0">
                <a:solidFill>
                  <a:schemeClr val="accent2"/>
                </a:solidFill>
              </a:rPr>
              <a:t>excessive false positives </a:t>
            </a:r>
            <a:r>
              <a:rPr lang="en-MY" sz="1600" dirty="0"/>
              <a:t>which overwhelm compliance teams and slowing down real investigations</a:t>
            </a:r>
          </a:p>
          <a:p>
            <a:endParaRPr lang="en-MY" sz="1600" dirty="0"/>
          </a:p>
          <a:p>
            <a:endParaRPr lang="en-MY" sz="1600" dirty="0"/>
          </a:p>
          <a:p>
            <a:r>
              <a:rPr lang="en-US" sz="1600" dirty="0"/>
              <a:t>Machine learning promises better accuracy and fewer false alarms, but challenges remains:</a:t>
            </a:r>
          </a:p>
          <a:p>
            <a:pPr marL="285750" indent="-285750">
              <a:buFontTx/>
              <a:buChar char="-"/>
            </a:pPr>
            <a:r>
              <a:rPr lang="en-US" sz="1600" b="1" dirty="0">
                <a:solidFill>
                  <a:schemeClr val="accent2"/>
                </a:solidFill>
              </a:rPr>
              <a:t>Lack of accessibility to real datasets </a:t>
            </a:r>
          </a:p>
          <a:p>
            <a:pPr marL="285750" indent="-285750">
              <a:buFontTx/>
              <a:buChar char="-"/>
            </a:pPr>
            <a:r>
              <a:rPr lang="en-US" sz="1600" b="1" dirty="0">
                <a:solidFill>
                  <a:schemeClr val="accent2"/>
                </a:solidFill>
              </a:rPr>
              <a:t>Limited interpretability of models reduces trust and adoption</a:t>
            </a:r>
          </a:p>
        </p:txBody>
      </p:sp>
      <p:grpSp>
        <p:nvGrpSpPr>
          <p:cNvPr id="22" name="Group 21">
            <a:extLst>
              <a:ext uri="{FF2B5EF4-FFF2-40B4-BE49-F238E27FC236}">
                <a16:creationId xmlns:a16="http://schemas.microsoft.com/office/drawing/2014/main" id="{32D7452A-0C9E-0836-B0BC-625EC3F0A437}"/>
              </a:ext>
            </a:extLst>
          </p:cNvPr>
          <p:cNvGrpSpPr/>
          <p:nvPr/>
        </p:nvGrpSpPr>
        <p:grpSpPr>
          <a:xfrm>
            <a:off x="554985" y="1441139"/>
            <a:ext cx="540000" cy="540000"/>
            <a:chOff x="556957" y="1432372"/>
            <a:chExt cx="540000" cy="540000"/>
          </a:xfrm>
        </p:grpSpPr>
        <p:sp>
          <p:nvSpPr>
            <p:cNvPr id="3" name="Google Shape;1460;p80">
              <a:extLst>
                <a:ext uri="{FF2B5EF4-FFF2-40B4-BE49-F238E27FC236}">
                  <a16:creationId xmlns:a16="http://schemas.microsoft.com/office/drawing/2014/main" id="{7D7955FF-4638-97E1-2101-6BBBB9BC712B}"/>
                </a:ext>
              </a:extLst>
            </p:cNvPr>
            <p:cNvSpPr/>
            <p:nvPr/>
          </p:nvSpPr>
          <p:spPr>
            <a:xfrm>
              <a:off x="556957" y="1478007"/>
              <a:ext cx="494368" cy="494365"/>
            </a:xfrm>
            <a:custGeom>
              <a:avLst/>
              <a:gdLst/>
              <a:ahLst/>
              <a:cxnLst/>
              <a:rect l="l" t="t" r="r" b="b"/>
              <a:pathLst>
                <a:path w="22956" h="22956" extrusionOk="0">
                  <a:moveTo>
                    <a:pt x="0" y="1"/>
                  </a:moveTo>
                  <a:lnTo>
                    <a:pt x="0" y="22956"/>
                  </a:lnTo>
                  <a:lnTo>
                    <a:pt x="22956" y="22956"/>
                  </a:lnTo>
                  <a:lnTo>
                    <a:pt x="0" y="1"/>
                  </a:lnTo>
                  <a:close/>
                </a:path>
              </a:pathLst>
            </a:custGeom>
            <a:solidFill>
              <a:schemeClr val="accent3"/>
            </a:solidFill>
            <a:ln>
              <a:noFill/>
            </a:ln>
          </p:spPr>
          <p:txBody>
            <a:bodyPr spcFirstLastPara="1" wrap="square" lIns="121900" tIns="121900" rIns="121900" bIns="121900" anchor="ctr" anchorCtr="0">
              <a:noAutofit/>
            </a:bodyPr>
            <a:lstStyle/>
            <a:p>
              <a:endParaRPr sz="2400"/>
            </a:p>
          </p:txBody>
        </p:sp>
        <p:sp>
          <p:nvSpPr>
            <p:cNvPr id="8" name="Google Shape;1461;p80">
              <a:extLst>
                <a:ext uri="{FF2B5EF4-FFF2-40B4-BE49-F238E27FC236}">
                  <a16:creationId xmlns:a16="http://schemas.microsoft.com/office/drawing/2014/main" id="{97491A4F-9640-9CF7-F957-517622DC2B7C}"/>
                </a:ext>
              </a:extLst>
            </p:cNvPr>
            <p:cNvSpPr/>
            <p:nvPr/>
          </p:nvSpPr>
          <p:spPr>
            <a:xfrm>
              <a:off x="602589" y="1432372"/>
              <a:ext cx="494368" cy="494365"/>
            </a:xfrm>
            <a:custGeom>
              <a:avLst/>
              <a:gdLst/>
              <a:ahLst/>
              <a:cxnLst/>
              <a:rect l="l" t="t" r="r" b="b"/>
              <a:pathLst>
                <a:path w="22956" h="22956" fill="none" extrusionOk="0">
                  <a:moveTo>
                    <a:pt x="1" y="0"/>
                  </a:moveTo>
                  <a:lnTo>
                    <a:pt x="22956" y="0"/>
                  </a:lnTo>
                  <a:lnTo>
                    <a:pt x="22956" y="22956"/>
                  </a:lnTo>
                  <a:lnTo>
                    <a:pt x="1" y="22956"/>
                  </a:lnTo>
                  <a:close/>
                </a:path>
              </a:pathLst>
            </a:custGeom>
            <a:noFill/>
            <a:ln w="19050" cap="flat" cmpd="sng">
              <a:solidFill>
                <a:schemeClr val="accent1"/>
              </a:solidFill>
              <a:prstDash val="solid"/>
              <a:miter lim="11906"/>
              <a:headEnd type="none" w="sm" len="sm"/>
              <a:tailEnd type="none" w="sm" len="sm"/>
            </a:ln>
          </p:spPr>
          <p:txBody>
            <a:bodyPr spcFirstLastPara="1" wrap="square" lIns="121900" tIns="121900" rIns="121900" bIns="121900" anchor="ctr" anchorCtr="0">
              <a:noAutofit/>
            </a:bodyPr>
            <a:lstStyle/>
            <a:p>
              <a:endParaRPr sz="2400"/>
            </a:p>
          </p:txBody>
        </p:sp>
        <p:pic>
          <p:nvPicPr>
            <p:cNvPr id="21" name="Picture 20">
              <a:extLst>
                <a:ext uri="{FF2B5EF4-FFF2-40B4-BE49-F238E27FC236}">
                  <a16:creationId xmlns:a16="http://schemas.microsoft.com/office/drawing/2014/main" id="{A2A0370D-8228-13CC-0286-F88C390B9B07}"/>
                </a:ext>
              </a:extLst>
            </p:cNvPr>
            <p:cNvPicPr>
              <a:picLocks noChangeAspect="1"/>
            </p:cNvPicPr>
            <p:nvPr/>
          </p:nvPicPr>
          <p:blipFill>
            <a:blip r:embed="rId3"/>
            <a:stretch>
              <a:fillRect/>
            </a:stretch>
          </p:blipFill>
          <p:spPr>
            <a:xfrm>
              <a:off x="684284" y="1526370"/>
              <a:ext cx="324000" cy="324000"/>
            </a:xfrm>
            <a:prstGeom prst="rect">
              <a:avLst/>
            </a:prstGeom>
          </p:spPr>
        </p:pic>
      </p:grpSp>
      <p:sp>
        <p:nvSpPr>
          <p:cNvPr id="26" name="TextBox 25">
            <a:extLst>
              <a:ext uri="{FF2B5EF4-FFF2-40B4-BE49-F238E27FC236}">
                <a16:creationId xmlns:a16="http://schemas.microsoft.com/office/drawing/2014/main" id="{7395F837-47FA-3C34-1F91-59797412D430}"/>
              </a:ext>
            </a:extLst>
          </p:cNvPr>
          <p:cNvSpPr txBox="1"/>
          <p:nvPr/>
        </p:nvSpPr>
        <p:spPr>
          <a:xfrm>
            <a:off x="213859" y="4627165"/>
            <a:ext cx="11560014" cy="584775"/>
          </a:xfrm>
          <a:prstGeom prst="rect">
            <a:avLst/>
          </a:prstGeom>
          <a:solidFill>
            <a:schemeClr val="accent6">
              <a:lumMod val="60000"/>
              <a:lumOff val="40000"/>
            </a:schemeClr>
          </a:solidFill>
          <a:effectLst>
            <a:outerShdw blurRad="50800" dist="38100" dir="5400000" algn="t" rotWithShape="0">
              <a:prstClr val="black">
                <a:alpha val="40000"/>
              </a:prstClr>
            </a:outerShdw>
          </a:effectLst>
        </p:spPr>
        <p:txBody>
          <a:bodyPr wrap="square">
            <a:spAutoFit/>
          </a:bodyPr>
          <a:lstStyle/>
          <a:p>
            <a:pPr algn="ctr"/>
            <a:r>
              <a:rPr lang="en-US" sz="1600" b="0" i="0" u="none" strike="noStrike" baseline="0" dirty="0">
                <a:solidFill>
                  <a:schemeClr val="bg1"/>
                </a:solidFill>
              </a:rPr>
              <a:t>Therefore, there is a need to develop intelligent and adaptive machine learning systems for large-scale transaction analysis to accurately classify suspicious activities with low false-positive rates and examine key predictive features.</a:t>
            </a:r>
          </a:p>
        </p:txBody>
      </p:sp>
    </p:spTree>
    <p:extLst>
      <p:ext uri="{BB962C8B-B14F-4D97-AF65-F5344CB8AC3E}">
        <p14:creationId xmlns:p14="http://schemas.microsoft.com/office/powerpoint/2010/main" val="1973444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5D95C-D32F-D870-B798-1100D0F37F1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32AD2D7-D00D-3F09-49E3-09D80BEBEA82}"/>
              </a:ext>
            </a:extLst>
          </p:cNvPr>
          <p:cNvSpPr/>
          <p:nvPr/>
        </p:nvSpPr>
        <p:spPr>
          <a:xfrm>
            <a:off x="0" y="397935"/>
            <a:ext cx="7065282"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1">
            <a:extLst>
              <a:ext uri="{FF2B5EF4-FFF2-40B4-BE49-F238E27FC236}">
                <a16:creationId xmlns:a16="http://schemas.microsoft.com/office/drawing/2014/main" id="{02C9A11C-CFC9-C8F4-5E92-A9538FAD722F}"/>
              </a:ext>
            </a:extLst>
          </p:cNvPr>
          <p:cNvSpPr>
            <a:spLocks noGrp="1"/>
          </p:cNvSpPr>
          <p:nvPr>
            <p:ph type="title"/>
          </p:nvPr>
        </p:nvSpPr>
        <p:spPr>
          <a:xfrm>
            <a:off x="938914" y="445560"/>
            <a:ext cx="4764617" cy="463549"/>
          </a:xfrm>
        </p:spPr>
        <p:txBody>
          <a:bodyPr>
            <a:normAutofit fontScale="90000"/>
          </a:bodyPr>
          <a:lstStyle/>
          <a:p>
            <a:r>
              <a:rPr lang="en-US" sz="3000" dirty="0">
                <a:solidFill>
                  <a:schemeClr val="bg1"/>
                </a:solidFill>
                <a:effectLst>
                  <a:outerShdw blurRad="38100" dist="38100" dir="2700000" algn="tl">
                    <a:srgbClr val="000000">
                      <a:alpha val="43137"/>
                    </a:srgbClr>
                  </a:outerShdw>
                </a:effectLst>
              </a:rPr>
              <a:t>RESEARCH OBJECTIVES</a:t>
            </a:r>
          </a:p>
        </p:txBody>
      </p:sp>
      <p:sp>
        <p:nvSpPr>
          <p:cNvPr id="5" name="Google Shape;1300;p69">
            <a:extLst>
              <a:ext uri="{FF2B5EF4-FFF2-40B4-BE49-F238E27FC236}">
                <a16:creationId xmlns:a16="http://schemas.microsoft.com/office/drawing/2014/main" id="{D2E17996-1655-B2D0-FD8C-8324FC4F9F2D}"/>
              </a:ext>
            </a:extLst>
          </p:cNvPr>
          <p:cNvSpPr txBox="1">
            <a:spLocks/>
          </p:cNvSpPr>
          <p:nvPr/>
        </p:nvSpPr>
        <p:spPr>
          <a:xfrm>
            <a:off x="938914" y="1752601"/>
            <a:ext cx="763074" cy="708800"/>
          </a:xfrm>
          <a:prstGeom prst="rect">
            <a:avLst/>
          </a:prstGeom>
        </p:spPr>
        <p:txBody>
          <a:bodyPr spcFirstLastPara="1" vert="horz" wrap="square" lIns="121900" tIns="121900" rIns="121900" bIns="121900" rtlCol="0" anchor="ctr" anchorCtr="0">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de" b="1" dirty="0">
                <a:ln w="9525">
                  <a:solidFill>
                    <a:schemeClr val="bg1"/>
                  </a:solidFill>
                  <a:prstDash val="solid"/>
                </a:ln>
                <a:effectLst>
                  <a:outerShdw blurRad="12700" dist="38100" dir="2700000" algn="tl" rotWithShape="0">
                    <a:schemeClr val="bg1">
                      <a:lumMod val="50000"/>
                    </a:schemeClr>
                  </a:outerShdw>
                </a:effectLst>
              </a:rPr>
              <a:t>01</a:t>
            </a:r>
          </a:p>
        </p:txBody>
      </p:sp>
      <p:sp>
        <p:nvSpPr>
          <p:cNvPr id="6" name="Google Shape;1301;p69">
            <a:extLst>
              <a:ext uri="{FF2B5EF4-FFF2-40B4-BE49-F238E27FC236}">
                <a16:creationId xmlns:a16="http://schemas.microsoft.com/office/drawing/2014/main" id="{471D7086-1926-A02C-DADA-B4925099CC12}"/>
              </a:ext>
            </a:extLst>
          </p:cNvPr>
          <p:cNvSpPr txBox="1">
            <a:spLocks/>
          </p:cNvSpPr>
          <p:nvPr/>
        </p:nvSpPr>
        <p:spPr>
          <a:xfrm>
            <a:off x="1825888" y="1766247"/>
            <a:ext cx="9464714" cy="708800"/>
          </a:xfrm>
          <a:prstGeom prst="rect">
            <a:avLst/>
          </a:prstGeom>
        </p:spPr>
        <p:txBody>
          <a:bodyPr spcFirstLastPara="1" vert="horz" wrap="square" lIns="121900" tIns="121900" rIns="121900" bIns="121900" rtlCol="0" anchor="ctr" anchorCtr="0">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pPr algn="just"/>
            <a:r>
              <a:rPr lang="en-US" sz="2400" b="1" dirty="0"/>
              <a:t>To perform data preprocessing and exploratory data analysis (EDA) </a:t>
            </a:r>
          </a:p>
          <a:p>
            <a:pPr algn="just"/>
            <a:r>
              <a:rPr lang="en-US" sz="2000" dirty="0"/>
              <a:t>to understand data distributions and transaction patterns.</a:t>
            </a:r>
          </a:p>
        </p:txBody>
      </p:sp>
      <p:cxnSp>
        <p:nvCxnSpPr>
          <p:cNvPr id="12" name="Google Shape;1312;p69">
            <a:extLst>
              <a:ext uri="{FF2B5EF4-FFF2-40B4-BE49-F238E27FC236}">
                <a16:creationId xmlns:a16="http://schemas.microsoft.com/office/drawing/2014/main" id="{75BFAF59-C3F9-2FD8-EDC9-467C2BDCB92E}"/>
              </a:ext>
            </a:extLst>
          </p:cNvPr>
          <p:cNvCxnSpPr>
            <a:cxnSpLocks/>
          </p:cNvCxnSpPr>
          <p:nvPr/>
        </p:nvCxnSpPr>
        <p:spPr>
          <a:xfrm flipV="1">
            <a:off x="1743287" y="1798863"/>
            <a:ext cx="0" cy="616277"/>
          </a:xfrm>
          <a:prstGeom prst="straightConnector1">
            <a:avLst/>
          </a:prstGeom>
          <a:noFill/>
          <a:ln w="19050" cap="flat" cmpd="sng">
            <a:solidFill>
              <a:schemeClr val="accent4"/>
            </a:solidFill>
            <a:prstDash val="solid"/>
            <a:round/>
            <a:headEnd type="none" w="med" len="med"/>
            <a:tailEnd type="none" w="med" len="med"/>
          </a:ln>
        </p:spPr>
      </p:cxnSp>
      <p:sp>
        <p:nvSpPr>
          <p:cNvPr id="19" name="Google Shape;1300;p69">
            <a:extLst>
              <a:ext uri="{FF2B5EF4-FFF2-40B4-BE49-F238E27FC236}">
                <a16:creationId xmlns:a16="http://schemas.microsoft.com/office/drawing/2014/main" id="{4353F284-3117-162A-B89A-AAE2BE929712}"/>
              </a:ext>
            </a:extLst>
          </p:cNvPr>
          <p:cNvSpPr txBox="1">
            <a:spLocks/>
          </p:cNvSpPr>
          <p:nvPr/>
        </p:nvSpPr>
        <p:spPr>
          <a:xfrm>
            <a:off x="938914" y="3164011"/>
            <a:ext cx="763074" cy="708800"/>
          </a:xfrm>
          <a:prstGeom prst="rect">
            <a:avLst/>
          </a:prstGeom>
        </p:spPr>
        <p:txBody>
          <a:bodyPr spcFirstLastPara="1" vert="horz" wrap="square" lIns="121900" tIns="121900" rIns="121900" bIns="121900" rtlCol="0" anchor="ctr" anchorCtr="0">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de" b="1" dirty="0">
                <a:ln w="9525">
                  <a:solidFill>
                    <a:schemeClr val="bg1"/>
                  </a:solidFill>
                  <a:prstDash val="solid"/>
                </a:ln>
                <a:effectLst>
                  <a:outerShdw blurRad="12700" dist="38100" dir="2700000" algn="tl" rotWithShape="0">
                    <a:schemeClr val="bg1">
                      <a:lumMod val="50000"/>
                    </a:schemeClr>
                  </a:outerShdw>
                </a:effectLst>
              </a:rPr>
              <a:t>02</a:t>
            </a:r>
          </a:p>
        </p:txBody>
      </p:sp>
      <p:sp>
        <p:nvSpPr>
          <p:cNvPr id="20" name="Google Shape;1301;p69">
            <a:extLst>
              <a:ext uri="{FF2B5EF4-FFF2-40B4-BE49-F238E27FC236}">
                <a16:creationId xmlns:a16="http://schemas.microsoft.com/office/drawing/2014/main" id="{870FF381-8E42-99B1-70D3-4894DC06FF2D}"/>
              </a:ext>
            </a:extLst>
          </p:cNvPr>
          <p:cNvSpPr txBox="1">
            <a:spLocks/>
          </p:cNvSpPr>
          <p:nvPr/>
        </p:nvSpPr>
        <p:spPr>
          <a:xfrm>
            <a:off x="1825887" y="3137957"/>
            <a:ext cx="9464715" cy="708800"/>
          </a:xfrm>
          <a:prstGeom prst="rect">
            <a:avLst/>
          </a:prstGeom>
        </p:spPr>
        <p:txBody>
          <a:bodyPr spcFirstLastPara="1" vert="horz" wrap="square" lIns="121900" tIns="121900" rIns="121900" bIns="121900" rtlCol="0" anchor="ctr" anchorCtr="0">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pPr algn="just"/>
            <a:r>
              <a:rPr lang="en-US" sz="2400" b="1" dirty="0"/>
              <a:t>To develop classification models </a:t>
            </a:r>
          </a:p>
          <a:p>
            <a:pPr algn="just"/>
            <a:r>
              <a:rPr lang="en-US" sz="2000" dirty="0"/>
              <a:t>to predict suspicious transactions and conduct comprehensive evaluation on the performance of the models.</a:t>
            </a:r>
            <a:endParaRPr lang="en-US" sz="2800" dirty="0"/>
          </a:p>
        </p:txBody>
      </p:sp>
      <p:cxnSp>
        <p:nvCxnSpPr>
          <p:cNvPr id="22" name="Google Shape;1312;p69">
            <a:extLst>
              <a:ext uri="{FF2B5EF4-FFF2-40B4-BE49-F238E27FC236}">
                <a16:creationId xmlns:a16="http://schemas.microsoft.com/office/drawing/2014/main" id="{63075D86-7589-5BC5-B704-8D0AE99A6A67}"/>
              </a:ext>
            </a:extLst>
          </p:cNvPr>
          <p:cNvCxnSpPr>
            <a:cxnSpLocks/>
          </p:cNvCxnSpPr>
          <p:nvPr/>
        </p:nvCxnSpPr>
        <p:spPr>
          <a:xfrm flipV="1">
            <a:off x="1743287" y="3210273"/>
            <a:ext cx="0" cy="616277"/>
          </a:xfrm>
          <a:prstGeom prst="straightConnector1">
            <a:avLst/>
          </a:prstGeom>
          <a:noFill/>
          <a:ln w="19050" cap="flat" cmpd="sng">
            <a:solidFill>
              <a:schemeClr val="accent4"/>
            </a:solidFill>
            <a:prstDash val="solid"/>
            <a:round/>
            <a:headEnd type="none" w="med" len="med"/>
            <a:tailEnd type="none" w="med" len="med"/>
          </a:ln>
        </p:spPr>
      </p:cxnSp>
      <p:sp>
        <p:nvSpPr>
          <p:cNvPr id="23" name="Google Shape;1300;p69">
            <a:extLst>
              <a:ext uri="{FF2B5EF4-FFF2-40B4-BE49-F238E27FC236}">
                <a16:creationId xmlns:a16="http://schemas.microsoft.com/office/drawing/2014/main" id="{4C54F15C-E074-52B1-AFFB-7E2BA6425851}"/>
              </a:ext>
            </a:extLst>
          </p:cNvPr>
          <p:cNvSpPr txBox="1">
            <a:spLocks/>
          </p:cNvSpPr>
          <p:nvPr/>
        </p:nvSpPr>
        <p:spPr>
          <a:xfrm>
            <a:off x="938914" y="4515180"/>
            <a:ext cx="763074" cy="708800"/>
          </a:xfrm>
          <a:prstGeom prst="rect">
            <a:avLst/>
          </a:prstGeom>
        </p:spPr>
        <p:txBody>
          <a:bodyPr spcFirstLastPara="1" vert="horz" wrap="square" lIns="121900" tIns="121900" rIns="121900" bIns="121900" rtlCol="0" anchor="ctr" anchorCtr="0">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de" b="1" dirty="0">
                <a:ln w="9525">
                  <a:solidFill>
                    <a:schemeClr val="bg1"/>
                  </a:solidFill>
                  <a:prstDash val="solid"/>
                </a:ln>
                <a:effectLst>
                  <a:outerShdw blurRad="12700" dist="38100" dir="2700000" algn="tl" rotWithShape="0">
                    <a:schemeClr val="bg1">
                      <a:lumMod val="50000"/>
                    </a:schemeClr>
                  </a:outerShdw>
                </a:effectLst>
              </a:rPr>
              <a:t>03</a:t>
            </a:r>
          </a:p>
        </p:txBody>
      </p:sp>
      <p:sp>
        <p:nvSpPr>
          <p:cNvPr id="24" name="Google Shape;1301;p69">
            <a:extLst>
              <a:ext uri="{FF2B5EF4-FFF2-40B4-BE49-F238E27FC236}">
                <a16:creationId xmlns:a16="http://schemas.microsoft.com/office/drawing/2014/main" id="{5F54603B-F379-DA30-2F13-E9F319B010BA}"/>
              </a:ext>
            </a:extLst>
          </p:cNvPr>
          <p:cNvSpPr txBox="1">
            <a:spLocks/>
          </p:cNvSpPr>
          <p:nvPr/>
        </p:nvSpPr>
        <p:spPr>
          <a:xfrm>
            <a:off x="1825887" y="4530419"/>
            <a:ext cx="9464715" cy="708800"/>
          </a:xfrm>
          <a:prstGeom prst="rect">
            <a:avLst/>
          </a:prstGeom>
        </p:spPr>
        <p:txBody>
          <a:bodyPr spcFirstLastPara="1" vert="horz" wrap="square" lIns="121900" tIns="121900" rIns="121900" bIns="121900" rtlCol="0" anchor="ctr" anchorCtr="0">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pPr algn="just"/>
            <a:r>
              <a:rPr lang="en-US" sz="2400" b="1" dirty="0"/>
              <a:t>To develop interactive dashboard </a:t>
            </a:r>
          </a:p>
          <a:p>
            <a:pPr algn="just"/>
            <a:r>
              <a:rPr lang="en-US" sz="2000" dirty="0"/>
              <a:t>to present insights and findings related to money laundering. </a:t>
            </a:r>
          </a:p>
        </p:txBody>
      </p:sp>
      <p:cxnSp>
        <p:nvCxnSpPr>
          <p:cNvPr id="26" name="Google Shape;1312;p69">
            <a:extLst>
              <a:ext uri="{FF2B5EF4-FFF2-40B4-BE49-F238E27FC236}">
                <a16:creationId xmlns:a16="http://schemas.microsoft.com/office/drawing/2014/main" id="{3349CF7F-5B21-3A4A-7178-6D3E9DA9E508}"/>
              </a:ext>
            </a:extLst>
          </p:cNvPr>
          <p:cNvCxnSpPr>
            <a:cxnSpLocks/>
          </p:cNvCxnSpPr>
          <p:nvPr/>
        </p:nvCxnSpPr>
        <p:spPr>
          <a:xfrm flipV="1">
            <a:off x="1743287" y="4561442"/>
            <a:ext cx="0" cy="616277"/>
          </a:xfrm>
          <a:prstGeom prst="straightConnector1">
            <a:avLst/>
          </a:prstGeom>
          <a:noFill/>
          <a:ln w="19050" cap="flat" cmpd="sng">
            <a:solidFill>
              <a:schemeClr val="accent4"/>
            </a:solidFill>
            <a:prstDash val="solid"/>
            <a:round/>
            <a:headEnd type="none" w="med" len="med"/>
            <a:tailEnd type="none" w="med" len="med"/>
          </a:ln>
        </p:spPr>
      </p:cxnSp>
    </p:spTree>
    <p:extLst>
      <p:ext uri="{BB962C8B-B14F-4D97-AF65-F5344CB8AC3E}">
        <p14:creationId xmlns:p14="http://schemas.microsoft.com/office/powerpoint/2010/main" val="3309812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C93FA-2CCA-669E-A5B7-70254CEA6E3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52EDC1E-24E9-ED56-D5D3-AFEB241585A8}"/>
              </a:ext>
            </a:extLst>
          </p:cNvPr>
          <p:cNvSpPr/>
          <p:nvPr/>
        </p:nvSpPr>
        <p:spPr>
          <a:xfrm>
            <a:off x="0" y="385235"/>
            <a:ext cx="7065282"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1">
            <a:extLst>
              <a:ext uri="{FF2B5EF4-FFF2-40B4-BE49-F238E27FC236}">
                <a16:creationId xmlns:a16="http://schemas.microsoft.com/office/drawing/2014/main" id="{CCCD3F3A-EC2A-8270-1298-1D20CF65C60B}"/>
              </a:ext>
            </a:extLst>
          </p:cNvPr>
          <p:cNvSpPr>
            <a:spLocks noGrp="1"/>
          </p:cNvSpPr>
          <p:nvPr>
            <p:ph type="title"/>
          </p:nvPr>
        </p:nvSpPr>
        <p:spPr>
          <a:xfrm>
            <a:off x="938914" y="432860"/>
            <a:ext cx="4764617" cy="463549"/>
          </a:xfrm>
        </p:spPr>
        <p:txBody>
          <a:bodyPr>
            <a:noAutofit/>
          </a:bodyPr>
          <a:lstStyle/>
          <a:p>
            <a:r>
              <a:rPr lang="en-US" sz="2900" dirty="0">
                <a:solidFill>
                  <a:schemeClr val="bg1"/>
                </a:solidFill>
                <a:effectLst>
                  <a:outerShdw blurRad="38100" dist="38100" dir="2700000" algn="tl">
                    <a:srgbClr val="000000">
                      <a:alpha val="43137"/>
                    </a:srgbClr>
                  </a:outerShdw>
                </a:effectLst>
              </a:rPr>
              <a:t>SCOPE OF THE PROJECT</a:t>
            </a:r>
          </a:p>
        </p:txBody>
      </p:sp>
      <p:sp>
        <p:nvSpPr>
          <p:cNvPr id="3" name="Google Shape;1664;p90">
            <a:extLst>
              <a:ext uri="{FF2B5EF4-FFF2-40B4-BE49-F238E27FC236}">
                <a16:creationId xmlns:a16="http://schemas.microsoft.com/office/drawing/2014/main" id="{DC7B5DEE-C15A-1A3D-485C-8979ECE03794}"/>
              </a:ext>
            </a:extLst>
          </p:cNvPr>
          <p:cNvSpPr txBox="1">
            <a:spLocks/>
          </p:cNvSpPr>
          <p:nvPr/>
        </p:nvSpPr>
        <p:spPr>
          <a:xfrm>
            <a:off x="4866856" y="1416845"/>
            <a:ext cx="4168734" cy="593397"/>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MY" sz="2400" b="1" dirty="0">
                <a:effectLst>
                  <a:outerShdw blurRad="38100" dist="38100" dir="2700000" algn="tl">
                    <a:srgbClr val="000000">
                      <a:alpha val="43137"/>
                    </a:srgbClr>
                  </a:outerShdw>
                </a:effectLst>
              </a:rPr>
              <a:t>SUPERVISED MACHINE LEARNING ALGORITHMS</a:t>
            </a:r>
          </a:p>
        </p:txBody>
      </p:sp>
      <p:sp>
        <p:nvSpPr>
          <p:cNvPr id="8" name="Google Shape;1666;p90">
            <a:extLst>
              <a:ext uri="{FF2B5EF4-FFF2-40B4-BE49-F238E27FC236}">
                <a16:creationId xmlns:a16="http://schemas.microsoft.com/office/drawing/2014/main" id="{688F2541-3B06-A705-11C2-526BA202A94F}"/>
              </a:ext>
            </a:extLst>
          </p:cNvPr>
          <p:cNvSpPr txBox="1">
            <a:spLocks/>
          </p:cNvSpPr>
          <p:nvPr/>
        </p:nvSpPr>
        <p:spPr>
          <a:xfrm>
            <a:off x="-257790" y="1267000"/>
            <a:ext cx="3358400" cy="708800"/>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pPr algn="ctr"/>
            <a:r>
              <a:rPr lang="en-MY" sz="2400" b="1" dirty="0">
                <a:effectLst>
                  <a:outerShdw blurRad="38100" dist="38100" dir="2700000" algn="tl">
                    <a:srgbClr val="000000">
                      <a:alpha val="43137"/>
                    </a:srgbClr>
                  </a:outerShdw>
                </a:effectLst>
              </a:rPr>
              <a:t>DATASET</a:t>
            </a:r>
          </a:p>
        </p:txBody>
      </p:sp>
      <p:sp>
        <p:nvSpPr>
          <p:cNvPr id="9" name="Google Shape;1668;p90">
            <a:extLst>
              <a:ext uri="{FF2B5EF4-FFF2-40B4-BE49-F238E27FC236}">
                <a16:creationId xmlns:a16="http://schemas.microsoft.com/office/drawing/2014/main" id="{2001D33B-F4EE-4FAD-ED60-E1D2EB70D991}"/>
              </a:ext>
            </a:extLst>
          </p:cNvPr>
          <p:cNvSpPr txBox="1">
            <a:spLocks/>
          </p:cNvSpPr>
          <p:nvPr/>
        </p:nvSpPr>
        <p:spPr>
          <a:xfrm>
            <a:off x="8289984" y="1262818"/>
            <a:ext cx="3462167" cy="708800"/>
          </a:xfrm>
          <a:prstGeom prst="rect">
            <a:avLst/>
          </a:prstGeom>
        </p:spPr>
        <p:txBody>
          <a:bodyPr spcFirstLastPara="1" vert="horz" wrap="square" lIns="121900" tIns="121900" rIns="121900" bIns="121900" rtlCol="0" anchor="b" anchorCtr="0">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pPr algn="ctr"/>
            <a:r>
              <a:rPr lang="en-MY" sz="2400" b="1" dirty="0">
                <a:effectLst>
                  <a:outerShdw blurRad="38100" dist="38100" dir="2700000" algn="tl">
                    <a:srgbClr val="000000">
                      <a:alpha val="43137"/>
                    </a:srgbClr>
                  </a:outerShdw>
                </a:effectLst>
              </a:rPr>
              <a:t>TOOLS</a:t>
            </a:r>
          </a:p>
        </p:txBody>
      </p:sp>
      <p:grpSp>
        <p:nvGrpSpPr>
          <p:cNvPr id="10" name="Group 9">
            <a:extLst>
              <a:ext uri="{FF2B5EF4-FFF2-40B4-BE49-F238E27FC236}">
                <a16:creationId xmlns:a16="http://schemas.microsoft.com/office/drawing/2014/main" id="{DDCCB27E-625F-35BD-8EE5-5F04924AFC8A}"/>
              </a:ext>
            </a:extLst>
          </p:cNvPr>
          <p:cNvGrpSpPr/>
          <p:nvPr/>
        </p:nvGrpSpPr>
        <p:grpSpPr>
          <a:xfrm>
            <a:off x="4247963" y="1611618"/>
            <a:ext cx="720000" cy="720000"/>
            <a:chOff x="4939384" y="1751232"/>
            <a:chExt cx="1546800" cy="1546800"/>
          </a:xfrm>
        </p:grpSpPr>
        <p:sp>
          <p:nvSpPr>
            <p:cNvPr id="11" name="Google Shape;1662;p90">
              <a:extLst>
                <a:ext uri="{FF2B5EF4-FFF2-40B4-BE49-F238E27FC236}">
                  <a16:creationId xmlns:a16="http://schemas.microsoft.com/office/drawing/2014/main" id="{439816D5-624C-E94E-8505-FE15066D1228}"/>
                </a:ext>
              </a:extLst>
            </p:cNvPr>
            <p:cNvSpPr/>
            <p:nvPr/>
          </p:nvSpPr>
          <p:spPr>
            <a:xfrm>
              <a:off x="4939384" y="1751232"/>
              <a:ext cx="1546800" cy="1546800"/>
            </a:xfrm>
            <a:prstGeom prst="ellipse">
              <a:avLst/>
            </a:prstGeom>
            <a:noFill/>
            <a:ln w="9525"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3" name="Google Shape;1663;p90">
              <a:extLst>
                <a:ext uri="{FF2B5EF4-FFF2-40B4-BE49-F238E27FC236}">
                  <a16:creationId xmlns:a16="http://schemas.microsoft.com/office/drawing/2014/main" id="{721BA733-981E-63FD-1BFF-63C85C568584}"/>
                </a:ext>
              </a:extLst>
            </p:cNvPr>
            <p:cNvSpPr/>
            <p:nvPr/>
          </p:nvSpPr>
          <p:spPr>
            <a:xfrm>
              <a:off x="4939384" y="1751232"/>
              <a:ext cx="1546800" cy="1546800"/>
            </a:xfrm>
            <a:prstGeom prst="arc">
              <a:avLst>
                <a:gd name="adj1" fmla="val 16200000"/>
                <a:gd name="adj2" fmla="val 6701883"/>
              </a:avLst>
            </a:prstGeom>
            <a:noFill/>
            <a:ln w="19050" cap="flat" cmpd="sng">
              <a:solidFill>
                <a:schemeClr val="dk1"/>
              </a:solidFill>
              <a:prstDash val="solid"/>
              <a:round/>
              <a:headEnd type="none" w="sm" len="sm"/>
              <a:tailEnd type="oval" w="sm" len="sm"/>
            </a:ln>
          </p:spPr>
          <p:txBody>
            <a:bodyPr spcFirstLastPara="1" wrap="square" lIns="121900" tIns="121900" rIns="121900" bIns="121900" anchor="ctr" anchorCtr="0">
              <a:noAutofit/>
            </a:bodyPr>
            <a:lstStyle/>
            <a:p>
              <a:endParaRPr sz="2400"/>
            </a:p>
          </p:txBody>
        </p:sp>
        <p:grpSp>
          <p:nvGrpSpPr>
            <p:cNvPr id="14" name="Google Shape;15058;p150">
              <a:extLst>
                <a:ext uri="{FF2B5EF4-FFF2-40B4-BE49-F238E27FC236}">
                  <a16:creationId xmlns:a16="http://schemas.microsoft.com/office/drawing/2014/main" id="{F7628CC2-0D4F-BF02-84F4-321F396089C3}"/>
                </a:ext>
              </a:extLst>
            </p:cNvPr>
            <p:cNvGrpSpPr/>
            <p:nvPr/>
          </p:nvGrpSpPr>
          <p:grpSpPr>
            <a:xfrm>
              <a:off x="5328784" y="2170764"/>
              <a:ext cx="768000" cy="768000"/>
              <a:chOff x="3527780" y="2885263"/>
              <a:chExt cx="347435" cy="345534"/>
            </a:xfrm>
            <a:solidFill>
              <a:schemeClr val="tx1"/>
            </a:solidFill>
          </p:grpSpPr>
          <p:sp>
            <p:nvSpPr>
              <p:cNvPr id="15" name="Google Shape;15059;p150">
                <a:extLst>
                  <a:ext uri="{FF2B5EF4-FFF2-40B4-BE49-F238E27FC236}">
                    <a16:creationId xmlns:a16="http://schemas.microsoft.com/office/drawing/2014/main" id="{9478FF24-380E-DE38-0F2C-378750E8E429}"/>
                  </a:ext>
                </a:extLst>
              </p:cNvPr>
              <p:cNvSpPr/>
              <p:nvPr/>
            </p:nvSpPr>
            <p:spPr>
              <a:xfrm>
                <a:off x="3527780" y="2885263"/>
                <a:ext cx="347435" cy="345534"/>
              </a:xfrm>
              <a:custGeom>
                <a:avLst/>
                <a:gdLst/>
                <a:ahLst/>
                <a:cxnLst/>
                <a:rect l="l" t="t" r="r" b="b"/>
                <a:pathLst>
                  <a:path w="10967" h="10907" extrusionOk="0">
                    <a:moveTo>
                      <a:pt x="3751" y="298"/>
                    </a:moveTo>
                    <a:cubicBezTo>
                      <a:pt x="3811" y="298"/>
                      <a:pt x="3847" y="345"/>
                      <a:pt x="3847" y="405"/>
                    </a:cubicBezTo>
                    <a:cubicBezTo>
                      <a:pt x="3847" y="464"/>
                      <a:pt x="3811" y="512"/>
                      <a:pt x="3751" y="512"/>
                    </a:cubicBezTo>
                    <a:cubicBezTo>
                      <a:pt x="3692" y="512"/>
                      <a:pt x="3644" y="464"/>
                      <a:pt x="3644" y="405"/>
                    </a:cubicBezTo>
                    <a:cubicBezTo>
                      <a:pt x="3656" y="345"/>
                      <a:pt x="3704" y="298"/>
                      <a:pt x="3751" y="298"/>
                    </a:cubicBezTo>
                    <a:close/>
                    <a:moveTo>
                      <a:pt x="5490" y="298"/>
                    </a:moveTo>
                    <a:cubicBezTo>
                      <a:pt x="5549" y="298"/>
                      <a:pt x="5597" y="345"/>
                      <a:pt x="5597" y="405"/>
                    </a:cubicBezTo>
                    <a:cubicBezTo>
                      <a:pt x="5597" y="464"/>
                      <a:pt x="5549" y="512"/>
                      <a:pt x="5490" y="512"/>
                    </a:cubicBezTo>
                    <a:cubicBezTo>
                      <a:pt x="5430" y="512"/>
                      <a:pt x="5382" y="464"/>
                      <a:pt x="5382" y="405"/>
                    </a:cubicBezTo>
                    <a:cubicBezTo>
                      <a:pt x="5382" y="345"/>
                      <a:pt x="5430" y="298"/>
                      <a:pt x="5490" y="298"/>
                    </a:cubicBezTo>
                    <a:close/>
                    <a:moveTo>
                      <a:pt x="7216" y="298"/>
                    </a:moveTo>
                    <a:cubicBezTo>
                      <a:pt x="7276" y="298"/>
                      <a:pt x="7323" y="345"/>
                      <a:pt x="7323" y="405"/>
                    </a:cubicBezTo>
                    <a:cubicBezTo>
                      <a:pt x="7323" y="464"/>
                      <a:pt x="7276" y="512"/>
                      <a:pt x="7216" y="512"/>
                    </a:cubicBezTo>
                    <a:cubicBezTo>
                      <a:pt x="7156" y="512"/>
                      <a:pt x="7109" y="464"/>
                      <a:pt x="7109" y="405"/>
                    </a:cubicBezTo>
                    <a:cubicBezTo>
                      <a:pt x="7109" y="345"/>
                      <a:pt x="7156" y="298"/>
                      <a:pt x="7216" y="298"/>
                    </a:cubicBezTo>
                    <a:close/>
                    <a:moveTo>
                      <a:pt x="394" y="3632"/>
                    </a:moveTo>
                    <a:cubicBezTo>
                      <a:pt x="453" y="3632"/>
                      <a:pt x="501" y="3679"/>
                      <a:pt x="501" y="3739"/>
                    </a:cubicBezTo>
                    <a:cubicBezTo>
                      <a:pt x="501" y="3798"/>
                      <a:pt x="453" y="3846"/>
                      <a:pt x="394" y="3846"/>
                    </a:cubicBezTo>
                    <a:cubicBezTo>
                      <a:pt x="334" y="3846"/>
                      <a:pt x="287" y="3798"/>
                      <a:pt x="287" y="3739"/>
                    </a:cubicBezTo>
                    <a:cubicBezTo>
                      <a:pt x="287" y="3679"/>
                      <a:pt x="334" y="3632"/>
                      <a:pt x="394" y="3632"/>
                    </a:cubicBezTo>
                    <a:close/>
                    <a:moveTo>
                      <a:pt x="10562" y="3655"/>
                    </a:moveTo>
                    <a:cubicBezTo>
                      <a:pt x="10621" y="3655"/>
                      <a:pt x="10669" y="3691"/>
                      <a:pt x="10669" y="3763"/>
                    </a:cubicBezTo>
                    <a:cubicBezTo>
                      <a:pt x="10669" y="3822"/>
                      <a:pt x="10621" y="3858"/>
                      <a:pt x="10562" y="3858"/>
                    </a:cubicBezTo>
                    <a:cubicBezTo>
                      <a:pt x="10502" y="3858"/>
                      <a:pt x="10454" y="3822"/>
                      <a:pt x="10454" y="3763"/>
                    </a:cubicBezTo>
                    <a:cubicBezTo>
                      <a:pt x="10454" y="3691"/>
                      <a:pt x="10502" y="3655"/>
                      <a:pt x="10562" y="3655"/>
                    </a:cubicBezTo>
                    <a:close/>
                    <a:moveTo>
                      <a:pt x="394" y="5382"/>
                    </a:moveTo>
                    <a:cubicBezTo>
                      <a:pt x="453" y="5382"/>
                      <a:pt x="501" y="5417"/>
                      <a:pt x="501" y="5477"/>
                    </a:cubicBezTo>
                    <a:cubicBezTo>
                      <a:pt x="501" y="5548"/>
                      <a:pt x="453" y="5584"/>
                      <a:pt x="394" y="5584"/>
                    </a:cubicBezTo>
                    <a:cubicBezTo>
                      <a:pt x="334" y="5584"/>
                      <a:pt x="287" y="5548"/>
                      <a:pt x="287" y="5477"/>
                    </a:cubicBezTo>
                    <a:cubicBezTo>
                      <a:pt x="287" y="5417"/>
                      <a:pt x="334" y="5382"/>
                      <a:pt x="394" y="5382"/>
                    </a:cubicBezTo>
                    <a:close/>
                    <a:moveTo>
                      <a:pt x="10562" y="5382"/>
                    </a:moveTo>
                    <a:cubicBezTo>
                      <a:pt x="10621" y="5382"/>
                      <a:pt x="10669" y="5429"/>
                      <a:pt x="10669" y="5489"/>
                    </a:cubicBezTo>
                    <a:cubicBezTo>
                      <a:pt x="10669" y="5548"/>
                      <a:pt x="10621" y="5584"/>
                      <a:pt x="10562" y="5584"/>
                    </a:cubicBezTo>
                    <a:cubicBezTo>
                      <a:pt x="10502" y="5584"/>
                      <a:pt x="10454" y="5548"/>
                      <a:pt x="10454" y="5489"/>
                    </a:cubicBezTo>
                    <a:cubicBezTo>
                      <a:pt x="10454" y="5429"/>
                      <a:pt x="10502" y="5382"/>
                      <a:pt x="10562" y="5382"/>
                    </a:cubicBezTo>
                    <a:close/>
                    <a:moveTo>
                      <a:pt x="394" y="7108"/>
                    </a:moveTo>
                    <a:cubicBezTo>
                      <a:pt x="453" y="7108"/>
                      <a:pt x="501" y="7144"/>
                      <a:pt x="501" y="7215"/>
                    </a:cubicBezTo>
                    <a:cubicBezTo>
                      <a:pt x="501" y="7275"/>
                      <a:pt x="453" y="7311"/>
                      <a:pt x="394" y="7311"/>
                    </a:cubicBezTo>
                    <a:cubicBezTo>
                      <a:pt x="334" y="7311"/>
                      <a:pt x="287" y="7275"/>
                      <a:pt x="287" y="7215"/>
                    </a:cubicBezTo>
                    <a:cubicBezTo>
                      <a:pt x="287" y="7144"/>
                      <a:pt x="334" y="7108"/>
                      <a:pt x="394" y="7108"/>
                    </a:cubicBezTo>
                    <a:close/>
                    <a:moveTo>
                      <a:pt x="10562" y="7120"/>
                    </a:moveTo>
                    <a:cubicBezTo>
                      <a:pt x="10621" y="7120"/>
                      <a:pt x="10669" y="7168"/>
                      <a:pt x="10669" y="7227"/>
                    </a:cubicBezTo>
                    <a:cubicBezTo>
                      <a:pt x="10669" y="7287"/>
                      <a:pt x="10621" y="7334"/>
                      <a:pt x="10562" y="7334"/>
                    </a:cubicBezTo>
                    <a:cubicBezTo>
                      <a:pt x="10502" y="7334"/>
                      <a:pt x="10454" y="7287"/>
                      <a:pt x="10454" y="7227"/>
                    </a:cubicBezTo>
                    <a:cubicBezTo>
                      <a:pt x="10454" y="7168"/>
                      <a:pt x="10502" y="7120"/>
                      <a:pt x="10562" y="7120"/>
                    </a:cubicBezTo>
                    <a:close/>
                    <a:moveTo>
                      <a:pt x="3751" y="10454"/>
                    </a:moveTo>
                    <a:cubicBezTo>
                      <a:pt x="3811" y="10454"/>
                      <a:pt x="3847" y="10501"/>
                      <a:pt x="3847" y="10561"/>
                    </a:cubicBezTo>
                    <a:cubicBezTo>
                      <a:pt x="3847" y="10621"/>
                      <a:pt x="3811" y="10668"/>
                      <a:pt x="3751" y="10668"/>
                    </a:cubicBezTo>
                    <a:cubicBezTo>
                      <a:pt x="3692" y="10668"/>
                      <a:pt x="3644" y="10621"/>
                      <a:pt x="3644" y="10561"/>
                    </a:cubicBezTo>
                    <a:cubicBezTo>
                      <a:pt x="3644" y="10501"/>
                      <a:pt x="3680" y="10454"/>
                      <a:pt x="3751" y="10454"/>
                    </a:cubicBezTo>
                    <a:close/>
                    <a:moveTo>
                      <a:pt x="5490" y="10454"/>
                    </a:moveTo>
                    <a:cubicBezTo>
                      <a:pt x="5549" y="10454"/>
                      <a:pt x="5597" y="10501"/>
                      <a:pt x="5597" y="10561"/>
                    </a:cubicBezTo>
                    <a:cubicBezTo>
                      <a:pt x="5597" y="10621"/>
                      <a:pt x="5537" y="10668"/>
                      <a:pt x="5490" y="10668"/>
                    </a:cubicBezTo>
                    <a:cubicBezTo>
                      <a:pt x="5430" y="10668"/>
                      <a:pt x="5382" y="10621"/>
                      <a:pt x="5382" y="10561"/>
                    </a:cubicBezTo>
                    <a:cubicBezTo>
                      <a:pt x="5382" y="10501"/>
                      <a:pt x="5430" y="10454"/>
                      <a:pt x="5490" y="10454"/>
                    </a:cubicBezTo>
                    <a:close/>
                    <a:moveTo>
                      <a:pt x="7216" y="10454"/>
                    </a:moveTo>
                    <a:cubicBezTo>
                      <a:pt x="7276" y="10454"/>
                      <a:pt x="7323" y="10501"/>
                      <a:pt x="7323" y="10561"/>
                    </a:cubicBezTo>
                    <a:cubicBezTo>
                      <a:pt x="7323" y="10621"/>
                      <a:pt x="7276" y="10668"/>
                      <a:pt x="7216" y="10668"/>
                    </a:cubicBezTo>
                    <a:cubicBezTo>
                      <a:pt x="7156" y="10668"/>
                      <a:pt x="7109" y="10621"/>
                      <a:pt x="7109" y="10561"/>
                    </a:cubicBezTo>
                    <a:cubicBezTo>
                      <a:pt x="7109" y="10501"/>
                      <a:pt x="7156" y="10454"/>
                      <a:pt x="7216" y="10454"/>
                    </a:cubicBezTo>
                    <a:close/>
                    <a:moveTo>
                      <a:pt x="3811" y="0"/>
                    </a:moveTo>
                    <a:cubicBezTo>
                      <a:pt x="3561" y="0"/>
                      <a:pt x="3394" y="203"/>
                      <a:pt x="3394" y="417"/>
                    </a:cubicBezTo>
                    <a:cubicBezTo>
                      <a:pt x="3394" y="595"/>
                      <a:pt x="3489" y="750"/>
                      <a:pt x="3656" y="810"/>
                    </a:cubicBezTo>
                    <a:lnTo>
                      <a:pt x="3656" y="1738"/>
                    </a:lnTo>
                    <a:lnTo>
                      <a:pt x="1965" y="1738"/>
                    </a:lnTo>
                    <a:cubicBezTo>
                      <a:pt x="1870" y="1738"/>
                      <a:pt x="1799" y="1810"/>
                      <a:pt x="1799" y="1893"/>
                    </a:cubicBezTo>
                    <a:lnTo>
                      <a:pt x="1799" y="3596"/>
                    </a:lnTo>
                    <a:lnTo>
                      <a:pt x="799" y="3596"/>
                    </a:lnTo>
                    <a:cubicBezTo>
                      <a:pt x="739" y="3441"/>
                      <a:pt x="596" y="3322"/>
                      <a:pt x="418" y="3322"/>
                    </a:cubicBezTo>
                    <a:cubicBezTo>
                      <a:pt x="179" y="3322"/>
                      <a:pt x="1" y="3524"/>
                      <a:pt x="1" y="3739"/>
                    </a:cubicBezTo>
                    <a:cubicBezTo>
                      <a:pt x="1" y="3977"/>
                      <a:pt x="191" y="4155"/>
                      <a:pt x="418" y="4155"/>
                    </a:cubicBezTo>
                    <a:cubicBezTo>
                      <a:pt x="596" y="4155"/>
                      <a:pt x="739" y="4048"/>
                      <a:pt x="799" y="3893"/>
                    </a:cubicBezTo>
                    <a:lnTo>
                      <a:pt x="1727" y="3893"/>
                    </a:lnTo>
                    <a:lnTo>
                      <a:pt x="1727" y="5310"/>
                    </a:lnTo>
                    <a:lnTo>
                      <a:pt x="799" y="5310"/>
                    </a:lnTo>
                    <a:cubicBezTo>
                      <a:pt x="739" y="5156"/>
                      <a:pt x="596" y="5036"/>
                      <a:pt x="418" y="5036"/>
                    </a:cubicBezTo>
                    <a:cubicBezTo>
                      <a:pt x="179" y="5036"/>
                      <a:pt x="1" y="5227"/>
                      <a:pt x="1" y="5453"/>
                    </a:cubicBezTo>
                    <a:cubicBezTo>
                      <a:pt x="1" y="5691"/>
                      <a:pt x="191" y="5870"/>
                      <a:pt x="418" y="5870"/>
                    </a:cubicBezTo>
                    <a:cubicBezTo>
                      <a:pt x="596" y="5870"/>
                      <a:pt x="739" y="5763"/>
                      <a:pt x="799" y="5608"/>
                    </a:cubicBezTo>
                    <a:lnTo>
                      <a:pt x="1727" y="5608"/>
                    </a:lnTo>
                    <a:lnTo>
                      <a:pt x="1727" y="7013"/>
                    </a:lnTo>
                    <a:lnTo>
                      <a:pt x="799" y="7013"/>
                    </a:lnTo>
                    <a:cubicBezTo>
                      <a:pt x="739" y="6870"/>
                      <a:pt x="596" y="6751"/>
                      <a:pt x="418" y="6751"/>
                    </a:cubicBezTo>
                    <a:cubicBezTo>
                      <a:pt x="179" y="6751"/>
                      <a:pt x="1" y="6941"/>
                      <a:pt x="1" y="7168"/>
                    </a:cubicBezTo>
                    <a:cubicBezTo>
                      <a:pt x="1" y="7406"/>
                      <a:pt x="191" y="7584"/>
                      <a:pt x="418" y="7584"/>
                    </a:cubicBezTo>
                    <a:cubicBezTo>
                      <a:pt x="596" y="7584"/>
                      <a:pt x="739" y="7477"/>
                      <a:pt x="799" y="7311"/>
                    </a:cubicBezTo>
                    <a:lnTo>
                      <a:pt x="1727" y="7311"/>
                    </a:lnTo>
                    <a:lnTo>
                      <a:pt x="1727" y="9013"/>
                    </a:lnTo>
                    <a:cubicBezTo>
                      <a:pt x="1727" y="9097"/>
                      <a:pt x="1799" y="9180"/>
                      <a:pt x="1882" y="9180"/>
                    </a:cubicBezTo>
                    <a:lnTo>
                      <a:pt x="3585" y="9180"/>
                    </a:lnTo>
                    <a:lnTo>
                      <a:pt x="3585" y="10097"/>
                    </a:lnTo>
                    <a:cubicBezTo>
                      <a:pt x="3430" y="10156"/>
                      <a:pt x="3311" y="10311"/>
                      <a:pt x="3311" y="10490"/>
                    </a:cubicBezTo>
                    <a:cubicBezTo>
                      <a:pt x="3311" y="10728"/>
                      <a:pt x="3513" y="10906"/>
                      <a:pt x="3727" y="10906"/>
                    </a:cubicBezTo>
                    <a:cubicBezTo>
                      <a:pt x="3966" y="10906"/>
                      <a:pt x="4144" y="10704"/>
                      <a:pt x="4144" y="10490"/>
                    </a:cubicBezTo>
                    <a:cubicBezTo>
                      <a:pt x="4144" y="10311"/>
                      <a:pt x="4049" y="10156"/>
                      <a:pt x="3882" y="10097"/>
                    </a:cubicBezTo>
                    <a:lnTo>
                      <a:pt x="3882" y="9180"/>
                    </a:lnTo>
                    <a:lnTo>
                      <a:pt x="5299" y="9180"/>
                    </a:lnTo>
                    <a:lnTo>
                      <a:pt x="5299" y="10097"/>
                    </a:lnTo>
                    <a:cubicBezTo>
                      <a:pt x="5144" y="10156"/>
                      <a:pt x="5025" y="10311"/>
                      <a:pt x="5025" y="10490"/>
                    </a:cubicBezTo>
                    <a:cubicBezTo>
                      <a:pt x="5025" y="10728"/>
                      <a:pt x="5216" y="10906"/>
                      <a:pt x="5442" y="10906"/>
                    </a:cubicBezTo>
                    <a:cubicBezTo>
                      <a:pt x="5680" y="10906"/>
                      <a:pt x="5859" y="10704"/>
                      <a:pt x="5859" y="10490"/>
                    </a:cubicBezTo>
                    <a:cubicBezTo>
                      <a:pt x="5859" y="10311"/>
                      <a:pt x="5752" y="10156"/>
                      <a:pt x="5597" y="10097"/>
                    </a:cubicBezTo>
                    <a:lnTo>
                      <a:pt x="5597" y="9180"/>
                    </a:lnTo>
                    <a:lnTo>
                      <a:pt x="7002" y="9180"/>
                    </a:lnTo>
                    <a:lnTo>
                      <a:pt x="7002" y="10097"/>
                    </a:lnTo>
                    <a:cubicBezTo>
                      <a:pt x="6859" y="10156"/>
                      <a:pt x="6740" y="10311"/>
                      <a:pt x="6740" y="10490"/>
                    </a:cubicBezTo>
                    <a:cubicBezTo>
                      <a:pt x="6740" y="10728"/>
                      <a:pt x="6930" y="10906"/>
                      <a:pt x="7156" y="10906"/>
                    </a:cubicBezTo>
                    <a:cubicBezTo>
                      <a:pt x="7383" y="10906"/>
                      <a:pt x="7573" y="10704"/>
                      <a:pt x="7573" y="10490"/>
                    </a:cubicBezTo>
                    <a:cubicBezTo>
                      <a:pt x="7573" y="10311"/>
                      <a:pt x="7466" y="10156"/>
                      <a:pt x="7299" y="10097"/>
                    </a:cubicBezTo>
                    <a:lnTo>
                      <a:pt x="7299" y="9180"/>
                    </a:lnTo>
                    <a:lnTo>
                      <a:pt x="9002" y="9180"/>
                    </a:lnTo>
                    <a:cubicBezTo>
                      <a:pt x="9085" y="9180"/>
                      <a:pt x="9169" y="9097"/>
                      <a:pt x="9169" y="9013"/>
                    </a:cubicBezTo>
                    <a:lnTo>
                      <a:pt x="9169" y="7311"/>
                    </a:lnTo>
                    <a:lnTo>
                      <a:pt x="10085" y="7311"/>
                    </a:lnTo>
                    <a:cubicBezTo>
                      <a:pt x="10145" y="7465"/>
                      <a:pt x="10300" y="7584"/>
                      <a:pt x="10478" y="7584"/>
                    </a:cubicBezTo>
                    <a:cubicBezTo>
                      <a:pt x="10716" y="7584"/>
                      <a:pt x="10895" y="7394"/>
                      <a:pt x="10895" y="7168"/>
                    </a:cubicBezTo>
                    <a:cubicBezTo>
                      <a:pt x="10895" y="6930"/>
                      <a:pt x="10693" y="6751"/>
                      <a:pt x="10478" y="6751"/>
                    </a:cubicBezTo>
                    <a:cubicBezTo>
                      <a:pt x="10300" y="6751"/>
                      <a:pt x="10145" y="6858"/>
                      <a:pt x="10085" y="7013"/>
                    </a:cubicBezTo>
                    <a:lnTo>
                      <a:pt x="9169" y="7013"/>
                    </a:lnTo>
                    <a:lnTo>
                      <a:pt x="9240" y="5644"/>
                    </a:lnTo>
                    <a:lnTo>
                      <a:pt x="10157" y="5644"/>
                    </a:lnTo>
                    <a:cubicBezTo>
                      <a:pt x="10216" y="5798"/>
                      <a:pt x="10371" y="5918"/>
                      <a:pt x="10550" y="5918"/>
                    </a:cubicBezTo>
                    <a:cubicBezTo>
                      <a:pt x="10788" y="5918"/>
                      <a:pt x="10966" y="5727"/>
                      <a:pt x="10966" y="5501"/>
                    </a:cubicBezTo>
                    <a:cubicBezTo>
                      <a:pt x="10966" y="5263"/>
                      <a:pt x="10776" y="5084"/>
                      <a:pt x="10550" y="5084"/>
                    </a:cubicBezTo>
                    <a:cubicBezTo>
                      <a:pt x="10371" y="5084"/>
                      <a:pt x="10216" y="5191"/>
                      <a:pt x="10157" y="5346"/>
                    </a:cubicBezTo>
                    <a:lnTo>
                      <a:pt x="9240" y="5346"/>
                    </a:lnTo>
                    <a:lnTo>
                      <a:pt x="9240" y="3905"/>
                    </a:lnTo>
                    <a:lnTo>
                      <a:pt x="10157" y="3905"/>
                    </a:lnTo>
                    <a:cubicBezTo>
                      <a:pt x="10216" y="4060"/>
                      <a:pt x="10371" y="4179"/>
                      <a:pt x="10550" y="4179"/>
                    </a:cubicBezTo>
                    <a:cubicBezTo>
                      <a:pt x="10788" y="4179"/>
                      <a:pt x="10966" y="3977"/>
                      <a:pt x="10966" y="3763"/>
                    </a:cubicBezTo>
                    <a:cubicBezTo>
                      <a:pt x="10966" y="3524"/>
                      <a:pt x="10776" y="3346"/>
                      <a:pt x="10550" y="3346"/>
                    </a:cubicBezTo>
                    <a:cubicBezTo>
                      <a:pt x="10371" y="3346"/>
                      <a:pt x="10216" y="3441"/>
                      <a:pt x="10157" y="3608"/>
                    </a:cubicBezTo>
                    <a:lnTo>
                      <a:pt x="9240" y="3608"/>
                    </a:lnTo>
                    <a:lnTo>
                      <a:pt x="9240" y="1917"/>
                    </a:lnTo>
                    <a:cubicBezTo>
                      <a:pt x="9240" y="1822"/>
                      <a:pt x="9169" y="1750"/>
                      <a:pt x="9073" y="1750"/>
                    </a:cubicBezTo>
                    <a:lnTo>
                      <a:pt x="8395" y="1750"/>
                    </a:lnTo>
                    <a:cubicBezTo>
                      <a:pt x="8299" y="1750"/>
                      <a:pt x="8228" y="1822"/>
                      <a:pt x="8228" y="1917"/>
                    </a:cubicBezTo>
                    <a:cubicBezTo>
                      <a:pt x="8228" y="2000"/>
                      <a:pt x="8299" y="2072"/>
                      <a:pt x="8395" y="2072"/>
                    </a:cubicBezTo>
                    <a:lnTo>
                      <a:pt x="8930" y="2072"/>
                    </a:lnTo>
                    <a:lnTo>
                      <a:pt x="8930" y="3763"/>
                    </a:lnTo>
                    <a:lnTo>
                      <a:pt x="8930" y="5489"/>
                    </a:lnTo>
                    <a:lnTo>
                      <a:pt x="8930" y="7215"/>
                    </a:lnTo>
                    <a:lnTo>
                      <a:pt x="8930" y="8906"/>
                    </a:lnTo>
                    <a:lnTo>
                      <a:pt x="2049" y="8906"/>
                    </a:lnTo>
                    <a:lnTo>
                      <a:pt x="2049" y="7215"/>
                    </a:lnTo>
                    <a:lnTo>
                      <a:pt x="2049" y="5489"/>
                    </a:lnTo>
                    <a:lnTo>
                      <a:pt x="2049" y="3763"/>
                    </a:lnTo>
                    <a:lnTo>
                      <a:pt x="2049" y="2060"/>
                    </a:lnTo>
                    <a:lnTo>
                      <a:pt x="7752" y="2060"/>
                    </a:lnTo>
                    <a:cubicBezTo>
                      <a:pt x="7835" y="2060"/>
                      <a:pt x="7918" y="1988"/>
                      <a:pt x="7918" y="1893"/>
                    </a:cubicBezTo>
                    <a:cubicBezTo>
                      <a:pt x="7918" y="1810"/>
                      <a:pt x="7835" y="1738"/>
                      <a:pt x="7752" y="1738"/>
                    </a:cubicBezTo>
                    <a:lnTo>
                      <a:pt x="7383" y="1738"/>
                    </a:lnTo>
                    <a:lnTo>
                      <a:pt x="7383" y="810"/>
                    </a:lnTo>
                    <a:cubicBezTo>
                      <a:pt x="7526" y="750"/>
                      <a:pt x="7645" y="595"/>
                      <a:pt x="7645" y="417"/>
                    </a:cubicBezTo>
                    <a:cubicBezTo>
                      <a:pt x="7645" y="179"/>
                      <a:pt x="7454" y="0"/>
                      <a:pt x="7228" y="0"/>
                    </a:cubicBezTo>
                    <a:cubicBezTo>
                      <a:pt x="6990" y="0"/>
                      <a:pt x="6811" y="203"/>
                      <a:pt x="6811" y="417"/>
                    </a:cubicBezTo>
                    <a:cubicBezTo>
                      <a:pt x="6811" y="595"/>
                      <a:pt x="6918" y="750"/>
                      <a:pt x="7085" y="810"/>
                    </a:cubicBezTo>
                    <a:lnTo>
                      <a:pt x="7085" y="1738"/>
                    </a:lnTo>
                    <a:lnTo>
                      <a:pt x="5668" y="1738"/>
                    </a:lnTo>
                    <a:lnTo>
                      <a:pt x="5668" y="810"/>
                    </a:lnTo>
                    <a:cubicBezTo>
                      <a:pt x="5811" y="750"/>
                      <a:pt x="5930" y="595"/>
                      <a:pt x="5930" y="417"/>
                    </a:cubicBezTo>
                    <a:cubicBezTo>
                      <a:pt x="5930" y="179"/>
                      <a:pt x="5740" y="0"/>
                      <a:pt x="5513" y="0"/>
                    </a:cubicBezTo>
                    <a:cubicBezTo>
                      <a:pt x="5275" y="0"/>
                      <a:pt x="5097" y="203"/>
                      <a:pt x="5097" y="417"/>
                    </a:cubicBezTo>
                    <a:cubicBezTo>
                      <a:pt x="5097" y="595"/>
                      <a:pt x="5204" y="750"/>
                      <a:pt x="5371" y="810"/>
                    </a:cubicBezTo>
                    <a:lnTo>
                      <a:pt x="5371" y="1738"/>
                    </a:lnTo>
                    <a:lnTo>
                      <a:pt x="3954" y="1738"/>
                    </a:lnTo>
                    <a:lnTo>
                      <a:pt x="3954" y="810"/>
                    </a:lnTo>
                    <a:cubicBezTo>
                      <a:pt x="4108" y="750"/>
                      <a:pt x="4216" y="595"/>
                      <a:pt x="4216" y="417"/>
                    </a:cubicBezTo>
                    <a:cubicBezTo>
                      <a:pt x="4216" y="179"/>
                      <a:pt x="4025" y="0"/>
                      <a:pt x="3811" y="0"/>
                    </a:cubicBezTo>
                    <a:close/>
                  </a:path>
                </a:pathLst>
              </a:custGeom>
              <a:grpFill/>
              <a:ln>
                <a:noFill/>
              </a:ln>
            </p:spPr>
            <p:txBody>
              <a:bodyPr spcFirstLastPara="1" wrap="square" lIns="121900" tIns="121900" rIns="121900" bIns="121900" anchor="ctr" anchorCtr="0">
                <a:noAutofit/>
              </a:bodyPr>
              <a:lstStyle/>
              <a:p>
                <a:endParaRPr sz="2400"/>
              </a:p>
            </p:txBody>
          </p:sp>
          <p:sp>
            <p:nvSpPr>
              <p:cNvPr id="16" name="Google Shape;15060;p150">
                <a:extLst>
                  <a:ext uri="{FF2B5EF4-FFF2-40B4-BE49-F238E27FC236}">
                    <a16:creationId xmlns:a16="http://schemas.microsoft.com/office/drawing/2014/main" id="{1E939B73-31E3-EB78-05AD-29B7CAC0D6F5}"/>
                  </a:ext>
                </a:extLst>
              </p:cNvPr>
              <p:cNvSpPr/>
              <p:nvPr/>
            </p:nvSpPr>
            <p:spPr>
              <a:xfrm>
                <a:off x="3599440" y="2956543"/>
                <a:ext cx="204494" cy="204843"/>
              </a:xfrm>
              <a:custGeom>
                <a:avLst/>
                <a:gdLst/>
                <a:ahLst/>
                <a:cxnLst/>
                <a:rect l="l" t="t" r="r" b="b"/>
                <a:pathLst>
                  <a:path w="6455" h="6466" extrusionOk="0">
                    <a:moveTo>
                      <a:pt x="156" y="0"/>
                    </a:moveTo>
                    <a:cubicBezTo>
                      <a:pt x="72" y="0"/>
                      <a:pt x="1" y="84"/>
                      <a:pt x="1" y="167"/>
                    </a:cubicBezTo>
                    <a:lnTo>
                      <a:pt x="1" y="4644"/>
                    </a:lnTo>
                    <a:cubicBezTo>
                      <a:pt x="1" y="4739"/>
                      <a:pt x="72" y="4811"/>
                      <a:pt x="156" y="4811"/>
                    </a:cubicBezTo>
                    <a:cubicBezTo>
                      <a:pt x="251" y="4811"/>
                      <a:pt x="322" y="4739"/>
                      <a:pt x="322" y="4644"/>
                    </a:cubicBezTo>
                    <a:lnTo>
                      <a:pt x="322" y="334"/>
                    </a:lnTo>
                    <a:lnTo>
                      <a:pt x="6133" y="334"/>
                    </a:lnTo>
                    <a:lnTo>
                      <a:pt x="6133" y="6132"/>
                    </a:lnTo>
                    <a:lnTo>
                      <a:pt x="322" y="6132"/>
                    </a:lnTo>
                    <a:lnTo>
                      <a:pt x="322" y="5287"/>
                    </a:lnTo>
                    <a:cubicBezTo>
                      <a:pt x="322" y="5203"/>
                      <a:pt x="251" y="5120"/>
                      <a:pt x="156" y="5120"/>
                    </a:cubicBezTo>
                    <a:cubicBezTo>
                      <a:pt x="72" y="5120"/>
                      <a:pt x="1" y="5203"/>
                      <a:pt x="1" y="5287"/>
                    </a:cubicBezTo>
                    <a:lnTo>
                      <a:pt x="1" y="6299"/>
                    </a:lnTo>
                    <a:cubicBezTo>
                      <a:pt x="1" y="6394"/>
                      <a:pt x="72" y="6466"/>
                      <a:pt x="156" y="6466"/>
                    </a:cubicBezTo>
                    <a:lnTo>
                      <a:pt x="6287" y="6466"/>
                    </a:lnTo>
                    <a:cubicBezTo>
                      <a:pt x="6383" y="6466"/>
                      <a:pt x="6454" y="6394"/>
                      <a:pt x="6454" y="6299"/>
                    </a:cubicBezTo>
                    <a:lnTo>
                      <a:pt x="6454" y="167"/>
                    </a:lnTo>
                    <a:cubicBezTo>
                      <a:pt x="6442" y="84"/>
                      <a:pt x="6383" y="0"/>
                      <a:pt x="6287" y="0"/>
                    </a:cubicBezTo>
                    <a:close/>
                  </a:path>
                </a:pathLst>
              </a:custGeom>
              <a:grpFill/>
              <a:ln>
                <a:noFill/>
              </a:ln>
            </p:spPr>
            <p:txBody>
              <a:bodyPr spcFirstLastPara="1" wrap="square" lIns="121900" tIns="121900" rIns="121900" bIns="121900" anchor="ctr" anchorCtr="0">
                <a:noAutofit/>
              </a:bodyPr>
              <a:lstStyle/>
              <a:p>
                <a:endParaRPr sz="2400"/>
              </a:p>
            </p:txBody>
          </p:sp>
          <p:sp>
            <p:nvSpPr>
              <p:cNvPr id="17" name="Google Shape;15061;p150">
                <a:extLst>
                  <a:ext uri="{FF2B5EF4-FFF2-40B4-BE49-F238E27FC236}">
                    <a16:creationId xmlns:a16="http://schemas.microsoft.com/office/drawing/2014/main" id="{79FC0945-28F3-B590-009B-389C8BE9926C}"/>
                  </a:ext>
                </a:extLst>
              </p:cNvPr>
              <p:cNvSpPr/>
              <p:nvPr/>
            </p:nvSpPr>
            <p:spPr>
              <a:xfrm>
                <a:off x="3661691" y="3018763"/>
                <a:ext cx="79992" cy="80372"/>
              </a:xfrm>
              <a:custGeom>
                <a:avLst/>
                <a:gdLst/>
                <a:ahLst/>
                <a:cxnLst/>
                <a:rect l="l" t="t" r="r" b="b"/>
                <a:pathLst>
                  <a:path w="2525" h="2537" extrusionOk="0">
                    <a:moveTo>
                      <a:pt x="155" y="1"/>
                    </a:moveTo>
                    <a:cubicBezTo>
                      <a:pt x="72" y="1"/>
                      <a:pt x="1" y="84"/>
                      <a:pt x="1" y="168"/>
                    </a:cubicBezTo>
                    <a:lnTo>
                      <a:pt x="1" y="2370"/>
                    </a:lnTo>
                    <a:cubicBezTo>
                      <a:pt x="1" y="2466"/>
                      <a:pt x="72" y="2537"/>
                      <a:pt x="155" y="2537"/>
                    </a:cubicBezTo>
                    <a:lnTo>
                      <a:pt x="1013" y="2537"/>
                    </a:lnTo>
                    <a:cubicBezTo>
                      <a:pt x="1096" y="2537"/>
                      <a:pt x="1167" y="2466"/>
                      <a:pt x="1167" y="2370"/>
                    </a:cubicBezTo>
                    <a:cubicBezTo>
                      <a:pt x="1167" y="2287"/>
                      <a:pt x="1096" y="2204"/>
                      <a:pt x="1013" y="2204"/>
                    </a:cubicBezTo>
                    <a:lnTo>
                      <a:pt x="322" y="2204"/>
                    </a:lnTo>
                    <a:lnTo>
                      <a:pt x="322" y="322"/>
                    </a:lnTo>
                    <a:lnTo>
                      <a:pt x="2215" y="322"/>
                    </a:lnTo>
                    <a:lnTo>
                      <a:pt x="2215" y="2204"/>
                    </a:lnTo>
                    <a:lnTo>
                      <a:pt x="1632" y="2204"/>
                    </a:lnTo>
                    <a:cubicBezTo>
                      <a:pt x="1548" y="2204"/>
                      <a:pt x="1465" y="2287"/>
                      <a:pt x="1465" y="2370"/>
                    </a:cubicBezTo>
                    <a:cubicBezTo>
                      <a:pt x="1465" y="2466"/>
                      <a:pt x="1548" y="2537"/>
                      <a:pt x="1632" y="2537"/>
                    </a:cubicBezTo>
                    <a:lnTo>
                      <a:pt x="2346" y="2537"/>
                    </a:lnTo>
                    <a:cubicBezTo>
                      <a:pt x="2441" y="2537"/>
                      <a:pt x="2513" y="2466"/>
                      <a:pt x="2513" y="2370"/>
                    </a:cubicBezTo>
                    <a:lnTo>
                      <a:pt x="2513" y="168"/>
                    </a:lnTo>
                    <a:cubicBezTo>
                      <a:pt x="2525" y="84"/>
                      <a:pt x="2453" y="1"/>
                      <a:pt x="2358" y="1"/>
                    </a:cubicBezTo>
                    <a:close/>
                  </a:path>
                </a:pathLst>
              </a:custGeom>
              <a:grpFill/>
              <a:ln>
                <a:noFill/>
              </a:ln>
            </p:spPr>
            <p:txBody>
              <a:bodyPr spcFirstLastPara="1" wrap="square" lIns="121900" tIns="121900" rIns="121900" bIns="121900" anchor="ctr" anchorCtr="0">
                <a:noAutofit/>
              </a:bodyPr>
              <a:lstStyle/>
              <a:p>
                <a:endParaRPr sz="2400"/>
              </a:p>
            </p:txBody>
          </p:sp>
          <p:sp>
            <p:nvSpPr>
              <p:cNvPr id="18" name="Google Shape;15062;p150">
                <a:extLst>
                  <a:ext uri="{FF2B5EF4-FFF2-40B4-BE49-F238E27FC236}">
                    <a16:creationId xmlns:a16="http://schemas.microsoft.com/office/drawing/2014/main" id="{57B83DF5-EC1A-F39C-F1BF-E84C8087ADAD}"/>
                  </a:ext>
                </a:extLst>
              </p:cNvPr>
              <p:cNvSpPr/>
              <p:nvPr/>
            </p:nvSpPr>
            <p:spPr>
              <a:xfrm>
                <a:off x="3625101" y="2982552"/>
                <a:ext cx="18501" cy="18533"/>
              </a:xfrm>
              <a:custGeom>
                <a:avLst/>
                <a:gdLst/>
                <a:ahLst/>
                <a:cxnLst/>
                <a:rect l="l" t="t" r="r" b="b"/>
                <a:pathLst>
                  <a:path w="584" h="585" extrusionOk="0">
                    <a:moveTo>
                      <a:pt x="167" y="1"/>
                    </a:moveTo>
                    <a:cubicBezTo>
                      <a:pt x="84" y="1"/>
                      <a:pt x="1" y="72"/>
                      <a:pt x="1" y="168"/>
                    </a:cubicBezTo>
                    <a:lnTo>
                      <a:pt x="1" y="418"/>
                    </a:lnTo>
                    <a:cubicBezTo>
                      <a:pt x="1" y="513"/>
                      <a:pt x="84" y="584"/>
                      <a:pt x="167" y="584"/>
                    </a:cubicBezTo>
                    <a:lnTo>
                      <a:pt x="417" y="584"/>
                    </a:lnTo>
                    <a:cubicBezTo>
                      <a:pt x="513" y="584"/>
                      <a:pt x="584" y="513"/>
                      <a:pt x="584" y="418"/>
                    </a:cubicBezTo>
                    <a:lnTo>
                      <a:pt x="584" y="168"/>
                    </a:lnTo>
                    <a:cubicBezTo>
                      <a:pt x="584" y="72"/>
                      <a:pt x="513" y="1"/>
                      <a:pt x="417" y="1"/>
                    </a:cubicBezTo>
                    <a:close/>
                  </a:path>
                </a:pathLst>
              </a:custGeom>
              <a:grpFill/>
              <a:ln>
                <a:noFill/>
              </a:ln>
            </p:spPr>
            <p:txBody>
              <a:bodyPr spcFirstLastPara="1" wrap="square" lIns="121900" tIns="121900" rIns="121900" bIns="121900" anchor="ctr" anchorCtr="0">
                <a:noAutofit/>
              </a:bodyPr>
              <a:lstStyle/>
              <a:p>
                <a:endParaRPr sz="2400"/>
              </a:p>
            </p:txBody>
          </p:sp>
          <p:sp>
            <p:nvSpPr>
              <p:cNvPr id="21" name="Google Shape;15063;p150">
                <a:extLst>
                  <a:ext uri="{FF2B5EF4-FFF2-40B4-BE49-F238E27FC236}">
                    <a16:creationId xmlns:a16="http://schemas.microsoft.com/office/drawing/2014/main" id="{1B0EC189-606B-4E8F-064C-6A3E7065DB2E}"/>
                  </a:ext>
                </a:extLst>
              </p:cNvPr>
              <p:cNvSpPr/>
              <p:nvPr/>
            </p:nvSpPr>
            <p:spPr>
              <a:xfrm>
                <a:off x="3651522" y="2982552"/>
                <a:ext cx="18881" cy="18533"/>
              </a:xfrm>
              <a:custGeom>
                <a:avLst/>
                <a:gdLst/>
                <a:ahLst/>
                <a:cxnLst/>
                <a:rect l="l" t="t" r="r" b="b"/>
                <a:pathLst>
                  <a:path w="596" h="585" extrusionOk="0">
                    <a:moveTo>
                      <a:pt x="167" y="1"/>
                    </a:moveTo>
                    <a:cubicBezTo>
                      <a:pt x="83" y="1"/>
                      <a:pt x="0" y="72"/>
                      <a:pt x="0" y="168"/>
                    </a:cubicBezTo>
                    <a:lnTo>
                      <a:pt x="0" y="418"/>
                    </a:lnTo>
                    <a:cubicBezTo>
                      <a:pt x="0" y="513"/>
                      <a:pt x="83" y="584"/>
                      <a:pt x="167" y="584"/>
                    </a:cubicBezTo>
                    <a:lnTo>
                      <a:pt x="417" y="584"/>
                    </a:lnTo>
                    <a:cubicBezTo>
                      <a:pt x="512" y="584"/>
                      <a:pt x="583" y="513"/>
                      <a:pt x="583" y="418"/>
                    </a:cubicBezTo>
                    <a:lnTo>
                      <a:pt x="583" y="168"/>
                    </a:lnTo>
                    <a:cubicBezTo>
                      <a:pt x="595" y="72"/>
                      <a:pt x="524" y="1"/>
                      <a:pt x="441" y="1"/>
                    </a:cubicBezTo>
                    <a:close/>
                  </a:path>
                </a:pathLst>
              </a:custGeom>
              <a:grpFill/>
              <a:ln>
                <a:noFill/>
              </a:ln>
            </p:spPr>
            <p:txBody>
              <a:bodyPr spcFirstLastPara="1" wrap="square" lIns="121900" tIns="121900" rIns="121900" bIns="121900" anchor="ctr" anchorCtr="0">
                <a:noAutofit/>
              </a:bodyPr>
              <a:lstStyle/>
              <a:p>
                <a:endParaRPr sz="2400"/>
              </a:p>
            </p:txBody>
          </p:sp>
          <p:sp>
            <p:nvSpPr>
              <p:cNvPr id="25" name="Google Shape;15064;p150">
                <a:extLst>
                  <a:ext uri="{FF2B5EF4-FFF2-40B4-BE49-F238E27FC236}">
                    <a16:creationId xmlns:a16="http://schemas.microsoft.com/office/drawing/2014/main" id="{7B214810-7164-00ED-CF72-F1B00316AF76}"/>
                  </a:ext>
                </a:extLst>
              </p:cNvPr>
              <p:cNvSpPr/>
              <p:nvPr/>
            </p:nvSpPr>
            <p:spPr>
              <a:xfrm>
                <a:off x="3679052" y="2982552"/>
                <a:ext cx="18501" cy="18533"/>
              </a:xfrm>
              <a:custGeom>
                <a:avLst/>
                <a:gdLst/>
                <a:ahLst/>
                <a:cxnLst/>
                <a:rect l="l" t="t" r="r" b="b"/>
                <a:pathLst>
                  <a:path w="584" h="585" extrusionOk="0">
                    <a:moveTo>
                      <a:pt x="167" y="1"/>
                    </a:moveTo>
                    <a:cubicBezTo>
                      <a:pt x="72" y="1"/>
                      <a:pt x="0" y="72"/>
                      <a:pt x="0" y="168"/>
                    </a:cubicBezTo>
                    <a:lnTo>
                      <a:pt x="0" y="418"/>
                    </a:lnTo>
                    <a:cubicBezTo>
                      <a:pt x="0" y="513"/>
                      <a:pt x="72" y="584"/>
                      <a:pt x="167" y="584"/>
                    </a:cubicBezTo>
                    <a:lnTo>
                      <a:pt x="417" y="584"/>
                    </a:lnTo>
                    <a:cubicBezTo>
                      <a:pt x="500" y="584"/>
                      <a:pt x="584" y="513"/>
                      <a:pt x="584" y="418"/>
                    </a:cubicBezTo>
                    <a:lnTo>
                      <a:pt x="584" y="168"/>
                    </a:lnTo>
                    <a:cubicBezTo>
                      <a:pt x="584" y="72"/>
                      <a:pt x="500" y="1"/>
                      <a:pt x="417" y="1"/>
                    </a:cubicBezTo>
                    <a:close/>
                  </a:path>
                </a:pathLst>
              </a:custGeom>
              <a:grpFill/>
              <a:ln>
                <a:noFill/>
              </a:ln>
            </p:spPr>
            <p:txBody>
              <a:bodyPr spcFirstLastPara="1" wrap="square" lIns="121900" tIns="121900" rIns="121900" bIns="121900" anchor="ctr" anchorCtr="0">
                <a:noAutofit/>
              </a:bodyPr>
              <a:lstStyle/>
              <a:p>
                <a:endParaRPr sz="2400"/>
              </a:p>
            </p:txBody>
          </p:sp>
          <p:sp>
            <p:nvSpPr>
              <p:cNvPr id="27" name="Google Shape;15065;p150">
                <a:extLst>
                  <a:ext uri="{FF2B5EF4-FFF2-40B4-BE49-F238E27FC236}">
                    <a16:creationId xmlns:a16="http://schemas.microsoft.com/office/drawing/2014/main" id="{1DB13952-2F8B-259C-F7FB-E2D8B297152D}"/>
                  </a:ext>
                </a:extLst>
              </p:cNvPr>
              <p:cNvSpPr/>
              <p:nvPr/>
            </p:nvSpPr>
            <p:spPr>
              <a:xfrm>
                <a:off x="3705822" y="2982552"/>
                <a:ext cx="18501" cy="18533"/>
              </a:xfrm>
              <a:custGeom>
                <a:avLst/>
                <a:gdLst/>
                <a:ahLst/>
                <a:cxnLst/>
                <a:rect l="l" t="t" r="r" b="b"/>
                <a:pathLst>
                  <a:path w="584" h="585" extrusionOk="0">
                    <a:moveTo>
                      <a:pt x="167" y="1"/>
                    </a:moveTo>
                    <a:cubicBezTo>
                      <a:pt x="72" y="1"/>
                      <a:pt x="1" y="72"/>
                      <a:pt x="1" y="168"/>
                    </a:cubicBezTo>
                    <a:lnTo>
                      <a:pt x="1" y="418"/>
                    </a:lnTo>
                    <a:cubicBezTo>
                      <a:pt x="1" y="513"/>
                      <a:pt x="72" y="584"/>
                      <a:pt x="167" y="584"/>
                    </a:cubicBezTo>
                    <a:lnTo>
                      <a:pt x="417" y="584"/>
                    </a:lnTo>
                    <a:cubicBezTo>
                      <a:pt x="513" y="584"/>
                      <a:pt x="584" y="513"/>
                      <a:pt x="584" y="418"/>
                    </a:cubicBezTo>
                    <a:lnTo>
                      <a:pt x="584" y="168"/>
                    </a:lnTo>
                    <a:cubicBezTo>
                      <a:pt x="584" y="72"/>
                      <a:pt x="513" y="1"/>
                      <a:pt x="417" y="1"/>
                    </a:cubicBezTo>
                    <a:close/>
                  </a:path>
                </a:pathLst>
              </a:custGeom>
              <a:grpFill/>
              <a:ln>
                <a:noFill/>
              </a:ln>
            </p:spPr>
            <p:txBody>
              <a:bodyPr spcFirstLastPara="1" wrap="square" lIns="121900" tIns="121900" rIns="121900" bIns="121900" anchor="ctr" anchorCtr="0">
                <a:noAutofit/>
              </a:bodyPr>
              <a:lstStyle/>
              <a:p>
                <a:endParaRPr sz="2400"/>
              </a:p>
            </p:txBody>
          </p:sp>
          <p:sp>
            <p:nvSpPr>
              <p:cNvPr id="28" name="Google Shape;15066;p150">
                <a:extLst>
                  <a:ext uri="{FF2B5EF4-FFF2-40B4-BE49-F238E27FC236}">
                    <a16:creationId xmlns:a16="http://schemas.microsoft.com/office/drawing/2014/main" id="{CE3D9F43-8971-1A1C-31A1-BCEC33B340F5}"/>
                  </a:ext>
                </a:extLst>
              </p:cNvPr>
              <p:cNvSpPr/>
              <p:nvPr/>
            </p:nvSpPr>
            <p:spPr>
              <a:xfrm>
                <a:off x="3732591" y="2982552"/>
                <a:ext cx="18533" cy="18533"/>
              </a:xfrm>
              <a:custGeom>
                <a:avLst/>
                <a:gdLst/>
                <a:ahLst/>
                <a:cxnLst/>
                <a:rect l="l" t="t" r="r" b="b"/>
                <a:pathLst>
                  <a:path w="585" h="585" extrusionOk="0">
                    <a:moveTo>
                      <a:pt x="168" y="1"/>
                    </a:moveTo>
                    <a:cubicBezTo>
                      <a:pt x="72" y="1"/>
                      <a:pt x="1" y="72"/>
                      <a:pt x="1" y="168"/>
                    </a:cubicBezTo>
                    <a:lnTo>
                      <a:pt x="1" y="418"/>
                    </a:lnTo>
                    <a:cubicBezTo>
                      <a:pt x="1" y="513"/>
                      <a:pt x="72" y="584"/>
                      <a:pt x="168" y="584"/>
                    </a:cubicBezTo>
                    <a:lnTo>
                      <a:pt x="418" y="584"/>
                    </a:lnTo>
                    <a:cubicBezTo>
                      <a:pt x="513" y="584"/>
                      <a:pt x="584" y="513"/>
                      <a:pt x="584" y="418"/>
                    </a:cubicBezTo>
                    <a:lnTo>
                      <a:pt x="584" y="168"/>
                    </a:lnTo>
                    <a:cubicBezTo>
                      <a:pt x="584" y="72"/>
                      <a:pt x="513" y="1"/>
                      <a:pt x="418" y="1"/>
                    </a:cubicBezTo>
                    <a:close/>
                  </a:path>
                </a:pathLst>
              </a:custGeom>
              <a:grpFill/>
              <a:ln>
                <a:noFill/>
              </a:ln>
            </p:spPr>
            <p:txBody>
              <a:bodyPr spcFirstLastPara="1" wrap="square" lIns="121900" tIns="121900" rIns="121900" bIns="121900" anchor="ctr" anchorCtr="0">
                <a:noAutofit/>
              </a:bodyPr>
              <a:lstStyle/>
              <a:p>
                <a:endParaRPr sz="2400"/>
              </a:p>
            </p:txBody>
          </p:sp>
          <p:sp>
            <p:nvSpPr>
              <p:cNvPr id="29" name="Google Shape;15067;p150">
                <a:extLst>
                  <a:ext uri="{FF2B5EF4-FFF2-40B4-BE49-F238E27FC236}">
                    <a16:creationId xmlns:a16="http://schemas.microsoft.com/office/drawing/2014/main" id="{6C01678E-9B24-B62F-E9A3-60F74822B57F}"/>
                  </a:ext>
                </a:extLst>
              </p:cNvPr>
              <p:cNvSpPr/>
              <p:nvPr/>
            </p:nvSpPr>
            <p:spPr>
              <a:xfrm>
                <a:off x="3759773" y="2982552"/>
                <a:ext cx="18121" cy="18533"/>
              </a:xfrm>
              <a:custGeom>
                <a:avLst/>
                <a:gdLst/>
                <a:ahLst/>
                <a:cxnLst/>
                <a:rect l="l" t="t" r="r" b="b"/>
                <a:pathLst>
                  <a:path w="572" h="585" extrusionOk="0">
                    <a:moveTo>
                      <a:pt x="155" y="1"/>
                    </a:moveTo>
                    <a:cubicBezTo>
                      <a:pt x="72" y="1"/>
                      <a:pt x="0" y="72"/>
                      <a:pt x="0" y="168"/>
                    </a:cubicBezTo>
                    <a:lnTo>
                      <a:pt x="0" y="418"/>
                    </a:lnTo>
                    <a:cubicBezTo>
                      <a:pt x="0" y="513"/>
                      <a:pt x="72" y="584"/>
                      <a:pt x="155" y="584"/>
                    </a:cubicBezTo>
                    <a:lnTo>
                      <a:pt x="417" y="584"/>
                    </a:lnTo>
                    <a:cubicBezTo>
                      <a:pt x="500" y="584"/>
                      <a:pt x="572" y="513"/>
                      <a:pt x="572" y="418"/>
                    </a:cubicBezTo>
                    <a:lnTo>
                      <a:pt x="572" y="168"/>
                    </a:lnTo>
                    <a:cubicBezTo>
                      <a:pt x="572" y="72"/>
                      <a:pt x="500" y="1"/>
                      <a:pt x="417" y="1"/>
                    </a:cubicBezTo>
                    <a:close/>
                  </a:path>
                </a:pathLst>
              </a:custGeom>
              <a:grpFill/>
              <a:ln>
                <a:noFill/>
              </a:ln>
            </p:spPr>
            <p:txBody>
              <a:bodyPr spcFirstLastPara="1" wrap="square" lIns="121900" tIns="121900" rIns="121900" bIns="121900" anchor="ctr" anchorCtr="0">
                <a:noAutofit/>
              </a:bodyPr>
              <a:lstStyle/>
              <a:p>
                <a:endParaRPr sz="2400"/>
              </a:p>
            </p:txBody>
          </p:sp>
          <p:sp>
            <p:nvSpPr>
              <p:cNvPr id="30" name="Google Shape;15068;p150">
                <a:extLst>
                  <a:ext uri="{FF2B5EF4-FFF2-40B4-BE49-F238E27FC236}">
                    <a16:creationId xmlns:a16="http://schemas.microsoft.com/office/drawing/2014/main" id="{DD7CF2E3-E5B1-AE70-148F-276A5B5EA759}"/>
                  </a:ext>
                </a:extLst>
              </p:cNvPr>
              <p:cNvSpPr/>
              <p:nvPr/>
            </p:nvSpPr>
            <p:spPr>
              <a:xfrm>
                <a:off x="3625101" y="3116844"/>
                <a:ext cx="18501" cy="18501"/>
              </a:xfrm>
              <a:custGeom>
                <a:avLst/>
                <a:gdLst/>
                <a:ahLst/>
                <a:cxnLst/>
                <a:rect l="l" t="t" r="r" b="b"/>
                <a:pathLst>
                  <a:path w="584" h="584" extrusionOk="0">
                    <a:moveTo>
                      <a:pt x="167" y="1"/>
                    </a:moveTo>
                    <a:cubicBezTo>
                      <a:pt x="84" y="1"/>
                      <a:pt x="1" y="84"/>
                      <a:pt x="1" y="167"/>
                    </a:cubicBezTo>
                    <a:lnTo>
                      <a:pt x="1" y="417"/>
                    </a:lnTo>
                    <a:cubicBezTo>
                      <a:pt x="1" y="513"/>
                      <a:pt x="84" y="584"/>
                      <a:pt x="167" y="584"/>
                    </a:cubicBezTo>
                    <a:lnTo>
                      <a:pt x="417" y="584"/>
                    </a:lnTo>
                    <a:cubicBezTo>
                      <a:pt x="513" y="584"/>
                      <a:pt x="584" y="513"/>
                      <a:pt x="584" y="417"/>
                    </a:cubicBezTo>
                    <a:lnTo>
                      <a:pt x="584" y="167"/>
                    </a:lnTo>
                    <a:cubicBezTo>
                      <a:pt x="584" y="84"/>
                      <a:pt x="513" y="1"/>
                      <a:pt x="417" y="1"/>
                    </a:cubicBezTo>
                    <a:close/>
                  </a:path>
                </a:pathLst>
              </a:custGeom>
              <a:grpFill/>
              <a:ln>
                <a:noFill/>
              </a:ln>
            </p:spPr>
            <p:txBody>
              <a:bodyPr spcFirstLastPara="1" wrap="square" lIns="121900" tIns="121900" rIns="121900" bIns="121900" anchor="ctr" anchorCtr="0">
                <a:noAutofit/>
              </a:bodyPr>
              <a:lstStyle/>
              <a:p>
                <a:endParaRPr sz="2400"/>
              </a:p>
            </p:txBody>
          </p:sp>
          <p:sp>
            <p:nvSpPr>
              <p:cNvPr id="31" name="Google Shape;15069;p150">
                <a:extLst>
                  <a:ext uri="{FF2B5EF4-FFF2-40B4-BE49-F238E27FC236}">
                    <a16:creationId xmlns:a16="http://schemas.microsoft.com/office/drawing/2014/main" id="{67663E4E-5210-51F4-77CE-32E0057232B3}"/>
                  </a:ext>
                </a:extLst>
              </p:cNvPr>
              <p:cNvSpPr/>
              <p:nvPr/>
            </p:nvSpPr>
            <p:spPr>
              <a:xfrm>
                <a:off x="3651522" y="3116844"/>
                <a:ext cx="18881" cy="18501"/>
              </a:xfrm>
              <a:custGeom>
                <a:avLst/>
                <a:gdLst/>
                <a:ahLst/>
                <a:cxnLst/>
                <a:rect l="l" t="t" r="r" b="b"/>
                <a:pathLst>
                  <a:path w="596" h="584" extrusionOk="0">
                    <a:moveTo>
                      <a:pt x="167" y="1"/>
                    </a:moveTo>
                    <a:cubicBezTo>
                      <a:pt x="83" y="1"/>
                      <a:pt x="0" y="84"/>
                      <a:pt x="0" y="167"/>
                    </a:cubicBezTo>
                    <a:lnTo>
                      <a:pt x="0" y="417"/>
                    </a:lnTo>
                    <a:cubicBezTo>
                      <a:pt x="0" y="513"/>
                      <a:pt x="83" y="584"/>
                      <a:pt x="167" y="584"/>
                    </a:cubicBezTo>
                    <a:lnTo>
                      <a:pt x="417" y="584"/>
                    </a:lnTo>
                    <a:cubicBezTo>
                      <a:pt x="512" y="584"/>
                      <a:pt x="583" y="513"/>
                      <a:pt x="583" y="417"/>
                    </a:cubicBezTo>
                    <a:lnTo>
                      <a:pt x="583" y="167"/>
                    </a:lnTo>
                    <a:cubicBezTo>
                      <a:pt x="595" y="84"/>
                      <a:pt x="524" y="1"/>
                      <a:pt x="441" y="1"/>
                    </a:cubicBezTo>
                    <a:close/>
                  </a:path>
                </a:pathLst>
              </a:custGeom>
              <a:grpFill/>
              <a:ln>
                <a:noFill/>
              </a:ln>
            </p:spPr>
            <p:txBody>
              <a:bodyPr spcFirstLastPara="1" wrap="square" lIns="121900" tIns="121900" rIns="121900" bIns="121900" anchor="ctr" anchorCtr="0">
                <a:noAutofit/>
              </a:bodyPr>
              <a:lstStyle/>
              <a:p>
                <a:endParaRPr sz="2400"/>
              </a:p>
            </p:txBody>
          </p:sp>
          <p:sp>
            <p:nvSpPr>
              <p:cNvPr id="32" name="Google Shape;15070;p150">
                <a:extLst>
                  <a:ext uri="{FF2B5EF4-FFF2-40B4-BE49-F238E27FC236}">
                    <a16:creationId xmlns:a16="http://schemas.microsoft.com/office/drawing/2014/main" id="{86B1ACD6-F627-7EDB-EC9D-A297F313FBB9}"/>
                  </a:ext>
                </a:extLst>
              </p:cNvPr>
              <p:cNvSpPr/>
              <p:nvPr/>
            </p:nvSpPr>
            <p:spPr>
              <a:xfrm>
                <a:off x="3679052" y="3116844"/>
                <a:ext cx="18501" cy="18501"/>
              </a:xfrm>
              <a:custGeom>
                <a:avLst/>
                <a:gdLst/>
                <a:ahLst/>
                <a:cxnLst/>
                <a:rect l="l" t="t" r="r" b="b"/>
                <a:pathLst>
                  <a:path w="584" h="584" extrusionOk="0">
                    <a:moveTo>
                      <a:pt x="167" y="1"/>
                    </a:moveTo>
                    <a:cubicBezTo>
                      <a:pt x="72" y="1"/>
                      <a:pt x="0" y="84"/>
                      <a:pt x="0" y="167"/>
                    </a:cubicBezTo>
                    <a:lnTo>
                      <a:pt x="0" y="417"/>
                    </a:lnTo>
                    <a:cubicBezTo>
                      <a:pt x="0" y="513"/>
                      <a:pt x="72" y="584"/>
                      <a:pt x="167" y="584"/>
                    </a:cubicBezTo>
                    <a:lnTo>
                      <a:pt x="417" y="584"/>
                    </a:lnTo>
                    <a:cubicBezTo>
                      <a:pt x="500" y="584"/>
                      <a:pt x="584" y="513"/>
                      <a:pt x="584" y="417"/>
                    </a:cubicBezTo>
                    <a:lnTo>
                      <a:pt x="584" y="167"/>
                    </a:lnTo>
                    <a:cubicBezTo>
                      <a:pt x="584" y="84"/>
                      <a:pt x="500" y="1"/>
                      <a:pt x="417" y="1"/>
                    </a:cubicBezTo>
                    <a:close/>
                  </a:path>
                </a:pathLst>
              </a:custGeom>
              <a:grpFill/>
              <a:ln>
                <a:noFill/>
              </a:ln>
            </p:spPr>
            <p:txBody>
              <a:bodyPr spcFirstLastPara="1" wrap="square" lIns="121900" tIns="121900" rIns="121900" bIns="121900" anchor="ctr" anchorCtr="0">
                <a:noAutofit/>
              </a:bodyPr>
              <a:lstStyle/>
              <a:p>
                <a:endParaRPr sz="2400"/>
              </a:p>
            </p:txBody>
          </p:sp>
          <p:sp>
            <p:nvSpPr>
              <p:cNvPr id="33" name="Google Shape;15071;p150">
                <a:extLst>
                  <a:ext uri="{FF2B5EF4-FFF2-40B4-BE49-F238E27FC236}">
                    <a16:creationId xmlns:a16="http://schemas.microsoft.com/office/drawing/2014/main" id="{0F96206C-C392-4CD4-85AA-36191FC712FF}"/>
                  </a:ext>
                </a:extLst>
              </p:cNvPr>
              <p:cNvSpPr/>
              <p:nvPr/>
            </p:nvSpPr>
            <p:spPr>
              <a:xfrm>
                <a:off x="3705822" y="3116844"/>
                <a:ext cx="18501" cy="18501"/>
              </a:xfrm>
              <a:custGeom>
                <a:avLst/>
                <a:gdLst/>
                <a:ahLst/>
                <a:cxnLst/>
                <a:rect l="l" t="t" r="r" b="b"/>
                <a:pathLst>
                  <a:path w="584" h="584" extrusionOk="0">
                    <a:moveTo>
                      <a:pt x="167" y="1"/>
                    </a:moveTo>
                    <a:cubicBezTo>
                      <a:pt x="72" y="1"/>
                      <a:pt x="1" y="84"/>
                      <a:pt x="1" y="167"/>
                    </a:cubicBezTo>
                    <a:lnTo>
                      <a:pt x="1" y="417"/>
                    </a:lnTo>
                    <a:cubicBezTo>
                      <a:pt x="1" y="513"/>
                      <a:pt x="72" y="584"/>
                      <a:pt x="167" y="584"/>
                    </a:cubicBezTo>
                    <a:lnTo>
                      <a:pt x="417" y="584"/>
                    </a:lnTo>
                    <a:cubicBezTo>
                      <a:pt x="513" y="584"/>
                      <a:pt x="584" y="513"/>
                      <a:pt x="584" y="417"/>
                    </a:cubicBezTo>
                    <a:lnTo>
                      <a:pt x="584" y="167"/>
                    </a:lnTo>
                    <a:cubicBezTo>
                      <a:pt x="584" y="84"/>
                      <a:pt x="513" y="1"/>
                      <a:pt x="417" y="1"/>
                    </a:cubicBezTo>
                    <a:close/>
                  </a:path>
                </a:pathLst>
              </a:custGeom>
              <a:grpFill/>
              <a:ln>
                <a:noFill/>
              </a:ln>
            </p:spPr>
            <p:txBody>
              <a:bodyPr spcFirstLastPara="1" wrap="square" lIns="121900" tIns="121900" rIns="121900" bIns="121900" anchor="ctr" anchorCtr="0">
                <a:noAutofit/>
              </a:bodyPr>
              <a:lstStyle/>
              <a:p>
                <a:endParaRPr sz="2400"/>
              </a:p>
            </p:txBody>
          </p:sp>
          <p:sp>
            <p:nvSpPr>
              <p:cNvPr id="34" name="Google Shape;15072;p150">
                <a:extLst>
                  <a:ext uri="{FF2B5EF4-FFF2-40B4-BE49-F238E27FC236}">
                    <a16:creationId xmlns:a16="http://schemas.microsoft.com/office/drawing/2014/main" id="{CBA1A316-6CF2-DC60-6A87-43D291D567DF}"/>
                  </a:ext>
                </a:extLst>
              </p:cNvPr>
              <p:cNvSpPr/>
              <p:nvPr/>
            </p:nvSpPr>
            <p:spPr>
              <a:xfrm>
                <a:off x="3732591" y="3116844"/>
                <a:ext cx="18533" cy="18501"/>
              </a:xfrm>
              <a:custGeom>
                <a:avLst/>
                <a:gdLst/>
                <a:ahLst/>
                <a:cxnLst/>
                <a:rect l="l" t="t" r="r" b="b"/>
                <a:pathLst>
                  <a:path w="585" h="584" extrusionOk="0">
                    <a:moveTo>
                      <a:pt x="168" y="1"/>
                    </a:moveTo>
                    <a:cubicBezTo>
                      <a:pt x="72" y="1"/>
                      <a:pt x="1" y="84"/>
                      <a:pt x="1" y="167"/>
                    </a:cubicBezTo>
                    <a:lnTo>
                      <a:pt x="1" y="417"/>
                    </a:lnTo>
                    <a:cubicBezTo>
                      <a:pt x="1" y="513"/>
                      <a:pt x="72" y="584"/>
                      <a:pt x="168" y="584"/>
                    </a:cubicBezTo>
                    <a:lnTo>
                      <a:pt x="418" y="584"/>
                    </a:lnTo>
                    <a:cubicBezTo>
                      <a:pt x="513" y="584"/>
                      <a:pt x="584" y="513"/>
                      <a:pt x="584" y="417"/>
                    </a:cubicBezTo>
                    <a:lnTo>
                      <a:pt x="584" y="167"/>
                    </a:lnTo>
                    <a:cubicBezTo>
                      <a:pt x="584" y="84"/>
                      <a:pt x="513" y="1"/>
                      <a:pt x="418" y="1"/>
                    </a:cubicBezTo>
                    <a:close/>
                  </a:path>
                </a:pathLst>
              </a:custGeom>
              <a:grpFill/>
              <a:ln>
                <a:noFill/>
              </a:ln>
            </p:spPr>
            <p:txBody>
              <a:bodyPr spcFirstLastPara="1" wrap="square" lIns="121900" tIns="121900" rIns="121900" bIns="121900" anchor="ctr" anchorCtr="0">
                <a:noAutofit/>
              </a:bodyPr>
              <a:lstStyle/>
              <a:p>
                <a:endParaRPr sz="2400"/>
              </a:p>
            </p:txBody>
          </p:sp>
          <p:sp>
            <p:nvSpPr>
              <p:cNvPr id="35" name="Google Shape;15073;p150">
                <a:extLst>
                  <a:ext uri="{FF2B5EF4-FFF2-40B4-BE49-F238E27FC236}">
                    <a16:creationId xmlns:a16="http://schemas.microsoft.com/office/drawing/2014/main" id="{47CEE4B0-D2E1-4C71-8706-4D9BFB50E35E}"/>
                  </a:ext>
                </a:extLst>
              </p:cNvPr>
              <p:cNvSpPr/>
              <p:nvPr/>
            </p:nvSpPr>
            <p:spPr>
              <a:xfrm>
                <a:off x="3759773" y="3116844"/>
                <a:ext cx="18121" cy="18501"/>
              </a:xfrm>
              <a:custGeom>
                <a:avLst/>
                <a:gdLst/>
                <a:ahLst/>
                <a:cxnLst/>
                <a:rect l="l" t="t" r="r" b="b"/>
                <a:pathLst>
                  <a:path w="572" h="584" extrusionOk="0">
                    <a:moveTo>
                      <a:pt x="155" y="1"/>
                    </a:moveTo>
                    <a:cubicBezTo>
                      <a:pt x="72" y="1"/>
                      <a:pt x="0" y="84"/>
                      <a:pt x="0" y="167"/>
                    </a:cubicBezTo>
                    <a:lnTo>
                      <a:pt x="0" y="417"/>
                    </a:lnTo>
                    <a:cubicBezTo>
                      <a:pt x="0" y="513"/>
                      <a:pt x="72" y="584"/>
                      <a:pt x="155" y="584"/>
                    </a:cubicBezTo>
                    <a:lnTo>
                      <a:pt x="417" y="584"/>
                    </a:lnTo>
                    <a:cubicBezTo>
                      <a:pt x="500" y="584"/>
                      <a:pt x="572" y="513"/>
                      <a:pt x="572" y="417"/>
                    </a:cubicBezTo>
                    <a:lnTo>
                      <a:pt x="572" y="167"/>
                    </a:lnTo>
                    <a:cubicBezTo>
                      <a:pt x="572" y="84"/>
                      <a:pt x="500" y="1"/>
                      <a:pt x="417" y="1"/>
                    </a:cubicBezTo>
                    <a:close/>
                  </a:path>
                </a:pathLst>
              </a:custGeom>
              <a:grpFill/>
              <a:ln>
                <a:noFill/>
              </a:ln>
            </p:spPr>
            <p:txBody>
              <a:bodyPr spcFirstLastPara="1" wrap="square" lIns="121900" tIns="121900" rIns="121900" bIns="121900" anchor="ctr" anchorCtr="0">
                <a:noAutofit/>
              </a:bodyPr>
              <a:lstStyle/>
              <a:p>
                <a:endParaRPr sz="2400"/>
              </a:p>
            </p:txBody>
          </p:sp>
          <p:sp>
            <p:nvSpPr>
              <p:cNvPr id="36" name="Google Shape;15074;p150">
                <a:extLst>
                  <a:ext uri="{FF2B5EF4-FFF2-40B4-BE49-F238E27FC236}">
                    <a16:creationId xmlns:a16="http://schemas.microsoft.com/office/drawing/2014/main" id="{0D55BF7E-1E0B-D24C-AA66-D2F70E6EE31B}"/>
                  </a:ext>
                </a:extLst>
              </p:cNvPr>
              <p:cNvSpPr/>
              <p:nvPr/>
            </p:nvSpPr>
            <p:spPr>
              <a:xfrm>
                <a:off x="3625101" y="3009354"/>
                <a:ext cx="18501" cy="18501"/>
              </a:xfrm>
              <a:custGeom>
                <a:avLst/>
                <a:gdLst/>
                <a:ahLst/>
                <a:cxnLst/>
                <a:rect l="l" t="t" r="r" b="b"/>
                <a:pathLst>
                  <a:path w="584" h="584" extrusionOk="0">
                    <a:moveTo>
                      <a:pt x="167" y="0"/>
                    </a:moveTo>
                    <a:cubicBezTo>
                      <a:pt x="84" y="0"/>
                      <a:pt x="1" y="84"/>
                      <a:pt x="1" y="167"/>
                    </a:cubicBezTo>
                    <a:lnTo>
                      <a:pt x="1" y="417"/>
                    </a:lnTo>
                    <a:cubicBezTo>
                      <a:pt x="1" y="512"/>
                      <a:pt x="84" y="584"/>
                      <a:pt x="167" y="584"/>
                    </a:cubicBezTo>
                    <a:lnTo>
                      <a:pt x="417" y="584"/>
                    </a:lnTo>
                    <a:cubicBezTo>
                      <a:pt x="513" y="584"/>
                      <a:pt x="584" y="512"/>
                      <a:pt x="584" y="417"/>
                    </a:cubicBezTo>
                    <a:lnTo>
                      <a:pt x="584" y="167"/>
                    </a:lnTo>
                    <a:cubicBezTo>
                      <a:pt x="584" y="84"/>
                      <a:pt x="513" y="0"/>
                      <a:pt x="417" y="0"/>
                    </a:cubicBezTo>
                    <a:close/>
                  </a:path>
                </a:pathLst>
              </a:custGeom>
              <a:grpFill/>
              <a:ln>
                <a:noFill/>
              </a:ln>
            </p:spPr>
            <p:txBody>
              <a:bodyPr spcFirstLastPara="1" wrap="square" lIns="121900" tIns="121900" rIns="121900" bIns="121900" anchor="ctr" anchorCtr="0">
                <a:noAutofit/>
              </a:bodyPr>
              <a:lstStyle/>
              <a:p>
                <a:endParaRPr sz="2400"/>
              </a:p>
            </p:txBody>
          </p:sp>
          <p:sp>
            <p:nvSpPr>
              <p:cNvPr id="37" name="Google Shape;15075;p150">
                <a:extLst>
                  <a:ext uri="{FF2B5EF4-FFF2-40B4-BE49-F238E27FC236}">
                    <a16:creationId xmlns:a16="http://schemas.microsoft.com/office/drawing/2014/main" id="{E8FE5D38-1764-676F-46B4-BA2D1DA8F231}"/>
                  </a:ext>
                </a:extLst>
              </p:cNvPr>
              <p:cNvSpPr/>
              <p:nvPr/>
            </p:nvSpPr>
            <p:spPr>
              <a:xfrm>
                <a:off x="3625101" y="3036503"/>
                <a:ext cx="18501" cy="18153"/>
              </a:xfrm>
              <a:custGeom>
                <a:avLst/>
                <a:gdLst/>
                <a:ahLst/>
                <a:cxnLst/>
                <a:rect l="l" t="t" r="r" b="b"/>
                <a:pathLst>
                  <a:path w="584" h="573" extrusionOk="0">
                    <a:moveTo>
                      <a:pt x="167" y="1"/>
                    </a:moveTo>
                    <a:cubicBezTo>
                      <a:pt x="84" y="1"/>
                      <a:pt x="1" y="72"/>
                      <a:pt x="1" y="155"/>
                    </a:cubicBezTo>
                    <a:lnTo>
                      <a:pt x="1" y="417"/>
                    </a:lnTo>
                    <a:cubicBezTo>
                      <a:pt x="1" y="501"/>
                      <a:pt x="84" y="572"/>
                      <a:pt x="167" y="572"/>
                    </a:cubicBezTo>
                    <a:lnTo>
                      <a:pt x="417" y="572"/>
                    </a:lnTo>
                    <a:cubicBezTo>
                      <a:pt x="513" y="572"/>
                      <a:pt x="584" y="501"/>
                      <a:pt x="584" y="417"/>
                    </a:cubicBezTo>
                    <a:lnTo>
                      <a:pt x="584" y="155"/>
                    </a:lnTo>
                    <a:cubicBezTo>
                      <a:pt x="584" y="72"/>
                      <a:pt x="513" y="1"/>
                      <a:pt x="417" y="1"/>
                    </a:cubicBezTo>
                    <a:close/>
                  </a:path>
                </a:pathLst>
              </a:custGeom>
              <a:grpFill/>
              <a:ln>
                <a:noFill/>
              </a:ln>
            </p:spPr>
            <p:txBody>
              <a:bodyPr spcFirstLastPara="1" wrap="square" lIns="121900" tIns="121900" rIns="121900" bIns="121900" anchor="ctr" anchorCtr="0">
                <a:noAutofit/>
              </a:bodyPr>
              <a:lstStyle/>
              <a:p>
                <a:endParaRPr sz="2400"/>
              </a:p>
            </p:txBody>
          </p:sp>
          <p:sp>
            <p:nvSpPr>
              <p:cNvPr id="38" name="Google Shape;15076;p150">
                <a:extLst>
                  <a:ext uri="{FF2B5EF4-FFF2-40B4-BE49-F238E27FC236}">
                    <a16:creationId xmlns:a16="http://schemas.microsoft.com/office/drawing/2014/main" id="{31F0FC8D-BCB9-A48A-7235-22E5F0C64551}"/>
                  </a:ext>
                </a:extLst>
              </p:cNvPr>
              <p:cNvSpPr/>
              <p:nvPr/>
            </p:nvSpPr>
            <p:spPr>
              <a:xfrm>
                <a:off x="3625101" y="3063273"/>
                <a:ext cx="18501" cy="18533"/>
              </a:xfrm>
              <a:custGeom>
                <a:avLst/>
                <a:gdLst/>
                <a:ahLst/>
                <a:cxnLst/>
                <a:rect l="l" t="t" r="r" b="b"/>
                <a:pathLst>
                  <a:path w="584" h="585" extrusionOk="0">
                    <a:moveTo>
                      <a:pt x="167" y="1"/>
                    </a:moveTo>
                    <a:cubicBezTo>
                      <a:pt x="84" y="1"/>
                      <a:pt x="1" y="72"/>
                      <a:pt x="1" y="168"/>
                    </a:cubicBezTo>
                    <a:lnTo>
                      <a:pt x="1" y="418"/>
                    </a:lnTo>
                    <a:cubicBezTo>
                      <a:pt x="1" y="501"/>
                      <a:pt x="84" y="584"/>
                      <a:pt x="167" y="584"/>
                    </a:cubicBezTo>
                    <a:lnTo>
                      <a:pt x="417" y="584"/>
                    </a:lnTo>
                    <a:cubicBezTo>
                      <a:pt x="513" y="584"/>
                      <a:pt x="584" y="501"/>
                      <a:pt x="584" y="418"/>
                    </a:cubicBezTo>
                    <a:lnTo>
                      <a:pt x="584" y="168"/>
                    </a:lnTo>
                    <a:cubicBezTo>
                      <a:pt x="584" y="72"/>
                      <a:pt x="513" y="1"/>
                      <a:pt x="417" y="1"/>
                    </a:cubicBezTo>
                    <a:close/>
                  </a:path>
                </a:pathLst>
              </a:custGeom>
              <a:grpFill/>
              <a:ln>
                <a:noFill/>
              </a:ln>
            </p:spPr>
            <p:txBody>
              <a:bodyPr spcFirstLastPara="1" wrap="square" lIns="121900" tIns="121900" rIns="121900" bIns="121900" anchor="ctr" anchorCtr="0">
                <a:noAutofit/>
              </a:bodyPr>
              <a:lstStyle/>
              <a:p>
                <a:endParaRPr sz="2400"/>
              </a:p>
            </p:txBody>
          </p:sp>
          <p:sp>
            <p:nvSpPr>
              <p:cNvPr id="39" name="Google Shape;15077;p150">
                <a:extLst>
                  <a:ext uri="{FF2B5EF4-FFF2-40B4-BE49-F238E27FC236}">
                    <a16:creationId xmlns:a16="http://schemas.microsoft.com/office/drawing/2014/main" id="{7825F295-017D-54FC-5599-D3C21FB2F906}"/>
                  </a:ext>
                </a:extLst>
              </p:cNvPr>
              <p:cNvSpPr/>
              <p:nvPr/>
            </p:nvSpPr>
            <p:spPr>
              <a:xfrm>
                <a:off x="3625101" y="3090074"/>
                <a:ext cx="18501" cy="18501"/>
              </a:xfrm>
              <a:custGeom>
                <a:avLst/>
                <a:gdLst/>
                <a:ahLst/>
                <a:cxnLst/>
                <a:rect l="l" t="t" r="r" b="b"/>
                <a:pathLst>
                  <a:path w="584" h="584" extrusionOk="0">
                    <a:moveTo>
                      <a:pt x="167" y="0"/>
                    </a:moveTo>
                    <a:cubicBezTo>
                      <a:pt x="84" y="0"/>
                      <a:pt x="1" y="72"/>
                      <a:pt x="1" y="167"/>
                    </a:cubicBezTo>
                    <a:lnTo>
                      <a:pt x="1" y="417"/>
                    </a:lnTo>
                    <a:cubicBezTo>
                      <a:pt x="1" y="512"/>
                      <a:pt x="84" y="584"/>
                      <a:pt x="167" y="584"/>
                    </a:cubicBezTo>
                    <a:lnTo>
                      <a:pt x="417" y="584"/>
                    </a:lnTo>
                    <a:cubicBezTo>
                      <a:pt x="513" y="584"/>
                      <a:pt x="584" y="512"/>
                      <a:pt x="584" y="417"/>
                    </a:cubicBezTo>
                    <a:lnTo>
                      <a:pt x="584" y="167"/>
                    </a:lnTo>
                    <a:cubicBezTo>
                      <a:pt x="584" y="72"/>
                      <a:pt x="513" y="0"/>
                      <a:pt x="417" y="0"/>
                    </a:cubicBezTo>
                    <a:close/>
                  </a:path>
                </a:pathLst>
              </a:custGeom>
              <a:grpFill/>
              <a:ln>
                <a:noFill/>
              </a:ln>
            </p:spPr>
            <p:txBody>
              <a:bodyPr spcFirstLastPara="1" wrap="square" lIns="121900" tIns="121900" rIns="121900" bIns="121900" anchor="ctr" anchorCtr="0">
                <a:noAutofit/>
              </a:bodyPr>
              <a:lstStyle/>
              <a:p>
                <a:endParaRPr sz="2400"/>
              </a:p>
            </p:txBody>
          </p:sp>
          <p:sp>
            <p:nvSpPr>
              <p:cNvPr id="40" name="Google Shape;15078;p150">
                <a:extLst>
                  <a:ext uri="{FF2B5EF4-FFF2-40B4-BE49-F238E27FC236}">
                    <a16:creationId xmlns:a16="http://schemas.microsoft.com/office/drawing/2014/main" id="{6B542649-A510-08C2-3BD3-171D7048FB57}"/>
                  </a:ext>
                </a:extLst>
              </p:cNvPr>
              <p:cNvSpPr/>
              <p:nvPr/>
            </p:nvSpPr>
            <p:spPr>
              <a:xfrm>
                <a:off x="3759773" y="3009354"/>
                <a:ext cx="18121" cy="18501"/>
              </a:xfrm>
              <a:custGeom>
                <a:avLst/>
                <a:gdLst/>
                <a:ahLst/>
                <a:cxnLst/>
                <a:rect l="l" t="t" r="r" b="b"/>
                <a:pathLst>
                  <a:path w="572" h="584" extrusionOk="0">
                    <a:moveTo>
                      <a:pt x="155" y="0"/>
                    </a:moveTo>
                    <a:cubicBezTo>
                      <a:pt x="72" y="0"/>
                      <a:pt x="0" y="84"/>
                      <a:pt x="0" y="167"/>
                    </a:cubicBezTo>
                    <a:lnTo>
                      <a:pt x="0" y="417"/>
                    </a:lnTo>
                    <a:cubicBezTo>
                      <a:pt x="0" y="512"/>
                      <a:pt x="72" y="584"/>
                      <a:pt x="155" y="584"/>
                    </a:cubicBezTo>
                    <a:lnTo>
                      <a:pt x="417" y="584"/>
                    </a:lnTo>
                    <a:cubicBezTo>
                      <a:pt x="500" y="584"/>
                      <a:pt x="572" y="512"/>
                      <a:pt x="572" y="417"/>
                    </a:cubicBezTo>
                    <a:lnTo>
                      <a:pt x="572" y="167"/>
                    </a:lnTo>
                    <a:cubicBezTo>
                      <a:pt x="572" y="84"/>
                      <a:pt x="500" y="0"/>
                      <a:pt x="417" y="0"/>
                    </a:cubicBezTo>
                    <a:close/>
                  </a:path>
                </a:pathLst>
              </a:custGeom>
              <a:grpFill/>
              <a:ln>
                <a:noFill/>
              </a:ln>
            </p:spPr>
            <p:txBody>
              <a:bodyPr spcFirstLastPara="1" wrap="square" lIns="121900" tIns="121900" rIns="121900" bIns="121900" anchor="ctr" anchorCtr="0">
                <a:noAutofit/>
              </a:bodyPr>
              <a:lstStyle/>
              <a:p>
                <a:endParaRPr sz="2400"/>
              </a:p>
            </p:txBody>
          </p:sp>
          <p:sp>
            <p:nvSpPr>
              <p:cNvPr id="41" name="Google Shape;15079;p150">
                <a:extLst>
                  <a:ext uri="{FF2B5EF4-FFF2-40B4-BE49-F238E27FC236}">
                    <a16:creationId xmlns:a16="http://schemas.microsoft.com/office/drawing/2014/main" id="{2614A92F-59B4-E311-E6AD-93B13459DC40}"/>
                  </a:ext>
                </a:extLst>
              </p:cNvPr>
              <p:cNvSpPr/>
              <p:nvPr/>
            </p:nvSpPr>
            <p:spPr>
              <a:xfrm>
                <a:off x="3759773" y="3036503"/>
                <a:ext cx="18121" cy="18153"/>
              </a:xfrm>
              <a:custGeom>
                <a:avLst/>
                <a:gdLst/>
                <a:ahLst/>
                <a:cxnLst/>
                <a:rect l="l" t="t" r="r" b="b"/>
                <a:pathLst>
                  <a:path w="572" h="573" extrusionOk="0">
                    <a:moveTo>
                      <a:pt x="155" y="1"/>
                    </a:moveTo>
                    <a:cubicBezTo>
                      <a:pt x="72" y="1"/>
                      <a:pt x="0" y="72"/>
                      <a:pt x="0" y="155"/>
                    </a:cubicBezTo>
                    <a:lnTo>
                      <a:pt x="0" y="417"/>
                    </a:lnTo>
                    <a:cubicBezTo>
                      <a:pt x="0" y="501"/>
                      <a:pt x="72" y="572"/>
                      <a:pt x="155" y="572"/>
                    </a:cubicBezTo>
                    <a:lnTo>
                      <a:pt x="417" y="572"/>
                    </a:lnTo>
                    <a:cubicBezTo>
                      <a:pt x="500" y="572"/>
                      <a:pt x="572" y="501"/>
                      <a:pt x="572" y="417"/>
                    </a:cubicBezTo>
                    <a:lnTo>
                      <a:pt x="572" y="155"/>
                    </a:lnTo>
                    <a:cubicBezTo>
                      <a:pt x="572" y="72"/>
                      <a:pt x="500" y="1"/>
                      <a:pt x="417" y="1"/>
                    </a:cubicBezTo>
                    <a:close/>
                  </a:path>
                </a:pathLst>
              </a:custGeom>
              <a:grpFill/>
              <a:ln>
                <a:noFill/>
              </a:ln>
            </p:spPr>
            <p:txBody>
              <a:bodyPr spcFirstLastPara="1" wrap="square" lIns="121900" tIns="121900" rIns="121900" bIns="121900" anchor="ctr" anchorCtr="0">
                <a:noAutofit/>
              </a:bodyPr>
              <a:lstStyle/>
              <a:p>
                <a:endParaRPr sz="2400"/>
              </a:p>
            </p:txBody>
          </p:sp>
          <p:sp>
            <p:nvSpPr>
              <p:cNvPr id="42" name="Google Shape;15080;p150">
                <a:extLst>
                  <a:ext uri="{FF2B5EF4-FFF2-40B4-BE49-F238E27FC236}">
                    <a16:creationId xmlns:a16="http://schemas.microsoft.com/office/drawing/2014/main" id="{5AC12412-C82C-B9F9-C3E2-70FADB1814E8}"/>
                  </a:ext>
                </a:extLst>
              </p:cNvPr>
              <p:cNvSpPr/>
              <p:nvPr/>
            </p:nvSpPr>
            <p:spPr>
              <a:xfrm>
                <a:off x="3759773" y="3063273"/>
                <a:ext cx="18121" cy="18533"/>
              </a:xfrm>
              <a:custGeom>
                <a:avLst/>
                <a:gdLst/>
                <a:ahLst/>
                <a:cxnLst/>
                <a:rect l="l" t="t" r="r" b="b"/>
                <a:pathLst>
                  <a:path w="572" h="585" extrusionOk="0">
                    <a:moveTo>
                      <a:pt x="155" y="1"/>
                    </a:moveTo>
                    <a:cubicBezTo>
                      <a:pt x="72" y="1"/>
                      <a:pt x="0" y="72"/>
                      <a:pt x="0" y="168"/>
                    </a:cubicBezTo>
                    <a:lnTo>
                      <a:pt x="0" y="418"/>
                    </a:lnTo>
                    <a:cubicBezTo>
                      <a:pt x="0" y="501"/>
                      <a:pt x="72" y="584"/>
                      <a:pt x="155" y="584"/>
                    </a:cubicBezTo>
                    <a:lnTo>
                      <a:pt x="417" y="584"/>
                    </a:lnTo>
                    <a:cubicBezTo>
                      <a:pt x="500" y="584"/>
                      <a:pt x="572" y="501"/>
                      <a:pt x="572" y="418"/>
                    </a:cubicBezTo>
                    <a:lnTo>
                      <a:pt x="572" y="168"/>
                    </a:lnTo>
                    <a:cubicBezTo>
                      <a:pt x="572" y="72"/>
                      <a:pt x="500" y="1"/>
                      <a:pt x="417" y="1"/>
                    </a:cubicBezTo>
                    <a:close/>
                  </a:path>
                </a:pathLst>
              </a:custGeom>
              <a:grpFill/>
              <a:ln>
                <a:noFill/>
              </a:ln>
            </p:spPr>
            <p:txBody>
              <a:bodyPr spcFirstLastPara="1" wrap="square" lIns="121900" tIns="121900" rIns="121900" bIns="121900" anchor="ctr" anchorCtr="0">
                <a:noAutofit/>
              </a:bodyPr>
              <a:lstStyle/>
              <a:p>
                <a:endParaRPr sz="2400"/>
              </a:p>
            </p:txBody>
          </p:sp>
          <p:sp>
            <p:nvSpPr>
              <p:cNvPr id="43" name="Google Shape;15081;p150">
                <a:extLst>
                  <a:ext uri="{FF2B5EF4-FFF2-40B4-BE49-F238E27FC236}">
                    <a16:creationId xmlns:a16="http://schemas.microsoft.com/office/drawing/2014/main" id="{77C153F0-95C1-AEFB-DDD0-12275769CA2C}"/>
                  </a:ext>
                </a:extLst>
              </p:cNvPr>
              <p:cNvSpPr/>
              <p:nvPr/>
            </p:nvSpPr>
            <p:spPr>
              <a:xfrm>
                <a:off x="3759773" y="3090074"/>
                <a:ext cx="18121" cy="18501"/>
              </a:xfrm>
              <a:custGeom>
                <a:avLst/>
                <a:gdLst/>
                <a:ahLst/>
                <a:cxnLst/>
                <a:rect l="l" t="t" r="r" b="b"/>
                <a:pathLst>
                  <a:path w="572" h="584" extrusionOk="0">
                    <a:moveTo>
                      <a:pt x="155" y="0"/>
                    </a:moveTo>
                    <a:cubicBezTo>
                      <a:pt x="72" y="0"/>
                      <a:pt x="0" y="72"/>
                      <a:pt x="0" y="167"/>
                    </a:cubicBezTo>
                    <a:lnTo>
                      <a:pt x="0" y="417"/>
                    </a:lnTo>
                    <a:cubicBezTo>
                      <a:pt x="0" y="512"/>
                      <a:pt x="72" y="584"/>
                      <a:pt x="155" y="584"/>
                    </a:cubicBezTo>
                    <a:lnTo>
                      <a:pt x="417" y="584"/>
                    </a:lnTo>
                    <a:cubicBezTo>
                      <a:pt x="500" y="584"/>
                      <a:pt x="572" y="512"/>
                      <a:pt x="572" y="417"/>
                    </a:cubicBezTo>
                    <a:lnTo>
                      <a:pt x="572" y="167"/>
                    </a:lnTo>
                    <a:cubicBezTo>
                      <a:pt x="572" y="72"/>
                      <a:pt x="500" y="0"/>
                      <a:pt x="417" y="0"/>
                    </a:cubicBezTo>
                    <a:close/>
                  </a:path>
                </a:pathLst>
              </a:custGeom>
              <a:grpFill/>
              <a:ln>
                <a:noFill/>
              </a:ln>
            </p:spPr>
            <p:txBody>
              <a:bodyPr spcFirstLastPara="1" wrap="square" lIns="121900" tIns="121900" rIns="121900" bIns="121900" anchor="ctr" anchorCtr="0">
                <a:noAutofit/>
              </a:bodyPr>
              <a:lstStyle/>
              <a:p>
                <a:endParaRPr sz="2400"/>
              </a:p>
            </p:txBody>
          </p:sp>
        </p:grpSp>
      </p:grpSp>
      <p:grpSp>
        <p:nvGrpSpPr>
          <p:cNvPr id="44" name="Group 43">
            <a:extLst>
              <a:ext uri="{FF2B5EF4-FFF2-40B4-BE49-F238E27FC236}">
                <a16:creationId xmlns:a16="http://schemas.microsoft.com/office/drawing/2014/main" id="{331072C0-985D-484D-CB9D-EE631C22B1CE}"/>
              </a:ext>
            </a:extLst>
          </p:cNvPr>
          <p:cNvGrpSpPr/>
          <p:nvPr/>
        </p:nvGrpSpPr>
        <p:grpSpPr>
          <a:xfrm>
            <a:off x="109014" y="1617218"/>
            <a:ext cx="720000" cy="720000"/>
            <a:chOff x="1844644" y="1751266"/>
            <a:chExt cx="1546800" cy="1546800"/>
          </a:xfrm>
        </p:grpSpPr>
        <p:sp>
          <p:nvSpPr>
            <p:cNvPr id="45" name="Google Shape;1660;p90">
              <a:extLst>
                <a:ext uri="{FF2B5EF4-FFF2-40B4-BE49-F238E27FC236}">
                  <a16:creationId xmlns:a16="http://schemas.microsoft.com/office/drawing/2014/main" id="{C52587EB-241C-E3E4-6DBD-3E6B29E3AA95}"/>
                </a:ext>
              </a:extLst>
            </p:cNvPr>
            <p:cNvSpPr/>
            <p:nvPr/>
          </p:nvSpPr>
          <p:spPr>
            <a:xfrm>
              <a:off x="1844644" y="1751266"/>
              <a:ext cx="1546800" cy="1546800"/>
            </a:xfrm>
            <a:prstGeom prst="ellipse">
              <a:avLst/>
            </a:prstGeom>
            <a:noFill/>
            <a:ln w="9525"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46" name="Google Shape;1661;p90">
              <a:extLst>
                <a:ext uri="{FF2B5EF4-FFF2-40B4-BE49-F238E27FC236}">
                  <a16:creationId xmlns:a16="http://schemas.microsoft.com/office/drawing/2014/main" id="{DD287942-A1A5-980A-BEE9-C38644413390}"/>
                </a:ext>
              </a:extLst>
            </p:cNvPr>
            <p:cNvSpPr/>
            <p:nvPr/>
          </p:nvSpPr>
          <p:spPr>
            <a:xfrm>
              <a:off x="1844644" y="1751266"/>
              <a:ext cx="1546800" cy="1546800"/>
            </a:xfrm>
            <a:prstGeom prst="arc">
              <a:avLst>
                <a:gd name="adj1" fmla="val 16200000"/>
                <a:gd name="adj2" fmla="val 11192182"/>
              </a:avLst>
            </a:prstGeom>
            <a:noFill/>
            <a:ln w="19050" cap="flat" cmpd="sng">
              <a:solidFill>
                <a:schemeClr val="dk1"/>
              </a:solidFill>
              <a:prstDash val="solid"/>
              <a:round/>
              <a:headEnd type="none" w="sm" len="sm"/>
              <a:tailEnd type="oval" w="sm" len="sm"/>
            </a:ln>
          </p:spPr>
          <p:txBody>
            <a:bodyPr spcFirstLastPara="1" wrap="square" lIns="121900" tIns="121900" rIns="121900" bIns="121900" anchor="ctr" anchorCtr="0">
              <a:noAutofit/>
            </a:bodyPr>
            <a:lstStyle/>
            <a:p>
              <a:endParaRPr sz="2400"/>
            </a:p>
          </p:txBody>
        </p:sp>
        <p:grpSp>
          <p:nvGrpSpPr>
            <p:cNvPr id="47" name="Google Shape;15315;p150">
              <a:extLst>
                <a:ext uri="{FF2B5EF4-FFF2-40B4-BE49-F238E27FC236}">
                  <a16:creationId xmlns:a16="http://schemas.microsoft.com/office/drawing/2014/main" id="{43FCC2EA-5961-2889-0725-46615B4B7D3A}"/>
                </a:ext>
              </a:extLst>
            </p:cNvPr>
            <p:cNvGrpSpPr/>
            <p:nvPr/>
          </p:nvGrpSpPr>
          <p:grpSpPr>
            <a:xfrm>
              <a:off x="2210044" y="2089860"/>
              <a:ext cx="816000" cy="768000"/>
              <a:chOff x="3522521" y="1975857"/>
              <a:chExt cx="367013" cy="331278"/>
            </a:xfrm>
            <a:solidFill>
              <a:schemeClr val="tx1"/>
            </a:solidFill>
          </p:grpSpPr>
          <p:sp>
            <p:nvSpPr>
              <p:cNvPr id="48" name="Google Shape;15316;p150">
                <a:extLst>
                  <a:ext uri="{FF2B5EF4-FFF2-40B4-BE49-F238E27FC236}">
                    <a16:creationId xmlns:a16="http://schemas.microsoft.com/office/drawing/2014/main" id="{2DA583B6-D9DD-11B9-FA98-0FC4F3685AAC}"/>
                  </a:ext>
                </a:extLst>
              </p:cNvPr>
              <p:cNvSpPr/>
              <p:nvPr/>
            </p:nvSpPr>
            <p:spPr>
              <a:xfrm>
                <a:off x="3665841" y="1975857"/>
                <a:ext cx="91302" cy="91682"/>
              </a:xfrm>
              <a:custGeom>
                <a:avLst/>
                <a:gdLst/>
                <a:ahLst/>
                <a:cxnLst/>
                <a:rect l="l" t="t" r="r" b="b"/>
                <a:pathLst>
                  <a:path w="2882" h="2894" extrusionOk="0">
                    <a:moveTo>
                      <a:pt x="1429" y="703"/>
                    </a:moveTo>
                    <a:cubicBezTo>
                      <a:pt x="1846" y="703"/>
                      <a:pt x="2167" y="1036"/>
                      <a:pt x="2167" y="1453"/>
                    </a:cubicBezTo>
                    <a:cubicBezTo>
                      <a:pt x="2167" y="1870"/>
                      <a:pt x="1834" y="2191"/>
                      <a:pt x="1429" y="2191"/>
                    </a:cubicBezTo>
                    <a:cubicBezTo>
                      <a:pt x="1024" y="2191"/>
                      <a:pt x="679" y="1870"/>
                      <a:pt x="679" y="1453"/>
                    </a:cubicBezTo>
                    <a:cubicBezTo>
                      <a:pt x="679" y="1048"/>
                      <a:pt x="1013" y="703"/>
                      <a:pt x="1429" y="703"/>
                    </a:cubicBezTo>
                    <a:close/>
                    <a:moveTo>
                      <a:pt x="1441" y="0"/>
                    </a:moveTo>
                    <a:cubicBezTo>
                      <a:pt x="1358" y="0"/>
                      <a:pt x="1274" y="84"/>
                      <a:pt x="1274" y="167"/>
                    </a:cubicBezTo>
                    <a:lnTo>
                      <a:pt x="1274" y="393"/>
                    </a:lnTo>
                    <a:cubicBezTo>
                      <a:pt x="1096" y="417"/>
                      <a:pt x="953" y="476"/>
                      <a:pt x="822" y="584"/>
                    </a:cubicBezTo>
                    <a:lnTo>
                      <a:pt x="655" y="417"/>
                    </a:lnTo>
                    <a:cubicBezTo>
                      <a:pt x="626" y="387"/>
                      <a:pt x="581" y="372"/>
                      <a:pt x="536" y="372"/>
                    </a:cubicBezTo>
                    <a:cubicBezTo>
                      <a:pt x="492" y="372"/>
                      <a:pt x="447" y="387"/>
                      <a:pt x="417" y="417"/>
                    </a:cubicBezTo>
                    <a:cubicBezTo>
                      <a:pt x="358" y="476"/>
                      <a:pt x="358" y="596"/>
                      <a:pt x="417" y="655"/>
                    </a:cubicBezTo>
                    <a:lnTo>
                      <a:pt x="584" y="822"/>
                    </a:lnTo>
                    <a:cubicBezTo>
                      <a:pt x="477" y="953"/>
                      <a:pt x="417" y="1119"/>
                      <a:pt x="381" y="1286"/>
                    </a:cubicBezTo>
                    <a:lnTo>
                      <a:pt x="167" y="1286"/>
                    </a:lnTo>
                    <a:cubicBezTo>
                      <a:pt x="72" y="1286"/>
                      <a:pt x="0" y="1358"/>
                      <a:pt x="0" y="1453"/>
                    </a:cubicBezTo>
                    <a:cubicBezTo>
                      <a:pt x="0" y="1536"/>
                      <a:pt x="72" y="1608"/>
                      <a:pt x="167" y="1608"/>
                    </a:cubicBezTo>
                    <a:lnTo>
                      <a:pt x="381" y="1608"/>
                    </a:lnTo>
                    <a:cubicBezTo>
                      <a:pt x="417" y="1786"/>
                      <a:pt x="477" y="1941"/>
                      <a:pt x="584" y="2072"/>
                    </a:cubicBezTo>
                    <a:lnTo>
                      <a:pt x="417" y="2239"/>
                    </a:lnTo>
                    <a:cubicBezTo>
                      <a:pt x="358" y="2298"/>
                      <a:pt x="358" y="2417"/>
                      <a:pt x="417" y="2477"/>
                    </a:cubicBezTo>
                    <a:cubicBezTo>
                      <a:pt x="441" y="2501"/>
                      <a:pt x="489" y="2524"/>
                      <a:pt x="536" y="2524"/>
                    </a:cubicBezTo>
                    <a:cubicBezTo>
                      <a:pt x="572" y="2524"/>
                      <a:pt x="620" y="2501"/>
                      <a:pt x="655" y="2477"/>
                    </a:cubicBezTo>
                    <a:lnTo>
                      <a:pt x="810" y="2310"/>
                    </a:lnTo>
                    <a:cubicBezTo>
                      <a:pt x="953" y="2417"/>
                      <a:pt x="1108" y="2477"/>
                      <a:pt x="1274" y="2501"/>
                    </a:cubicBezTo>
                    <a:lnTo>
                      <a:pt x="1274" y="2727"/>
                    </a:lnTo>
                    <a:cubicBezTo>
                      <a:pt x="1274" y="2822"/>
                      <a:pt x="1346" y="2893"/>
                      <a:pt x="1441" y="2893"/>
                    </a:cubicBezTo>
                    <a:cubicBezTo>
                      <a:pt x="1536" y="2893"/>
                      <a:pt x="1608" y="2822"/>
                      <a:pt x="1608" y="2727"/>
                    </a:cubicBezTo>
                    <a:lnTo>
                      <a:pt x="1608" y="2501"/>
                    </a:lnTo>
                    <a:cubicBezTo>
                      <a:pt x="1786" y="2477"/>
                      <a:pt x="1929" y="2417"/>
                      <a:pt x="2072" y="2310"/>
                    </a:cubicBezTo>
                    <a:lnTo>
                      <a:pt x="2227" y="2477"/>
                    </a:lnTo>
                    <a:cubicBezTo>
                      <a:pt x="2263" y="2501"/>
                      <a:pt x="2310" y="2524"/>
                      <a:pt x="2346" y="2524"/>
                    </a:cubicBezTo>
                    <a:cubicBezTo>
                      <a:pt x="2394" y="2524"/>
                      <a:pt x="2441" y="2501"/>
                      <a:pt x="2465" y="2477"/>
                    </a:cubicBezTo>
                    <a:cubicBezTo>
                      <a:pt x="2525" y="2417"/>
                      <a:pt x="2525" y="2298"/>
                      <a:pt x="2465" y="2239"/>
                    </a:cubicBezTo>
                    <a:lnTo>
                      <a:pt x="2298" y="2072"/>
                    </a:lnTo>
                    <a:cubicBezTo>
                      <a:pt x="2406" y="1941"/>
                      <a:pt x="2465" y="1774"/>
                      <a:pt x="2501" y="1608"/>
                    </a:cubicBezTo>
                    <a:lnTo>
                      <a:pt x="2715" y="1608"/>
                    </a:lnTo>
                    <a:cubicBezTo>
                      <a:pt x="2810" y="1608"/>
                      <a:pt x="2882" y="1536"/>
                      <a:pt x="2882" y="1453"/>
                    </a:cubicBezTo>
                    <a:cubicBezTo>
                      <a:pt x="2882" y="1358"/>
                      <a:pt x="2810" y="1286"/>
                      <a:pt x="2727" y="1286"/>
                    </a:cubicBezTo>
                    <a:lnTo>
                      <a:pt x="2501" y="1286"/>
                    </a:lnTo>
                    <a:cubicBezTo>
                      <a:pt x="2465" y="1108"/>
                      <a:pt x="2406" y="953"/>
                      <a:pt x="2310" y="822"/>
                    </a:cubicBezTo>
                    <a:lnTo>
                      <a:pt x="2465" y="655"/>
                    </a:lnTo>
                    <a:cubicBezTo>
                      <a:pt x="2525" y="596"/>
                      <a:pt x="2525" y="476"/>
                      <a:pt x="2465" y="417"/>
                    </a:cubicBezTo>
                    <a:cubicBezTo>
                      <a:pt x="2435" y="387"/>
                      <a:pt x="2391" y="372"/>
                      <a:pt x="2346" y="372"/>
                    </a:cubicBezTo>
                    <a:cubicBezTo>
                      <a:pt x="2301" y="372"/>
                      <a:pt x="2257" y="387"/>
                      <a:pt x="2227" y="417"/>
                    </a:cubicBezTo>
                    <a:lnTo>
                      <a:pt x="2072" y="584"/>
                    </a:lnTo>
                    <a:cubicBezTo>
                      <a:pt x="1929" y="476"/>
                      <a:pt x="1775" y="417"/>
                      <a:pt x="1608" y="393"/>
                    </a:cubicBezTo>
                    <a:lnTo>
                      <a:pt x="1608" y="167"/>
                    </a:lnTo>
                    <a:cubicBezTo>
                      <a:pt x="1608" y="84"/>
                      <a:pt x="1536" y="0"/>
                      <a:pt x="1441" y="0"/>
                    </a:cubicBezTo>
                    <a:close/>
                  </a:path>
                </a:pathLst>
              </a:custGeom>
              <a:grpFill/>
              <a:ln>
                <a:noFill/>
              </a:ln>
            </p:spPr>
            <p:txBody>
              <a:bodyPr spcFirstLastPara="1" wrap="square" lIns="121900" tIns="121900" rIns="121900" bIns="121900" anchor="ctr" anchorCtr="0">
                <a:noAutofit/>
              </a:bodyPr>
              <a:lstStyle/>
              <a:p>
                <a:endParaRPr sz="2400"/>
              </a:p>
            </p:txBody>
          </p:sp>
          <p:sp>
            <p:nvSpPr>
              <p:cNvPr id="49" name="Google Shape;15317;p150">
                <a:extLst>
                  <a:ext uri="{FF2B5EF4-FFF2-40B4-BE49-F238E27FC236}">
                    <a16:creationId xmlns:a16="http://schemas.microsoft.com/office/drawing/2014/main" id="{C3142BE9-79F6-1417-EB3F-95454039E859}"/>
                  </a:ext>
                </a:extLst>
              </p:cNvPr>
              <p:cNvSpPr/>
              <p:nvPr/>
            </p:nvSpPr>
            <p:spPr>
              <a:xfrm>
                <a:off x="3693751" y="2004147"/>
                <a:ext cx="34721" cy="35101"/>
              </a:xfrm>
              <a:custGeom>
                <a:avLst/>
                <a:gdLst/>
                <a:ahLst/>
                <a:cxnLst/>
                <a:rect l="l" t="t" r="r" b="b"/>
                <a:pathLst>
                  <a:path w="1096" h="1108" extrusionOk="0">
                    <a:moveTo>
                      <a:pt x="548" y="345"/>
                    </a:moveTo>
                    <a:cubicBezTo>
                      <a:pt x="667" y="345"/>
                      <a:pt x="751" y="441"/>
                      <a:pt x="751" y="560"/>
                    </a:cubicBezTo>
                    <a:cubicBezTo>
                      <a:pt x="751" y="679"/>
                      <a:pt x="667" y="762"/>
                      <a:pt x="548" y="762"/>
                    </a:cubicBezTo>
                    <a:cubicBezTo>
                      <a:pt x="429" y="762"/>
                      <a:pt x="334" y="679"/>
                      <a:pt x="334" y="560"/>
                    </a:cubicBezTo>
                    <a:cubicBezTo>
                      <a:pt x="334" y="441"/>
                      <a:pt x="429" y="345"/>
                      <a:pt x="548" y="345"/>
                    </a:cubicBezTo>
                    <a:close/>
                    <a:moveTo>
                      <a:pt x="548" y="0"/>
                    </a:moveTo>
                    <a:cubicBezTo>
                      <a:pt x="251" y="0"/>
                      <a:pt x="1" y="262"/>
                      <a:pt x="1" y="560"/>
                    </a:cubicBezTo>
                    <a:cubicBezTo>
                      <a:pt x="1" y="857"/>
                      <a:pt x="251" y="1107"/>
                      <a:pt x="548" y="1107"/>
                    </a:cubicBezTo>
                    <a:cubicBezTo>
                      <a:pt x="846" y="1107"/>
                      <a:pt x="1096" y="857"/>
                      <a:pt x="1096" y="560"/>
                    </a:cubicBezTo>
                    <a:cubicBezTo>
                      <a:pt x="1096" y="262"/>
                      <a:pt x="846" y="0"/>
                      <a:pt x="548" y="0"/>
                    </a:cubicBezTo>
                    <a:close/>
                  </a:path>
                </a:pathLst>
              </a:custGeom>
              <a:grpFill/>
              <a:ln>
                <a:noFill/>
              </a:ln>
            </p:spPr>
            <p:txBody>
              <a:bodyPr spcFirstLastPara="1" wrap="square" lIns="121900" tIns="121900" rIns="121900" bIns="121900" anchor="ctr" anchorCtr="0">
                <a:noAutofit/>
              </a:bodyPr>
              <a:lstStyle/>
              <a:p>
                <a:endParaRPr sz="2400"/>
              </a:p>
            </p:txBody>
          </p:sp>
          <p:sp>
            <p:nvSpPr>
              <p:cNvPr id="50" name="Google Shape;15318;p150">
                <a:extLst>
                  <a:ext uri="{FF2B5EF4-FFF2-40B4-BE49-F238E27FC236}">
                    <a16:creationId xmlns:a16="http://schemas.microsoft.com/office/drawing/2014/main" id="{370F766D-DF58-A63F-DFF4-FF83CFF07567}"/>
                  </a:ext>
                </a:extLst>
              </p:cNvPr>
              <p:cNvSpPr/>
              <p:nvPr/>
            </p:nvSpPr>
            <p:spPr>
              <a:xfrm>
                <a:off x="3679052" y="2008297"/>
                <a:ext cx="210482" cy="228983"/>
              </a:xfrm>
              <a:custGeom>
                <a:avLst/>
                <a:gdLst/>
                <a:ahLst/>
                <a:cxnLst/>
                <a:rect l="l" t="t" r="r" b="b"/>
                <a:pathLst>
                  <a:path w="6644" h="7228" extrusionOk="0">
                    <a:moveTo>
                      <a:pt x="4179" y="334"/>
                    </a:moveTo>
                    <a:lnTo>
                      <a:pt x="4179" y="762"/>
                    </a:lnTo>
                    <a:lnTo>
                      <a:pt x="4179" y="786"/>
                    </a:lnTo>
                    <a:cubicBezTo>
                      <a:pt x="4179" y="869"/>
                      <a:pt x="4239" y="941"/>
                      <a:pt x="4334" y="965"/>
                    </a:cubicBezTo>
                    <a:cubicBezTo>
                      <a:pt x="4596" y="988"/>
                      <a:pt x="4846" y="1107"/>
                      <a:pt x="5072" y="1274"/>
                    </a:cubicBezTo>
                    <a:cubicBezTo>
                      <a:pt x="5102" y="1299"/>
                      <a:pt x="5138" y="1311"/>
                      <a:pt x="5174" y="1311"/>
                    </a:cubicBezTo>
                    <a:cubicBezTo>
                      <a:pt x="5225" y="1311"/>
                      <a:pt x="5276" y="1287"/>
                      <a:pt x="5310" y="1238"/>
                    </a:cubicBezTo>
                    <a:lnTo>
                      <a:pt x="5322" y="1227"/>
                    </a:lnTo>
                    <a:lnTo>
                      <a:pt x="5620" y="929"/>
                    </a:lnTo>
                    <a:lnTo>
                      <a:pt x="5715" y="1024"/>
                    </a:lnTo>
                    <a:lnTo>
                      <a:pt x="5418" y="1322"/>
                    </a:lnTo>
                    <a:lnTo>
                      <a:pt x="5406" y="1334"/>
                    </a:lnTo>
                    <a:cubicBezTo>
                      <a:pt x="5322" y="1393"/>
                      <a:pt x="5322" y="1500"/>
                      <a:pt x="5370" y="1572"/>
                    </a:cubicBezTo>
                    <a:cubicBezTo>
                      <a:pt x="5537" y="1798"/>
                      <a:pt x="5632" y="2048"/>
                      <a:pt x="5679" y="2310"/>
                    </a:cubicBezTo>
                    <a:cubicBezTo>
                      <a:pt x="5703" y="2405"/>
                      <a:pt x="5775" y="2465"/>
                      <a:pt x="5858" y="2465"/>
                    </a:cubicBezTo>
                    <a:lnTo>
                      <a:pt x="6311" y="2465"/>
                    </a:lnTo>
                    <a:lnTo>
                      <a:pt x="6311" y="2572"/>
                    </a:lnTo>
                    <a:lnTo>
                      <a:pt x="5846" y="2572"/>
                    </a:lnTo>
                    <a:cubicBezTo>
                      <a:pt x="5763" y="2572"/>
                      <a:pt x="5679" y="2631"/>
                      <a:pt x="5668" y="2715"/>
                    </a:cubicBezTo>
                    <a:cubicBezTo>
                      <a:pt x="5632" y="2989"/>
                      <a:pt x="5525" y="3239"/>
                      <a:pt x="5358" y="3465"/>
                    </a:cubicBezTo>
                    <a:cubicBezTo>
                      <a:pt x="5298" y="3536"/>
                      <a:pt x="5310" y="3643"/>
                      <a:pt x="5382" y="3703"/>
                    </a:cubicBezTo>
                    <a:lnTo>
                      <a:pt x="5406" y="3715"/>
                    </a:lnTo>
                    <a:lnTo>
                      <a:pt x="5715" y="4024"/>
                    </a:lnTo>
                    <a:lnTo>
                      <a:pt x="5620" y="4120"/>
                    </a:lnTo>
                    <a:lnTo>
                      <a:pt x="5310" y="3798"/>
                    </a:lnTo>
                    <a:cubicBezTo>
                      <a:pt x="5310" y="3798"/>
                      <a:pt x="5310" y="3786"/>
                      <a:pt x="5298" y="3786"/>
                    </a:cubicBezTo>
                    <a:cubicBezTo>
                      <a:pt x="5266" y="3747"/>
                      <a:pt x="5218" y="3729"/>
                      <a:pt x="5171" y="3729"/>
                    </a:cubicBezTo>
                    <a:cubicBezTo>
                      <a:pt x="5132" y="3729"/>
                      <a:pt x="5092" y="3741"/>
                      <a:pt x="5060" y="3763"/>
                    </a:cubicBezTo>
                    <a:cubicBezTo>
                      <a:pt x="4846" y="3917"/>
                      <a:pt x="4584" y="4024"/>
                      <a:pt x="4310" y="4072"/>
                    </a:cubicBezTo>
                    <a:cubicBezTo>
                      <a:pt x="4227" y="4084"/>
                      <a:pt x="4167" y="4155"/>
                      <a:pt x="4167" y="4251"/>
                    </a:cubicBezTo>
                    <a:lnTo>
                      <a:pt x="4167" y="4263"/>
                    </a:lnTo>
                    <a:lnTo>
                      <a:pt x="4167" y="4715"/>
                    </a:lnTo>
                    <a:lnTo>
                      <a:pt x="4060" y="4715"/>
                    </a:lnTo>
                    <a:lnTo>
                      <a:pt x="4060" y="4275"/>
                    </a:lnTo>
                    <a:lnTo>
                      <a:pt x="4060" y="4263"/>
                    </a:lnTo>
                    <a:cubicBezTo>
                      <a:pt x="4060" y="4179"/>
                      <a:pt x="4001" y="4096"/>
                      <a:pt x="3917" y="4084"/>
                    </a:cubicBezTo>
                    <a:cubicBezTo>
                      <a:pt x="3644" y="4060"/>
                      <a:pt x="3393" y="3941"/>
                      <a:pt x="3167" y="3774"/>
                    </a:cubicBezTo>
                    <a:cubicBezTo>
                      <a:pt x="3136" y="3749"/>
                      <a:pt x="3099" y="3736"/>
                      <a:pt x="3061" y="3736"/>
                    </a:cubicBezTo>
                    <a:cubicBezTo>
                      <a:pt x="3012" y="3736"/>
                      <a:pt x="2963" y="3758"/>
                      <a:pt x="2929" y="3798"/>
                    </a:cubicBezTo>
                    <a:cubicBezTo>
                      <a:pt x="2929" y="3798"/>
                      <a:pt x="2929" y="3822"/>
                      <a:pt x="2917" y="3822"/>
                    </a:cubicBezTo>
                    <a:lnTo>
                      <a:pt x="2608" y="4132"/>
                    </a:lnTo>
                    <a:lnTo>
                      <a:pt x="2512" y="4036"/>
                    </a:lnTo>
                    <a:lnTo>
                      <a:pt x="2810" y="3739"/>
                    </a:lnTo>
                    <a:lnTo>
                      <a:pt x="2822" y="3727"/>
                    </a:lnTo>
                    <a:cubicBezTo>
                      <a:pt x="2822" y="3727"/>
                      <a:pt x="2846" y="3727"/>
                      <a:pt x="2846" y="3715"/>
                    </a:cubicBezTo>
                    <a:cubicBezTo>
                      <a:pt x="2917" y="3655"/>
                      <a:pt x="2917" y="3548"/>
                      <a:pt x="2870" y="3477"/>
                    </a:cubicBezTo>
                    <a:cubicBezTo>
                      <a:pt x="2703" y="3262"/>
                      <a:pt x="2608" y="3001"/>
                      <a:pt x="2560" y="2727"/>
                    </a:cubicBezTo>
                    <a:cubicBezTo>
                      <a:pt x="2548" y="2643"/>
                      <a:pt x="2465" y="2584"/>
                      <a:pt x="2381" y="2584"/>
                    </a:cubicBezTo>
                    <a:lnTo>
                      <a:pt x="1929" y="2584"/>
                    </a:lnTo>
                    <a:lnTo>
                      <a:pt x="1929" y="2465"/>
                    </a:lnTo>
                    <a:lnTo>
                      <a:pt x="2381" y="2465"/>
                    </a:lnTo>
                    <a:cubicBezTo>
                      <a:pt x="2465" y="2465"/>
                      <a:pt x="2548" y="2405"/>
                      <a:pt x="2560" y="2310"/>
                    </a:cubicBezTo>
                    <a:cubicBezTo>
                      <a:pt x="2584" y="2048"/>
                      <a:pt x="2703" y="1798"/>
                      <a:pt x="2870" y="1572"/>
                    </a:cubicBezTo>
                    <a:cubicBezTo>
                      <a:pt x="2929" y="1500"/>
                      <a:pt x="2917" y="1393"/>
                      <a:pt x="2846" y="1334"/>
                    </a:cubicBezTo>
                    <a:lnTo>
                      <a:pt x="2822" y="1322"/>
                    </a:lnTo>
                    <a:lnTo>
                      <a:pt x="2524" y="1024"/>
                    </a:lnTo>
                    <a:lnTo>
                      <a:pt x="2620" y="929"/>
                    </a:lnTo>
                    <a:lnTo>
                      <a:pt x="2917" y="1227"/>
                    </a:lnTo>
                    <a:lnTo>
                      <a:pt x="2929" y="1238"/>
                    </a:lnTo>
                    <a:cubicBezTo>
                      <a:pt x="2963" y="1286"/>
                      <a:pt x="3012" y="1306"/>
                      <a:pt x="3062" y="1306"/>
                    </a:cubicBezTo>
                    <a:cubicBezTo>
                      <a:pt x="3099" y="1306"/>
                      <a:pt x="3137" y="1295"/>
                      <a:pt x="3167" y="1274"/>
                    </a:cubicBezTo>
                    <a:cubicBezTo>
                      <a:pt x="3393" y="1107"/>
                      <a:pt x="3644" y="1000"/>
                      <a:pt x="3917" y="953"/>
                    </a:cubicBezTo>
                    <a:cubicBezTo>
                      <a:pt x="4001" y="941"/>
                      <a:pt x="4060" y="869"/>
                      <a:pt x="4060" y="774"/>
                    </a:cubicBezTo>
                    <a:lnTo>
                      <a:pt x="4060" y="762"/>
                    </a:lnTo>
                    <a:lnTo>
                      <a:pt x="4060" y="334"/>
                    </a:lnTo>
                    <a:close/>
                    <a:moveTo>
                      <a:pt x="3894" y="0"/>
                    </a:moveTo>
                    <a:cubicBezTo>
                      <a:pt x="3810" y="0"/>
                      <a:pt x="3739" y="84"/>
                      <a:pt x="3739" y="167"/>
                    </a:cubicBezTo>
                    <a:lnTo>
                      <a:pt x="3739" y="667"/>
                    </a:lnTo>
                    <a:cubicBezTo>
                      <a:pt x="3513" y="703"/>
                      <a:pt x="3298" y="798"/>
                      <a:pt x="3108" y="929"/>
                    </a:cubicBezTo>
                    <a:lnTo>
                      <a:pt x="2762" y="584"/>
                    </a:lnTo>
                    <a:cubicBezTo>
                      <a:pt x="2733" y="554"/>
                      <a:pt x="2688" y="539"/>
                      <a:pt x="2643" y="539"/>
                    </a:cubicBezTo>
                    <a:cubicBezTo>
                      <a:pt x="2599" y="539"/>
                      <a:pt x="2554" y="554"/>
                      <a:pt x="2524" y="584"/>
                    </a:cubicBezTo>
                    <a:lnTo>
                      <a:pt x="2203" y="917"/>
                    </a:lnTo>
                    <a:cubicBezTo>
                      <a:pt x="2167" y="941"/>
                      <a:pt x="2155" y="988"/>
                      <a:pt x="2155" y="1036"/>
                    </a:cubicBezTo>
                    <a:cubicBezTo>
                      <a:pt x="2155" y="1084"/>
                      <a:pt x="2167" y="1119"/>
                      <a:pt x="2203" y="1155"/>
                    </a:cubicBezTo>
                    <a:lnTo>
                      <a:pt x="2536" y="1500"/>
                    </a:lnTo>
                    <a:cubicBezTo>
                      <a:pt x="2417" y="1691"/>
                      <a:pt x="2334" y="1893"/>
                      <a:pt x="2274" y="2119"/>
                    </a:cubicBezTo>
                    <a:lnTo>
                      <a:pt x="1786" y="2119"/>
                    </a:lnTo>
                    <a:cubicBezTo>
                      <a:pt x="1691" y="2119"/>
                      <a:pt x="1619" y="2191"/>
                      <a:pt x="1619" y="2286"/>
                    </a:cubicBezTo>
                    <a:lnTo>
                      <a:pt x="1619" y="2751"/>
                    </a:lnTo>
                    <a:cubicBezTo>
                      <a:pt x="1619" y="2834"/>
                      <a:pt x="1691" y="2905"/>
                      <a:pt x="1786" y="2905"/>
                    </a:cubicBezTo>
                    <a:lnTo>
                      <a:pt x="2274" y="2905"/>
                    </a:lnTo>
                    <a:cubicBezTo>
                      <a:pt x="2322" y="3084"/>
                      <a:pt x="2381" y="3251"/>
                      <a:pt x="2465" y="3417"/>
                    </a:cubicBezTo>
                    <a:lnTo>
                      <a:pt x="1084" y="3417"/>
                    </a:lnTo>
                    <a:cubicBezTo>
                      <a:pt x="988" y="3417"/>
                      <a:pt x="917" y="3489"/>
                      <a:pt x="917" y="3584"/>
                    </a:cubicBezTo>
                    <a:cubicBezTo>
                      <a:pt x="917" y="3667"/>
                      <a:pt x="988" y="3739"/>
                      <a:pt x="1084" y="3739"/>
                    </a:cubicBezTo>
                    <a:lnTo>
                      <a:pt x="2334" y="3739"/>
                    </a:lnTo>
                    <a:lnTo>
                      <a:pt x="2203" y="3882"/>
                    </a:lnTo>
                    <a:cubicBezTo>
                      <a:pt x="2143" y="3941"/>
                      <a:pt x="2143" y="4060"/>
                      <a:pt x="2203" y="4120"/>
                    </a:cubicBezTo>
                    <a:lnTo>
                      <a:pt x="2524" y="4441"/>
                    </a:lnTo>
                    <a:cubicBezTo>
                      <a:pt x="2560" y="4477"/>
                      <a:pt x="2608" y="4489"/>
                      <a:pt x="2643" y="4489"/>
                    </a:cubicBezTo>
                    <a:cubicBezTo>
                      <a:pt x="2691" y="4489"/>
                      <a:pt x="2739" y="4477"/>
                      <a:pt x="2762" y="4441"/>
                    </a:cubicBezTo>
                    <a:lnTo>
                      <a:pt x="3108" y="4096"/>
                    </a:lnTo>
                    <a:cubicBezTo>
                      <a:pt x="3286" y="4215"/>
                      <a:pt x="3489" y="4310"/>
                      <a:pt x="3703" y="4358"/>
                    </a:cubicBezTo>
                    <a:lnTo>
                      <a:pt x="3703" y="4370"/>
                    </a:lnTo>
                    <a:lnTo>
                      <a:pt x="3703" y="5144"/>
                    </a:lnTo>
                    <a:lnTo>
                      <a:pt x="155" y="5144"/>
                    </a:lnTo>
                    <a:cubicBezTo>
                      <a:pt x="72" y="5144"/>
                      <a:pt x="0" y="5215"/>
                      <a:pt x="0" y="5310"/>
                    </a:cubicBezTo>
                    <a:cubicBezTo>
                      <a:pt x="0" y="5394"/>
                      <a:pt x="72" y="5465"/>
                      <a:pt x="155" y="5465"/>
                    </a:cubicBezTo>
                    <a:lnTo>
                      <a:pt x="4417" y="5465"/>
                    </a:lnTo>
                    <a:lnTo>
                      <a:pt x="4120" y="7037"/>
                    </a:lnTo>
                    <a:cubicBezTo>
                      <a:pt x="4108" y="7120"/>
                      <a:pt x="4167" y="7215"/>
                      <a:pt x="4251" y="7227"/>
                    </a:cubicBezTo>
                    <a:lnTo>
                      <a:pt x="4286" y="7227"/>
                    </a:lnTo>
                    <a:cubicBezTo>
                      <a:pt x="4358" y="7227"/>
                      <a:pt x="4429" y="7168"/>
                      <a:pt x="4441" y="7096"/>
                    </a:cubicBezTo>
                    <a:lnTo>
                      <a:pt x="4787" y="5322"/>
                    </a:lnTo>
                    <a:cubicBezTo>
                      <a:pt x="4798" y="5275"/>
                      <a:pt x="4787" y="5215"/>
                      <a:pt x="4763" y="5191"/>
                    </a:cubicBezTo>
                    <a:cubicBezTo>
                      <a:pt x="4727" y="5144"/>
                      <a:pt x="4679" y="5132"/>
                      <a:pt x="4620" y="5132"/>
                    </a:cubicBezTo>
                    <a:lnTo>
                      <a:pt x="4048" y="5132"/>
                    </a:lnTo>
                    <a:lnTo>
                      <a:pt x="4048" y="5013"/>
                    </a:lnTo>
                    <a:lnTo>
                      <a:pt x="4370" y="5013"/>
                    </a:lnTo>
                    <a:cubicBezTo>
                      <a:pt x="4465" y="5013"/>
                      <a:pt x="4536" y="4929"/>
                      <a:pt x="4536" y="4846"/>
                    </a:cubicBezTo>
                    <a:lnTo>
                      <a:pt x="4536" y="4358"/>
                    </a:lnTo>
                    <a:cubicBezTo>
                      <a:pt x="4763" y="4310"/>
                      <a:pt x="4965" y="4215"/>
                      <a:pt x="5168" y="4084"/>
                    </a:cubicBezTo>
                    <a:lnTo>
                      <a:pt x="5501" y="4429"/>
                    </a:lnTo>
                    <a:cubicBezTo>
                      <a:pt x="5537" y="4453"/>
                      <a:pt x="5584" y="4477"/>
                      <a:pt x="5620" y="4477"/>
                    </a:cubicBezTo>
                    <a:cubicBezTo>
                      <a:pt x="5668" y="4477"/>
                      <a:pt x="5715" y="4453"/>
                      <a:pt x="5739" y="4429"/>
                    </a:cubicBezTo>
                    <a:lnTo>
                      <a:pt x="6072" y="4096"/>
                    </a:lnTo>
                    <a:cubicBezTo>
                      <a:pt x="6096" y="4072"/>
                      <a:pt x="6108" y="4024"/>
                      <a:pt x="6108" y="3977"/>
                    </a:cubicBezTo>
                    <a:cubicBezTo>
                      <a:pt x="6108" y="3941"/>
                      <a:pt x="6096" y="3894"/>
                      <a:pt x="6072" y="3858"/>
                    </a:cubicBezTo>
                    <a:lnTo>
                      <a:pt x="5727" y="3524"/>
                    </a:lnTo>
                    <a:cubicBezTo>
                      <a:pt x="5846" y="3322"/>
                      <a:pt x="5930" y="3120"/>
                      <a:pt x="5989" y="2893"/>
                    </a:cubicBezTo>
                    <a:lnTo>
                      <a:pt x="6489" y="2893"/>
                    </a:lnTo>
                    <a:cubicBezTo>
                      <a:pt x="6572" y="2893"/>
                      <a:pt x="6644" y="2822"/>
                      <a:pt x="6644" y="2727"/>
                    </a:cubicBezTo>
                    <a:lnTo>
                      <a:pt x="6644" y="2274"/>
                    </a:lnTo>
                    <a:cubicBezTo>
                      <a:pt x="6632" y="2191"/>
                      <a:pt x="6561" y="2119"/>
                      <a:pt x="6477" y="2119"/>
                    </a:cubicBezTo>
                    <a:lnTo>
                      <a:pt x="5977" y="2119"/>
                    </a:lnTo>
                    <a:cubicBezTo>
                      <a:pt x="5941" y="1893"/>
                      <a:pt x="5846" y="1691"/>
                      <a:pt x="5715" y="1500"/>
                    </a:cubicBezTo>
                    <a:lnTo>
                      <a:pt x="6060" y="1155"/>
                    </a:lnTo>
                    <a:cubicBezTo>
                      <a:pt x="6084" y="1119"/>
                      <a:pt x="6096" y="1084"/>
                      <a:pt x="6096" y="1036"/>
                    </a:cubicBezTo>
                    <a:cubicBezTo>
                      <a:pt x="6096" y="988"/>
                      <a:pt x="6084" y="941"/>
                      <a:pt x="6060" y="917"/>
                    </a:cubicBezTo>
                    <a:lnTo>
                      <a:pt x="5727" y="584"/>
                    </a:lnTo>
                    <a:cubicBezTo>
                      <a:pt x="5697" y="554"/>
                      <a:pt x="5653" y="539"/>
                      <a:pt x="5608" y="539"/>
                    </a:cubicBezTo>
                    <a:cubicBezTo>
                      <a:pt x="5563" y="539"/>
                      <a:pt x="5519" y="554"/>
                      <a:pt x="5489" y="584"/>
                    </a:cubicBezTo>
                    <a:lnTo>
                      <a:pt x="5144" y="929"/>
                    </a:lnTo>
                    <a:cubicBezTo>
                      <a:pt x="4953" y="810"/>
                      <a:pt x="4751" y="726"/>
                      <a:pt x="4525" y="667"/>
                    </a:cubicBezTo>
                    <a:lnTo>
                      <a:pt x="4525" y="167"/>
                    </a:lnTo>
                    <a:cubicBezTo>
                      <a:pt x="4525" y="84"/>
                      <a:pt x="4453" y="0"/>
                      <a:pt x="4358" y="0"/>
                    </a:cubicBezTo>
                    <a:close/>
                  </a:path>
                </a:pathLst>
              </a:custGeom>
              <a:grpFill/>
              <a:ln>
                <a:noFill/>
              </a:ln>
            </p:spPr>
            <p:txBody>
              <a:bodyPr spcFirstLastPara="1" wrap="square" lIns="121900" tIns="121900" rIns="121900" bIns="121900" anchor="ctr" anchorCtr="0">
                <a:noAutofit/>
              </a:bodyPr>
              <a:lstStyle/>
              <a:p>
                <a:endParaRPr sz="2400"/>
              </a:p>
            </p:txBody>
          </p:sp>
          <p:sp>
            <p:nvSpPr>
              <p:cNvPr id="51" name="Google Shape;15319;p150">
                <a:extLst>
                  <a:ext uri="{FF2B5EF4-FFF2-40B4-BE49-F238E27FC236}">
                    <a16:creationId xmlns:a16="http://schemas.microsoft.com/office/drawing/2014/main" id="{07133E9B-6635-6047-F041-79A42222E762}"/>
                  </a:ext>
                </a:extLst>
              </p:cNvPr>
              <p:cNvSpPr/>
              <p:nvPr/>
            </p:nvSpPr>
            <p:spPr>
              <a:xfrm>
                <a:off x="3772951" y="2050907"/>
                <a:ext cx="73973" cy="73593"/>
              </a:xfrm>
              <a:custGeom>
                <a:avLst/>
                <a:gdLst/>
                <a:ahLst/>
                <a:cxnLst/>
                <a:rect l="l" t="t" r="r" b="b"/>
                <a:pathLst>
                  <a:path w="2335" h="2323" extrusionOk="0">
                    <a:moveTo>
                      <a:pt x="1156" y="322"/>
                    </a:moveTo>
                    <a:cubicBezTo>
                      <a:pt x="1620" y="322"/>
                      <a:pt x="1989" y="703"/>
                      <a:pt x="1989" y="1167"/>
                    </a:cubicBezTo>
                    <a:cubicBezTo>
                      <a:pt x="1989" y="1620"/>
                      <a:pt x="1620" y="2001"/>
                      <a:pt x="1156" y="2001"/>
                    </a:cubicBezTo>
                    <a:cubicBezTo>
                      <a:pt x="691" y="2001"/>
                      <a:pt x="322" y="1620"/>
                      <a:pt x="322" y="1167"/>
                    </a:cubicBezTo>
                    <a:cubicBezTo>
                      <a:pt x="322" y="703"/>
                      <a:pt x="691" y="322"/>
                      <a:pt x="1156" y="322"/>
                    </a:cubicBezTo>
                    <a:close/>
                    <a:moveTo>
                      <a:pt x="1156" y="1"/>
                    </a:moveTo>
                    <a:cubicBezTo>
                      <a:pt x="513" y="1"/>
                      <a:pt x="1" y="524"/>
                      <a:pt x="1" y="1167"/>
                    </a:cubicBezTo>
                    <a:cubicBezTo>
                      <a:pt x="1" y="1798"/>
                      <a:pt x="513" y="2322"/>
                      <a:pt x="1156" y="2322"/>
                    </a:cubicBezTo>
                    <a:cubicBezTo>
                      <a:pt x="1799" y="2322"/>
                      <a:pt x="2323" y="1798"/>
                      <a:pt x="2323" y="1167"/>
                    </a:cubicBezTo>
                    <a:cubicBezTo>
                      <a:pt x="2334" y="524"/>
                      <a:pt x="1811" y="1"/>
                      <a:pt x="1156" y="1"/>
                    </a:cubicBezTo>
                    <a:close/>
                  </a:path>
                </a:pathLst>
              </a:custGeom>
              <a:grpFill/>
              <a:ln>
                <a:noFill/>
              </a:ln>
            </p:spPr>
            <p:txBody>
              <a:bodyPr spcFirstLastPara="1" wrap="square" lIns="121900" tIns="121900" rIns="121900" bIns="121900" anchor="ctr" anchorCtr="0">
                <a:noAutofit/>
              </a:bodyPr>
              <a:lstStyle/>
              <a:p>
                <a:endParaRPr sz="2400"/>
              </a:p>
            </p:txBody>
          </p:sp>
          <p:sp>
            <p:nvSpPr>
              <p:cNvPr id="52" name="Google Shape;15320;p150">
                <a:extLst>
                  <a:ext uri="{FF2B5EF4-FFF2-40B4-BE49-F238E27FC236}">
                    <a16:creationId xmlns:a16="http://schemas.microsoft.com/office/drawing/2014/main" id="{E12FDE99-FACD-ACA5-7A47-E565ADFAE8DD}"/>
                  </a:ext>
                </a:extLst>
              </p:cNvPr>
              <p:cNvSpPr/>
              <p:nvPr/>
            </p:nvSpPr>
            <p:spPr>
              <a:xfrm>
                <a:off x="3790312" y="2069028"/>
                <a:ext cx="38491" cy="38491"/>
              </a:xfrm>
              <a:custGeom>
                <a:avLst/>
                <a:gdLst/>
                <a:ahLst/>
                <a:cxnLst/>
                <a:rect l="l" t="t" r="r" b="b"/>
                <a:pathLst>
                  <a:path w="1215" h="1215" extrusionOk="0">
                    <a:moveTo>
                      <a:pt x="608" y="322"/>
                    </a:moveTo>
                    <a:cubicBezTo>
                      <a:pt x="763" y="322"/>
                      <a:pt x="882" y="441"/>
                      <a:pt x="882" y="595"/>
                    </a:cubicBezTo>
                    <a:cubicBezTo>
                      <a:pt x="882" y="738"/>
                      <a:pt x="763" y="857"/>
                      <a:pt x="608" y="857"/>
                    </a:cubicBezTo>
                    <a:cubicBezTo>
                      <a:pt x="465" y="857"/>
                      <a:pt x="346" y="738"/>
                      <a:pt x="346" y="595"/>
                    </a:cubicBezTo>
                    <a:cubicBezTo>
                      <a:pt x="346" y="441"/>
                      <a:pt x="465" y="322"/>
                      <a:pt x="608" y="322"/>
                    </a:cubicBezTo>
                    <a:close/>
                    <a:moveTo>
                      <a:pt x="608" y="0"/>
                    </a:moveTo>
                    <a:cubicBezTo>
                      <a:pt x="286" y="0"/>
                      <a:pt x="1" y="262"/>
                      <a:pt x="1" y="607"/>
                    </a:cubicBezTo>
                    <a:cubicBezTo>
                      <a:pt x="1" y="929"/>
                      <a:pt x="262" y="1215"/>
                      <a:pt x="608" y="1215"/>
                    </a:cubicBezTo>
                    <a:cubicBezTo>
                      <a:pt x="941" y="1215"/>
                      <a:pt x="1215" y="953"/>
                      <a:pt x="1215" y="607"/>
                    </a:cubicBezTo>
                    <a:cubicBezTo>
                      <a:pt x="1215" y="262"/>
                      <a:pt x="953" y="0"/>
                      <a:pt x="608" y="0"/>
                    </a:cubicBezTo>
                    <a:close/>
                  </a:path>
                </a:pathLst>
              </a:custGeom>
              <a:grpFill/>
              <a:ln>
                <a:noFill/>
              </a:ln>
            </p:spPr>
            <p:txBody>
              <a:bodyPr spcFirstLastPara="1" wrap="square" lIns="121900" tIns="121900" rIns="121900" bIns="121900" anchor="ctr" anchorCtr="0">
                <a:noAutofit/>
              </a:bodyPr>
              <a:lstStyle/>
              <a:p>
                <a:endParaRPr sz="2400"/>
              </a:p>
            </p:txBody>
          </p:sp>
          <p:sp>
            <p:nvSpPr>
              <p:cNvPr id="53" name="Google Shape;15321;p150">
                <a:extLst>
                  <a:ext uri="{FF2B5EF4-FFF2-40B4-BE49-F238E27FC236}">
                    <a16:creationId xmlns:a16="http://schemas.microsoft.com/office/drawing/2014/main" id="{764BDBF6-7921-9A65-CD07-78861C55B362}"/>
                  </a:ext>
                </a:extLst>
              </p:cNvPr>
              <p:cNvSpPr/>
              <p:nvPr/>
            </p:nvSpPr>
            <p:spPr>
              <a:xfrm>
                <a:off x="3522521" y="2081447"/>
                <a:ext cx="294212" cy="225688"/>
              </a:xfrm>
              <a:custGeom>
                <a:avLst/>
                <a:gdLst/>
                <a:ahLst/>
                <a:cxnLst/>
                <a:rect l="l" t="t" r="r" b="b"/>
                <a:pathLst>
                  <a:path w="9287" h="7124" extrusionOk="0">
                    <a:moveTo>
                      <a:pt x="155" y="1"/>
                    </a:moveTo>
                    <a:cubicBezTo>
                      <a:pt x="72" y="1"/>
                      <a:pt x="0" y="72"/>
                      <a:pt x="0" y="168"/>
                    </a:cubicBezTo>
                    <a:lnTo>
                      <a:pt x="0" y="6954"/>
                    </a:lnTo>
                    <a:cubicBezTo>
                      <a:pt x="0" y="7121"/>
                      <a:pt x="143" y="7121"/>
                      <a:pt x="262" y="7121"/>
                    </a:cubicBezTo>
                    <a:cubicBezTo>
                      <a:pt x="351" y="7121"/>
                      <a:pt x="2483" y="7124"/>
                      <a:pt x="4603" y="7124"/>
                    </a:cubicBezTo>
                    <a:cubicBezTo>
                      <a:pt x="6724" y="7124"/>
                      <a:pt x="8835" y="7121"/>
                      <a:pt x="8882" y="7109"/>
                    </a:cubicBezTo>
                    <a:cubicBezTo>
                      <a:pt x="8942" y="7085"/>
                      <a:pt x="8989" y="7026"/>
                      <a:pt x="9001" y="6966"/>
                    </a:cubicBezTo>
                    <a:lnTo>
                      <a:pt x="9287" y="5466"/>
                    </a:lnTo>
                    <a:cubicBezTo>
                      <a:pt x="9275" y="5395"/>
                      <a:pt x="9216" y="5299"/>
                      <a:pt x="9120" y="5287"/>
                    </a:cubicBezTo>
                    <a:cubicBezTo>
                      <a:pt x="9113" y="5286"/>
                      <a:pt x="9106" y="5286"/>
                      <a:pt x="9099" y="5286"/>
                    </a:cubicBezTo>
                    <a:cubicBezTo>
                      <a:pt x="9021" y="5286"/>
                      <a:pt x="8941" y="5342"/>
                      <a:pt x="8930" y="5418"/>
                    </a:cubicBezTo>
                    <a:lnTo>
                      <a:pt x="8680" y="6788"/>
                    </a:lnTo>
                    <a:lnTo>
                      <a:pt x="357" y="6788"/>
                    </a:lnTo>
                    <a:lnTo>
                      <a:pt x="1036" y="3192"/>
                    </a:lnTo>
                    <a:lnTo>
                      <a:pt x="4429" y="3192"/>
                    </a:lnTo>
                    <a:cubicBezTo>
                      <a:pt x="4524" y="3192"/>
                      <a:pt x="4596" y="3120"/>
                      <a:pt x="4596" y="3025"/>
                    </a:cubicBezTo>
                    <a:cubicBezTo>
                      <a:pt x="4596" y="2930"/>
                      <a:pt x="4524" y="2858"/>
                      <a:pt x="4429" y="2858"/>
                    </a:cubicBezTo>
                    <a:lnTo>
                      <a:pt x="905" y="2858"/>
                    </a:lnTo>
                    <a:cubicBezTo>
                      <a:pt x="834" y="2858"/>
                      <a:pt x="750" y="2918"/>
                      <a:pt x="738" y="2989"/>
                    </a:cubicBezTo>
                    <a:lnTo>
                      <a:pt x="322" y="5168"/>
                    </a:lnTo>
                    <a:lnTo>
                      <a:pt x="322" y="334"/>
                    </a:lnTo>
                    <a:lnTo>
                      <a:pt x="2453" y="334"/>
                    </a:lnTo>
                    <a:lnTo>
                      <a:pt x="3536" y="1418"/>
                    </a:lnTo>
                    <a:cubicBezTo>
                      <a:pt x="3572" y="1442"/>
                      <a:pt x="3608" y="1465"/>
                      <a:pt x="3655" y="1465"/>
                    </a:cubicBezTo>
                    <a:lnTo>
                      <a:pt x="5358" y="1465"/>
                    </a:lnTo>
                    <a:cubicBezTo>
                      <a:pt x="5441" y="1465"/>
                      <a:pt x="5513" y="1394"/>
                      <a:pt x="5513" y="1299"/>
                    </a:cubicBezTo>
                    <a:cubicBezTo>
                      <a:pt x="5513" y="1204"/>
                      <a:pt x="5441" y="1132"/>
                      <a:pt x="5358" y="1132"/>
                    </a:cubicBezTo>
                    <a:lnTo>
                      <a:pt x="3727" y="1132"/>
                    </a:lnTo>
                    <a:lnTo>
                      <a:pt x="2643" y="49"/>
                    </a:lnTo>
                    <a:cubicBezTo>
                      <a:pt x="2619" y="13"/>
                      <a:pt x="2572" y="1"/>
                      <a:pt x="2524" y="1"/>
                    </a:cubicBezTo>
                    <a:close/>
                  </a:path>
                </a:pathLst>
              </a:custGeom>
              <a:grpFill/>
              <a:ln>
                <a:noFill/>
              </a:ln>
            </p:spPr>
            <p:txBody>
              <a:bodyPr spcFirstLastPara="1" wrap="square" lIns="121900" tIns="121900" rIns="121900" bIns="121900" anchor="ctr" anchorCtr="0">
                <a:noAutofit/>
              </a:bodyPr>
              <a:lstStyle/>
              <a:p>
                <a:endParaRPr sz="2400"/>
              </a:p>
            </p:txBody>
          </p:sp>
          <p:sp>
            <p:nvSpPr>
              <p:cNvPr id="54" name="Google Shape;15322;p150">
                <a:extLst>
                  <a:ext uri="{FF2B5EF4-FFF2-40B4-BE49-F238E27FC236}">
                    <a16:creationId xmlns:a16="http://schemas.microsoft.com/office/drawing/2014/main" id="{713D41FE-1197-D7F5-EC95-330EB2514178}"/>
                  </a:ext>
                </a:extLst>
              </p:cNvPr>
              <p:cNvSpPr/>
              <p:nvPr/>
            </p:nvSpPr>
            <p:spPr>
              <a:xfrm>
                <a:off x="3810682" y="2248812"/>
                <a:ext cx="1774" cy="253"/>
              </a:xfrm>
              <a:custGeom>
                <a:avLst/>
                <a:gdLst/>
                <a:ahLst/>
                <a:cxnLst/>
                <a:rect l="l" t="t" r="r" b="b"/>
                <a:pathLst>
                  <a:path w="56" h="8" extrusionOk="0">
                    <a:moveTo>
                      <a:pt x="1" y="1"/>
                    </a:moveTo>
                    <a:cubicBezTo>
                      <a:pt x="1" y="1"/>
                      <a:pt x="7" y="2"/>
                      <a:pt x="24" y="4"/>
                    </a:cubicBezTo>
                    <a:cubicBezTo>
                      <a:pt x="44" y="7"/>
                      <a:pt x="52" y="8"/>
                      <a:pt x="53" y="8"/>
                    </a:cubicBezTo>
                    <a:cubicBezTo>
                      <a:pt x="55" y="8"/>
                      <a:pt x="3" y="1"/>
                      <a:pt x="1" y="1"/>
                    </a:cubicBezTo>
                    <a:close/>
                  </a:path>
                </a:pathLst>
              </a:custGeom>
              <a:grpFill/>
              <a:ln>
                <a:noFill/>
              </a:ln>
            </p:spPr>
            <p:txBody>
              <a:bodyPr spcFirstLastPara="1" wrap="square" lIns="121900" tIns="121900" rIns="121900" bIns="121900" anchor="ctr" anchorCtr="0">
                <a:noAutofit/>
              </a:bodyPr>
              <a:lstStyle/>
              <a:p>
                <a:endParaRPr sz="2400"/>
              </a:p>
            </p:txBody>
          </p:sp>
        </p:grpSp>
      </p:grpSp>
      <p:sp>
        <p:nvSpPr>
          <p:cNvPr id="55" name="Google Shape;3995;p108">
            <a:extLst>
              <a:ext uri="{FF2B5EF4-FFF2-40B4-BE49-F238E27FC236}">
                <a16:creationId xmlns:a16="http://schemas.microsoft.com/office/drawing/2014/main" id="{23E348CB-9E14-E90D-F0CC-278DDF2F47CA}"/>
              </a:ext>
            </a:extLst>
          </p:cNvPr>
          <p:cNvSpPr txBox="1"/>
          <p:nvPr/>
        </p:nvSpPr>
        <p:spPr>
          <a:xfrm>
            <a:off x="775871" y="1769585"/>
            <a:ext cx="3522033" cy="533170"/>
          </a:xfrm>
          <a:prstGeom prst="rect">
            <a:avLst/>
          </a:prstGeom>
          <a:noFill/>
          <a:ln>
            <a:noFill/>
          </a:ln>
        </p:spPr>
        <p:txBody>
          <a:bodyPr spcFirstLastPara="1" wrap="square" lIns="121900" tIns="121900" rIns="121900" bIns="121900" anchor="t" anchorCtr="0">
            <a:noAutofit/>
          </a:bodyPr>
          <a:lstStyle/>
          <a:p>
            <a:pPr marL="380990" indent="-380990">
              <a:buFont typeface="Arial" panose="020B0604020202020204" pitchFamily="34" charset="0"/>
              <a:buChar char="•"/>
            </a:pPr>
            <a:r>
              <a:rPr lang="en-MY" dirty="0">
                <a:ea typeface="Titillium Web"/>
                <a:cs typeface="Titillium Web"/>
                <a:sym typeface="Titillium Web"/>
              </a:rPr>
              <a:t>Synthetic Anti-Money Laundering Dataset (SAML-D)</a:t>
            </a:r>
            <a:endParaRPr dirty="0">
              <a:ea typeface="Titillium Web"/>
              <a:cs typeface="Titillium Web"/>
              <a:sym typeface="Titillium Web"/>
            </a:endParaRPr>
          </a:p>
        </p:txBody>
      </p:sp>
      <p:sp>
        <p:nvSpPr>
          <p:cNvPr id="56" name="Google Shape;3995;p108">
            <a:extLst>
              <a:ext uri="{FF2B5EF4-FFF2-40B4-BE49-F238E27FC236}">
                <a16:creationId xmlns:a16="http://schemas.microsoft.com/office/drawing/2014/main" id="{50C5846B-9B62-5DDD-A6C0-B104DEFDA6D9}"/>
              </a:ext>
            </a:extLst>
          </p:cNvPr>
          <p:cNvSpPr txBox="1"/>
          <p:nvPr/>
        </p:nvSpPr>
        <p:spPr>
          <a:xfrm>
            <a:off x="4924718" y="1816445"/>
            <a:ext cx="3358400" cy="720000"/>
          </a:xfrm>
          <a:prstGeom prst="rect">
            <a:avLst/>
          </a:prstGeom>
          <a:noFill/>
          <a:ln>
            <a:noFill/>
          </a:ln>
        </p:spPr>
        <p:txBody>
          <a:bodyPr spcFirstLastPara="1" wrap="square" lIns="121900" tIns="121900" rIns="121900" bIns="121900" anchor="t" anchorCtr="0">
            <a:noAutofit/>
          </a:bodyPr>
          <a:lstStyle/>
          <a:p>
            <a:pPr marL="380990" indent="-380990">
              <a:buFont typeface="Arial" panose="020B0604020202020204" pitchFamily="34" charset="0"/>
              <a:buChar char="•"/>
            </a:pPr>
            <a:r>
              <a:rPr lang="en-MY" dirty="0" err="1">
                <a:ea typeface="Titillium Web"/>
                <a:cs typeface="Titillium Web"/>
                <a:sym typeface="Titillium Web"/>
              </a:rPr>
              <a:t>XGBoost</a:t>
            </a:r>
            <a:endParaRPr lang="en-MY" dirty="0">
              <a:ea typeface="Titillium Web"/>
              <a:cs typeface="Titillium Web"/>
              <a:sym typeface="Titillium Web"/>
            </a:endParaRPr>
          </a:p>
          <a:p>
            <a:pPr marL="380990" indent="-380990">
              <a:buFont typeface="Arial" panose="020B0604020202020204" pitchFamily="34" charset="0"/>
              <a:buChar char="•"/>
            </a:pPr>
            <a:r>
              <a:rPr lang="en-MY" dirty="0">
                <a:ea typeface="Titillium Web"/>
                <a:cs typeface="Titillium Web"/>
                <a:sym typeface="Titillium Web"/>
              </a:rPr>
              <a:t>Random Forest</a:t>
            </a:r>
            <a:endParaRPr dirty="0">
              <a:ea typeface="Titillium Web"/>
              <a:cs typeface="Titillium Web"/>
              <a:sym typeface="Titillium Web"/>
            </a:endParaRPr>
          </a:p>
        </p:txBody>
      </p:sp>
      <p:sp>
        <p:nvSpPr>
          <p:cNvPr id="57" name="Google Shape;3995;p108">
            <a:extLst>
              <a:ext uri="{FF2B5EF4-FFF2-40B4-BE49-F238E27FC236}">
                <a16:creationId xmlns:a16="http://schemas.microsoft.com/office/drawing/2014/main" id="{704EDCB6-0E53-61CE-03AF-3CAF439AEE6E}"/>
              </a:ext>
            </a:extLst>
          </p:cNvPr>
          <p:cNvSpPr txBox="1"/>
          <p:nvPr/>
        </p:nvSpPr>
        <p:spPr>
          <a:xfrm>
            <a:off x="9540549" y="1787009"/>
            <a:ext cx="2665108" cy="790641"/>
          </a:xfrm>
          <a:prstGeom prst="rect">
            <a:avLst/>
          </a:prstGeom>
          <a:noFill/>
          <a:ln>
            <a:noFill/>
          </a:ln>
        </p:spPr>
        <p:txBody>
          <a:bodyPr spcFirstLastPara="1" wrap="square" lIns="121900" tIns="121900" rIns="121900" bIns="121900" anchor="t" anchorCtr="0">
            <a:noAutofit/>
          </a:bodyPr>
          <a:lstStyle/>
          <a:p>
            <a:pPr marL="380990" indent="-380990">
              <a:buFont typeface="Arial" panose="020B0604020202020204" pitchFamily="34" charset="0"/>
              <a:buChar char="•"/>
            </a:pPr>
            <a:r>
              <a:rPr lang="en-MY" dirty="0"/>
              <a:t>Google </a:t>
            </a:r>
            <a:r>
              <a:rPr lang="en-MY" dirty="0" err="1"/>
              <a:t>Colab</a:t>
            </a:r>
            <a:endParaRPr lang="en-MY" dirty="0"/>
          </a:p>
          <a:p>
            <a:pPr marL="380990" indent="-380990">
              <a:buFont typeface="Arial" panose="020B0604020202020204" pitchFamily="34" charset="0"/>
              <a:buChar char="•"/>
            </a:pPr>
            <a:r>
              <a:rPr lang="en-MY" dirty="0">
                <a:sym typeface="Titillium Web"/>
              </a:rPr>
              <a:t>Microsoft Power BI</a:t>
            </a:r>
            <a:endParaRPr dirty="0">
              <a:sym typeface="Titillium Web"/>
            </a:endParaRPr>
          </a:p>
        </p:txBody>
      </p:sp>
      <p:grpSp>
        <p:nvGrpSpPr>
          <p:cNvPr id="58" name="Group 57">
            <a:extLst>
              <a:ext uri="{FF2B5EF4-FFF2-40B4-BE49-F238E27FC236}">
                <a16:creationId xmlns:a16="http://schemas.microsoft.com/office/drawing/2014/main" id="{572F1A11-107A-B26B-E1A0-195527711E95}"/>
              </a:ext>
            </a:extLst>
          </p:cNvPr>
          <p:cNvGrpSpPr/>
          <p:nvPr/>
        </p:nvGrpSpPr>
        <p:grpSpPr>
          <a:xfrm>
            <a:off x="8845090" y="1632891"/>
            <a:ext cx="720000" cy="720000"/>
            <a:chOff x="8401559" y="1751232"/>
            <a:chExt cx="1546800" cy="1546800"/>
          </a:xfrm>
        </p:grpSpPr>
        <p:sp>
          <p:nvSpPr>
            <p:cNvPr id="59" name="Google Shape;1658;p90">
              <a:extLst>
                <a:ext uri="{FF2B5EF4-FFF2-40B4-BE49-F238E27FC236}">
                  <a16:creationId xmlns:a16="http://schemas.microsoft.com/office/drawing/2014/main" id="{5231A918-5F28-245A-558F-CD9FE5AA010D}"/>
                </a:ext>
              </a:extLst>
            </p:cNvPr>
            <p:cNvSpPr/>
            <p:nvPr/>
          </p:nvSpPr>
          <p:spPr>
            <a:xfrm>
              <a:off x="8401559" y="1751232"/>
              <a:ext cx="1546800" cy="1546800"/>
            </a:xfrm>
            <a:prstGeom prst="ellipse">
              <a:avLst/>
            </a:prstGeom>
            <a:noFill/>
            <a:ln w="9525"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0" name="Google Shape;1659;p90">
              <a:extLst>
                <a:ext uri="{FF2B5EF4-FFF2-40B4-BE49-F238E27FC236}">
                  <a16:creationId xmlns:a16="http://schemas.microsoft.com/office/drawing/2014/main" id="{C3FF19A8-68CF-8FD2-0192-B928A6803A92}"/>
                </a:ext>
              </a:extLst>
            </p:cNvPr>
            <p:cNvSpPr/>
            <p:nvPr/>
          </p:nvSpPr>
          <p:spPr>
            <a:xfrm>
              <a:off x="8401559" y="1751232"/>
              <a:ext cx="1546800" cy="1546800"/>
            </a:xfrm>
            <a:prstGeom prst="arc">
              <a:avLst>
                <a:gd name="adj1" fmla="val 16200000"/>
                <a:gd name="adj2" fmla="val 3590165"/>
              </a:avLst>
            </a:prstGeom>
            <a:noFill/>
            <a:ln w="19050" cap="flat" cmpd="sng">
              <a:solidFill>
                <a:schemeClr val="dk1"/>
              </a:solidFill>
              <a:prstDash val="solid"/>
              <a:round/>
              <a:headEnd type="none" w="sm" len="sm"/>
              <a:tailEnd type="oval" w="sm" len="sm"/>
            </a:ln>
          </p:spPr>
          <p:txBody>
            <a:bodyPr spcFirstLastPara="1" wrap="square" lIns="121900" tIns="121900" rIns="121900" bIns="121900" anchor="ctr" anchorCtr="0">
              <a:noAutofit/>
            </a:bodyPr>
            <a:lstStyle/>
            <a:p>
              <a:endParaRPr sz="2400"/>
            </a:p>
          </p:txBody>
        </p:sp>
        <p:pic>
          <p:nvPicPr>
            <p:cNvPr id="61" name="Picture 60">
              <a:extLst>
                <a:ext uri="{FF2B5EF4-FFF2-40B4-BE49-F238E27FC236}">
                  <a16:creationId xmlns:a16="http://schemas.microsoft.com/office/drawing/2014/main" id="{A5CBDB79-671F-B07D-B143-F05BE2AA1E24}"/>
                </a:ext>
              </a:extLst>
            </p:cNvPr>
            <p:cNvPicPr>
              <a:picLocks noChangeAspect="1"/>
            </p:cNvPicPr>
            <p:nvPr/>
          </p:nvPicPr>
          <p:blipFill>
            <a:blip r:embed="rId3"/>
            <a:stretch>
              <a:fillRect/>
            </a:stretch>
          </p:blipFill>
          <p:spPr>
            <a:xfrm>
              <a:off x="8750777" y="2109159"/>
              <a:ext cx="848363" cy="848363"/>
            </a:xfrm>
            <a:prstGeom prst="rect">
              <a:avLst/>
            </a:prstGeom>
          </p:spPr>
        </p:pic>
      </p:grpSp>
      <p:sp>
        <p:nvSpPr>
          <p:cNvPr id="62" name="Rectangle 61">
            <a:extLst>
              <a:ext uri="{FF2B5EF4-FFF2-40B4-BE49-F238E27FC236}">
                <a16:creationId xmlns:a16="http://schemas.microsoft.com/office/drawing/2014/main" id="{45F82393-8958-37D8-63E9-55328243EDFA}"/>
              </a:ext>
            </a:extLst>
          </p:cNvPr>
          <p:cNvSpPr/>
          <p:nvPr/>
        </p:nvSpPr>
        <p:spPr>
          <a:xfrm>
            <a:off x="0" y="3157168"/>
            <a:ext cx="7065282"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3" name="Title 1">
            <a:extLst>
              <a:ext uri="{FF2B5EF4-FFF2-40B4-BE49-F238E27FC236}">
                <a16:creationId xmlns:a16="http://schemas.microsoft.com/office/drawing/2014/main" id="{8F8E714A-7EBB-913D-5BF6-EA2ADC085389}"/>
              </a:ext>
            </a:extLst>
          </p:cNvPr>
          <p:cNvSpPr txBox="1">
            <a:spLocks/>
          </p:cNvSpPr>
          <p:nvPr/>
        </p:nvSpPr>
        <p:spPr>
          <a:xfrm>
            <a:off x="938914" y="3204793"/>
            <a:ext cx="4764617" cy="463549"/>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3000" dirty="0">
                <a:solidFill>
                  <a:schemeClr val="bg1"/>
                </a:solidFill>
                <a:effectLst>
                  <a:outerShdw blurRad="38100" dist="38100" dir="2700000" algn="tl">
                    <a:srgbClr val="000000">
                      <a:alpha val="43137"/>
                    </a:srgbClr>
                  </a:outerShdw>
                </a:effectLst>
              </a:rPr>
              <a:t>SIGNIFICANCE OF RESEARCH</a:t>
            </a:r>
          </a:p>
        </p:txBody>
      </p:sp>
      <p:sp>
        <p:nvSpPr>
          <p:cNvPr id="67" name="Google Shape;3995;p108">
            <a:extLst>
              <a:ext uri="{FF2B5EF4-FFF2-40B4-BE49-F238E27FC236}">
                <a16:creationId xmlns:a16="http://schemas.microsoft.com/office/drawing/2014/main" id="{C1F89199-958E-2DA1-A193-0494E8ACEF8A}"/>
              </a:ext>
            </a:extLst>
          </p:cNvPr>
          <p:cNvSpPr txBox="1"/>
          <p:nvPr/>
        </p:nvSpPr>
        <p:spPr>
          <a:xfrm>
            <a:off x="279099" y="3889105"/>
            <a:ext cx="10976280" cy="2435495"/>
          </a:xfrm>
          <a:prstGeom prst="rect">
            <a:avLst/>
          </a:prstGeom>
          <a:noFill/>
          <a:ln>
            <a:noFill/>
          </a:ln>
        </p:spPr>
        <p:txBody>
          <a:bodyPr spcFirstLastPara="1" wrap="square" lIns="121900" tIns="121900" rIns="121900" bIns="121900" anchor="t" anchorCtr="0">
            <a:noAutofit/>
          </a:bodyPr>
          <a:lstStyle/>
          <a:p>
            <a:r>
              <a:rPr lang="en-MY" sz="1600" dirty="0">
                <a:ea typeface="Titillium Web"/>
                <a:cs typeface="Titillium Web"/>
                <a:sym typeface="Titillium Web"/>
              </a:rPr>
              <a:t>The outcomes from this project may contribute in the effort to combat money laundering:</a:t>
            </a:r>
          </a:p>
          <a:p>
            <a:endParaRPr lang="en-MY" sz="1600" dirty="0">
              <a:ea typeface="Titillium Web"/>
              <a:cs typeface="Titillium Web"/>
              <a:sym typeface="Titillium Web"/>
            </a:endParaRPr>
          </a:p>
          <a:p>
            <a:pPr marL="342900" indent="-342900">
              <a:buFont typeface="Wingdings" panose="05000000000000000000" pitchFamily="2" charset="2"/>
              <a:buChar char="Ø"/>
            </a:pPr>
            <a:r>
              <a:rPr lang="en-MY" sz="1600" dirty="0">
                <a:ea typeface="Titillium Web"/>
                <a:cs typeface="Titillium Web"/>
                <a:sym typeface="Titillium Web"/>
              </a:rPr>
              <a:t>A</a:t>
            </a:r>
            <a:r>
              <a:rPr lang="en-MY" sz="1600" b="1" dirty="0">
                <a:ea typeface="Titillium Web"/>
                <a:cs typeface="Titillium Web"/>
                <a:sym typeface="Titillium Web"/>
              </a:rPr>
              <a:t> </a:t>
            </a:r>
            <a:r>
              <a:rPr lang="en-MY" sz="1600" dirty="0">
                <a:ea typeface="Titillium Web"/>
                <a:cs typeface="Titillium Web"/>
                <a:sym typeface="Titillium Web"/>
              </a:rPr>
              <a:t>well-trained model that can detect money laundering especially in complex scenarios can </a:t>
            </a:r>
            <a:r>
              <a:rPr lang="en-MY" sz="1600" b="1" dirty="0">
                <a:ea typeface="Titillium Web"/>
                <a:cs typeface="Titillium Web"/>
                <a:sym typeface="Titillium Web"/>
              </a:rPr>
              <a:t>strengthen financial institution’s defence against money laundering</a:t>
            </a:r>
            <a:r>
              <a:rPr lang="en-MY" sz="1600" dirty="0">
                <a:ea typeface="Titillium Web"/>
                <a:cs typeface="Titillium Web"/>
                <a:sym typeface="Titillium Web"/>
              </a:rPr>
              <a:t> </a:t>
            </a:r>
          </a:p>
          <a:p>
            <a:pPr marL="342900" indent="-342900">
              <a:buFont typeface="Wingdings" panose="05000000000000000000" pitchFamily="2" charset="2"/>
              <a:buChar char="Ø"/>
            </a:pPr>
            <a:r>
              <a:rPr lang="en-MY" sz="1600" dirty="0">
                <a:ea typeface="Titillium Web"/>
                <a:cs typeface="Titillium Web"/>
                <a:sym typeface="Titillium Web"/>
              </a:rPr>
              <a:t>Model with low false positive rates can reduce unnecessary alerts and help authorities to focus on truly suspicious cases hence </a:t>
            </a:r>
            <a:r>
              <a:rPr lang="en-MY" sz="1600" b="1" dirty="0">
                <a:ea typeface="Titillium Web"/>
                <a:cs typeface="Titillium Web"/>
                <a:sym typeface="Titillium Web"/>
              </a:rPr>
              <a:t>improve the efficiency of enforcement agency to handle money laundering cases</a:t>
            </a:r>
          </a:p>
          <a:p>
            <a:pPr marL="342900" indent="-342900">
              <a:buFont typeface="Wingdings" panose="05000000000000000000" pitchFamily="2" charset="2"/>
              <a:buChar char="Ø"/>
            </a:pPr>
            <a:r>
              <a:rPr lang="en-MY" sz="1600" b="1" dirty="0">
                <a:ea typeface="Titillium Web"/>
                <a:cs typeface="Titillium Web"/>
                <a:sym typeface="Titillium Web"/>
              </a:rPr>
              <a:t>Protect the integrity of global financial system </a:t>
            </a:r>
            <a:r>
              <a:rPr lang="en-MY" sz="1600" dirty="0">
                <a:ea typeface="Titillium Web"/>
                <a:cs typeface="Titillium Web"/>
                <a:sym typeface="Titillium Web"/>
              </a:rPr>
              <a:t>through an innovative and data-driven approach to money laundering detection.</a:t>
            </a:r>
            <a:endParaRPr sz="1600" dirty="0">
              <a:ea typeface="Titillium Web"/>
              <a:cs typeface="Titillium Web"/>
              <a:sym typeface="Titillium Web"/>
            </a:endParaRPr>
          </a:p>
        </p:txBody>
      </p:sp>
    </p:spTree>
    <p:extLst>
      <p:ext uri="{BB962C8B-B14F-4D97-AF65-F5344CB8AC3E}">
        <p14:creationId xmlns:p14="http://schemas.microsoft.com/office/powerpoint/2010/main" val="2629328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48EE8-5987-997B-4524-5617D8A468E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B06CEE-5E95-E300-135D-29C6F8F585BA}"/>
              </a:ext>
            </a:extLst>
          </p:cNvPr>
          <p:cNvSpPr txBox="1"/>
          <p:nvPr/>
        </p:nvSpPr>
        <p:spPr>
          <a:xfrm>
            <a:off x="4180114" y="2641219"/>
            <a:ext cx="5943600" cy="461665"/>
          </a:xfrm>
          <a:prstGeom prst="rect">
            <a:avLst/>
          </a:prstGeom>
          <a:noFill/>
        </p:spPr>
        <p:txBody>
          <a:bodyPr wrap="square" rtlCol="0">
            <a:spAutoFit/>
          </a:bodyPr>
          <a:lstStyle/>
          <a:p>
            <a:r>
              <a:rPr lang="en-MY" sz="2400" spc="300" dirty="0">
                <a:solidFill>
                  <a:schemeClr val="tx1">
                    <a:lumMod val="75000"/>
                    <a:lumOff val="25000"/>
                  </a:schemeClr>
                </a:solidFill>
                <a:effectLst>
                  <a:innerShdw blurRad="114300">
                    <a:prstClr val="black"/>
                  </a:innerShdw>
                </a:effectLst>
              </a:rPr>
              <a:t>CHAPTER 2</a:t>
            </a:r>
          </a:p>
        </p:txBody>
      </p:sp>
      <p:sp>
        <p:nvSpPr>
          <p:cNvPr id="4" name="TextBox 3">
            <a:extLst>
              <a:ext uri="{FF2B5EF4-FFF2-40B4-BE49-F238E27FC236}">
                <a16:creationId xmlns:a16="http://schemas.microsoft.com/office/drawing/2014/main" id="{409B904F-DE1C-BF5A-F6E7-D562BA7306C1}"/>
              </a:ext>
            </a:extLst>
          </p:cNvPr>
          <p:cNvSpPr txBox="1"/>
          <p:nvPr/>
        </p:nvSpPr>
        <p:spPr>
          <a:xfrm>
            <a:off x="4180114" y="2930121"/>
            <a:ext cx="5943600" cy="1938992"/>
          </a:xfrm>
          <a:prstGeom prst="rect">
            <a:avLst/>
          </a:prstGeom>
          <a:noFill/>
        </p:spPr>
        <p:txBody>
          <a:bodyPr wrap="square" rtlCol="0">
            <a:spAutoFit/>
            <a:scene3d>
              <a:camera prst="orthographicFront"/>
              <a:lightRig rig="threePt" dir="t"/>
            </a:scene3d>
            <a:sp3d extrusionH="57150">
              <a:bevelT w="38100" h="38100" prst="angle"/>
            </a:sp3d>
          </a:bodyPr>
          <a:lstStyle/>
          <a:p>
            <a:r>
              <a:rPr lang="en-US" sz="6000" b="1" kern="0" dirty="0">
                <a:solidFill>
                  <a:srgbClr val="6C1D35"/>
                </a:solidFill>
              </a:rPr>
              <a:t>LITERATURE</a:t>
            </a:r>
          </a:p>
          <a:p>
            <a:r>
              <a:rPr lang="en-US" sz="6000" b="1" kern="0" dirty="0">
                <a:solidFill>
                  <a:srgbClr val="6C1D35"/>
                </a:solidFill>
              </a:rPr>
              <a:t>REVIEW</a:t>
            </a:r>
          </a:p>
        </p:txBody>
      </p:sp>
      <p:pic>
        <p:nvPicPr>
          <p:cNvPr id="5" name="Picture 4">
            <a:extLst>
              <a:ext uri="{FF2B5EF4-FFF2-40B4-BE49-F238E27FC236}">
                <a16:creationId xmlns:a16="http://schemas.microsoft.com/office/drawing/2014/main" id="{B242EC12-1A4B-F5BA-B3A6-B1085E4AAE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2795" y="344422"/>
            <a:ext cx="2249407" cy="751894"/>
          </a:xfrm>
          <a:prstGeom prst="rect">
            <a:avLst/>
          </a:prstGeom>
        </p:spPr>
      </p:pic>
      <p:pic>
        <p:nvPicPr>
          <p:cNvPr id="9" name="Picture 8">
            <a:extLst>
              <a:ext uri="{FF2B5EF4-FFF2-40B4-BE49-F238E27FC236}">
                <a16:creationId xmlns:a16="http://schemas.microsoft.com/office/drawing/2014/main" id="{58FC7A42-DF3C-5636-1EBB-05587A561C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3714" y="6529906"/>
            <a:ext cx="2060121" cy="155037"/>
          </a:xfrm>
          <a:prstGeom prst="rect">
            <a:avLst/>
          </a:prstGeom>
        </p:spPr>
      </p:pic>
      <p:cxnSp>
        <p:nvCxnSpPr>
          <p:cNvPr id="10" name="Straight Connector 9">
            <a:extLst>
              <a:ext uri="{FF2B5EF4-FFF2-40B4-BE49-F238E27FC236}">
                <a16:creationId xmlns:a16="http://schemas.microsoft.com/office/drawing/2014/main" id="{B3ACFD34-4E88-0BB0-7FF0-0466FF17B414}"/>
              </a:ext>
            </a:extLst>
          </p:cNvPr>
          <p:cNvCxnSpPr>
            <a:cxnSpLocks/>
          </p:cNvCxnSpPr>
          <p:nvPr/>
        </p:nvCxnSpPr>
        <p:spPr>
          <a:xfrm>
            <a:off x="0" y="6626873"/>
            <a:ext cx="10286999" cy="0"/>
          </a:xfrm>
          <a:prstGeom prst="line">
            <a:avLst/>
          </a:prstGeom>
          <a:ln w="28575"/>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47732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5">
          <a:extLst>
            <a:ext uri="{FF2B5EF4-FFF2-40B4-BE49-F238E27FC236}">
              <a16:creationId xmlns:a16="http://schemas.microsoft.com/office/drawing/2014/main" id="{A703A3F3-FFC7-3A31-A819-2D9D2032BCEB}"/>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51B2CE0D-FFD4-BF21-5435-59339F00B549}"/>
              </a:ext>
            </a:extLst>
          </p:cNvPr>
          <p:cNvSpPr/>
          <p:nvPr/>
        </p:nvSpPr>
        <p:spPr>
          <a:xfrm>
            <a:off x="0" y="385235"/>
            <a:ext cx="7065282"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itle 1">
            <a:extLst>
              <a:ext uri="{FF2B5EF4-FFF2-40B4-BE49-F238E27FC236}">
                <a16:creationId xmlns:a16="http://schemas.microsoft.com/office/drawing/2014/main" id="{84ABB755-093F-8780-03E8-C0E8042FAFBD}"/>
              </a:ext>
            </a:extLst>
          </p:cNvPr>
          <p:cNvSpPr>
            <a:spLocks noGrp="1"/>
          </p:cNvSpPr>
          <p:nvPr>
            <p:ph type="title"/>
          </p:nvPr>
        </p:nvSpPr>
        <p:spPr>
          <a:xfrm>
            <a:off x="938914" y="432860"/>
            <a:ext cx="4764617" cy="463549"/>
          </a:xfrm>
        </p:spPr>
        <p:txBody>
          <a:bodyPr>
            <a:noAutofit/>
          </a:bodyPr>
          <a:lstStyle/>
          <a:p>
            <a:r>
              <a:rPr lang="en-US" sz="2900" dirty="0">
                <a:solidFill>
                  <a:schemeClr val="bg1"/>
                </a:solidFill>
                <a:effectLst>
                  <a:outerShdw blurRad="38100" dist="38100" dir="2700000" algn="tl">
                    <a:srgbClr val="000000">
                      <a:alpha val="43137"/>
                    </a:srgbClr>
                  </a:outerShdw>
                </a:effectLst>
              </a:rPr>
              <a:t>PREVIOUS STUDIES</a:t>
            </a:r>
          </a:p>
        </p:txBody>
      </p:sp>
      <p:graphicFrame>
        <p:nvGraphicFramePr>
          <p:cNvPr id="12" name="Table 11">
            <a:extLst>
              <a:ext uri="{FF2B5EF4-FFF2-40B4-BE49-F238E27FC236}">
                <a16:creationId xmlns:a16="http://schemas.microsoft.com/office/drawing/2014/main" id="{8FEB2A2B-AD5D-5959-4AC3-85FF8C560EAF}"/>
              </a:ext>
            </a:extLst>
          </p:cNvPr>
          <p:cNvGraphicFramePr>
            <a:graphicFrameLocks noGrp="1"/>
          </p:cNvGraphicFramePr>
          <p:nvPr>
            <p:extLst>
              <p:ext uri="{D42A27DB-BD31-4B8C-83A1-F6EECF244321}">
                <p14:modId xmlns:p14="http://schemas.microsoft.com/office/powerpoint/2010/main" val="2908760236"/>
              </p:ext>
            </p:extLst>
          </p:nvPr>
        </p:nvGraphicFramePr>
        <p:xfrm>
          <a:off x="241300" y="1372807"/>
          <a:ext cx="11442700" cy="4668520"/>
        </p:xfrm>
        <a:graphic>
          <a:graphicData uri="http://schemas.openxmlformats.org/drawingml/2006/table">
            <a:tbl>
              <a:tblPr firstRow="1" bandRow="1">
                <a:effectLst>
                  <a:outerShdw blurRad="50800" dist="38100" dir="5400000" algn="t" rotWithShape="0">
                    <a:prstClr val="black">
                      <a:alpha val="40000"/>
                    </a:prstClr>
                  </a:outerShdw>
                </a:effectLst>
                <a:tableStyleId>{5C22544A-7EE6-4342-B048-85BDC9FD1C3A}</a:tableStyleId>
              </a:tblPr>
              <a:tblGrid>
                <a:gridCol w="539750">
                  <a:extLst>
                    <a:ext uri="{9D8B030D-6E8A-4147-A177-3AD203B41FA5}">
                      <a16:colId xmlns:a16="http://schemas.microsoft.com/office/drawing/2014/main" val="120649743"/>
                    </a:ext>
                  </a:extLst>
                </a:gridCol>
                <a:gridCol w="1073150">
                  <a:extLst>
                    <a:ext uri="{9D8B030D-6E8A-4147-A177-3AD203B41FA5}">
                      <a16:colId xmlns:a16="http://schemas.microsoft.com/office/drawing/2014/main" val="586982642"/>
                    </a:ext>
                  </a:extLst>
                </a:gridCol>
                <a:gridCol w="3386667">
                  <a:extLst>
                    <a:ext uri="{9D8B030D-6E8A-4147-A177-3AD203B41FA5}">
                      <a16:colId xmlns:a16="http://schemas.microsoft.com/office/drawing/2014/main" val="1999673232"/>
                    </a:ext>
                  </a:extLst>
                </a:gridCol>
                <a:gridCol w="1955800">
                  <a:extLst>
                    <a:ext uri="{9D8B030D-6E8A-4147-A177-3AD203B41FA5}">
                      <a16:colId xmlns:a16="http://schemas.microsoft.com/office/drawing/2014/main" val="2984271969"/>
                    </a:ext>
                  </a:extLst>
                </a:gridCol>
                <a:gridCol w="4487333">
                  <a:extLst>
                    <a:ext uri="{9D8B030D-6E8A-4147-A177-3AD203B41FA5}">
                      <a16:colId xmlns:a16="http://schemas.microsoft.com/office/drawing/2014/main" val="1103708164"/>
                    </a:ext>
                  </a:extLst>
                </a:gridCol>
              </a:tblGrid>
              <a:tr h="370840">
                <a:tc>
                  <a:txBody>
                    <a:bodyPr/>
                    <a:lstStyle/>
                    <a:p>
                      <a:r>
                        <a:rPr lang="en-MY" sz="1400" dirty="0"/>
                        <a:t>No.</a:t>
                      </a:r>
                    </a:p>
                  </a:txBody>
                  <a:tcPr anchor="ctr"/>
                </a:tc>
                <a:tc>
                  <a:txBody>
                    <a:bodyPr/>
                    <a:lstStyle/>
                    <a:p>
                      <a:r>
                        <a:rPr lang="en-MY" sz="1400" b="1" dirty="0"/>
                        <a:t>Author</a:t>
                      </a:r>
                      <a:endParaRPr lang="en-MY" sz="1400" dirty="0"/>
                    </a:p>
                  </a:txBody>
                  <a:tcPr anchor="ctr"/>
                </a:tc>
                <a:tc>
                  <a:txBody>
                    <a:bodyPr/>
                    <a:lstStyle/>
                    <a:p>
                      <a:r>
                        <a:rPr lang="en-MY" sz="1400" b="1" dirty="0"/>
                        <a:t>Method</a:t>
                      </a:r>
                      <a:endParaRPr lang="en-MY" sz="1400" dirty="0"/>
                    </a:p>
                  </a:txBody>
                  <a:tcPr anchor="ctr"/>
                </a:tc>
                <a:tc>
                  <a:txBody>
                    <a:bodyPr/>
                    <a:lstStyle/>
                    <a:p>
                      <a:r>
                        <a:rPr lang="en-MY" sz="1400" b="1" dirty="0"/>
                        <a:t>Dataset</a:t>
                      </a:r>
                      <a:endParaRPr lang="en-MY" sz="1400" dirty="0"/>
                    </a:p>
                  </a:txBody>
                  <a:tcPr anchor="ctr"/>
                </a:tc>
                <a:tc>
                  <a:txBody>
                    <a:bodyPr/>
                    <a:lstStyle/>
                    <a:p>
                      <a:r>
                        <a:rPr lang="en-MY" sz="1400" b="1" dirty="0"/>
                        <a:t>Highlights</a:t>
                      </a:r>
                      <a:endParaRPr lang="en-MY" sz="1400" dirty="0"/>
                    </a:p>
                  </a:txBody>
                  <a:tcPr anchor="ctr"/>
                </a:tc>
                <a:extLst>
                  <a:ext uri="{0D108BD9-81ED-4DB2-BD59-A6C34878D82A}">
                    <a16:rowId xmlns:a16="http://schemas.microsoft.com/office/drawing/2014/main" val="169289593"/>
                  </a:ext>
                </a:extLst>
              </a:tr>
              <a:tr h="370840">
                <a:tc>
                  <a:txBody>
                    <a:bodyPr/>
                    <a:lstStyle/>
                    <a:p>
                      <a:r>
                        <a:rPr lang="en-MY" sz="1200" dirty="0"/>
                        <a:t>1.</a:t>
                      </a:r>
                    </a:p>
                  </a:txBody>
                  <a:tcPr anchor="ctr"/>
                </a:tc>
                <a:tc>
                  <a:txBody>
                    <a:bodyPr/>
                    <a:lstStyle/>
                    <a:p>
                      <a:r>
                        <a:rPr lang="en-MY" sz="1200" b="1" dirty="0" err="1"/>
                        <a:t>Tundis</a:t>
                      </a:r>
                      <a:r>
                        <a:rPr lang="en-MY" sz="1200" b="1" dirty="0"/>
                        <a:t> et al. (2021)</a:t>
                      </a:r>
                      <a:endParaRPr lang="en-MY" sz="1200" dirty="0"/>
                    </a:p>
                  </a:txBody>
                  <a:tcPr anchor="ctr"/>
                </a:tc>
                <a:tc>
                  <a:txBody>
                    <a:bodyPr/>
                    <a:lstStyle/>
                    <a:p>
                      <a:r>
                        <a:rPr lang="en-MY" sz="1200" dirty="0"/>
                        <a:t>Decision Tree, Support Vector Machines, Random Forest (RF), Linear Regression, Naïve Bayes</a:t>
                      </a:r>
                    </a:p>
                  </a:txBody>
                  <a:tcPr anchor="ctr"/>
                </a:tc>
                <a:tc>
                  <a:txBody>
                    <a:bodyPr/>
                    <a:lstStyle/>
                    <a:p>
                      <a:r>
                        <a:rPr lang="en-MY" sz="1200" dirty="0" err="1"/>
                        <a:t>PaySim</a:t>
                      </a:r>
                      <a:r>
                        <a:rPr lang="en-MY" sz="1200" dirty="0"/>
                        <a:t> (Synthetic)</a:t>
                      </a:r>
                    </a:p>
                  </a:txBody>
                  <a:tcPr anchor="ctr"/>
                </a:tc>
                <a:tc>
                  <a:txBody>
                    <a:bodyPr/>
                    <a:lstStyle/>
                    <a:p>
                      <a:pPr marL="285750" indent="-285750">
                        <a:buFontTx/>
                        <a:buChar char="-"/>
                      </a:pPr>
                      <a:r>
                        <a:rPr lang="en-US" sz="1200" dirty="0"/>
                        <a:t>RF achieved &gt;94% in accuracy, recall, F1; low false positives</a:t>
                      </a:r>
                    </a:p>
                    <a:p>
                      <a:pPr marL="285750" indent="-285750">
                        <a:buFontTx/>
                        <a:buChar char="-"/>
                      </a:pPr>
                      <a:r>
                        <a:rPr lang="en-US" sz="1200" dirty="0"/>
                        <a:t>Included analysis on feature importance</a:t>
                      </a:r>
                    </a:p>
                  </a:txBody>
                  <a:tcPr anchor="ctr"/>
                </a:tc>
                <a:extLst>
                  <a:ext uri="{0D108BD9-81ED-4DB2-BD59-A6C34878D82A}">
                    <a16:rowId xmlns:a16="http://schemas.microsoft.com/office/drawing/2014/main" val="979628540"/>
                  </a:ext>
                </a:extLst>
              </a:tr>
              <a:tr h="370840">
                <a:tc>
                  <a:txBody>
                    <a:bodyPr/>
                    <a:lstStyle/>
                    <a:p>
                      <a:r>
                        <a:rPr lang="en-MY" sz="1200" dirty="0"/>
                        <a:t>2.</a:t>
                      </a:r>
                    </a:p>
                  </a:txBody>
                  <a:tcPr anchor="ctr"/>
                </a:tc>
                <a:tc>
                  <a:txBody>
                    <a:bodyPr/>
                    <a:lstStyle/>
                    <a:p>
                      <a:r>
                        <a:rPr lang="en-MY" sz="1200" b="1"/>
                        <a:t>Zhang &amp; Trubey (2019)</a:t>
                      </a:r>
                      <a:endParaRPr lang="en-MY" sz="1200"/>
                    </a:p>
                  </a:txBody>
                  <a:tcPr anchor="ctr"/>
                </a:tc>
                <a:tc>
                  <a:txBody>
                    <a:bodyPr/>
                    <a:lstStyle/>
                    <a:p>
                      <a:r>
                        <a:rPr lang="en-MY" sz="1200" dirty="0"/>
                        <a:t>Bayes Logistic Regression, Decision Tree, Random Forest, Support Vector Machines, Artificial Neural Network (ANN)</a:t>
                      </a:r>
                    </a:p>
                  </a:txBody>
                  <a:tcPr anchor="ctr"/>
                </a:tc>
                <a:tc>
                  <a:txBody>
                    <a:bodyPr/>
                    <a:lstStyle/>
                    <a:p>
                      <a:r>
                        <a:rPr lang="en-MY" sz="1200" dirty="0"/>
                        <a:t>US Bank Data (Real)</a:t>
                      </a:r>
                    </a:p>
                  </a:txBody>
                  <a:tcPr anchor="ctr"/>
                </a:tc>
                <a:tc>
                  <a:txBody>
                    <a:bodyPr/>
                    <a:lstStyle/>
                    <a:p>
                      <a:pPr marL="285750" indent="-285750" algn="l" defTabSz="914400" rtl="0" eaLnBrk="1" latinLnBrk="0" hangingPunct="1">
                        <a:buFontTx/>
                        <a:buChar char="-"/>
                      </a:pPr>
                      <a:r>
                        <a:rPr lang="en-MY" sz="1200" kern="1200" dirty="0">
                          <a:solidFill>
                            <a:schemeClr val="dk1"/>
                          </a:solidFill>
                          <a:latin typeface="+mn-lt"/>
                          <a:ea typeface="+mn-ea"/>
                          <a:cs typeface="+mn-cs"/>
                        </a:rPr>
                        <a:t>Handled data imbalance</a:t>
                      </a:r>
                    </a:p>
                    <a:p>
                      <a:pPr marL="285750" indent="-285750" algn="l" defTabSz="914400" rtl="0" eaLnBrk="1" latinLnBrk="0" hangingPunct="1">
                        <a:buFontTx/>
                        <a:buChar char="-"/>
                      </a:pPr>
                      <a:r>
                        <a:rPr lang="en-MY" sz="1200" kern="1200" dirty="0">
                          <a:solidFill>
                            <a:schemeClr val="dk1"/>
                          </a:solidFill>
                          <a:latin typeface="+mn-lt"/>
                          <a:ea typeface="+mn-ea"/>
                          <a:cs typeface="+mn-cs"/>
                        </a:rPr>
                        <a:t>ANN performs best</a:t>
                      </a:r>
                    </a:p>
                  </a:txBody>
                  <a:tcPr anchor="ctr"/>
                </a:tc>
                <a:extLst>
                  <a:ext uri="{0D108BD9-81ED-4DB2-BD59-A6C34878D82A}">
                    <a16:rowId xmlns:a16="http://schemas.microsoft.com/office/drawing/2014/main" val="3135772216"/>
                  </a:ext>
                </a:extLst>
              </a:tr>
              <a:tr h="370840">
                <a:tc>
                  <a:txBody>
                    <a:bodyPr/>
                    <a:lstStyle/>
                    <a:p>
                      <a:r>
                        <a:rPr lang="en-MY" sz="1200" dirty="0"/>
                        <a:t>3.</a:t>
                      </a:r>
                    </a:p>
                  </a:txBody>
                  <a:tcPr anchor="ctr"/>
                </a:tc>
                <a:tc>
                  <a:txBody>
                    <a:bodyPr/>
                    <a:lstStyle/>
                    <a:p>
                      <a:r>
                        <a:rPr lang="en-MY" sz="1200" b="1"/>
                        <a:t>Reite et al. (2024)</a:t>
                      </a:r>
                      <a:endParaRPr lang="en-MY" sz="1200"/>
                    </a:p>
                  </a:txBody>
                  <a:tcPr anchor="ctr"/>
                </a:tc>
                <a:tc>
                  <a:txBody>
                    <a:bodyPr/>
                    <a:lstStyle/>
                    <a:p>
                      <a:r>
                        <a:rPr lang="en-MY" sz="1200"/>
                        <a:t>XGBoost</a:t>
                      </a:r>
                    </a:p>
                  </a:txBody>
                  <a:tcPr anchor="ctr"/>
                </a:tc>
                <a:tc>
                  <a:txBody>
                    <a:bodyPr/>
                    <a:lstStyle/>
                    <a:p>
                      <a:r>
                        <a:rPr lang="en-MY" sz="1200" dirty="0"/>
                        <a:t>Norwegian Bank SME’s clients (Real)</a:t>
                      </a:r>
                    </a:p>
                  </a:txBody>
                  <a:tcPr anchor="ctr"/>
                </a:tc>
                <a:tc>
                  <a:txBody>
                    <a:bodyPr/>
                    <a:lstStyle/>
                    <a:p>
                      <a:pPr marL="285750" indent="-285750" algn="l" defTabSz="914400" rtl="0" eaLnBrk="1" latinLnBrk="0" hangingPunct="1">
                        <a:buFontTx/>
                        <a:buChar char="-"/>
                      </a:pPr>
                      <a:r>
                        <a:rPr lang="en-US" sz="1200" kern="1200" dirty="0">
                          <a:solidFill>
                            <a:schemeClr val="dk1"/>
                          </a:solidFill>
                          <a:latin typeface="+mn-lt"/>
                          <a:ea typeface="+mn-ea"/>
                          <a:cs typeface="+mn-cs"/>
                        </a:rPr>
                        <a:t>Improved client risk classification while reducing false alarms</a:t>
                      </a:r>
                    </a:p>
                  </a:txBody>
                  <a:tcPr anchor="ctr"/>
                </a:tc>
                <a:extLst>
                  <a:ext uri="{0D108BD9-81ED-4DB2-BD59-A6C34878D82A}">
                    <a16:rowId xmlns:a16="http://schemas.microsoft.com/office/drawing/2014/main" val="3922083517"/>
                  </a:ext>
                </a:extLst>
              </a:tr>
              <a:tr h="370840">
                <a:tc>
                  <a:txBody>
                    <a:bodyPr/>
                    <a:lstStyle/>
                    <a:p>
                      <a:r>
                        <a:rPr lang="en-MY" sz="1200" dirty="0"/>
                        <a:t>4.</a:t>
                      </a:r>
                    </a:p>
                  </a:txBody>
                  <a:tcPr anchor="ctr"/>
                </a:tc>
                <a:tc>
                  <a:txBody>
                    <a:bodyPr/>
                    <a:lstStyle/>
                    <a:p>
                      <a:r>
                        <a:rPr lang="en-MY" sz="1200" b="1"/>
                        <a:t>Yang et al. (2023)</a:t>
                      </a:r>
                      <a:endParaRPr lang="en-MY" sz="1200"/>
                    </a:p>
                  </a:txBody>
                  <a:tcPr anchor="ctr"/>
                </a:tc>
                <a:tc>
                  <a:txBody>
                    <a:bodyPr/>
                    <a:lstStyle/>
                    <a:p>
                      <a:r>
                        <a:rPr lang="en-MY" sz="1200" dirty="0"/>
                        <a:t>Combination of Long Short Term Memory and Graph Convolutional Neural Network</a:t>
                      </a:r>
                    </a:p>
                  </a:txBody>
                  <a:tcPr anchor="ctr"/>
                </a:tc>
                <a:tc>
                  <a:txBody>
                    <a:bodyPr/>
                    <a:lstStyle/>
                    <a:p>
                      <a:r>
                        <a:rPr lang="en-MY" sz="1200" dirty="0"/>
                        <a:t>Elliptic Bitcoin (Synthetic)</a:t>
                      </a:r>
                    </a:p>
                  </a:txBody>
                  <a:tcPr anchor="ctr"/>
                </a:tc>
                <a:tc>
                  <a:txBody>
                    <a:bodyPr/>
                    <a:lstStyle/>
                    <a:p>
                      <a:pPr marL="285750" indent="-285750" algn="l" defTabSz="914400" rtl="0" eaLnBrk="1" latinLnBrk="0" hangingPunct="1">
                        <a:buFontTx/>
                        <a:buChar char="-"/>
                      </a:pPr>
                      <a:r>
                        <a:rPr lang="en-US" sz="1200" kern="1200" dirty="0">
                          <a:solidFill>
                            <a:schemeClr val="dk1"/>
                          </a:solidFill>
                          <a:latin typeface="+mn-lt"/>
                          <a:ea typeface="+mn-ea"/>
                          <a:cs typeface="+mn-cs"/>
                        </a:rPr>
                        <a:t>Effective for classifying Bitcoin-related anomalies</a:t>
                      </a:r>
                    </a:p>
                  </a:txBody>
                  <a:tcPr anchor="ctr"/>
                </a:tc>
                <a:extLst>
                  <a:ext uri="{0D108BD9-81ED-4DB2-BD59-A6C34878D82A}">
                    <a16:rowId xmlns:a16="http://schemas.microsoft.com/office/drawing/2014/main" val="3196300741"/>
                  </a:ext>
                </a:extLst>
              </a:tr>
              <a:tr h="370840">
                <a:tc>
                  <a:txBody>
                    <a:bodyPr/>
                    <a:lstStyle/>
                    <a:p>
                      <a:r>
                        <a:rPr lang="en-MY" sz="1200" dirty="0"/>
                        <a:t>5.</a:t>
                      </a:r>
                    </a:p>
                  </a:txBody>
                  <a:tcPr anchor="ctr"/>
                </a:tc>
                <a:tc>
                  <a:txBody>
                    <a:bodyPr/>
                    <a:lstStyle/>
                    <a:p>
                      <a:r>
                        <a:rPr lang="en-MY" sz="1200" b="1"/>
                        <a:t>Labanca et al. (2022)</a:t>
                      </a:r>
                      <a:endParaRPr lang="en-MY" sz="1200"/>
                    </a:p>
                  </a:txBody>
                  <a:tcPr anchor="ctr"/>
                </a:tc>
                <a:tc>
                  <a:txBody>
                    <a:bodyPr/>
                    <a:lstStyle/>
                    <a:p>
                      <a:r>
                        <a:rPr lang="en-MY" sz="1200" dirty="0"/>
                        <a:t>Combination of Random Forest and Isolation Forest</a:t>
                      </a:r>
                    </a:p>
                  </a:txBody>
                  <a:tcPr anchor="ctr"/>
                </a:tc>
                <a:tc>
                  <a:txBody>
                    <a:bodyPr/>
                    <a:lstStyle/>
                    <a:p>
                      <a:r>
                        <a:rPr lang="en-MY" sz="1200"/>
                        <a:t>Capital market (Synthetic)</a:t>
                      </a:r>
                    </a:p>
                  </a:txBody>
                  <a:tcPr anchor="ctr"/>
                </a:tc>
                <a:tc>
                  <a:txBody>
                    <a:bodyPr/>
                    <a:lstStyle/>
                    <a:p>
                      <a:pPr marL="285750" indent="-285750" algn="l" defTabSz="914400" rtl="0" eaLnBrk="1" latinLnBrk="0" hangingPunct="1">
                        <a:buFontTx/>
                        <a:buChar char="-"/>
                      </a:pPr>
                      <a:r>
                        <a:rPr lang="en-US" sz="1200" kern="1200" dirty="0">
                          <a:solidFill>
                            <a:schemeClr val="dk1"/>
                          </a:solidFill>
                          <a:latin typeface="+mn-lt"/>
                          <a:ea typeface="+mn-ea"/>
                          <a:cs typeface="+mn-cs"/>
                        </a:rPr>
                        <a:t>Active learning improves anomaly detection &amp; reduces compliance cost</a:t>
                      </a:r>
                    </a:p>
                  </a:txBody>
                  <a:tcPr anchor="ctr"/>
                </a:tc>
                <a:extLst>
                  <a:ext uri="{0D108BD9-81ED-4DB2-BD59-A6C34878D82A}">
                    <a16:rowId xmlns:a16="http://schemas.microsoft.com/office/drawing/2014/main" val="1255204614"/>
                  </a:ext>
                </a:extLst>
              </a:tr>
              <a:tr h="370840">
                <a:tc>
                  <a:txBody>
                    <a:bodyPr/>
                    <a:lstStyle/>
                    <a:p>
                      <a:r>
                        <a:rPr lang="en-MY" sz="1200" dirty="0"/>
                        <a:t>6.</a:t>
                      </a:r>
                    </a:p>
                  </a:txBody>
                  <a:tcPr anchor="ctr"/>
                </a:tc>
                <a:tc>
                  <a:txBody>
                    <a:bodyPr/>
                    <a:lstStyle/>
                    <a:p>
                      <a:r>
                        <a:rPr lang="da-DK" sz="1200" b="1" dirty="0"/>
                        <a:t>X. Luo et al. (2022)</a:t>
                      </a:r>
                      <a:endParaRPr lang="da-DK" sz="1200" dirty="0"/>
                    </a:p>
                  </a:txBody>
                  <a:tcPr anchor="ctr"/>
                </a:tc>
                <a:tc>
                  <a:txBody>
                    <a:bodyPr/>
                    <a:lstStyle/>
                    <a:p>
                      <a:r>
                        <a:rPr lang="en-MY" sz="1200" dirty="0"/>
                        <a:t>Neural Network</a:t>
                      </a:r>
                    </a:p>
                  </a:txBody>
                  <a:tcPr anchor="ctr"/>
                </a:tc>
                <a:tc>
                  <a:txBody>
                    <a:bodyPr/>
                    <a:lstStyle/>
                    <a:p>
                      <a:r>
                        <a:rPr lang="en-MY" sz="1200" dirty="0"/>
                        <a:t>Dataset from Law Enforcement Agency (Real)</a:t>
                      </a:r>
                    </a:p>
                  </a:txBody>
                  <a:tcPr anchor="ctr"/>
                </a:tc>
                <a:tc>
                  <a:txBody>
                    <a:bodyPr/>
                    <a:lstStyle/>
                    <a:p>
                      <a:pPr marL="285750" indent="-285750" algn="l" defTabSz="914400" rtl="0" eaLnBrk="1" latinLnBrk="0" hangingPunct="1">
                        <a:buFontTx/>
                        <a:buChar char="-"/>
                      </a:pPr>
                      <a:r>
                        <a:rPr lang="fr-FR" sz="1200" kern="1200" dirty="0">
                          <a:solidFill>
                            <a:schemeClr val="dk1"/>
                          </a:solidFill>
                          <a:latin typeface="+mn-lt"/>
                          <a:ea typeface="+mn-ea"/>
                          <a:cs typeface="+mn-cs"/>
                        </a:rPr>
                        <a:t>Captures transaction </a:t>
                      </a:r>
                      <a:r>
                        <a:rPr lang="fr-FR" sz="1200" kern="1200" dirty="0" err="1">
                          <a:solidFill>
                            <a:schemeClr val="dk1"/>
                          </a:solidFill>
                          <a:latin typeface="+mn-lt"/>
                          <a:ea typeface="+mn-ea"/>
                          <a:cs typeface="+mn-cs"/>
                        </a:rPr>
                        <a:t>behaviors</a:t>
                      </a:r>
                      <a:r>
                        <a:rPr lang="fr-FR" sz="1200" kern="1200" dirty="0">
                          <a:solidFill>
                            <a:schemeClr val="dk1"/>
                          </a:solidFill>
                          <a:latin typeface="+mn-lt"/>
                          <a:ea typeface="+mn-ea"/>
                          <a:cs typeface="+mn-cs"/>
                        </a:rPr>
                        <a:t> &amp; </a:t>
                      </a:r>
                      <a:r>
                        <a:rPr lang="fr-FR" sz="1200" kern="1200" dirty="0" err="1">
                          <a:solidFill>
                            <a:schemeClr val="dk1"/>
                          </a:solidFill>
                          <a:latin typeface="+mn-lt"/>
                          <a:ea typeface="+mn-ea"/>
                          <a:cs typeface="+mn-cs"/>
                        </a:rPr>
                        <a:t>transfer</a:t>
                      </a:r>
                      <a:r>
                        <a:rPr lang="fr-FR" sz="1200" kern="1200" dirty="0">
                          <a:solidFill>
                            <a:schemeClr val="dk1"/>
                          </a:solidFill>
                          <a:latin typeface="+mn-lt"/>
                          <a:ea typeface="+mn-ea"/>
                          <a:cs typeface="+mn-cs"/>
                        </a:rPr>
                        <a:t> </a:t>
                      </a:r>
                      <a:r>
                        <a:rPr lang="fr-FR" sz="1200" kern="1200" dirty="0" err="1">
                          <a:solidFill>
                            <a:schemeClr val="dk1"/>
                          </a:solidFill>
                          <a:latin typeface="+mn-lt"/>
                          <a:ea typeface="+mn-ea"/>
                          <a:cs typeface="+mn-cs"/>
                        </a:rPr>
                        <a:t>evolutions</a:t>
                      </a:r>
                      <a:endParaRPr lang="fr-FR" sz="1200" kern="1200" dirty="0">
                        <a:solidFill>
                          <a:schemeClr val="dk1"/>
                        </a:solidFill>
                        <a:latin typeface="+mn-lt"/>
                        <a:ea typeface="+mn-ea"/>
                        <a:cs typeface="+mn-cs"/>
                      </a:endParaRPr>
                    </a:p>
                  </a:txBody>
                  <a:tcPr anchor="ctr"/>
                </a:tc>
                <a:extLst>
                  <a:ext uri="{0D108BD9-81ED-4DB2-BD59-A6C34878D82A}">
                    <a16:rowId xmlns:a16="http://schemas.microsoft.com/office/drawing/2014/main" val="2206720534"/>
                  </a:ext>
                </a:extLst>
              </a:tr>
              <a:tr h="370840">
                <a:tc>
                  <a:txBody>
                    <a:bodyPr/>
                    <a:lstStyle/>
                    <a:p>
                      <a:r>
                        <a:rPr lang="en-MY" sz="1200" dirty="0"/>
                        <a:t>7.</a:t>
                      </a:r>
                    </a:p>
                  </a:txBody>
                  <a:tcPr anchor="ctr"/>
                </a:tc>
                <a:tc>
                  <a:txBody>
                    <a:bodyPr/>
                    <a:lstStyle/>
                    <a:p>
                      <a:r>
                        <a:rPr lang="en-MY" sz="1200" b="1"/>
                        <a:t>Cheng et al. (2023)</a:t>
                      </a:r>
                      <a:endParaRPr lang="en-MY" sz="1200"/>
                    </a:p>
                  </a:txBody>
                  <a:tcPr anchor="ctr"/>
                </a:tc>
                <a:tc>
                  <a:txBody>
                    <a:bodyPr/>
                    <a:lstStyle/>
                    <a:p>
                      <a:r>
                        <a:rPr lang="en-MY" sz="1200" dirty="0"/>
                        <a:t>Neural Network</a:t>
                      </a:r>
                    </a:p>
                  </a:txBody>
                  <a:tcPr anchor="ctr"/>
                </a:tc>
                <a:tc>
                  <a:txBody>
                    <a:bodyPr/>
                    <a:lstStyle/>
                    <a:p>
                      <a:r>
                        <a:rPr lang="en-MY" sz="1200"/>
                        <a:t>UnionPay (Real)</a:t>
                      </a:r>
                    </a:p>
                  </a:txBody>
                  <a:tcPr anchor="ctr"/>
                </a:tc>
                <a:tc>
                  <a:txBody>
                    <a:bodyPr/>
                    <a:lstStyle/>
                    <a:p>
                      <a:pPr marL="285750" indent="-285750" algn="l" defTabSz="914400" rtl="0" eaLnBrk="1" latinLnBrk="0" hangingPunct="1">
                        <a:buFontTx/>
                        <a:buChar char="-"/>
                      </a:pPr>
                      <a:r>
                        <a:rPr lang="en-US" sz="1200" kern="1200" dirty="0">
                          <a:solidFill>
                            <a:schemeClr val="dk1"/>
                          </a:solidFill>
                          <a:latin typeface="+mn-lt"/>
                          <a:ea typeface="+mn-ea"/>
                          <a:cs typeface="+mn-cs"/>
                        </a:rPr>
                        <a:t>Detects organized laundering via user transaction graphs</a:t>
                      </a:r>
                    </a:p>
                  </a:txBody>
                  <a:tcPr anchor="ctr"/>
                </a:tc>
                <a:extLst>
                  <a:ext uri="{0D108BD9-81ED-4DB2-BD59-A6C34878D82A}">
                    <a16:rowId xmlns:a16="http://schemas.microsoft.com/office/drawing/2014/main" val="1341015551"/>
                  </a:ext>
                </a:extLst>
              </a:tr>
              <a:tr h="370840">
                <a:tc>
                  <a:txBody>
                    <a:bodyPr/>
                    <a:lstStyle/>
                    <a:p>
                      <a:r>
                        <a:rPr lang="en-MY" sz="1200" dirty="0"/>
                        <a:t>8.</a:t>
                      </a:r>
                    </a:p>
                  </a:txBody>
                  <a:tcPr anchor="ctr"/>
                </a:tc>
                <a:tc>
                  <a:txBody>
                    <a:bodyPr/>
                    <a:lstStyle/>
                    <a:p>
                      <a:r>
                        <a:rPr lang="da-DK" sz="1200" b="1"/>
                        <a:t>J. Luo et al. (2024)</a:t>
                      </a:r>
                      <a:endParaRPr lang="da-DK" sz="1200"/>
                    </a:p>
                  </a:txBody>
                  <a:tcPr anchor="ctr"/>
                </a:tc>
                <a:tc>
                  <a:txBody>
                    <a:bodyPr/>
                    <a:lstStyle/>
                    <a:p>
                      <a:r>
                        <a:rPr lang="en-MY" sz="1200" dirty="0"/>
                        <a:t>Edge-Node Fusion</a:t>
                      </a:r>
                    </a:p>
                  </a:txBody>
                  <a:tcPr anchor="ctr"/>
                </a:tc>
                <a:tc>
                  <a:txBody>
                    <a:bodyPr/>
                    <a:lstStyle/>
                    <a:p>
                      <a:r>
                        <a:rPr lang="en-MY" sz="1200"/>
                        <a:t>AMLSim (Synthetic)</a:t>
                      </a:r>
                    </a:p>
                  </a:txBody>
                  <a:tcPr anchor="ctr"/>
                </a:tc>
                <a:tc>
                  <a:txBody>
                    <a:bodyPr/>
                    <a:lstStyle/>
                    <a:p>
                      <a:pPr marL="285750" indent="-285750" algn="l" defTabSz="914400" rtl="0" eaLnBrk="1" latinLnBrk="0" hangingPunct="1">
                        <a:buFontTx/>
                        <a:buChar char="-"/>
                      </a:pPr>
                      <a:r>
                        <a:rPr lang="en-US" sz="1200" kern="1200" dirty="0">
                          <a:solidFill>
                            <a:schemeClr val="dk1"/>
                          </a:solidFill>
                          <a:latin typeface="+mn-lt"/>
                          <a:ea typeface="+mn-ea"/>
                          <a:cs typeface="+mn-cs"/>
                        </a:rPr>
                        <a:t>Improves illicit edge prediction using advanced training</a:t>
                      </a:r>
                    </a:p>
                  </a:txBody>
                  <a:tcPr anchor="ctr"/>
                </a:tc>
                <a:extLst>
                  <a:ext uri="{0D108BD9-81ED-4DB2-BD59-A6C34878D82A}">
                    <a16:rowId xmlns:a16="http://schemas.microsoft.com/office/drawing/2014/main" val="592640964"/>
                  </a:ext>
                </a:extLst>
              </a:tr>
              <a:tr h="370840">
                <a:tc>
                  <a:txBody>
                    <a:bodyPr/>
                    <a:lstStyle/>
                    <a:p>
                      <a:r>
                        <a:rPr lang="en-MY" sz="1200" dirty="0"/>
                        <a:t>9.</a:t>
                      </a:r>
                    </a:p>
                  </a:txBody>
                  <a:tcPr anchor="ctr"/>
                </a:tc>
                <a:tc>
                  <a:txBody>
                    <a:bodyPr/>
                    <a:lstStyle/>
                    <a:p>
                      <a:r>
                        <a:rPr lang="en-MY" sz="1200" b="1"/>
                        <a:t>Pambudi et al. (2019)</a:t>
                      </a:r>
                      <a:endParaRPr lang="en-MY" sz="1200"/>
                    </a:p>
                  </a:txBody>
                  <a:tcPr anchor="ctr"/>
                </a:tc>
                <a:tc>
                  <a:txBody>
                    <a:bodyPr/>
                    <a:lstStyle/>
                    <a:p>
                      <a:r>
                        <a:rPr lang="en-MY" sz="1200" dirty="0"/>
                        <a:t>Support Vector Machines</a:t>
                      </a:r>
                    </a:p>
                  </a:txBody>
                  <a:tcPr anchor="ctr"/>
                </a:tc>
                <a:tc>
                  <a:txBody>
                    <a:bodyPr/>
                    <a:lstStyle/>
                    <a:p>
                      <a:r>
                        <a:rPr lang="en-MY" sz="1200"/>
                        <a:t>PaySim (Synthetic)</a:t>
                      </a:r>
                    </a:p>
                  </a:txBody>
                  <a:tcPr anchor="ctr"/>
                </a:tc>
                <a:tc>
                  <a:txBody>
                    <a:bodyPr/>
                    <a:lstStyle/>
                    <a:p>
                      <a:pPr marL="285750" indent="-285750" algn="l" defTabSz="914400" rtl="0" eaLnBrk="1" latinLnBrk="0" hangingPunct="1">
                        <a:buFontTx/>
                        <a:buChar char="-"/>
                      </a:pPr>
                      <a:r>
                        <a:rPr lang="en-US" sz="1200" kern="1200" dirty="0">
                          <a:solidFill>
                            <a:schemeClr val="dk1"/>
                          </a:solidFill>
                          <a:latin typeface="+mn-lt"/>
                          <a:ea typeface="+mn-ea"/>
                          <a:cs typeface="+mn-cs"/>
                        </a:rPr>
                        <a:t>F1-score ↑ 22.8%, precision ↑ 40.8% with RUS for imbalance</a:t>
                      </a:r>
                    </a:p>
                  </a:txBody>
                  <a:tcPr anchor="ctr"/>
                </a:tc>
                <a:extLst>
                  <a:ext uri="{0D108BD9-81ED-4DB2-BD59-A6C34878D82A}">
                    <a16:rowId xmlns:a16="http://schemas.microsoft.com/office/drawing/2014/main" val="2230766571"/>
                  </a:ext>
                </a:extLst>
              </a:tr>
            </a:tbl>
          </a:graphicData>
        </a:graphic>
      </p:graphicFrame>
    </p:spTree>
    <p:extLst>
      <p:ext uri="{BB962C8B-B14F-4D97-AF65-F5344CB8AC3E}">
        <p14:creationId xmlns:p14="http://schemas.microsoft.com/office/powerpoint/2010/main" val="2200116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85">
          <a:extLst>
            <a:ext uri="{FF2B5EF4-FFF2-40B4-BE49-F238E27FC236}">
              <a16:creationId xmlns:a16="http://schemas.microsoft.com/office/drawing/2014/main" id="{1A041908-31FD-BE99-9988-0AF78FC53B18}"/>
            </a:ext>
          </a:extLst>
        </p:cNvPr>
        <p:cNvGrpSpPr/>
        <p:nvPr/>
      </p:nvGrpSpPr>
      <p:grpSpPr>
        <a:xfrm>
          <a:off x="0" y="0"/>
          <a:ext cx="0" cy="0"/>
          <a:chOff x="0" y="0"/>
          <a:chExt cx="0" cy="0"/>
        </a:xfrm>
      </p:grpSpPr>
      <p:sp>
        <p:nvSpPr>
          <p:cNvPr id="8" name="Oval 7">
            <a:extLst>
              <a:ext uri="{FF2B5EF4-FFF2-40B4-BE49-F238E27FC236}">
                <a16:creationId xmlns:a16="http://schemas.microsoft.com/office/drawing/2014/main" id="{7AF88A04-B19A-F45D-A6C0-B92E8AB759F7}"/>
              </a:ext>
            </a:extLst>
          </p:cNvPr>
          <p:cNvSpPr/>
          <p:nvPr/>
        </p:nvSpPr>
        <p:spPr>
          <a:xfrm>
            <a:off x="440908" y="2350361"/>
            <a:ext cx="2267769" cy="2447367"/>
          </a:xfrm>
          <a:prstGeom prst="ellipse">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sz="2400"/>
          </a:p>
        </p:txBody>
      </p:sp>
      <p:sp>
        <p:nvSpPr>
          <p:cNvPr id="2019" name="Google Shape;2019;p104">
            <a:extLst>
              <a:ext uri="{FF2B5EF4-FFF2-40B4-BE49-F238E27FC236}">
                <a16:creationId xmlns:a16="http://schemas.microsoft.com/office/drawing/2014/main" id="{E12CF639-C59F-02FB-5F9C-AC4FF19B1702}"/>
              </a:ext>
            </a:extLst>
          </p:cNvPr>
          <p:cNvSpPr/>
          <p:nvPr/>
        </p:nvSpPr>
        <p:spPr>
          <a:xfrm>
            <a:off x="-339873" y="1477392"/>
            <a:ext cx="3418800" cy="4338400"/>
          </a:xfrm>
          <a:prstGeom prst="arc">
            <a:avLst>
              <a:gd name="adj1" fmla="val 17767812"/>
              <a:gd name="adj2" fmla="val 3821236"/>
            </a:avLst>
          </a:prstGeom>
          <a:no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030" name="Google Shape;2030;p104">
            <a:extLst>
              <a:ext uri="{FF2B5EF4-FFF2-40B4-BE49-F238E27FC236}">
                <a16:creationId xmlns:a16="http://schemas.microsoft.com/office/drawing/2014/main" id="{10CF70C9-64FE-178A-689A-C78B44DAB2E5}"/>
              </a:ext>
            </a:extLst>
          </p:cNvPr>
          <p:cNvSpPr/>
          <p:nvPr/>
        </p:nvSpPr>
        <p:spPr>
          <a:xfrm>
            <a:off x="2237336" y="1764869"/>
            <a:ext cx="158400" cy="158400"/>
          </a:xfrm>
          <a:prstGeom prst="ellipse">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2031" name="Google Shape;2031;p104">
            <a:extLst>
              <a:ext uri="{FF2B5EF4-FFF2-40B4-BE49-F238E27FC236}">
                <a16:creationId xmlns:a16="http://schemas.microsoft.com/office/drawing/2014/main" id="{F2D81AA0-30B8-2E75-C461-28E279204E13}"/>
              </a:ext>
            </a:extLst>
          </p:cNvPr>
          <p:cNvSpPr/>
          <p:nvPr/>
        </p:nvSpPr>
        <p:spPr>
          <a:xfrm>
            <a:off x="2922204" y="2875415"/>
            <a:ext cx="158400" cy="158400"/>
          </a:xfrm>
          <a:prstGeom prst="ellipse">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2033" name="Google Shape;2033;p104">
            <a:extLst>
              <a:ext uri="{FF2B5EF4-FFF2-40B4-BE49-F238E27FC236}">
                <a16:creationId xmlns:a16="http://schemas.microsoft.com/office/drawing/2014/main" id="{8DE12599-58DB-0AA7-DBF9-34891483AEBB}"/>
              </a:ext>
            </a:extLst>
          </p:cNvPr>
          <p:cNvSpPr/>
          <p:nvPr/>
        </p:nvSpPr>
        <p:spPr>
          <a:xfrm>
            <a:off x="2908494" y="4183315"/>
            <a:ext cx="158400" cy="158400"/>
          </a:xfrm>
          <a:prstGeom prst="ellipse">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2034" name="Google Shape;2034;p104">
            <a:extLst>
              <a:ext uri="{FF2B5EF4-FFF2-40B4-BE49-F238E27FC236}">
                <a16:creationId xmlns:a16="http://schemas.microsoft.com/office/drawing/2014/main" id="{EC7C7C41-B5A7-7247-56F2-8B369DB8A293}"/>
              </a:ext>
            </a:extLst>
          </p:cNvPr>
          <p:cNvSpPr/>
          <p:nvPr/>
        </p:nvSpPr>
        <p:spPr>
          <a:xfrm>
            <a:off x="2237336" y="5369919"/>
            <a:ext cx="158400" cy="158400"/>
          </a:xfrm>
          <a:prstGeom prst="ellipse">
            <a:avLst/>
          </a:prstGeom>
          <a:solidFill>
            <a:schemeClr val="accent2"/>
          </a:solidFill>
          <a:ln>
            <a:noFill/>
          </a:ln>
        </p:spPr>
        <p:txBody>
          <a:bodyPr spcFirstLastPara="1" wrap="square" lIns="121900" tIns="121900" rIns="121900" bIns="121900" anchor="ctr" anchorCtr="0">
            <a:noAutofit/>
          </a:bodyPr>
          <a:lstStyle/>
          <a:p>
            <a:endParaRPr sz="2400"/>
          </a:p>
        </p:txBody>
      </p:sp>
      <p:sp>
        <p:nvSpPr>
          <p:cNvPr id="2" name="Google Shape;2021;p104">
            <a:extLst>
              <a:ext uri="{FF2B5EF4-FFF2-40B4-BE49-F238E27FC236}">
                <a16:creationId xmlns:a16="http://schemas.microsoft.com/office/drawing/2014/main" id="{3F91FECD-BB25-C1B3-E911-417265B998A8}"/>
              </a:ext>
            </a:extLst>
          </p:cNvPr>
          <p:cNvSpPr txBox="1"/>
          <p:nvPr/>
        </p:nvSpPr>
        <p:spPr>
          <a:xfrm>
            <a:off x="2714569" y="1544525"/>
            <a:ext cx="6361697" cy="578000"/>
          </a:xfrm>
          <a:prstGeom prst="rect">
            <a:avLst/>
          </a:prstGeom>
          <a:noFill/>
          <a:ln>
            <a:noFill/>
          </a:ln>
        </p:spPr>
        <p:txBody>
          <a:bodyPr spcFirstLastPara="1" wrap="square" lIns="121900" tIns="121900" rIns="121900" bIns="121900" anchor="t" anchorCtr="0">
            <a:noAutofit/>
          </a:bodyPr>
          <a:lstStyle/>
          <a:p>
            <a:r>
              <a:rPr lang="de" b="1" dirty="0">
                <a:solidFill>
                  <a:schemeClr val="accent2"/>
                </a:solidFill>
                <a:ea typeface="Titillium Web"/>
                <a:cs typeface="Titillium Web"/>
                <a:sym typeface="Titillium Web"/>
              </a:rPr>
              <a:t>Limited real-world dataset </a:t>
            </a:r>
            <a:r>
              <a:rPr lang="de" dirty="0">
                <a:ea typeface="Titillium Web"/>
                <a:cs typeface="Titillium Web"/>
                <a:sym typeface="Titillium Web"/>
              </a:rPr>
              <a:t>on money laundering </a:t>
            </a:r>
          </a:p>
          <a:p>
            <a:pPr marL="171450" indent="-171450">
              <a:buFontTx/>
              <a:buChar char="-"/>
            </a:pPr>
            <a:r>
              <a:rPr lang="en-MY" sz="1200" dirty="0">
                <a:ea typeface="Titillium Web"/>
                <a:cs typeface="Titillium Web"/>
                <a:sym typeface="Titillium Web"/>
              </a:rPr>
              <a:t>D</a:t>
            </a:r>
            <a:r>
              <a:rPr lang="de" sz="1200" dirty="0">
                <a:ea typeface="Titillium Web"/>
                <a:cs typeface="Titillium Web"/>
                <a:sym typeface="Titillium Web"/>
              </a:rPr>
              <a:t>ue to privacy &amp; security concerns</a:t>
            </a:r>
          </a:p>
          <a:p>
            <a:pPr marL="171450" indent="-171450">
              <a:buFontTx/>
              <a:buChar char="-"/>
            </a:pPr>
            <a:r>
              <a:rPr lang="en-MY" sz="1200" dirty="0">
                <a:ea typeface="Titillium Web"/>
                <a:cs typeface="Titillium Web"/>
                <a:sym typeface="Titillium Web"/>
              </a:rPr>
              <a:t>U</a:t>
            </a:r>
            <a:r>
              <a:rPr lang="de" sz="1200" dirty="0">
                <a:ea typeface="Titillium Web"/>
                <a:cs typeface="Titillium Web"/>
                <a:sym typeface="Titillium Web"/>
              </a:rPr>
              <a:t>se synthetic dataset that simulates realistic behaviors while protecting sensitive information</a:t>
            </a:r>
            <a:endParaRPr sz="1200" dirty="0">
              <a:ea typeface="Titillium Web"/>
              <a:cs typeface="Titillium Web"/>
              <a:sym typeface="Titillium Web"/>
            </a:endParaRPr>
          </a:p>
        </p:txBody>
      </p:sp>
      <p:sp>
        <p:nvSpPr>
          <p:cNvPr id="3" name="Google Shape;2021;p104">
            <a:extLst>
              <a:ext uri="{FF2B5EF4-FFF2-40B4-BE49-F238E27FC236}">
                <a16:creationId xmlns:a16="http://schemas.microsoft.com/office/drawing/2014/main" id="{067E7E79-AEDD-7FBC-85F4-B2B5CAACAAD3}"/>
              </a:ext>
            </a:extLst>
          </p:cNvPr>
          <p:cNvSpPr txBox="1"/>
          <p:nvPr/>
        </p:nvSpPr>
        <p:spPr>
          <a:xfrm>
            <a:off x="3104622" y="2653991"/>
            <a:ext cx="5586800" cy="1037476"/>
          </a:xfrm>
          <a:prstGeom prst="rect">
            <a:avLst/>
          </a:prstGeom>
          <a:noFill/>
          <a:ln>
            <a:noFill/>
          </a:ln>
        </p:spPr>
        <p:txBody>
          <a:bodyPr spcFirstLastPara="1" wrap="square" lIns="121900" tIns="121900" rIns="121900" bIns="121900" anchor="t" anchorCtr="0">
            <a:noAutofit/>
          </a:bodyPr>
          <a:lstStyle/>
          <a:p>
            <a:r>
              <a:rPr lang="de" dirty="0">
                <a:ea typeface="Titillium Web"/>
                <a:cs typeface="Titillium Web"/>
                <a:sym typeface="Titillium Web"/>
              </a:rPr>
              <a:t> </a:t>
            </a:r>
            <a:r>
              <a:rPr lang="de" b="1" dirty="0">
                <a:solidFill>
                  <a:schemeClr val="accent2"/>
                </a:solidFill>
                <a:ea typeface="Titillium Web"/>
                <a:cs typeface="Titillium Web"/>
                <a:sym typeface="Titillium Web"/>
              </a:rPr>
              <a:t>Imbalance</a:t>
            </a:r>
            <a:r>
              <a:rPr lang="de" dirty="0">
                <a:ea typeface="Titillium Web"/>
                <a:cs typeface="Titillium Web"/>
                <a:sym typeface="Titillium Web"/>
              </a:rPr>
              <a:t> transaction dataset</a:t>
            </a:r>
          </a:p>
          <a:p>
            <a:pPr marL="171450" indent="-171450">
              <a:buFontTx/>
              <a:buChar char="-"/>
            </a:pPr>
            <a:r>
              <a:rPr lang="en-MY" sz="1200" dirty="0">
                <a:ea typeface="Titillium Web"/>
                <a:cs typeface="Titillium Web"/>
                <a:sym typeface="Titillium Web"/>
              </a:rPr>
              <a:t>C</a:t>
            </a:r>
            <a:r>
              <a:rPr lang="de" sz="1200" dirty="0">
                <a:sym typeface="Titillium Web"/>
              </a:rPr>
              <a:t>an lead to biased predictions</a:t>
            </a:r>
          </a:p>
          <a:p>
            <a:pPr marL="171450" indent="-171450">
              <a:buFontTx/>
              <a:buChar char="-"/>
            </a:pPr>
            <a:r>
              <a:rPr lang="de" sz="1200" dirty="0">
                <a:sym typeface="Titillium Web"/>
              </a:rPr>
              <a:t>Apply imbalanced-data handling method</a:t>
            </a:r>
            <a:endParaRPr sz="1200" dirty="0">
              <a:sym typeface="Titillium Web"/>
            </a:endParaRPr>
          </a:p>
        </p:txBody>
      </p:sp>
      <p:sp>
        <p:nvSpPr>
          <p:cNvPr id="4" name="Google Shape;2021;p104">
            <a:extLst>
              <a:ext uri="{FF2B5EF4-FFF2-40B4-BE49-F238E27FC236}">
                <a16:creationId xmlns:a16="http://schemas.microsoft.com/office/drawing/2014/main" id="{99298DAB-5353-BCC4-9D5E-21D25EFA0223}"/>
              </a:ext>
            </a:extLst>
          </p:cNvPr>
          <p:cNvSpPr txBox="1"/>
          <p:nvPr/>
        </p:nvSpPr>
        <p:spPr>
          <a:xfrm>
            <a:off x="3001404" y="3995425"/>
            <a:ext cx="8011309" cy="578000"/>
          </a:xfrm>
          <a:prstGeom prst="rect">
            <a:avLst/>
          </a:prstGeom>
          <a:noFill/>
          <a:ln>
            <a:noFill/>
          </a:ln>
        </p:spPr>
        <p:txBody>
          <a:bodyPr spcFirstLastPara="1" wrap="square" lIns="121900" tIns="121900" rIns="121900" bIns="121900" anchor="t" anchorCtr="0">
            <a:noAutofit/>
          </a:bodyPr>
          <a:lstStyle/>
          <a:p>
            <a:r>
              <a:rPr lang="de" b="1" dirty="0">
                <a:solidFill>
                  <a:schemeClr val="accent2"/>
                </a:solidFill>
                <a:ea typeface="Titillium Web"/>
                <a:cs typeface="Titillium Web"/>
                <a:sym typeface="Titillium Web"/>
              </a:rPr>
              <a:t> Lack of research experimented on typologies </a:t>
            </a:r>
            <a:r>
              <a:rPr lang="de" dirty="0">
                <a:ea typeface="Titillium Web"/>
                <a:cs typeface="Titillium Web"/>
                <a:sym typeface="Titillium Web"/>
              </a:rPr>
              <a:t>of money laundering</a:t>
            </a:r>
          </a:p>
          <a:p>
            <a:pPr marL="171450" indent="-171450">
              <a:buFontTx/>
              <a:buChar char="-"/>
            </a:pPr>
            <a:r>
              <a:rPr lang="en-MY" sz="1200" dirty="0">
                <a:ea typeface="Titillium Web"/>
                <a:cs typeface="Titillium Web"/>
                <a:sym typeface="Titillium Web"/>
              </a:rPr>
              <a:t>M</a:t>
            </a:r>
            <a:r>
              <a:rPr lang="de" sz="1200" dirty="0">
                <a:ea typeface="Titillium Web"/>
                <a:cs typeface="Titillium Web"/>
                <a:sym typeface="Titillium Web"/>
              </a:rPr>
              <a:t>ost only focus on behavioral features</a:t>
            </a:r>
          </a:p>
          <a:p>
            <a:pPr marL="171450" indent="-171450">
              <a:buFontTx/>
              <a:buChar char="-"/>
            </a:pPr>
            <a:r>
              <a:rPr lang="de" sz="1200" dirty="0">
                <a:ea typeface="Titillium Web"/>
                <a:cs typeface="Titillium Web"/>
                <a:sym typeface="Titillium Web"/>
              </a:rPr>
              <a:t>Plan to include typology features to enhance detection</a:t>
            </a:r>
            <a:endParaRPr sz="1200" dirty="0">
              <a:ea typeface="Titillium Web"/>
              <a:cs typeface="Titillium Web"/>
              <a:sym typeface="Titillium Web"/>
            </a:endParaRPr>
          </a:p>
        </p:txBody>
      </p:sp>
      <p:sp>
        <p:nvSpPr>
          <p:cNvPr id="5" name="Google Shape;2021;p104">
            <a:extLst>
              <a:ext uri="{FF2B5EF4-FFF2-40B4-BE49-F238E27FC236}">
                <a16:creationId xmlns:a16="http://schemas.microsoft.com/office/drawing/2014/main" id="{4159A643-DF72-8284-ECB5-AB17D8982B51}"/>
              </a:ext>
            </a:extLst>
          </p:cNvPr>
          <p:cNvSpPr txBox="1"/>
          <p:nvPr/>
        </p:nvSpPr>
        <p:spPr>
          <a:xfrm>
            <a:off x="2426482" y="5205303"/>
            <a:ext cx="9164385" cy="578000"/>
          </a:xfrm>
          <a:prstGeom prst="rect">
            <a:avLst/>
          </a:prstGeom>
          <a:noFill/>
          <a:ln>
            <a:noFill/>
          </a:ln>
        </p:spPr>
        <p:txBody>
          <a:bodyPr spcFirstLastPara="1" wrap="square" lIns="121900" tIns="121900" rIns="121900" bIns="121900" anchor="t" anchorCtr="0">
            <a:noAutofit/>
          </a:bodyPr>
          <a:lstStyle/>
          <a:p>
            <a:r>
              <a:rPr lang="de" b="1" dirty="0">
                <a:solidFill>
                  <a:schemeClr val="accent2"/>
                </a:solidFill>
                <a:ea typeface="Titillium Web"/>
                <a:cs typeface="Titillium Web"/>
                <a:sym typeface="Titillium Web"/>
              </a:rPr>
              <a:t>Lack of interpretability of the model used </a:t>
            </a:r>
            <a:r>
              <a:rPr lang="de" dirty="0">
                <a:ea typeface="Titillium Web"/>
                <a:cs typeface="Titillium Web"/>
                <a:sym typeface="Titillium Web"/>
              </a:rPr>
              <a:t>in money laundering detection</a:t>
            </a:r>
          </a:p>
          <a:p>
            <a:pPr marL="171450" indent="-171450">
              <a:buFontTx/>
              <a:buChar char="-"/>
            </a:pPr>
            <a:r>
              <a:rPr lang="en-MY" sz="1200" dirty="0">
                <a:ea typeface="Titillium Web"/>
                <a:cs typeface="Titillium Web"/>
                <a:sym typeface="Titillium Web"/>
              </a:rPr>
              <a:t>M</a:t>
            </a:r>
            <a:r>
              <a:rPr lang="de" sz="1200" dirty="0">
                <a:ea typeface="Titillium Web"/>
                <a:cs typeface="Titillium Web"/>
                <a:sym typeface="Titillium Web"/>
              </a:rPr>
              <a:t>any models are black boxes, accurate but not explainable.</a:t>
            </a:r>
          </a:p>
          <a:p>
            <a:pPr marL="171450" indent="-171450">
              <a:buFontTx/>
              <a:buChar char="-"/>
            </a:pPr>
            <a:r>
              <a:rPr lang="de" sz="1200" dirty="0">
                <a:ea typeface="Titillium Web"/>
                <a:cs typeface="Titillium Web"/>
                <a:sym typeface="Titillium Web"/>
              </a:rPr>
              <a:t>Partially address the gap by conducting feature importance analysis to identify key features that contribute to the model‘s decisions. </a:t>
            </a:r>
          </a:p>
        </p:txBody>
      </p:sp>
      <p:pic>
        <p:nvPicPr>
          <p:cNvPr id="7" name="Picture 6" descr="A puzzle pieces and a magnifying glass&#10;&#10;Description automatically generated">
            <a:extLst>
              <a:ext uri="{FF2B5EF4-FFF2-40B4-BE49-F238E27FC236}">
                <a16:creationId xmlns:a16="http://schemas.microsoft.com/office/drawing/2014/main" id="{74FC7D49-74CD-9DF3-B181-98490162AD5F}"/>
              </a:ext>
            </a:extLst>
          </p:cNvPr>
          <p:cNvPicPr>
            <a:picLocks noChangeAspect="1"/>
          </p:cNvPicPr>
          <p:nvPr/>
        </p:nvPicPr>
        <p:blipFill>
          <a:blip r:embed="rId3">
            <a:duotone>
              <a:prstClr val="black"/>
              <a:schemeClr val="accent2">
                <a:tint val="45000"/>
                <a:satMod val="400000"/>
              </a:schemeClr>
            </a:duotone>
          </a:blip>
          <a:stretch>
            <a:fillRect/>
          </a:stretch>
        </p:blipFill>
        <p:spPr>
          <a:xfrm>
            <a:off x="466603" y="2495445"/>
            <a:ext cx="2402292" cy="2402292"/>
          </a:xfrm>
          <a:prstGeom prst="rect">
            <a:avLst/>
          </a:prstGeom>
        </p:spPr>
      </p:pic>
      <p:sp>
        <p:nvSpPr>
          <p:cNvPr id="10" name="Rectangle 9">
            <a:extLst>
              <a:ext uri="{FF2B5EF4-FFF2-40B4-BE49-F238E27FC236}">
                <a16:creationId xmlns:a16="http://schemas.microsoft.com/office/drawing/2014/main" id="{40DD623D-3E12-8FAA-3B07-75CBA5991B66}"/>
              </a:ext>
            </a:extLst>
          </p:cNvPr>
          <p:cNvSpPr/>
          <p:nvPr/>
        </p:nvSpPr>
        <p:spPr>
          <a:xfrm>
            <a:off x="0" y="385235"/>
            <a:ext cx="7065282"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itle 1">
            <a:extLst>
              <a:ext uri="{FF2B5EF4-FFF2-40B4-BE49-F238E27FC236}">
                <a16:creationId xmlns:a16="http://schemas.microsoft.com/office/drawing/2014/main" id="{467AD685-8C8A-771F-A81F-95FE70CC4183}"/>
              </a:ext>
            </a:extLst>
          </p:cNvPr>
          <p:cNvSpPr>
            <a:spLocks noGrp="1"/>
          </p:cNvSpPr>
          <p:nvPr>
            <p:ph type="title"/>
          </p:nvPr>
        </p:nvSpPr>
        <p:spPr>
          <a:xfrm>
            <a:off x="938914" y="432860"/>
            <a:ext cx="4764617" cy="463549"/>
          </a:xfrm>
        </p:spPr>
        <p:txBody>
          <a:bodyPr>
            <a:noAutofit/>
          </a:bodyPr>
          <a:lstStyle/>
          <a:p>
            <a:r>
              <a:rPr lang="en-US" sz="2900" dirty="0">
                <a:solidFill>
                  <a:schemeClr val="bg1"/>
                </a:solidFill>
                <a:effectLst>
                  <a:outerShdw blurRad="38100" dist="38100" dir="2700000" algn="tl">
                    <a:srgbClr val="000000">
                      <a:alpha val="43137"/>
                    </a:srgbClr>
                  </a:outerShdw>
                </a:effectLst>
              </a:rPr>
              <a:t>RESEARCH GAPS</a:t>
            </a:r>
          </a:p>
        </p:txBody>
      </p:sp>
    </p:spTree>
    <p:extLst>
      <p:ext uri="{BB962C8B-B14F-4D97-AF65-F5344CB8AC3E}">
        <p14:creationId xmlns:p14="http://schemas.microsoft.com/office/powerpoint/2010/main" val="1477986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DB5B-57E5-AE94-7C78-3CDA08AD264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A181ABD-5EEB-277D-D30D-2998DFFE7A08}"/>
              </a:ext>
            </a:extLst>
          </p:cNvPr>
          <p:cNvSpPr txBox="1"/>
          <p:nvPr/>
        </p:nvSpPr>
        <p:spPr>
          <a:xfrm>
            <a:off x="4180114" y="2641219"/>
            <a:ext cx="5943600" cy="461665"/>
          </a:xfrm>
          <a:prstGeom prst="rect">
            <a:avLst/>
          </a:prstGeom>
          <a:noFill/>
        </p:spPr>
        <p:txBody>
          <a:bodyPr wrap="square" rtlCol="0">
            <a:spAutoFit/>
          </a:bodyPr>
          <a:lstStyle/>
          <a:p>
            <a:r>
              <a:rPr lang="en-MY" sz="2400" spc="300" dirty="0">
                <a:solidFill>
                  <a:schemeClr val="tx1">
                    <a:lumMod val="75000"/>
                    <a:lumOff val="25000"/>
                  </a:schemeClr>
                </a:solidFill>
                <a:effectLst>
                  <a:innerShdw blurRad="114300">
                    <a:prstClr val="black"/>
                  </a:innerShdw>
                </a:effectLst>
              </a:rPr>
              <a:t>CHAPTER 3</a:t>
            </a:r>
          </a:p>
        </p:txBody>
      </p:sp>
      <p:sp>
        <p:nvSpPr>
          <p:cNvPr id="4" name="TextBox 3">
            <a:extLst>
              <a:ext uri="{FF2B5EF4-FFF2-40B4-BE49-F238E27FC236}">
                <a16:creationId xmlns:a16="http://schemas.microsoft.com/office/drawing/2014/main" id="{3BCFE2E8-AFA9-4536-ED7E-F23A14A68FA8}"/>
              </a:ext>
            </a:extLst>
          </p:cNvPr>
          <p:cNvSpPr txBox="1"/>
          <p:nvPr/>
        </p:nvSpPr>
        <p:spPr>
          <a:xfrm>
            <a:off x="4180114" y="2930121"/>
            <a:ext cx="5943600" cy="1938992"/>
          </a:xfrm>
          <a:prstGeom prst="rect">
            <a:avLst/>
          </a:prstGeom>
          <a:noFill/>
        </p:spPr>
        <p:txBody>
          <a:bodyPr wrap="square" rtlCol="0">
            <a:spAutoFit/>
            <a:scene3d>
              <a:camera prst="orthographicFront"/>
              <a:lightRig rig="threePt" dir="t"/>
            </a:scene3d>
            <a:sp3d extrusionH="57150">
              <a:bevelT w="38100" h="38100" prst="angle"/>
            </a:sp3d>
          </a:bodyPr>
          <a:lstStyle/>
          <a:p>
            <a:r>
              <a:rPr lang="en-US" sz="6000" b="1" kern="0" dirty="0">
                <a:solidFill>
                  <a:srgbClr val="6C1D35"/>
                </a:solidFill>
              </a:rPr>
              <a:t>RESEARCH METHODOLOGY</a:t>
            </a:r>
          </a:p>
        </p:txBody>
      </p:sp>
      <p:pic>
        <p:nvPicPr>
          <p:cNvPr id="5" name="Picture 4">
            <a:extLst>
              <a:ext uri="{FF2B5EF4-FFF2-40B4-BE49-F238E27FC236}">
                <a16:creationId xmlns:a16="http://schemas.microsoft.com/office/drawing/2014/main" id="{7D0362B4-B72D-5644-1991-D032A0C54B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2795" y="344422"/>
            <a:ext cx="2249407" cy="751894"/>
          </a:xfrm>
          <a:prstGeom prst="rect">
            <a:avLst/>
          </a:prstGeom>
        </p:spPr>
      </p:pic>
      <p:pic>
        <p:nvPicPr>
          <p:cNvPr id="9" name="Picture 8">
            <a:extLst>
              <a:ext uri="{FF2B5EF4-FFF2-40B4-BE49-F238E27FC236}">
                <a16:creationId xmlns:a16="http://schemas.microsoft.com/office/drawing/2014/main" id="{135D1481-B7D1-4B97-58FB-2669422F44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3714" y="6529906"/>
            <a:ext cx="2060121" cy="155037"/>
          </a:xfrm>
          <a:prstGeom prst="rect">
            <a:avLst/>
          </a:prstGeom>
        </p:spPr>
      </p:pic>
      <p:cxnSp>
        <p:nvCxnSpPr>
          <p:cNvPr id="10" name="Straight Connector 9">
            <a:extLst>
              <a:ext uri="{FF2B5EF4-FFF2-40B4-BE49-F238E27FC236}">
                <a16:creationId xmlns:a16="http://schemas.microsoft.com/office/drawing/2014/main" id="{695A790F-1254-EEB8-1408-196810E74783}"/>
              </a:ext>
            </a:extLst>
          </p:cNvPr>
          <p:cNvCxnSpPr>
            <a:cxnSpLocks/>
          </p:cNvCxnSpPr>
          <p:nvPr/>
        </p:nvCxnSpPr>
        <p:spPr>
          <a:xfrm>
            <a:off x="0" y="6626873"/>
            <a:ext cx="10286999" cy="0"/>
          </a:xfrm>
          <a:prstGeom prst="line">
            <a:avLst/>
          </a:prstGeom>
          <a:ln w="28575"/>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429908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FC0CA-FE5B-51C8-9E6D-ACA59DC2563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3140B15-97FE-7A81-6342-6E94DDA54323}"/>
              </a:ext>
            </a:extLst>
          </p:cNvPr>
          <p:cNvSpPr/>
          <p:nvPr/>
        </p:nvSpPr>
        <p:spPr>
          <a:xfrm>
            <a:off x="4693829" y="1299070"/>
            <a:ext cx="7244626" cy="4545634"/>
          </a:xfrm>
          <a:prstGeom prst="rect">
            <a:avLst/>
          </a:prstGeom>
          <a:solidFill>
            <a:schemeClr val="tx2">
              <a:lumMod val="20000"/>
              <a:lumOff val="80000"/>
            </a:scheme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60" name="Group 59">
            <a:extLst>
              <a:ext uri="{FF2B5EF4-FFF2-40B4-BE49-F238E27FC236}">
                <a16:creationId xmlns:a16="http://schemas.microsoft.com/office/drawing/2014/main" id="{87A3BF10-BDB0-F522-B138-927F0213FE52}"/>
              </a:ext>
            </a:extLst>
          </p:cNvPr>
          <p:cNvGrpSpPr/>
          <p:nvPr/>
        </p:nvGrpSpPr>
        <p:grpSpPr>
          <a:xfrm>
            <a:off x="4693829" y="1330971"/>
            <a:ext cx="720000" cy="468000"/>
            <a:chOff x="5627835" y="1494960"/>
            <a:chExt cx="870900" cy="572713"/>
          </a:xfrm>
        </p:grpSpPr>
        <p:sp>
          <p:nvSpPr>
            <p:cNvPr id="5" name="Google Shape;1905;p101">
              <a:extLst>
                <a:ext uri="{FF2B5EF4-FFF2-40B4-BE49-F238E27FC236}">
                  <a16:creationId xmlns:a16="http://schemas.microsoft.com/office/drawing/2014/main" id="{87D118F4-658D-82F8-B6E3-C8DC98E3006F}"/>
                </a:ext>
              </a:extLst>
            </p:cNvPr>
            <p:cNvSpPr/>
            <p:nvPr/>
          </p:nvSpPr>
          <p:spPr>
            <a:xfrm>
              <a:off x="5752733" y="1543358"/>
              <a:ext cx="524315" cy="524315"/>
            </a:xfrm>
            <a:custGeom>
              <a:avLst/>
              <a:gdLst/>
              <a:ahLst/>
              <a:cxnLst/>
              <a:rect l="l" t="t" r="r" b="b"/>
              <a:pathLst>
                <a:path w="22956" h="22956" extrusionOk="0">
                  <a:moveTo>
                    <a:pt x="0" y="1"/>
                  </a:moveTo>
                  <a:lnTo>
                    <a:pt x="0" y="22956"/>
                  </a:lnTo>
                  <a:lnTo>
                    <a:pt x="22956" y="22956"/>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906;p101">
              <a:extLst>
                <a:ext uri="{FF2B5EF4-FFF2-40B4-BE49-F238E27FC236}">
                  <a16:creationId xmlns:a16="http://schemas.microsoft.com/office/drawing/2014/main" id="{E9479E99-ADAD-8DFC-9460-D41DD39511C7}"/>
                </a:ext>
              </a:extLst>
            </p:cNvPr>
            <p:cNvSpPr/>
            <p:nvPr/>
          </p:nvSpPr>
          <p:spPr>
            <a:xfrm>
              <a:off x="5801130" y="1494960"/>
              <a:ext cx="524315" cy="524315"/>
            </a:xfrm>
            <a:custGeom>
              <a:avLst/>
              <a:gdLst/>
              <a:ahLst/>
              <a:cxnLst/>
              <a:rect l="l" t="t" r="r" b="b"/>
              <a:pathLst>
                <a:path w="22956" h="22956" fill="none" extrusionOk="0">
                  <a:moveTo>
                    <a:pt x="1" y="0"/>
                  </a:moveTo>
                  <a:lnTo>
                    <a:pt x="22956" y="0"/>
                  </a:lnTo>
                  <a:lnTo>
                    <a:pt x="22956" y="22956"/>
                  </a:lnTo>
                  <a:lnTo>
                    <a:pt x="1" y="22956"/>
                  </a:lnTo>
                  <a:close/>
                </a:path>
              </a:pathLst>
            </a:custGeom>
            <a:noFill/>
            <a:ln w="190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907;p101">
              <a:extLst>
                <a:ext uri="{FF2B5EF4-FFF2-40B4-BE49-F238E27FC236}">
                  <a16:creationId xmlns:a16="http://schemas.microsoft.com/office/drawing/2014/main" id="{ABD49C94-D135-2E2B-27E6-FEDEA5FFEFF6}"/>
                </a:ext>
              </a:extLst>
            </p:cNvPr>
            <p:cNvSpPr txBox="1">
              <a:spLocks/>
            </p:cNvSpPr>
            <p:nvPr/>
          </p:nvSpPr>
          <p:spPr>
            <a:xfrm>
              <a:off x="5627835" y="1593618"/>
              <a:ext cx="870900" cy="375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9pPr>
            </a:lstStyle>
            <a:p>
              <a:r>
                <a:rPr lang="de" sz="2700" b="1" dirty="0">
                  <a:latin typeface="+mn-lt"/>
                </a:rPr>
                <a:t>1</a:t>
              </a:r>
            </a:p>
          </p:txBody>
        </p:sp>
      </p:grpSp>
      <p:grpSp>
        <p:nvGrpSpPr>
          <p:cNvPr id="66" name="Group 65">
            <a:extLst>
              <a:ext uri="{FF2B5EF4-FFF2-40B4-BE49-F238E27FC236}">
                <a16:creationId xmlns:a16="http://schemas.microsoft.com/office/drawing/2014/main" id="{143820DF-C26A-4E80-628A-B9B376BBDC5B}"/>
              </a:ext>
            </a:extLst>
          </p:cNvPr>
          <p:cNvGrpSpPr/>
          <p:nvPr/>
        </p:nvGrpSpPr>
        <p:grpSpPr>
          <a:xfrm>
            <a:off x="4693829" y="1884987"/>
            <a:ext cx="720000" cy="468000"/>
            <a:chOff x="5617482" y="2164270"/>
            <a:chExt cx="870900" cy="572713"/>
          </a:xfrm>
        </p:grpSpPr>
        <p:grpSp>
          <p:nvGrpSpPr>
            <p:cNvPr id="61" name="Group 60">
              <a:extLst>
                <a:ext uri="{FF2B5EF4-FFF2-40B4-BE49-F238E27FC236}">
                  <a16:creationId xmlns:a16="http://schemas.microsoft.com/office/drawing/2014/main" id="{77304AE4-03A3-4C77-9092-66AEBA1A07B0}"/>
                </a:ext>
              </a:extLst>
            </p:cNvPr>
            <p:cNvGrpSpPr/>
            <p:nvPr/>
          </p:nvGrpSpPr>
          <p:grpSpPr>
            <a:xfrm>
              <a:off x="5742379" y="2164270"/>
              <a:ext cx="572713" cy="572713"/>
              <a:chOff x="5742379" y="2164270"/>
              <a:chExt cx="572713" cy="572713"/>
            </a:xfrm>
          </p:grpSpPr>
          <p:sp>
            <p:nvSpPr>
              <p:cNvPr id="8" name="Google Shape;1908;p101">
                <a:extLst>
                  <a:ext uri="{FF2B5EF4-FFF2-40B4-BE49-F238E27FC236}">
                    <a16:creationId xmlns:a16="http://schemas.microsoft.com/office/drawing/2014/main" id="{A5802537-1BB0-DDAE-F3FC-67F1C927E5BB}"/>
                  </a:ext>
                </a:extLst>
              </p:cNvPr>
              <p:cNvSpPr/>
              <p:nvPr/>
            </p:nvSpPr>
            <p:spPr>
              <a:xfrm>
                <a:off x="5742379" y="2212668"/>
                <a:ext cx="524315" cy="524315"/>
              </a:xfrm>
              <a:custGeom>
                <a:avLst/>
                <a:gdLst/>
                <a:ahLst/>
                <a:cxnLst/>
                <a:rect l="l" t="t" r="r" b="b"/>
                <a:pathLst>
                  <a:path w="22956" h="22956" extrusionOk="0">
                    <a:moveTo>
                      <a:pt x="0" y="1"/>
                    </a:moveTo>
                    <a:lnTo>
                      <a:pt x="0" y="22956"/>
                    </a:lnTo>
                    <a:lnTo>
                      <a:pt x="22956" y="22956"/>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909;p101">
                <a:extLst>
                  <a:ext uri="{FF2B5EF4-FFF2-40B4-BE49-F238E27FC236}">
                    <a16:creationId xmlns:a16="http://schemas.microsoft.com/office/drawing/2014/main" id="{E3FDE128-5589-FD37-8FE5-A5E55EFB7B21}"/>
                  </a:ext>
                </a:extLst>
              </p:cNvPr>
              <p:cNvSpPr/>
              <p:nvPr/>
            </p:nvSpPr>
            <p:spPr>
              <a:xfrm>
                <a:off x="5790777" y="2164270"/>
                <a:ext cx="524315" cy="524315"/>
              </a:xfrm>
              <a:custGeom>
                <a:avLst/>
                <a:gdLst/>
                <a:ahLst/>
                <a:cxnLst/>
                <a:rect l="l" t="t" r="r" b="b"/>
                <a:pathLst>
                  <a:path w="22956" h="22956" fill="none" extrusionOk="0">
                    <a:moveTo>
                      <a:pt x="1" y="0"/>
                    </a:moveTo>
                    <a:lnTo>
                      <a:pt x="22956" y="0"/>
                    </a:lnTo>
                    <a:lnTo>
                      <a:pt x="22956" y="22956"/>
                    </a:lnTo>
                    <a:lnTo>
                      <a:pt x="1" y="22956"/>
                    </a:lnTo>
                    <a:close/>
                  </a:path>
                </a:pathLst>
              </a:custGeom>
              <a:noFill/>
              <a:ln w="190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1910;p101">
              <a:extLst>
                <a:ext uri="{FF2B5EF4-FFF2-40B4-BE49-F238E27FC236}">
                  <a16:creationId xmlns:a16="http://schemas.microsoft.com/office/drawing/2014/main" id="{7650EB06-B076-029A-6529-AE9C9EDC6CAE}"/>
                </a:ext>
              </a:extLst>
            </p:cNvPr>
            <p:cNvSpPr txBox="1">
              <a:spLocks/>
            </p:cNvSpPr>
            <p:nvPr/>
          </p:nvSpPr>
          <p:spPr>
            <a:xfrm>
              <a:off x="5617482" y="2262928"/>
              <a:ext cx="870900" cy="375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9pPr>
            </a:lstStyle>
            <a:p>
              <a:r>
                <a:rPr lang="de" sz="2700" b="1" dirty="0">
                  <a:latin typeface="+mn-lt"/>
                </a:rPr>
                <a:t>2</a:t>
              </a:r>
            </a:p>
          </p:txBody>
        </p:sp>
      </p:grpSp>
      <p:grpSp>
        <p:nvGrpSpPr>
          <p:cNvPr id="62" name="Group 61">
            <a:extLst>
              <a:ext uri="{FF2B5EF4-FFF2-40B4-BE49-F238E27FC236}">
                <a16:creationId xmlns:a16="http://schemas.microsoft.com/office/drawing/2014/main" id="{8CF9E97E-A140-E451-0E6D-45BA75DCF1B8}"/>
              </a:ext>
            </a:extLst>
          </p:cNvPr>
          <p:cNvGrpSpPr/>
          <p:nvPr/>
        </p:nvGrpSpPr>
        <p:grpSpPr>
          <a:xfrm>
            <a:off x="4693829" y="2468162"/>
            <a:ext cx="720000" cy="468000"/>
            <a:chOff x="5619020" y="2843697"/>
            <a:chExt cx="870900" cy="572713"/>
          </a:xfrm>
        </p:grpSpPr>
        <p:sp>
          <p:nvSpPr>
            <p:cNvPr id="35" name="Google Shape;1911;p101">
              <a:extLst>
                <a:ext uri="{FF2B5EF4-FFF2-40B4-BE49-F238E27FC236}">
                  <a16:creationId xmlns:a16="http://schemas.microsoft.com/office/drawing/2014/main" id="{FA1CE66E-BB36-46D8-A5F3-C95FC92E9A51}"/>
                </a:ext>
              </a:extLst>
            </p:cNvPr>
            <p:cNvSpPr/>
            <p:nvPr/>
          </p:nvSpPr>
          <p:spPr>
            <a:xfrm>
              <a:off x="5743917" y="2892095"/>
              <a:ext cx="524315" cy="524315"/>
            </a:xfrm>
            <a:custGeom>
              <a:avLst/>
              <a:gdLst/>
              <a:ahLst/>
              <a:cxnLst/>
              <a:rect l="l" t="t" r="r" b="b"/>
              <a:pathLst>
                <a:path w="22956" h="22956" extrusionOk="0">
                  <a:moveTo>
                    <a:pt x="0" y="1"/>
                  </a:moveTo>
                  <a:lnTo>
                    <a:pt x="0" y="22956"/>
                  </a:lnTo>
                  <a:lnTo>
                    <a:pt x="22956" y="22956"/>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912;p101">
              <a:extLst>
                <a:ext uri="{FF2B5EF4-FFF2-40B4-BE49-F238E27FC236}">
                  <a16:creationId xmlns:a16="http://schemas.microsoft.com/office/drawing/2014/main" id="{0095FC15-657C-C373-DF90-AB08ED861BBD}"/>
                </a:ext>
              </a:extLst>
            </p:cNvPr>
            <p:cNvSpPr/>
            <p:nvPr/>
          </p:nvSpPr>
          <p:spPr>
            <a:xfrm>
              <a:off x="5792315" y="2843697"/>
              <a:ext cx="524315" cy="524315"/>
            </a:xfrm>
            <a:custGeom>
              <a:avLst/>
              <a:gdLst/>
              <a:ahLst/>
              <a:cxnLst/>
              <a:rect l="l" t="t" r="r" b="b"/>
              <a:pathLst>
                <a:path w="22956" h="22956" fill="none" extrusionOk="0">
                  <a:moveTo>
                    <a:pt x="1" y="0"/>
                  </a:moveTo>
                  <a:lnTo>
                    <a:pt x="22956" y="0"/>
                  </a:lnTo>
                  <a:lnTo>
                    <a:pt x="22956" y="22956"/>
                  </a:lnTo>
                  <a:lnTo>
                    <a:pt x="1" y="22956"/>
                  </a:lnTo>
                  <a:close/>
                </a:path>
              </a:pathLst>
            </a:custGeom>
            <a:noFill/>
            <a:ln w="190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913;p101">
              <a:extLst>
                <a:ext uri="{FF2B5EF4-FFF2-40B4-BE49-F238E27FC236}">
                  <a16:creationId xmlns:a16="http://schemas.microsoft.com/office/drawing/2014/main" id="{FDBEBD44-4696-137E-816B-DF875B2BC09D}"/>
                </a:ext>
              </a:extLst>
            </p:cNvPr>
            <p:cNvSpPr txBox="1">
              <a:spLocks/>
            </p:cNvSpPr>
            <p:nvPr/>
          </p:nvSpPr>
          <p:spPr>
            <a:xfrm>
              <a:off x="5619020" y="2942355"/>
              <a:ext cx="870900" cy="375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9pPr>
            </a:lstStyle>
            <a:p>
              <a:r>
                <a:rPr lang="de" sz="2700" b="1" dirty="0">
                  <a:latin typeface="+mn-lt"/>
                </a:rPr>
                <a:t>3</a:t>
              </a:r>
            </a:p>
          </p:txBody>
        </p:sp>
      </p:grpSp>
      <p:grpSp>
        <p:nvGrpSpPr>
          <p:cNvPr id="63" name="Group 62">
            <a:extLst>
              <a:ext uri="{FF2B5EF4-FFF2-40B4-BE49-F238E27FC236}">
                <a16:creationId xmlns:a16="http://schemas.microsoft.com/office/drawing/2014/main" id="{B6C358DA-4A5A-E061-703B-2704E0BBC607}"/>
              </a:ext>
            </a:extLst>
          </p:cNvPr>
          <p:cNvGrpSpPr/>
          <p:nvPr/>
        </p:nvGrpSpPr>
        <p:grpSpPr>
          <a:xfrm>
            <a:off x="4693829" y="4048743"/>
            <a:ext cx="720000" cy="468000"/>
            <a:chOff x="5627835" y="3505543"/>
            <a:chExt cx="870900" cy="572713"/>
          </a:xfrm>
        </p:grpSpPr>
        <p:sp>
          <p:nvSpPr>
            <p:cNvPr id="38" name="Google Shape;1914;p101">
              <a:extLst>
                <a:ext uri="{FF2B5EF4-FFF2-40B4-BE49-F238E27FC236}">
                  <a16:creationId xmlns:a16="http://schemas.microsoft.com/office/drawing/2014/main" id="{97A1C4C9-7984-872C-B97A-AAC9564A51EF}"/>
                </a:ext>
              </a:extLst>
            </p:cNvPr>
            <p:cNvSpPr/>
            <p:nvPr/>
          </p:nvSpPr>
          <p:spPr>
            <a:xfrm>
              <a:off x="5752732" y="3553941"/>
              <a:ext cx="524315" cy="524315"/>
            </a:xfrm>
            <a:custGeom>
              <a:avLst/>
              <a:gdLst/>
              <a:ahLst/>
              <a:cxnLst/>
              <a:rect l="l" t="t" r="r" b="b"/>
              <a:pathLst>
                <a:path w="22956" h="22956" extrusionOk="0">
                  <a:moveTo>
                    <a:pt x="0" y="1"/>
                  </a:moveTo>
                  <a:lnTo>
                    <a:pt x="0" y="22956"/>
                  </a:lnTo>
                  <a:lnTo>
                    <a:pt x="22956" y="22956"/>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915;p101">
              <a:extLst>
                <a:ext uri="{FF2B5EF4-FFF2-40B4-BE49-F238E27FC236}">
                  <a16:creationId xmlns:a16="http://schemas.microsoft.com/office/drawing/2014/main" id="{EEB807D9-26C0-6777-B7E0-F785E3C56D2E}"/>
                </a:ext>
              </a:extLst>
            </p:cNvPr>
            <p:cNvSpPr/>
            <p:nvPr/>
          </p:nvSpPr>
          <p:spPr>
            <a:xfrm>
              <a:off x="5801130" y="3505543"/>
              <a:ext cx="524315" cy="524315"/>
            </a:xfrm>
            <a:custGeom>
              <a:avLst/>
              <a:gdLst/>
              <a:ahLst/>
              <a:cxnLst/>
              <a:rect l="l" t="t" r="r" b="b"/>
              <a:pathLst>
                <a:path w="22956" h="22956" fill="none" extrusionOk="0">
                  <a:moveTo>
                    <a:pt x="1" y="0"/>
                  </a:moveTo>
                  <a:lnTo>
                    <a:pt x="22956" y="0"/>
                  </a:lnTo>
                  <a:lnTo>
                    <a:pt x="22956" y="22956"/>
                  </a:lnTo>
                  <a:lnTo>
                    <a:pt x="1" y="22956"/>
                  </a:lnTo>
                  <a:close/>
                </a:path>
              </a:pathLst>
            </a:custGeom>
            <a:noFill/>
            <a:ln w="190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916;p101">
              <a:extLst>
                <a:ext uri="{FF2B5EF4-FFF2-40B4-BE49-F238E27FC236}">
                  <a16:creationId xmlns:a16="http://schemas.microsoft.com/office/drawing/2014/main" id="{0E386B6B-2580-46D4-EBA4-784E9C9CFE65}"/>
                </a:ext>
              </a:extLst>
            </p:cNvPr>
            <p:cNvSpPr txBox="1">
              <a:spLocks/>
            </p:cNvSpPr>
            <p:nvPr/>
          </p:nvSpPr>
          <p:spPr>
            <a:xfrm>
              <a:off x="5627835" y="3604201"/>
              <a:ext cx="870900" cy="375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9pPr>
            </a:lstStyle>
            <a:p>
              <a:r>
                <a:rPr lang="de" sz="2700" b="1" dirty="0">
                  <a:latin typeface="+mn-lt"/>
                </a:rPr>
                <a:t>4</a:t>
              </a:r>
            </a:p>
          </p:txBody>
        </p:sp>
      </p:grpSp>
      <p:grpSp>
        <p:nvGrpSpPr>
          <p:cNvPr id="64" name="Group 63">
            <a:extLst>
              <a:ext uri="{FF2B5EF4-FFF2-40B4-BE49-F238E27FC236}">
                <a16:creationId xmlns:a16="http://schemas.microsoft.com/office/drawing/2014/main" id="{22910F60-E130-44F7-0E3B-819961AC0FEB}"/>
              </a:ext>
            </a:extLst>
          </p:cNvPr>
          <p:cNvGrpSpPr/>
          <p:nvPr/>
        </p:nvGrpSpPr>
        <p:grpSpPr>
          <a:xfrm>
            <a:off x="4693829" y="5298427"/>
            <a:ext cx="720000" cy="468000"/>
            <a:chOff x="5627835" y="4167273"/>
            <a:chExt cx="870900" cy="572713"/>
          </a:xfrm>
        </p:grpSpPr>
        <p:sp>
          <p:nvSpPr>
            <p:cNvPr id="41" name="Google Shape;1917;p101">
              <a:extLst>
                <a:ext uri="{FF2B5EF4-FFF2-40B4-BE49-F238E27FC236}">
                  <a16:creationId xmlns:a16="http://schemas.microsoft.com/office/drawing/2014/main" id="{8DEA757B-2F11-6073-F75C-6F77F38E3A74}"/>
                </a:ext>
              </a:extLst>
            </p:cNvPr>
            <p:cNvSpPr/>
            <p:nvPr/>
          </p:nvSpPr>
          <p:spPr>
            <a:xfrm>
              <a:off x="5752732" y="4215671"/>
              <a:ext cx="524315" cy="524315"/>
            </a:xfrm>
            <a:custGeom>
              <a:avLst/>
              <a:gdLst/>
              <a:ahLst/>
              <a:cxnLst/>
              <a:rect l="l" t="t" r="r" b="b"/>
              <a:pathLst>
                <a:path w="22956" h="22956" extrusionOk="0">
                  <a:moveTo>
                    <a:pt x="0" y="1"/>
                  </a:moveTo>
                  <a:lnTo>
                    <a:pt x="0" y="22956"/>
                  </a:lnTo>
                  <a:lnTo>
                    <a:pt x="22956" y="22956"/>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918;p101">
              <a:extLst>
                <a:ext uri="{FF2B5EF4-FFF2-40B4-BE49-F238E27FC236}">
                  <a16:creationId xmlns:a16="http://schemas.microsoft.com/office/drawing/2014/main" id="{D1B23672-B65E-1F05-9197-CDD249933488}"/>
                </a:ext>
              </a:extLst>
            </p:cNvPr>
            <p:cNvSpPr/>
            <p:nvPr/>
          </p:nvSpPr>
          <p:spPr>
            <a:xfrm>
              <a:off x="5801130" y="4167273"/>
              <a:ext cx="524315" cy="524315"/>
            </a:xfrm>
            <a:custGeom>
              <a:avLst/>
              <a:gdLst/>
              <a:ahLst/>
              <a:cxnLst/>
              <a:rect l="l" t="t" r="r" b="b"/>
              <a:pathLst>
                <a:path w="22956" h="22956" fill="none" extrusionOk="0">
                  <a:moveTo>
                    <a:pt x="1" y="0"/>
                  </a:moveTo>
                  <a:lnTo>
                    <a:pt x="22956" y="0"/>
                  </a:lnTo>
                  <a:lnTo>
                    <a:pt x="22956" y="22956"/>
                  </a:lnTo>
                  <a:lnTo>
                    <a:pt x="1" y="22956"/>
                  </a:lnTo>
                  <a:close/>
                </a:path>
              </a:pathLst>
            </a:custGeom>
            <a:noFill/>
            <a:ln w="190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919;p101">
              <a:extLst>
                <a:ext uri="{FF2B5EF4-FFF2-40B4-BE49-F238E27FC236}">
                  <a16:creationId xmlns:a16="http://schemas.microsoft.com/office/drawing/2014/main" id="{B25E7E0D-6F77-593A-FCE7-64A48A4818BC}"/>
                </a:ext>
              </a:extLst>
            </p:cNvPr>
            <p:cNvSpPr txBox="1">
              <a:spLocks/>
            </p:cNvSpPr>
            <p:nvPr/>
          </p:nvSpPr>
          <p:spPr>
            <a:xfrm>
              <a:off x="5627835" y="4265931"/>
              <a:ext cx="870900" cy="375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9pPr>
            </a:lstStyle>
            <a:p>
              <a:r>
                <a:rPr lang="de" sz="2700" b="1" dirty="0">
                  <a:latin typeface="+mn-lt"/>
                </a:rPr>
                <a:t>5</a:t>
              </a:r>
            </a:p>
          </p:txBody>
        </p:sp>
      </p:grpSp>
      <p:sp>
        <p:nvSpPr>
          <p:cNvPr id="47" name="Google Shape;1897;p101">
            <a:extLst>
              <a:ext uri="{FF2B5EF4-FFF2-40B4-BE49-F238E27FC236}">
                <a16:creationId xmlns:a16="http://schemas.microsoft.com/office/drawing/2014/main" id="{52B7CA53-C5F5-5178-AD93-8B65DD0B55FF}"/>
              </a:ext>
            </a:extLst>
          </p:cNvPr>
          <p:cNvSpPr txBox="1"/>
          <p:nvPr/>
        </p:nvSpPr>
        <p:spPr>
          <a:xfrm>
            <a:off x="5293798" y="1370520"/>
            <a:ext cx="7065281" cy="5316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PROBLEM IDENTIFICATION</a:t>
            </a:r>
          </a:p>
          <a:p>
            <a:pPr marL="171450" indent="-171450">
              <a:buFont typeface="Wingdings" panose="05000000000000000000" pitchFamily="2" charset="2"/>
              <a:buChar char="Ø"/>
            </a:pPr>
            <a:r>
              <a:rPr lang="en-US" sz="1200" dirty="0"/>
              <a:t>Understand the current challenges in money laundering detection through literature review</a:t>
            </a:r>
          </a:p>
        </p:txBody>
      </p:sp>
      <p:sp>
        <p:nvSpPr>
          <p:cNvPr id="48" name="Google Shape;1897;p101">
            <a:extLst>
              <a:ext uri="{FF2B5EF4-FFF2-40B4-BE49-F238E27FC236}">
                <a16:creationId xmlns:a16="http://schemas.microsoft.com/office/drawing/2014/main" id="{48C01AED-C9D0-5751-D122-46B76C2E67EC}"/>
              </a:ext>
            </a:extLst>
          </p:cNvPr>
          <p:cNvSpPr txBox="1"/>
          <p:nvPr/>
        </p:nvSpPr>
        <p:spPr>
          <a:xfrm>
            <a:off x="5289088" y="1887601"/>
            <a:ext cx="3574758" cy="5316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DATA COLLECTION</a:t>
            </a:r>
          </a:p>
          <a:p>
            <a:pPr marL="171450" lvl="0" indent="-171450" rtl="0">
              <a:spcBef>
                <a:spcPts val="0"/>
              </a:spcBef>
              <a:spcAft>
                <a:spcPts val="0"/>
              </a:spcAft>
              <a:buFont typeface="Wingdings" panose="05000000000000000000" pitchFamily="2" charset="2"/>
              <a:buChar char="Ø"/>
            </a:pPr>
            <a:r>
              <a:rPr lang="en-US" sz="1200" dirty="0">
                <a:sym typeface="Oswald"/>
              </a:rPr>
              <a:t>Obtain dataset for model development</a:t>
            </a:r>
          </a:p>
        </p:txBody>
      </p:sp>
      <p:sp>
        <p:nvSpPr>
          <p:cNvPr id="49" name="Google Shape;1897;p101">
            <a:extLst>
              <a:ext uri="{FF2B5EF4-FFF2-40B4-BE49-F238E27FC236}">
                <a16:creationId xmlns:a16="http://schemas.microsoft.com/office/drawing/2014/main" id="{8690C6BE-F06A-E87F-2DFF-E0D8E100C653}"/>
              </a:ext>
            </a:extLst>
          </p:cNvPr>
          <p:cNvSpPr txBox="1"/>
          <p:nvPr/>
        </p:nvSpPr>
        <p:spPr>
          <a:xfrm>
            <a:off x="5310576" y="2394961"/>
            <a:ext cx="6811117" cy="1683185"/>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DATA PREPARATION</a:t>
            </a:r>
          </a:p>
          <a:p>
            <a:pPr marL="171450" lvl="0" indent="-171450" rtl="0">
              <a:spcBef>
                <a:spcPts val="0"/>
              </a:spcBef>
              <a:spcAft>
                <a:spcPts val="0"/>
              </a:spcAft>
              <a:buFont typeface="Wingdings" panose="05000000000000000000" pitchFamily="2" charset="2"/>
              <a:buChar char="Ø"/>
            </a:pPr>
            <a:r>
              <a:rPr lang="de" sz="1200" dirty="0">
                <a:solidFill>
                  <a:srgbClr val="020304"/>
                </a:solidFill>
                <a:ea typeface="Oswald"/>
                <a:cs typeface="Oswald"/>
                <a:sym typeface="Oswald"/>
              </a:rPr>
              <a:t>Data Overview : No. </a:t>
            </a:r>
            <a:r>
              <a:rPr lang="en-MY" sz="1200" dirty="0">
                <a:solidFill>
                  <a:srgbClr val="020304"/>
                </a:solidFill>
                <a:ea typeface="Oswald"/>
                <a:cs typeface="Oswald"/>
                <a:sym typeface="Oswald"/>
              </a:rPr>
              <a:t>of attributes, data types, categories for each features</a:t>
            </a:r>
            <a:endParaRPr lang="de" sz="1200" dirty="0">
              <a:solidFill>
                <a:srgbClr val="020304"/>
              </a:solidFill>
              <a:ea typeface="Oswald"/>
              <a:cs typeface="Oswald"/>
              <a:sym typeface="Oswald"/>
            </a:endParaRPr>
          </a:p>
          <a:p>
            <a:pPr marL="171450" lvl="0" indent="-171450">
              <a:buFont typeface="Wingdings" panose="05000000000000000000" pitchFamily="2" charset="2"/>
              <a:buChar char="Ø"/>
            </a:pPr>
            <a:r>
              <a:rPr lang="de" sz="1200" dirty="0">
                <a:solidFill>
                  <a:srgbClr val="020304"/>
                </a:solidFill>
                <a:ea typeface="Oswald"/>
                <a:cs typeface="Oswald"/>
                <a:sym typeface="Oswald"/>
              </a:rPr>
              <a:t>Data Transformation: Convert data type for certain columns (e.g: integer </a:t>
            </a:r>
            <a:r>
              <a:rPr lang="de" sz="1200" dirty="0">
                <a:solidFill>
                  <a:srgbClr val="020304"/>
                </a:solidFill>
                <a:ea typeface="Oswald"/>
                <a:cs typeface="Oswald"/>
                <a:sym typeface="Wingdings" panose="05000000000000000000" pitchFamily="2" charset="2"/>
              </a:rPr>
              <a:t> string) or derive new features from existing feature (e.g: </a:t>
            </a:r>
            <a:r>
              <a:rPr lang="en-MY" sz="1200" dirty="0"/>
              <a:t>‘</a:t>
            </a:r>
            <a:r>
              <a:rPr lang="en-MY" sz="1200" dirty="0" err="1"/>
              <a:t>Day_of_week</a:t>
            </a:r>
            <a:r>
              <a:rPr lang="en-MY" sz="1200" dirty="0"/>
              <a:t>’ and ‘</a:t>
            </a:r>
            <a:r>
              <a:rPr lang="en-MY" sz="1200" dirty="0" err="1"/>
              <a:t>Is_weekend</a:t>
            </a:r>
            <a:r>
              <a:rPr lang="en-MY" sz="1200" dirty="0"/>
              <a:t>’ are derived from ‘Date’ column)</a:t>
            </a:r>
            <a:endParaRPr lang="de" sz="1200" dirty="0">
              <a:solidFill>
                <a:srgbClr val="020304"/>
              </a:solidFill>
              <a:ea typeface="Oswald"/>
              <a:cs typeface="Oswald"/>
              <a:sym typeface="Oswald"/>
            </a:endParaRPr>
          </a:p>
          <a:p>
            <a:pPr marL="171450" lvl="0" indent="-171450" rtl="0">
              <a:spcBef>
                <a:spcPts val="0"/>
              </a:spcBef>
              <a:spcAft>
                <a:spcPts val="0"/>
              </a:spcAft>
              <a:buFont typeface="Wingdings" panose="05000000000000000000" pitchFamily="2" charset="2"/>
              <a:buChar char="Ø"/>
            </a:pPr>
            <a:r>
              <a:rPr lang="de" sz="1200" dirty="0">
                <a:solidFill>
                  <a:srgbClr val="020304"/>
                </a:solidFill>
                <a:ea typeface="Oswald"/>
                <a:cs typeface="Oswald"/>
                <a:sym typeface="Oswald"/>
              </a:rPr>
              <a:t>Data Cleaning: Check for missing and duplicate data and remove irrelevant columns</a:t>
            </a:r>
          </a:p>
          <a:p>
            <a:pPr marL="171450" lvl="0" indent="-171450">
              <a:buFont typeface="Wingdings" panose="05000000000000000000" pitchFamily="2" charset="2"/>
              <a:buChar char="Ø"/>
            </a:pPr>
            <a:r>
              <a:rPr lang="de" sz="1200" dirty="0">
                <a:solidFill>
                  <a:srgbClr val="020304"/>
                </a:solidFill>
                <a:ea typeface="Oswald"/>
                <a:cs typeface="Oswald"/>
                <a:sym typeface="Oswald"/>
              </a:rPr>
              <a:t>Exploratory Data Analysis (EDA) : </a:t>
            </a:r>
            <a:r>
              <a:rPr lang="en-MY" sz="1200" dirty="0">
                <a:solidFill>
                  <a:srgbClr val="020304"/>
                </a:solidFill>
                <a:ea typeface="Oswald"/>
                <a:cs typeface="Oswald"/>
                <a:sym typeface="Oswald"/>
              </a:rPr>
              <a:t> </a:t>
            </a:r>
            <a:r>
              <a:rPr lang="en-MY" sz="1200" dirty="0">
                <a:solidFill>
                  <a:srgbClr val="020304"/>
                </a:solidFill>
              </a:rPr>
              <a:t>identify the patterns, and trends in the dataset</a:t>
            </a:r>
          </a:p>
          <a:p>
            <a:pPr marL="171450" lvl="0" indent="-171450">
              <a:buFont typeface="Wingdings" panose="05000000000000000000" pitchFamily="2" charset="2"/>
              <a:buChar char="Ø"/>
            </a:pPr>
            <a:r>
              <a:rPr lang="de" sz="1200" dirty="0">
                <a:solidFill>
                  <a:srgbClr val="020304"/>
                </a:solidFill>
                <a:ea typeface="Oswald"/>
                <a:cs typeface="Oswald"/>
                <a:sym typeface="Oswald"/>
              </a:rPr>
              <a:t>Feature Engineering: Label Encoding</a:t>
            </a:r>
          </a:p>
          <a:p>
            <a:pPr marL="171450" lvl="0" indent="-171450">
              <a:buFont typeface="Wingdings" panose="05000000000000000000" pitchFamily="2" charset="2"/>
              <a:buChar char="Ø"/>
            </a:pPr>
            <a:r>
              <a:rPr lang="de" sz="1200" dirty="0">
                <a:solidFill>
                  <a:srgbClr val="020304"/>
                </a:solidFill>
                <a:ea typeface="Oswald"/>
                <a:cs typeface="Oswald"/>
                <a:sym typeface="Oswald"/>
              </a:rPr>
              <a:t>Feature Selection: Correlation Analysis</a:t>
            </a:r>
          </a:p>
        </p:txBody>
      </p:sp>
      <p:sp>
        <p:nvSpPr>
          <p:cNvPr id="50" name="Google Shape;1897;p101">
            <a:extLst>
              <a:ext uri="{FF2B5EF4-FFF2-40B4-BE49-F238E27FC236}">
                <a16:creationId xmlns:a16="http://schemas.microsoft.com/office/drawing/2014/main" id="{A3856B43-BDA7-7B60-B5BF-7A2B85C579AC}"/>
              </a:ext>
            </a:extLst>
          </p:cNvPr>
          <p:cNvSpPr txBox="1"/>
          <p:nvPr/>
        </p:nvSpPr>
        <p:spPr>
          <a:xfrm>
            <a:off x="5289088" y="4103547"/>
            <a:ext cx="6649368" cy="1215094"/>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MODEL DEVELOPMENT AND EVALUATION</a:t>
            </a:r>
          </a:p>
          <a:p>
            <a:pPr marL="171450" indent="-171450">
              <a:buFont typeface="Wingdings" panose="05000000000000000000" pitchFamily="2" charset="2"/>
              <a:buChar char="Ø"/>
            </a:pPr>
            <a:r>
              <a:rPr lang="de" sz="1200" dirty="0">
                <a:solidFill>
                  <a:srgbClr val="020304"/>
                </a:solidFill>
                <a:ea typeface="Oswald"/>
                <a:cs typeface="Oswald"/>
                <a:sym typeface="Oswald"/>
              </a:rPr>
              <a:t>Split Train-Test: 70% Training, 15% Validating, 15% Testing</a:t>
            </a:r>
          </a:p>
          <a:p>
            <a:pPr marL="171450" lvl="0" indent="-171450" rtl="0">
              <a:spcBef>
                <a:spcPts val="0"/>
              </a:spcBef>
              <a:spcAft>
                <a:spcPts val="0"/>
              </a:spcAft>
              <a:buFont typeface="Wingdings" panose="05000000000000000000" pitchFamily="2" charset="2"/>
              <a:buChar char="Ø"/>
            </a:pPr>
            <a:r>
              <a:rPr lang="de" sz="1200" dirty="0">
                <a:solidFill>
                  <a:srgbClr val="020304"/>
                </a:solidFill>
                <a:ea typeface="Oswald"/>
                <a:cs typeface="Oswald"/>
                <a:sym typeface="Oswald"/>
              </a:rPr>
              <a:t>Train using Random Forest and XGBoost</a:t>
            </a:r>
          </a:p>
          <a:p>
            <a:pPr marL="171450" lvl="0" indent="-171450" rtl="0">
              <a:spcBef>
                <a:spcPts val="0"/>
              </a:spcBef>
              <a:spcAft>
                <a:spcPts val="0"/>
              </a:spcAft>
              <a:buFont typeface="Wingdings" panose="05000000000000000000" pitchFamily="2" charset="2"/>
              <a:buChar char="Ø"/>
            </a:pPr>
            <a:r>
              <a:rPr lang="de" sz="1200" dirty="0">
                <a:solidFill>
                  <a:srgbClr val="020304"/>
                </a:solidFill>
                <a:ea typeface="Oswald"/>
                <a:cs typeface="Oswald"/>
                <a:sym typeface="Oswald"/>
              </a:rPr>
              <a:t>Tune hyperparameter and adjust threshold to improve the model</a:t>
            </a:r>
          </a:p>
          <a:p>
            <a:pPr marL="171450" lvl="0" indent="-171450" rtl="0">
              <a:spcBef>
                <a:spcPts val="0"/>
              </a:spcBef>
              <a:spcAft>
                <a:spcPts val="0"/>
              </a:spcAft>
              <a:buFont typeface="Wingdings" panose="05000000000000000000" pitchFamily="2" charset="2"/>
              <a:buChar char="Ø"/>
            </a:pPr>
            <a:r>
              <a:rPr lang="de" sz="1200" dirty="0">
                <a:solidFill>
                  <a:srgbClr val="020304"/>
                </a:solidFill>
                <a:ea typeface="Oswald"/>
                <a:cs typeface="Oswald"/>
                <a:sym typeface="Oswald"/>
              </a:rPr>
              <a:t>Evaluate model using precision, recall, F1-score and accuracy</a:t>
            </a:r>
          </a:p>
          <a:p>
            <a:pPr marL="171450" lvl="0" indent="-171450" rtl="0">
              <a:spcBef>
                <a:spcPts val="0"/>
              </a:spcBef>
              <a:spcAft>
                <a:spcPts val="0"/>
              </a:spcAft>
              <a:buFont typeface="Wingdings" panose="05000000000000000000" pitchFamily="2" charset="2"/>
              <a:buChar char="Ø"/>
            </a:pPr>
            <a:r>
              <a:rPr lang="de" sz="1200" dirty="0">
                <a:solidFill>
                  <a:srgbClr val="020304"/>
                </a:solidFill>
                <a:ea typeface="Oswald"/>
                <a:cs typeface="Oswald"/>
                <a:sym typeface="Oswald"/>
              </a:rPr>
              <a:t>Perform feature importance analysis</a:t>
            </a:r>
          </a:p>
        </p:txBody>
      </p:sp>
      <p:sp>
        <p:nvSpPr>
          <p:cNvPr id="51" name="Google Shape;1897;p101">
            <a:extLst>
              <a:ext uri="{FF2B5EF4-FFF2-40B4-BE49-F238E27FC236}">
                <a16:creationId xmlns:a16="http://schemas.microsoft.com/office/drawing/2014/main" id="{F3B14B6F-023B-8168-9FFD-D72BCD89C331}"/>
              </a:ext>
            </a:extLst>
          </p:cNvPr>
          <p:cNvSpPr txBox="1"/>
          <p:nvPr/>
        </p:nvSpPr>
        <p:spPr>
          <a:xfrm>
            <a:off x="5329982" y="5315818"/>
            <a:ext cx="6626998" cy="53160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DASHBOARD DEVELOPMENT</a:t>
            </a:r>
          </a:p>
          <a:p>
            <a:pPr marL="171450" lvl="0" indent="-171450">
              <a:buFont typeface="Wingdings" panose="05000000000000000000" pitchFamily="2" charset="2"/>
              <a:buChar char="Ø"/>
            </a:pPr>
            <a:r>
              <a:rPr lang="en-US" sz="1200" dirty="0">
                <a:solidFill>
                  <a:srgbClr val="020304"/>
                </a:solidFill>
                <a:ea typeface="Oswald"/>
                <a:cs typeface="Oswald"/>
                <a:sym typeface="Oswald"/>
              </a:rPr>
              <a:t>- Visualize findings using interactive dashboards</a:t>
            </a:r>
          </a:p>
        </p:txBody>
      </p:sp>
      <p:sp>
        <p:nvSpPr>
          <p:cNvPr id="58" name="Rectangle 57">
            <a:extLst>
              <a:ext uri="{FF2B5EF4-FFF2-40B4-BE49-F238E27FC236}">
                <a16:creationId xmlns:a16="http://schemas.microsoft.com/office/drawing/2014/main" id="{8A1239A8-B6C8-D652-A5E8-527F3EA7E51E}"/>
              </a:ext>
            </a:extLst>
          </p:cNvPr>
          <p:cNvSpPr/>
          <p:nvPr/>
        </p:nvSpPr>
        <p:spPr>
          <a:xfrm>
            <a:off x="0" y="385235"/>
            <a:ext cx="7065282"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Title 1">
            <a:extLst>
              <a:ext uri="{FF2B5EF4-FFF2-40B4-BE49-F238E27FC236}">
                <a16:creationId xmlns:a16="http://schemas.microsoft.com/office/drawing/2014/main" id="{0A5100B4-FFC2-47FB-2CFB-D59DA6AAAE57}"/>
              </a:ext>
            </a:extLst>
          </p:cNvPr>
          <p:cNvSpPr txBox="1">
            <a:spLocks/>
          </p:cNvSpPr>
          <p:nvPr/>
        </p:nvSpPr>
        <p:spPr>
          <a:xfrm>
            <a:off x="938914" y="432860"/>
            <a:ext cx="4764617" cy="4635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900" dirty="0">
                <a:solidFill>
                  <a:schemeClr val="bg1"/>
                </a:solidFill>
                <a:effectLst>
                  <a:outerShdw blurRad="38100" dist="38100" dir="2700000" algn="tl">
                    <a:srgbClr val="000000">
                      <a:alpha val="43137"/>
                    </a:srgbClr>
                  </a:outerShdw>
                </a:effectLst>
              </a:rPr>
              <a:t>PROJECT LIFECYCLE</a:t>
            </a:r>
          </a:p>
        </p:txBody>
      </p:sp>
      <p:pic>
        <p:nvPicPr>
          <p:cNvPr id="2" name="Picture 1" descr="A diagram of a process&#10;&#10;AI-generated content may be incorrect.">
            <a:extLst>
              <a:ext uri="{FF2B5EF4-FFF2-40B4-BE49-F238E27FC236}">
                <a16:creationId xmlns:a16="http://schemas.microsoft.com/office/drawing/2014/main" id="{93641A28-2F11-4D66-B047-873478D8EFBE}"/>
              </a:ext>
            </a:extLst>
          </p:cNvPr>
          <p:cNvPicPr>
            <a:picLocks noChangeAspect="1"/>
          </p:cNvPicPr>
          <p:nvPr/>
        </p:nvPicPr>
        <p:blipFill>
          <a:blip r:embed="rId2" cstate="print">
            <a:extLst>
              <a:ext uri="{28A0092B-C50C-407E-A947-70E740481C1C}">
                <a14:useLocalDpi xmlns:a14="http://schemas.microsoft.com/office/drawing/2010/main" val="0"/>
              </a:ext>
            </a:extLst>
          </a:blip>
          <a:srcRect l="11372" t="1497" r="1593" b="2066"/>
          <a:stretch>
            <a:fillRect/>
          </a:stretch>
        </p:blipFill>
        <p:spPr>
          <a:xfrm>
            <a:off x="40055" y="1299070"/>
            <a:ext cx="4543498" cy="454563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835073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9526B-D16D-D36C-8004-4E61F41788A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C7B5A79-5C51-ED8A-2451-696537315AC3}"/>
              </a:ext>
            </a:extLst>
          </p:cNvPr>
          <p:cNvSpPr txBox="1"/>
          <p:nvPr/>
        </p:nvSpPr>
        <p:spPr>
          <a:xfrm>
            <a:off x="4180114" y="2641219"/>
            <a:ext cx="5943600" cy="461665"/>
          </a:xfrm>
          <a:prstGeom prst="rect">
            <a:avLst/>
          </a:prstGeom>
          <a:noFill/>
        </p:spPr>
        <p:txBody>
          <a:bodyPr wrap="square" rtlCol="0">
            <a:spAutoFit/>
          </a:bodyPr>
          <a:lstStyle/>
          <a:p>
            <a:r>
              <a:rPr lang="en-MY" sz="2400" spc="300" dirty="0">
                <a:solidFill>
                  <a:schemeClr val="tx1">
                    <a:lumMod val="75000"/>
                    <a:lumOff val="25000"/>
                  </a:schemeClr>
                </a:solidFill>
                <a:effectLst>
                  <a:innerShdw blurRad="114300">
                    <a:prstClr val="black"/>
                  </a:innerShdw>
                </a:effectLst>
              </a:rPr>
              <a:t>CHAPTER 4</a:t>
            </a:r>
          </a:p>
        </p:txBody>
      </p:sp>
      <p:sp>
        <p:nvSpPr>
          <p:cNvPr id="4" name="TextBox 3">
            <a:extLst>
              <a:ext uri="{FF2B5EF4-FFF2-40B4-BE49-F238E27FC236}">
                <a16:creationId xmlns:a16="http://schemas.microsoft.com/office/drawing/2014/main" id="{651C3539-FC89-5EC6-DB1C-6D6ECBD4F6D4}"/>
              </a:ext>
            </a:extLst>
          </p:cNvPr>
          <p:cNvSpPr txBox="1"/>
          <p:nvPr/>
        </p:nvSpPr>
        <p:spPr>
          <a:xfrm>
            <a:off x="4180114" y="2930121"/>
            <a:ext cx="5943600" cy="1938992"/>
          </a:xfrm>
          <a:prstGeom prst="rect">
            <a:avLst/>
          </a:prstGeom>
          <a:noFill/>
        </p:spPr>
        <p:txBody>
          <a:bodyPr wrap="square" rtlCol="0">
            <a:spAutoFit/>
            <a:scene3d>
              <a:camera prst="orthographicFront"/>
              <a:lightRig rig="threePt" dir="t"/>
            </a:scene3d>
            <a:sp3d extrusionH="57150">
              <a:bevelT w="38100" h="38100" prst="angle"/>
            </a:sp3d>
          </a:bodyPr>
          <a:lstStyle/>
          <a:p>
            <a:r>
              <a:rPr lang="en-US" sz="6000" b="1" kern="0" dirty="0">
                <a:solidFill>
                  <a:srgbClr val="6C1D35"/>
                </a:solidFill>
              </a:rPr>
              <a:t>DATA PREPARATION</a:t>
            </a:r>
          </a:p>
        </p:txBody>
      </p:sp>
      <p:pic>
        <p:nvPicPr>
          <p:cNvPr id="5" name="Picture 4">
            <a:extLst>
              <a:ext uri="{FF2B5EF4-FFF2-40B4-BE49-F238E27FC236}">
                <a16:creationId xmlns:a16="http://schemas.microsoft.com/office/drawing/2014/main" id="{4600A4C8-A1F2-3F26-AD8B-1631841371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2795" y="344422"/>
            <a:ext cx="2249407" cy="751894"/>
          </a:xfrm>
          <a:prstGeom prst="rect">
            <a:avLst/>
          </a:prstGeom>
        </p:spPr>
      </p:pic>
      <p:pic>
        <p:nvPicPr>
          <p:cNvPr id="9" name="Picture 8">
            <a:extLst>
              <a:ext uri="{FF2B5EF4-FFF2-40B4-BE49-F238E27FC236}">
                <a16:creationId xmlns:a16="http://schemas.microsoft.com/office/drawing/2014/main" id="{A386316E-12DF-E7BF-B7DE-57BF02BB1E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3714" y="6529906"/>
            <a:ext cx="2060121" cy="155037"/>
          </a:xfrm>
          <a:prstGeom prst="rect">
            <a:avLst/>
          </a:prstGeom>
        </p:spPr>
      </p:pic>
      <p:cxnSp>
        <p:nvCxnSpPr>
          <p:cNvPr id="10" name="Straight Connector 9">
            <a:extLst>
              <a:ext uri="{FF2B5EF4-FFF2-40B4-BE49-F238E27FC236}">
                <a16:creationId xmlns:a16="http://schemas.microsoft.com/office/drawing/2014/main" id="{17F5DDC9-4602-87BA-8FE3-A2EF7B9FE371}"/>
              </a:ext>
            </a:extLst>
          </p:cNvPr>
          <p:cNvCxnSpPr>
            <a:cxnSpLocks/>
          </p:cNvCxnSpPr>
          <p:nvPr/>
        </p:nvCxnSpPr>
        <p:spPr>
          <a:xfrm>
            <a:off x="0" y="6626873"/>
            <a:ext cx="10286999" cy="0"/>
          </a:xfrm>
          <a:prstGeom prst="line">
            <a:avLst/>
          </a:prstGeom>
          <a:ln w="28575"/>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775885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53FF5-8B60-038F-859A-3774525C1338}"/>
            </a:ext>
          </a:extLst>
        </p:cNvPr>
        <p:cNvGrpSpPr/>
        <p:nvPr/>
      </p:nvGrpSpPr>
      <p:grpSpPr>
        <a:xfrm>
          <a:off x="0" y="0"/>
          <a:ext cx="0" cy="0"/>
          <a:chOff x="0" y="0"/>
          <a:chExt cx="0" cy="0"/>
        </a:xfrm>
      </p:grpSpPr>
      <p:sp>
        <p:nvSpPr>
          <p:cNvPr id="58" name="Rectangle 57">
            <a:extLst>
              <a:ext uri="{FF2B5EF4-FFF2-40B4-BE49-F238E27FC236}">
                <a16:creationId xmlns:a16="http://schemas.microsoft.com/office/drawing/2014/main" id="{6E18228F-EFD0-A754-B838-BC47EBC82C47}"/>
              </a:ext>
            </a:extLst>
          </p:cNvPr>
          <p:cNvSpPr/>
          <p:nvPr/>
        </p:nvSpPr>
        <p:spPr>
          <a:xfrm>
            <a:off x="0" y="385235"/>
            <a:ext cx="10347960"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9" name="Title 1">
            <a:extLst>
              <a:ext uri="{FF2B5EF4-FFF2-40B4-BE49-F238E27FC236}">
                <a16:creationId xmlns:a16="http://schemas.microsoft.com/office/drawing/2014/main" id="{FE872A25-C2EA-FD57-E668-1A4C876D0029}"/>
              </a:ext>
            </a:extLst>
          </p:cNvPr>
          <p:cNvSpPr txBox="1">
            <a:spLocks/>
          </p:cNvSpPr>
          <p:nvPr/>
        </p:nvSpPr>
        <p:spPr>
          <a:xfrm>
            <a:off x="167389" y="462897"/>
            <a:ext cx="4764617" cy="4635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900" dirty="0">
                <a:solidFill>
                  <a:schemeClr val="bg1"/>
                </a:solidFill>
                <a:effectLst>
                  <a:outerShdw blurRad="38100" dist="38100" dir="2700000" algn="tl">
                    <a:srgbClr val="000000">
                      <a:alpha val="43137"/>
                    </a:srgbClr>
                  </a:outerShdw>
                </a:effectLst>
              </a:rPr>
              <a:t>DATASET</a:t>
            </a:r>
          </a:p>
        </p:txBody>
      </p:sp>
      <p:graphicFrame>
        <p:nvGraphicFramePr>
          <p:cNvPr id="2" name="Google Shape;1883;p99">
            <a:extLst>
              <a:ext uri="{FF2B5EF4-FFF2-40B4-BE49-F238E27FC236}">
                <a16:creationId xmlns:a16="http://schemas.microsoft.com/office/drawing/2014/main" id="{AFB545B6-F5C9-2981-4183-149C417C61A1}"/>
              </a:ext>
            </a:extLst>
          </p:cNvPr>
          <p:cNvGraphicFramePr/>
          <p:nvPr>
            <p:extLst>
              <p:ext uri="{D42A27DB-BD31-4B8C-83A1-F6EECF244321}">
                <p14:modId xmlns:p14="http://schemas.microsoft.com/office/powerpoint/2010/main" val="4218924564"/>
              </p:ext>
            </p:extLst>
          </p:nvPr>
        </p:nvGraphicFramePr>
        <p:xfrm>
          <a:off x="5281739" y="1060191"/>
          <a:ext cx="5066221" cy="1828740"/>
        </p:xfrm>
        <a:graphic>
          <a:graphicData uri="http://schemas.openxmlformats.org/drawingml/2006/table">
            <a:tbl>
              <a:tblPr>
                <a:noFill/>
                <a:effectLst>
                  <a:outerShdw blurRad="50800" dist="38100" dir="5400000" algn="t" rotWithShape="0">
                    <a:prstClr val="black">
                      <a:alpha val="40000"/>
                    </a:prstClr>
                  </a:outerShdw>
                </a:effectLst>
              </a:tblPr>
              <a:tblGrid>
                <a:gridCol w="970877">
                  <a:extLst>
                    <a:ext uri="{9D8B030D-6E8A-4147-A177-3AD203B41FA5}">
                      <a16:colId xmlns:a16="http://schemas.microsoft.com/office/drawing/2014/main" val="20000"/>
                    </a:ext>
                  </a:extLst>
                </a:gridCol>
                <a:gridCol w="2047672">
                  <a:extLst>
                    <a:ext uri="{9D8B030D-6E8A-4147-A177-3AD203B41FA5}">
                      <a16:colId xmlns:a16="http://schemas.microsoft.com/office/drawing/2014/main" val="20001"/>
                    </a:ext>
                  </a:extLst>
                </a:gridCol>
                <a:gridCol w="2047672">
                  <a:extLst>
                    <a:ext uri="{9D8B030D-6E8A-4147-A177-3AD203B41FA5}">
                      <a16:colId xmlns:a16="http://schemas.microsoft.com/office/drawing/2014/main" val="195897180"/>
                    </a:ext>
                  </a:extLst>
                </a:gridCol>
              </a:tblGrid>
              <a:tr h="215608">
                <a:tc>
                  <a:txBody>
                    <a:bodyPr/>
                    <a:lstStyle/>
                    <a:p>
                      <a:pPr marL="0" lvl="0" indent="0" algn="ctr" rtl="0">
                        <a:spcBef>
                          <a:spcPts val="0"/>
                        </a:spcBef>
                        <a:spcAft>
                          <a:spcPts val="0"/>
                        </a:spcAft>
                        <a:buNone/>
                      </a:pPr>
                      <a:r>
                        <a:rPr lang="en-MY" sz="1200" b="1" dirty="0">
                          <a:solidFill>
                            <a:schemeClr val="dk1"/>
                          </a:solidFill>
                          <a:latin typeface="+mn-lt"/>
                          <a:ea typeface="Oswald"/>
                          <a:cs typeface="Oswald"/>
                          <a:sym typeface="Oswald"/>
                        </a:rPr>
                        <a:t>Size</a:t>
                      </a:r>
                    </a:p>
                  </a:txBody>
                  <a:tcPr marL="91425" marR="91425" marT="91425"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1"/>
                      </a:solidFill>
                      <a:prstDash val="solid"/>
                      <a:round/>
                      <a:headEnd type="none" w="sm" len="sm"/>
                      <a:tailEnd type="none" w="sm" len="sm"/>
                    </a:lnB>
                  </a:tcPr>
                </a:tc>
                <a:tc gridSpan="2">
                  <a:txBody>
                    <a:bodyPr/>
                    <a:lstStyle/>
                    <a:p>
                      <a:pPr marL="0" lvl="0" indent="0" algn="l" rtl="0">
                        <a:spcBef>
                          <a:spcPts val="0"/>
                        </a:spcBef>
                        <a:spcAft>
                          <a:spcPts val="0"/>
                        </a:spcAft>
                        <a:buNone/>
                      </a:pPr>
                      <a:r>
                        <a:rPr lang="de" sz="1200" dirty="0">
                          <a:solidFill>
                            <a:schemeClr val="tx1"/>
                          </a:solidFill>
                          <a:latin typeface="+mn-lt"/>
                          <a:ea typeface="Titillium Web"/>
                          <a:cs typeface="Titillium Web"/>
                          <a:sym typeface="Titillium Web"/>
                        </a:rPr>
                        <a:t>9,504,851 rows</a:t>
                      </a:r>
                      <a:endParaRPr sz="1200" dirty="0">
                        <a:solidFill>
                          <a:schemeClr val="tx1"/>
                        </a:solidFill>
                        <a:latin typeface="+mn-lt"/>
                        <a:ea typeface="Titillium Web"/>
                        <a:cs typeface="Titillium Web"/>
                        <a:sym typeface="Titillium Web"/>
                      </a:endParaRPr>
                    </a:p>
                  </a:txBody>
                  <a:tcPr marL="91425" marR="91425"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1"/>
                      </a:solidFill>
                      <a:prstDash val="solid"/>
                      <a:round/>
                      <a:headEnd type="none" w="sm" len="sm"/>
                      <a:tailEnd type="none" w="sm" len="sm"/>
                    </a:lnB>
                  </a:tcPr>
                </a:tc>
                <a:tc hMerge="1">
                  <a:txBody>
                    <a:bodyPr/>
                    <a:lstStyle/>
                    <a:p>
                      <a:pPr marL="0" lvl="0" indent="0" algn="ctr" rtl="0">
                        <a:spcBef>
                          <a:spcPts val="0"/>
                        </a:spcBef>
                        <a:spcAft>
                          <a:spcPts val="0"/>
                        </a:spcAft>
                        <a:buNone/>
                      </a:pPr>
                      <a:endParaRPr sz="900" dirty="0">
                        <a:solidFill>
                          <a:schemeClr val="dk2"/>
                        </a:solidFill>
                        <a:latin typeface="Titillium Web"/>
                        <a:ea typeface="Titillium Web"/>
                        <a:cs typeface="Titillium Web"/>
                        <a:sym typeface="Titillium Web"/>
                      </a:endParaRPr>
                    </a:p>
                  </a:txBody>
                  <a:tcPr marL="91425" marR="91425"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lgn="ctr">
                      <a:solidFill>
                        <a:schemeClr val="accent1"/>
                      </a:solidFill>
                      <a:prstDash val="solid"/>
                      <a:round/>
                      <a:headEnd type="none" w="sm" len="sm"/>
                      <a:tailEnd type="none" w="sm" len="sm"/>
                    </a:lnB>
                  </a:tcPr>
                </a:tc>
                <a:extLst>
                  <a:ext uri="{0D108BD9-81ED-4DB2-BD59-A6C34878D82A}">
                    <a16:rowId xmlns:a16="http://schemas.microsoft.com/office/drawing/2014/main" val="10001"/>
                  </a:ext>
                </a:extLst>
              </a:tr>
              <a:tr h="215608">
                <a:tc>
                  <a:txBody>
                    <a:bodyPr/>
                    <a:lstStyle/>
                    <a:p>
                      <a:pPr marL="0" lvl="0" indent="0" algn="ctr" rtl="0">
                        <a:spcBef>
                          <a:spcPts val="0"/>
                        </a:spcBef>
                        <a:spcAft>
                          <a:spcPts val="0"/>
                        </a:spcAft>
                        <a:buNone/>
                      </a:pPr>
                      <a:r>
                        <a:rPr lang="en-MY" sz="1200" b="1" dirty="0">
                          <a:solidFill>
                            <a:schemeClr val="dk1"/>
                          </a:solidFill>
                          <a:latin typeface="+mn-lt"/>
                          <a:ea typeface="Oswald"/>
                          <a:cs typeface="Oswald"/>
                          <a:sym typeface="Oswald"/>
                        </a:rPr>
                        <a:t>Attributes</a:t>
                      </a: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de" sz="1200" dirty="0">
                          <a:solidFill>
                            <a:schemeClr val="tx1"/>
                          </a:solidFill>
                          <a:latin typeface="+mn-lt"/>
                          <a:ea typeface="Titillium Web"/>
                          <a:cs typeface="Titillium Web"/>
                          <a:sym typeface="Titillium Web"/>
                        </a:rPr>
                        <a:t>12 Attributes</a:t>
                      </a:r>
                    </a:p>
                    <a:p>
                      <a:pPr marL="228600" lvl="0" indent="-228600" algn="l" rtl="0">
                        <a:spcBef>
                          <a:spcPts val="0"/>
                        </a:spcBef>
                        <a:spcAft>
                          <a:spcPts val="0"/>
                        </a:spcAft>
                        <a:buAutoNum type="arabicParenR"/>
                      </a:pPr>
                      <a:r>
                        <a:rPr lang="de" sz="1200" dirty="0">
                          <a:solidFill>
                            <a:schemeClr val="tx1"/>
                          </a:solidFill>
                          <a:latin typeface="+mn-lt"/>
                          <a:ea typeface="Titillium Web"/>
                          <a:cs typeface="Titillium Web"/>
                          <a:sym typeface="Titillium Web"/>
                        </a:rPr>
                        <a:t>Time</a:t>
                      </a:r>
                    </a:p>
                    <a:p>
                      <a:pPr marL="228600" lvl="0" indent="-228600" algn="l" rtl="0">
                        <a:spcBef>
                          <a:spcPts val="0"/>
                        </a:spcBef>
                        <a:spcAft>
                          <a:spcPts val="0"/>
                        </a:spcAft>
                        <a:buAutoNum type="arabicParenR"/>
                      </a:pPr>
                      <a:r>
                        <a:rPr lang="de" sz="1200" dirty="0">
                          <a:solidFill>
                            <a:schemeClr val="tx1"/>
                          </a:solidFill>
                          <a:latin typeface="+mn-lt"/>
                          <a:ea typeface="Titillium Web"/>
                          <a:cs typeface="Titillium Web"/>
                          <a:sym typeface="Titillium Web"/>
                        </a:rPr>
                        <a:t>Date</a:t>
                      </a:r>
                    </a:p>
                    <a:p>
                      <a:pPr marL="228600" lvl="0" indent="-228600" algn="l" rtl="0">
                        <a:spcBef>
                          <a:spcPts val="0"/>
                        </a:spcBef>
                        <a:spcAft>
                          <a:spcPts val="0"/>
                        </a:spcAft>
                        <a:buAutoNum type="arabicParenR"/>
                      </a:pPr>
                      <a:r>
                        <a:rPr lang="de" sz="1200" dirty="0">
                          <a:solidFill>
                            <a:schemeClr val="tx1"/>
                          </a:solidFill>
                          <a:latin typeface="+mn-lt"/>
                          <a:ea typeface="Titillium Web"/>
                          <a:cs typeface="Titillium Web"/>
                          <a:sym typeface="Titillium Web"/>
                        </a:rPr>
                        <a:t>Sender_account</a:t>
                      </a:r>
                    </a:p>
                    <a:p>
                      <a:pPr marL="228600" lvl="0" indent="-228600" algn="l" rtl="0">
                        <a:spcBef>
                          <a:spcPts val="0"/>
                        </a:spcBef>
                        <a:spcAft>
                          <a:spcPts val="0"/>
                        </a:spcAft>
                        <a:buAutoNum type="arabicParenR"/>
                      </a:pPr>
                      <a:r>
                        <a:rPr lang="de" sz="1200" dirty="0">
                          <a:solidFill>
                            <a:schemeClr val="tx1"/>
                          </a:solidFill>
                          <a:latin typeface="+mn-lt"/>
                          <a:ea typeface="Titillium Web"/>
                          <a:cs typeface="Titillium Web"/>
                          <a:sym typeface="Titillium Web"/>
                        </a:rPr>
                        <a:t>Receiver_account</a:t>
                      </a:r>
                    </a:p>
                    <a:p>
                      <a:pPr marL="228600" lvl="0" indent="-228600" algn="l" rtl="0">
                        <a:spcBef>
                          <a:spcPts val="0"/>
                        </a:spcBef>
                        <a:spcAft>
                          <a:spcPts val="0"/>
                        </a:spcAft>
                        <a:buAutoNum type="arabicParenR"/>
                      </a:pPr>
                      <a:r>
                        <a:rPr lang="de" sz="1200" dirty="0">
                          <a:solidFill>
                            <a:schemeClr val="tx1"/>
                          </a:solidFill>
                          <a:latin typeface="+mn-lt"/>
                          <a:ea typeface="Titillium Web"/>
                          <a:cs typeface="Titillium Web"/>
                          <a:sym typeface="Titillium Web"/>
                        </a:rPr>
                        <a:t>Amount</a:t>
                      </a:r>
                    </a:p>
                    <a:p>
                      <a:pPr marL="228600" lvl="0" indent="-228600" algn="l" rtl="0">
                        <a:spcBef>
                          <a:spcPts val="0"/>
                        </a:spcBef>
                        <a:spcAft>
                          <a:spcPts val="0"/>
                        </a:spcAft>
                        <a:buAutoNum type="arabicParenR"/>
                      </a:pPr>
                      <a:r>
                        <a:rPr lang="de" sz="1200" dirty="0">
                          <a:solidFill>
                            <a:schemeClr val="tx1"/>
                          </a:solidFill>
                          <a:latin typeface="+mn-lt"/>
                          <a:ea typeface="Titillium Web"/>
                          <a:cs typeface="Titillium Web"/>
                          <a:sym typeface="Titillium Web"/>
                        </a:rPr>
                        <a:t>Payment_currency</a:t>
                      </a:r>
                      <a:endParaRPr sz="1200" dirty="0">
                        <a:solidFill>
                          <a:schemeClr val="tx1"/>
                        </a:solidFill>
                        <a:latin typeface="+mn-lt"/>
                        <a:ea typeface="Titillium Web"/>
                        <a:cs typeface="Titillium Web"/>
                        <a:sym typeface="Titillium Web"/>
                      </a:endParaRPr>
                    </a:p>
                  </a:txBody>
                  <a:tcPr marL="91425" marR="91425" marT="91425"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endParaRPr lang="en-MY" sz="1200" dirty="0">
                        <a:solidFill>
                          <a:schemeClr val="tx1"/>
                        </a:solidFill>
                        <a:latin typeface="+mn-lt"/>
                        <a:ea typeface="Titillium Web"/>
                        <a:cs typeface="Titillium Web"/>
                        <a:sym typeface="Titillium Web"/>
                      </a:endParaRPr>
                    </a:p>
                    <a:p>
                      <a:pPr marL="228600" lvl="0" indent="-228600" algn="l" rtl="0">
                        <a:spcBef>
                          <a:spcPts val="0"/>
                        </a:spcBef>
                        <a:spcAft>
                          <a:spcPts val="0"/>
                        </a:spcAft>
                        <a:buFont typeface="+mj-lt"/>
                        <a:buAutoNum type="arabicParenR" startAt="7"/>
                      </a:pPr>
                      <a:r>
                        <a:rPr lang="en-MY" sz="1200" dirty="0" err="1">
                          <a:solidFill>
                            <a:schemeClr val="tx1"/>
                          </a:solidFill>
                          <a:latin typeface="+mn-lt"/>
                          <a:ea typeface="Titillium Web"/>
                          <a:cs typeface="Titillium Web"/>
                          <a:sym typeface="Titillium Web"/>
                        </a:rPr>
                        <a:t>Received_currency</a:t>
                      </a:r>
                      <a:endParaRPr lang="en-MY" sz="1200" dirty="0">
                        <a:solidFill>
                          <a:schemeClr val="tx1"/>
                        </a:solidFill>
                        <a:latin typeface="+mn-lt"/>
                        <a:ea typeface="Titillium Web"/>
                        <a:cs typeface="Titillium Web"/>
                        <a:sym typeface="Titillium Web"/>
                      </a:endParaRPr>
                    </a:p>
                    <a:p>
                      <a:pPr marL="228600" lvl="0" indent="-228600" algn="l" rtl="0">
                        <a:spcBef>
                          <a:spcPts val="0"/>
                        </a:spcBef>
                        <a:spcAft>
                          <a:spcPts val="0"/>
                        </a:spcAft>
                        <a:buFont typeface="+mj-lt"/>
                        <a:buAutoNum type="arabicParenR" startAt="7"/>
                      </a:pPr>
                      <a:r>
                        <a:rPr lang="en-MY" sz="1200" dirty="0" err="1">
                          <a:solidFill>
                            <a:schemeClr val="tx1"/>
                          </a:solidFill>
                          <a:latin typeface="+mn-lt"/>
                          <a:ea typeface="Titillium Web"/>
                          <a:cs typeface="Titillium Web"/>
                          <a:sym typeface="Titillium Web"/>
                        </a:rPr>
                        <a:t>Sender_bank_location</a:t>
                      </a:r>
                      <a:endParaRPr lang="en-MY" sz="1200" dirty="0">
                        <a:solidFill>
                          <a:schemeClr val="tx1"/>
                        </a:solidFill>
                        <a:latin typeface="+mn-lt"/>
                        <a:ea typeface="Titillium Web"/>
                        <a:cs typeface="Titillium Web"/>
                        <a:sym typeface="Titillium Web"/>
                      </a:endParaRPr>
                    </a:p>
                    <a:p>
                      <a:pPr marL="228600" lvl="0" indent="-228600" algn="l" rtl="0">
                        <a:spcBef>
                          <a:spcPts val="0"/>
                        </a:spcBef>
                        <a:spcAft>
                          <a:spcPts val="0"/>
                        </a:spcAft>
                        <a:buFont typeface="+mj-lt"/>
                        <a:buAutoNum type="arabicParenR" startAt="7"/>
                      </a:pPr>
                      <a:r>
                        <a:rPr lang="en-MY" sz="1200" dirty="0" err="1">
                          <a:solidFill>
                            <a:schemeClr val="tx1"/>
                          </a:solidFill>
                          <a:latin typeface="+mn-lt"/>
                          <a:ea typeface="Titillium Web"/>
                          <a:cs typeface="Titillium Web"/>
                          <a:sym typeface="Titillium Web"/>
                        </a:rPr>
                        <a:t>Receiver_bank_location</a:t>
                      </a:r>
                      <a:endParaRPr lang="en-MY" sz="1200" dirty="0">
                        <a:solidFill>
                          <a:schemeClr val="tx1"/>
                        </a:solidFill>
                        <a:latin typeface="+mn-lt"/>
                        <a:ea typeface="Titillium Web"/>
                        <a:cs typeface="Titillium Web"/>
                        <a:sym typeface="Titillium Web"/>
                      </a:endParaRPr>
                    </a:p>
                    <a:p>
                      <a:pPr marL="228600" lvl="0" indent="-228600" algn="l" rtl="0">
                        <a:spcBef>
                          <a:spcPts val="0"/>
                        </a:spcBef>
                        <a:spcAft>
                          <a:spcPts val="0"/>
                        </a:spcAft>
                        <a:buFont typeface="+mj-lt"/>
                        <a:buAutoNum type="arabicParenR" startAt="7"/>
                      </a:pPr>
                      <a:r>
                        <a:rPr lang="en-MY" sz="1200" dirty="0" err="1">
                          <a:solidFill>
                            <a:schemeClr val="tx1"/>
                          </a:solidFill>
                          <a:latin typeface="+mn-lt"/>
                          <a:ea typeface="Titillium Web"/>
                          <a:cs typeface="Titillium Web"/>
                          <a:sym typeface="Titillium Web"/>
                        </a:rPr>
                        <a:t>Payment_type</a:t>
                      </a:r>
                      <a:endParaRPr lang="en-MY" sz="1200" dirty="0">
                        <a:solidFill>
                          <a:schemeClr val="tx1"/>
                        </a:solidFill>
                        <a:latin typeface="+mn-lt"/>
                        <a:ea typeface="Titillium Web"/>
                        <a:cs typeface="Titillium Web"/>
                        <a:sym typeface="Titillium Web"/>
                      </a:endParaRPr>
                    </a:p>
                    <a:p>
                      <a:pPr marL="228600" lvl="0" indent="-228600" algn="l" rtl="0">
                        <a:spcBef>
                          <a:spcPts val="0"/>
                        </a:spcBef>
                        <a:spcAft>
                          <a:spcPts val="0"/>
                        </a:spcAft>
                        <a:buFont typeface="+mj-lt"/>
                        <a:buAutoNum type="arabicParenR" startAt="7"/>
                      </a:pPr>
                      <a:r>
                        <a:rPr lang="en-MY" sz="1200" dirty="0" err="1">
                          <a:solidFill>
                            <a:schemeClr val="tx1"/>
                          </a:solidFill>
                          <a:latin typeface="+mn-lt"/>
                          <a:ea typeface="Titillium Web"/>
                          <a:cs typeface="Titillium Web"/>
                          <a:sym typeface="Titillium Web"/>
                        </a:rPr>
                        <a:t>Is_laundering</a:t>
                      </a:r>
                      <a:endParaRPr lang="en-MY" sz="1200" dirty="0">
                        <a:solidFill>
                          <a:schemeClr val="tx1"/>
                        </a:solidFill>
                        <a:latin typeface="+mn-lt"/>
                        <a:ea typeface="Titillium Web"/>
                        <a:cs typeface="Titillium Web"/>
                        <a:sym typeface="Titillium Web"/>
                      </a:endParaRPr>
                    </a:p>
                    <a:p>
                      <a:pPr marL="228600" lvl="0" indent="-228600" algn="l" rtl="0">
                        <a:spcBef>
                          <a:spcPts val="0"/>
                        </a:spcBef>
                        <a:spcAft>
                          <a:spcPts val="0"/>
                        </a:spcAft>
                        <a:buFont typeface="+mj-lt"/>
                        <a:buAutoNum type="arabicParenR" startAt="7"/>
                      </a:pPr>
                      <a:r>
                        <a:rPr lang="en-MY" sz="1200" dirty="0" err="1">
                          <a:solidFill>
                            <a:schemeClr val="tx1"/>
                          </a:solidFill>
                          <a:latin typeface="+mn-lt"/>
                          <a:ea typeface="Titillium Web"/>
                          <a:cs typeface="Titillium Web"/>
                          <a:sym typeface="Titillium Web"/>
                        </a:rPr>
                        <a:t>Laundering_type</a:t>
                      </a:r>
                      <a:endParaRPr sz="1200" dirty="0">
                        <a:solidFill>
                          <a:schemeClr val="tx1"/>
                        </a:solidFill>
                        <a:latin typeface="+mn-lt"/>
                        <a:ea typeface="Titillium Web"/>
                        <a:cs typeface="Titillium Web"/>
                        <a:sym typeface="Titillium Web"/>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lgn="ctr">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3" name="Google Shape;1897;p101">
            <a:extLst>
              <a:ext uri="{FF2B5EF4-FFF2-40B4-BE49-F238E27FC236}">
                <a16:creationId xmlns:a16="http://schemas.microsoft.com/office/drawing/2014/main" id="{F0A0E854-092A-D7BD-EACD-E6B0C05EB7C4}"/>
              </a:ext>
            </a:extLst>
          </p:cNvPr>
          <p:cNvSpPr txBox="1"/>
          <p:nvPr/>
        </p:nvSpPr>
        <p:spPr>
          <a:xfrm>
            <a:off x="416098" y="1205862"/>
            <a:ext cx="4865642" cy="1245973"/>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DATASET</a:t>
            </a:r>
          </a:p>
          <a:p>
            <a:pPr marL="171450" indent="-171450">
              <a:buFontTx/>
              <a:buChar char="-"/>
            </a:pPr>
            <a:r>
              <a:rPr lang="en-US" sz="1200" dirty="0"/>
              <a:t>Synthetic transaction dataset called SAML-D</a:t>
            </a:r>
          </a:p>
          <a:p>
            <a:pPr marL="171450" indent="-171450">
              <a:buFontTx/>
              <a:buChar char="-"/>
            </a:pPr>
            <a:r>
              <a:rPr lang="en-US" sz="1200" dirty="0"/>
              <a:t>Produced by research paper entitled ‘Enhancing Anti-Money Laundering: Development of a Synthetic Transaction Monitoring Dataset’ by Berkan </a:t>
            </a:r>
            <a:r>
              <a:rPr lang="en-US" sz="1200" dirty="0" err="1"/>
              <a:t>Oztas</a:t>
            </a:r>
            <a:r>
              <a:rPr lang="en-US" sz="1200" dirty="0"/>
              <a:t> et al. in 2023</a:t>
            </a:r>
          </a:p>
          <a:p>
            <a:pPr marL="171450" indent="-171450">
              <a:buFontTx/>
              <a:buChar char="-"/>
            </a:pPr>
            <a:r>
              <a:rPr lang="en-US" sz="1200" dirty="0"/>
              <a:t>Publicly available in Kaggle</a:t>
            </a:r>
          </a:p>
        </p:txBody>
      </p:sp>
      <p:pic>
        <p:nvPicPr>
          <p:cNvPr id="17" name="Picture 16">
            <a:extLst>
              <a:ext uri="{FF2B5EF4-FFF2-40B4-BE49-F238E27FC236}">
                <a16:creationId xmlns:a16="http://schemas.microsoft.com/office/drawing/2014/main" id="{95DD7077-9429-70F4-7682-472FDA6DF410}"/>
              </a:ext>
            </a:extLst>
          </p:cNvPr>
          <p:cNvPicPr>
            <a:picLocks noChangeAspect="1"/>
          </p:cNvPicPr>
          <p:nvPr/>
        </p:nvPicPr>
        <p:blipFill>
          <a:blip r:embed="rId2"/>
          <a:stretch>
            <a:fillRect/>
          </a:stretch>
        </p:blipFill>
        <p:spPr>
          <a:xfrm>
            <a:off x="-23994" y="1097400"/>
            <a:ext cx="540000" cy="540000"/>
          </a:xfrm>
          <a:prstGeom prst="rect">
            <a:avLst/>
          </a:prstGeom>
        </p:spPr>
      </p:pic>
      <p:sp>
        <p:nvSpPr>
          <p:cNvPr id="5" name="Rectangle 4">
            <a:extLst>
              <a:ext uri="{FF2B5EF4-FFF2-40B4-BE49-F238E27FC236}">
                <a16:creationId xmlns:a16="http://schemas.microsoft.com/office/drawing/2014/main" id="{386896F2-A56C-BC78-8B2B-367553558F96}"/>
              </a:ext>
            </a:extLst>
          </p:cNvPr>
          <p:cNvSpPr/>
          <p:nvPr/>
        </p:nvSpPr>
        <p:spPr>
          <a:xfrm>
            <a:off x="-23994" y="2976512"/>
            <a:ext cx="10371954"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1">
            <a:extLst>
              <a:ext uri="{FF2B5EF4-FFF2-40B4-BE49-F238E27FC236}">
                <a16:creationId xmlns:a16="http://schemas.microsoft.com/office/drawing/2014/main" id="{DE82E45D-FB75-78A5-814A-ADD2AF5856A7}"/>
              </a:ext>
            </a:extLst>
          </p:cNvPr>
          <p:cNvSpPr txBox="1">
            <a:spLocks/>
          </p:cNvSpPr>
          <p:nvPr/>
        </p:nvSpPr>
        <p:spPr>
          <a:xfrm>
            <a:off x="167388" y="3024137"/>
            <a:ext cx="4764617" cy="4635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900" dirty="0">
                <a:solidFill>
                  <a:schemeClr val="bg1"/>
                </a:solidFill>
                <a:effectLst>
                  <a:outerShdw blurRad="38100" dist="38100" dir="2700000" algn="tl">
                    <a:srgbClr val="000000">
                      <a:alpha val="43137"/>
                    </a:srgbClr>
                  </a:outerShdw>
                </a:effectLst>
              </a:rPr>
              <a:t>DATA TRANSFORMATION</a:t>
            </a:r>
          </a:p>
        </p:txBody>
      </p:sp>
      <p:sp>
        <p:nvSpPr>
          <p:cNvPr id="7" name="Google Shape;1897;p101">
            <a:extLst>
              <a:ext uri="{FF2B5EF4-FFF2-40B4-BE49-F238E27FC236}">
                <a16:creationId xmlns:a16="http://schemas.microsoft.com/office/drawing/2014/main" id="{0ED48641-2A2E-1305-932B-0AA315DD9072}"/>
              </a:ext>
            </a:extLst>
          </p:cNvPr>
          <p:cNvSpPr txBox="1"/>
          <p:nvPr/>
        </p:nvSpPr>
        <p:spPr>
          <a:xfrm>
            <a:off x="416097" y="3603202"/>
            <a:ext cx="5066221" cy="431538"/>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DERIVED NEW FEATURES</a:t>
            </a:r>
          </a:p>
        </p:txBody>
      </p:sp>
      <p:pic>
        <p:nvPicPr>
          <p:cNvPr id="8" name="Picture 7">
            <a:extLst>
              <a:ext uri="{FF2B5EF4-FFF2-40B4-BE49-F238E27FC236}">
                <a16:creationId xmlns:a16="http://schemas.microsoft.com/office/drawing/2014/main" id="{EE24B658-DD92-BA91-432C-86B37438DD99}"/>
              </a:ext>
            </a:extLst>
          </p:cNvPr>
          <p:cNvPicPr>
            <a:picLocks noChangeAspect="1"/>
          </p:cNvPicPr>
          <p:nvPr/>
        </p:nvPicPr>
        <p:blipFill>
          <a:blip r:embed="rId2"/>
          <a:stretch>
            <a:fillRect/>
          </a:stretch>
        </p:blipFill>
        <p:spPr>
          <a:xfrm>
            <a:off x="0" y="3494739"/>
            <a:ext cx="540000" cy="540000"/>
          </a:xfrm>
          <a:prstGeom prst="rect">
            <a:avLst/>
          </a:prstGeom>
        </p:spPr>
      </p:pic>
      <p:graphicFrame>
        <p:nvGraphicFramePr>
          <p:cNvPr id="4" name="Google Shape;1883;p99">
            <a:extLst>
              <a:ext uri="{FF2B5EF4-FFF2-40B4-BE49-F238E27FC236}">
                <a16:creationId xmlns:a16="http://schemas.microsoft.com/office/drawing/2014/main" id="{5992DBAA-8B44-77C6-6F82-1BBB2D241E4B}"/>
              </a:ext>
            </a:extLst>
          </p:cNvPr>
          <p:cNvGraphicFramePr/>
          <p:nvPr>
            <p:extLst>
              <p:ext uri="{D42A27DB-BD31-4B8C-83A1-F6EECF244321}">
                <p14:modId xmlns:p14="http://schemas.microsoft.com/office/powerpoint/2010/main" val="3894165598"/>
              </p:ext>
            </p:extLst>
          </p:nvPr>
        </p:nvGraphicFramePr>
        <p:xfrm>
          <a:off x="1088487" y="4034739"/>
          <a:ext cx="9259473" cy="2803920"/>
        </p:xfrm>
        <a:graphic>
          <a:graphicData uri="http://schemas.openxmlformats.org/drawingml/2006/table">
            <a:tbl>
              <a:tblPr>
                <a:noFill/>
                <a:effectLst>
                  <a:outerShdw blurRad="50800" dist="38100" dir="5400000" algn="t" rotWithShape="0">
                    <a:prstClr val="black">
                      <a:alpha val="40000"/>
                    </a:prstClr>
                  </a:outerShdw>
                </a:effectLst>
              </a:tblPr>
              <a:tblGrid>
                <a:gridCol w="2683367">
                  <a:extLst>
                    <a:ext uri="{9D8B030D-6E8A-4147-A177-3AD203B41FA5}">
                      <a16:colId xmlns:a16="http://schemas.microsoft.com/office/drawing/2014/main" val="20000"/>
                    </a:ext>
                  </a:extLst>
                </a:gridCol>
                <a:gridCol w="6576106">
                  <a:extLst>
                    <a:ext uri="{9D8B030D-6E8A-4147-A177-3AD203B41FA5}">
                      <a16:colId xmlns:a16="http://schemas.microsoft.com/office/drawing/2014/main" val="20001"/>
                    </a:ext>
                  </a:extLst>
                </a:gridCol>
              </a:tblGrid>
              <a:tr h="324000">
                <a:tc>
                  <a:txBody>
                    <a:bodyPr/>
                    <a:lstStyle/>
                    <a:p>
                      <a:pPr marL="0" lvl="0" indent="0" algn="l" rtl="0">
                        <a:spcBef>
                          <a:spcPts val="0"/>
                        </a:spcBef>
                        <a:spcAft>
                          <a:spcPts val="0"/>
                        </a:spcAft>
                        <a:buNone/>
                      </a:pPr>
                      <a:r>
                        <a:rPr lang="en-MY" sz="1100" b="1" dirty="0">
                          <a:solidFill>
                            <a:schemeClr val="dk1"/>
                          </a:solidFill>
                          <a:latin typeface="+mn-lt"/>
                          <a:ea typeface="Oswald"/>
                          <a:cs typeface="Oswald"/>
                          <a:sym typeface="Oswald"/>
                        </a:rPr>
                        <a:t>1. </a:t>
                      </a:r>
                      <a:r>
                        <a:rPr lang="en-MY" sz="1100" b="1" dirty="0" err="1">
                          <a:solidFill>
                            <a:schemeClr val="dk1"/>
                          </a:solidFill>
                          <a:latin typeface="+mn-lt"/>
                          <a:ea typeface="Oswald"/>
                          <a:cs typeface="Oswald"/>
                          <a:sym typeface="Oswald"/>
                        </a:rPr>
                        <a:t>DateTime</a:t>
                      </a:r>
                      <a:endParaRPr lang="en-MY" sz="1100" b="1" dirty="0">
                        <a:solidFill>
                          <a:schemeClr val="dk1"/>
                        </a:solidFill>
                        <a:latin typeface="+mn-lt"/>
                        <a:ea typeface="Oswald"/>
                        <a:cs typeface="Oswald"/>
                        <a:sym typeface="Oswald"/>
                      </a:endParaRPr>
                    </a:p>
                  </a:txBody>
                  <a:tcPr marL="91425" marR="91425" marT="91425"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lgn="ctr">
                      <a:solidFill>
                        <a:schemeClr val="accent2"/>
                      </a:solidFill>
                      <a:prstDash val="solid"/>
                      <a:round/>
                      <a:headEnd type="none" w="sm" len="sm"/>
                      <a:tailEnd type="none" w="sm" len="sm"/>
                    </a:lnB>
                  </a:tcPr>
                </a:tc>
                <a:tc>
                  <a:txBody>
                    <a:bodyPr/>
                    <a:lstStyle/>
                    <a:p>
                      <a:pPr marL="0" lvl="0" indent="0" algn="l" rtl="0">
                        <a:spcBef>
                          <a:spcPts val="0"/>
                        </a:spcBef>
                        <a:spcAft>
                          <a:spcPts val="0"/>
                        </a:spcAft>
                        <a:buNone/>
                      </a:pPr>
                      <a:r>
                        <a:rPr lang="en-MY" sz="1100" dirty="0">
                          <a:solidFill>
                            <a:schemeClr val="tx1"/>
                          </a:solidFill>
                          <a:latin typeface="+mn-lt"/>
                          <a:ea typeface="Titillium Web"/>
                          <a:cs typeface="Titillium Web"/>
                          <a:sym typeface="Titillium Web"/>
                        </a:rPr>
                        <a:t>Combine Date and Time to obtain timestamp of the transaction to derive new features related to time.</a:t>
                      </a:r>
                      <a:endParaRPr sz="1100" dirty="0">
                        <a:solidFill>
                          <a:schemeClr val="tx1"/>
                        </a:solidFill>
                        <a:latin typeface="+mn-lt"/>
                        <a:ea typeface="Titillium Web"/>
                        <a:cs typeface="Titillium Web"/>
                        <a:sym typeface="Titillium Web"/>
                      </a:endParaRPr>
                    </a:p>
                  </a:txBody>
                  <a:tcPr marL="91425" marR="91425"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lgn="ctr">
                      <a:solidFill>
                        <a:schemeClr val="accent2"/>
                      </a:solidFill>
                      <a:prstDash val="solid"/>
                      <a:round/>
                      <a:headEnd type="none" w="sm" len="sm"/>
                      <a:tailEnd type="none" w="sm" len="sm"/>
                    </a:lnB>
                  </a:tcPr>
                </a:tc>
                <a:extLst>
                  <a:ext uri="{0D108BD9-81ED-4DB2-BD59-A6C34878D82A}">
                    <a16:rowId xmlns:a16="http://schemas.microsoft.com/office/drawing/2014/main" val="2449489771"/>
                  </a:ext>
                </a:extLst>
              </a:tr>
              <a:tr h="324000">
                <a:tc>
                  <a:txBody>
                    <a:bodyPr/>
                    <a:lstStyle/>
                    <a:p>
                      <a:pPr marL="0" lvl="0" indent="0" algn="l" rtl="0">
                        <a:spcBef>
                          <a:spcPts val="0"/>
                        </a:spcBef>
                        <a:spcAft>
                          <a:spcPts val="0"/>
                        </a:spcAft>
                        <a:buNone/>
                      </a:pPr>
                      <a:r>
                        <a:rPr lang="en-MY" sz="1100" b="1" dirty="0">
                          <a:solidFill>
                            <a:schemeClr val="dk1"/>
                          </a:solidFill>
                          <a:latin typeface="+mn-lt"/>
                          <a:ea typeface="Oswald"/>
                          <a:cs typeface="Oswald"/>
                          <a:sym typeface="Oswald"/>
                        </a:rPr>
                        <a:t>1. </a:t>
                      </a:r>
                      <a:r>
                        <a:rPr lang="en-MY" sz="1100" b="1" dirty="0" err="1">
                          <a:solidFill>
                            <a:schemeClr val="dk1"/>
                          </a:solidFill>
                          <a:latin typeface="+mn-lt"/>
                          <a:ea typeface="Oswald"/>
                          <a:cs typeface="Oswald"/>
                          <a:sym typeface="Oswald"/>
                        </a:rPr>
                        <a:t>TimeOfDay</a:t>
                      </a:r>
                      <a:endParaRPr lang="en-MY" sz="1100" b="1" dirty="0">
                        <a:solidFill>
                          <a:schemeClr val="dk1"/>
                        </a:solidFill>
                        <a:latin typeface="+mn-lt"/>
                        <a:ea typeface="Oswald"/>
                        <a:cs typeface="Oswald"/>
                        <a:sym typeface="Oswald"/>
                      </a:endParaRPr>
                    </a:p>
                  </a:txBody>
                  <a:tcPr marL="91425" marR="91425" marT="91425"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19050" cap="flat" cmpd="sng" algn="ctr">
                      <a:solidFill>
                        <a:schemeClr val="accent2"/>
                      </a:solidFill>
                      <a:prstDash val="solid"/>
                      <a:round/>
                      <a:headEnd type="none" w="sm" len="sm"/>
                      <a:tailEnd type="none" w="sm" len="sm"/>
                    </a:lnT>
                    <a:lnB w="19050" cap="flat" cmpd="sng" algn="ctr">
                      <a:solidFill>
                        <a:schemeClr val="accent2"/>
                      </a:solidFill>
                      <a:prstDash val="solid"/>
                      <a:round/>
                      <a:headEnd type="none" w="sm" len="sm"/>
                      <a:tailEnd type="none" w="sm" len="sm"/>
                    </a:lnB>
                  </a:tcPr>
                </a:tc>
                <a:tc>
                  <a:txBody>
                    <a:bodyPr/>
                    <a:lstStyle/>
                    <a:p>
                      <a:pPr marL="0" lvl="0" indent="0" algn="l" rtl="0">
                        <a:spcBef>
                          <a:spcPts val="0"/>
                        </a:spcBef>
                        <a:spcAft>
                          <a:spcPts val="0"/>
                        </a:spcAft>
                        <a:buNone/>
                      </a:pPr>
                      <a:r>
                        <a:rPr lang="de" sz="1100" dirty="0">
                          <a:solidFill>
                            <a:schemeClr val="tx1"/>
                          </a:solidFill>
                          <a:latin typeface="+mn-lt"/>
                          <a:ea typeface="Titillium Web"/>
                          <a:cs typeface="Titillium Web"/>
                          <a:sym typeface="Titillium Web"/>
                        </a:rPr>
                        <a:t>Indicates whether it is </a:t>
                      </a:r>
                      <a:r>
                        <a:rPr lang="en-MY" sz="1100" kern="1200" dirty="0">
                          <a:solidFill>
                            <a:schemeClr val="tx1"/>
                          </a:solidFill>
                          <a:latin typeface="+mn-lt"/>
                          <a:ea typeface="Calibri" panose="020F0502020204030204" pitchFamily="34" charset="0"/>
                          <a:cs typeface="Arial" panose="020B0604020202020204" pitchFamily="34" charset="0"/>
                        </a:rPr>
                        <a:t>‘Day’ </a:t>
                      </a:r>
                      <a:r>
                        <a:rPr lang="de" sz="1100" dirty="0">
                          <a:solidFill>
                            <a:schemeClr val="tx1"/>
                          </a:solidFill>
                          <a:latin typeface="+mn-lt"/>
                          <a:ea typeface="Titillium Web"/>
                          <a:cs typeface="Titillium Web"/>
                          <a:sym typeface="Titillium Web"/>
                        </a:rPr>
                        <a:t>(6AM to 6PM) or </a:t>
                      </a:r>
                      <a:r>
                        <a:rPr lang="en-MY" sz="1100" kern="1200" dirty="0">
                          <a:solidFill>
                            <a:schemeClr val="tx1"/>
                          </a:solidFill>
                          <a:latin typeface="+mn-lt"/>
                          <a:ea typeface="Calibri" panose="020F0502020204030204" pitchFamily="34" charset="0"/>
                          <a:cs typeface="Arial" panose="020B0604020202020204" pitchFamily="34" charset="0"/>
                        </a:rPr>
                        <a:t>‘Night’ </a:t>
                      </a:r>
                      <a:r>
                        <a:rPr lang="de" sz="1100" dirty="0">
                          <a:solidFill>
                            <a:schemeClr val="tx1"/>
                          </a:solidFill>
                          <a:latin typeface="+mn-lt"/>
                          <a:ea typeface="Titillium Web"/>
                          <a:cs typeface="Titillium Web"/>
                          <a:sym typeface="Titillium Web"/>
                        </a:rPr>
                        <a:t> 6PM to 6 AM.</a:t>
                      </a:r>
                      <a:endParaRPr sz="1100" dirty="0">
                        <a:solidFill>
                          <a:schemeClr val="tx1"/>
                        </a:solidFill>
                        <a:latin typeface="+mn-lt"/>
                        <a:ea typeface="Titillium Web"/>
                        <a:cs typeface="Titillium Web"/>
                        <a:sym typeface="Titillium Web"/>
                      </a:endParaRPr>
                    </a:p>
                  </a:txBody>
                  <a:tcPr marL="91425" marR="91425"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19050" cap="flat" cmpd="sng" algn="ctr">
                      <a:solidFill>
                        <a:schemeClr val="accent2"/>
                      </a:solidFill>
                      <a:prstDash val="solid"/>
                      <a:round/>
                      <a:headEnd type="none" w="sm" len="sm"/>
                      <a:tailEnd type="none" w="sm" len="sm"/>
                    </a:lnT>
                    <a:lnB w="19050" cap="flat" cmpd="sng" algn="ctr">
                      <a:solidFill>
                        <a:schemeClr val="accent2"/>
                      </a:solidFill>
                      <a:prstDash val="solid"/>
                      <a:round/>
                      <a:headEnd type="none" w="sm" len="sm"/>
                      <a:tailEnd type="none" w="sm" len="sm"/>
                    </a:lnB>
                  </a:tcPr>
                </a:tc>
                <a:extLst>
                  <a:ext uri="{0D108BD9-81ED-4DB2-BD59-A6C34878D82A}">
                    <a16:rowId xmlns:a16="http://schemas.microsoft.com/office/drawing/2014/main" val="10001"/>
                  </a:ext>
                </a:extLst>
              </a:tr>
              <a:tr h="324000">
                <a:tc>
                  <a:txBody>
                    <a:bodyPr/>
                    <a:lstStyle/>
                    <a:p>
                      <a:pPr marL="0" lvl="0" indent="0" algn="l" rtl="0">
                        <a:spcBef>
                          <a:spcPts val="0"/>
                        </a:spcBef>
                        <a:spcAft>
                          <a:spcPts val="0"/>
                        </a:spcAft>
                        <a:buNone/>
                      </a:pPr>
                      <a:r>
                        <a:rPr lang="en-MY" sz="1100" b="1" dirty="0">
                          <a:solidFill>
                            <a:schemeClr val="dk1"/>
                          </a:solidFill>
                          <a:latin typeface="+mn-lt"/>
                          <a:ea typeface="Oswald"/>
                          <a:cs typeface="Oswald"/>
                          <a:sym typeface="Oswald"/>
                        </a:rPr>
                        <a:t>2. </a:t>
                      </a:r>
                      <a:r>
                        <a:rPr lang="en-MY" sz="1100" b="1" dirty="0" err="1">
                          <a:solidFill>
                            <a:schemeClr val="dk1"/>
                          </a:solidFill>
                          <a:latin typeface="+mn-lt"/>
                          <a:ea typeface="Oswald"/>
                          <a:cs typeface="Oswald"/>
                          <a:sym typeface="Oswald"/>
                        </a:rPr>
                        <a:t>Is_Weekend</a:t>
                      </a:r>
                      <a:endParaRPr lang="en-MY" sz="1100" b="1" dirty="0">
                        <a:solidFill>
                          <a:schemeClr val="dk1"/>
                        </a:solidFill>
                        <a:latin typeface="+mn-lt"/>
                        <a:ea typeface="Oswald"/>
                        <a:cs typeface="Oswald"/>
                        <a:sym typeface="Oswald"/>
                      </a:endParaRPr>
                    </a:p>
                  </a:txBody>
                  <a:tcPr marL="91425" marR="91425" marT="91425"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lgn="ctr">
                      <a:solidFill>
                        <a:schemeClr val="accent2"/>
                      </a:solidFill>
                      <a:prstDash val="solid"/>
                      <a:round/>
                      <a:headEnd type="none" w="sm" len="sm"/>
                      <a:tailEnd type="none" w="sm" len="sm"/>
                    </a:lnB>
                  </a:tcPr>
                </a:tc>
                <a:tc>
                  <a:txBody>
                    <a:bodyPr/>
                    <a:lstStyle/>
                    <a:p>
                      <a:pPr marL="0" lvl="0" indent="0" algn="l" rtl="0">
                        <a:spcBef>
                          <a:spcPts val="0"/>
                        </a:spcBef>
                        <a:spcAft>
                          <a:spcPts val="0"/>
                        </a:spcAft>
                        <a:buNone/>
                      </a:pPr>
                      <a:r>
                        <a:rPr lang="en-MY" sz="1100" dirty="0">
                          <a:solidFill>
                            <a:schemeClr val="tx1"/>
                          </a:solidFill>
                          <a:latin typeface="+mn-lt"/>
                          <a:ea typeface="Titillium Web"/>
                          <a:cs typeface="Titillium Web"/>
                          <a:sym typeface="Titillium Web"/>
                        </a:rPr>
                        <a:t>Assign ‘1’ if weekend, ‘0’ if weekday.</a:t>
                      </a:r>
                      <a:endParaRPr sz="1100" dirty="0">
                        <a:solidFill>
                          <a:schemeClr val="tx1"/>
                        </a:solidFill>
                        <a:latin typeface="+mn-lt"/>
                        <a:ea typeface="Titillium Web"/>
                        <a:cs typeface="Titillium Web"/>
                        <a:sym typeface="Titillium Web"/>
                      </a:endParaRPr>
                    </a:p>
                  </a:txBody>
                  <a:tcPr marL="91425" marR="91425"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lgn="ctr">
                      <a:solidFill>
                        <a:schemeClr val="accent2"/>
                      </a:solidFill>
                      <a:prstDash val="solid"/>
                      <a:round/>
                      <a:headEnd type="none" w="sm" len="sm"/>
                      <a:tailEnd type="none" w="sm" len="sm"/>
                    </a:lnB>
                  </a:tcPr>
                </a:tc>
                <a:extLst>
                  <a:ext uri="{0D108BD9-81ED-4DB2-BD59-A6C34878D82A}">
                    <a16:rowId xmlns:a16="http://schemas.microsoft.com/office/drawing/2014/main" val="930366090"/>
                  </a:ext>
                </a:extLst>
              </a:tr>
              <a:tr h="324000">
                <a:tc>
                  <a:txBody>
                    <a:bodyPr/>
                    <a:lstStyle/>
                    <a:p>
                      <a:pPr marL="0" lvl="0" indent="0" algn="l" rtl="0">
                        <a:spcBef>
                          <a:spcPts val="0"/>
                        </a:spcBef>
                        <a:spcAft>
                          <a:spcPts val="0"/>
                        </a:spcAft>
                        <a:buNone/>
                      </a:pPr>
                      <a:r>
                        <a:rPr lang="en-MY" sz="1100" b="1" dirty="0">
                          <a:solidFill>
                            <a:schemeClr val="dk1"/>
                          </a:solidFill>
                          <a:latin typeface="+mn-lt"/>
                          <a:ea typeface="Oswald"/>
                          <a:cs typeface="Oswald"/>
                          <a:sym typeface="Oswald"/>
                        </a:rPr>
                        <a:t>3. </a:t>
                      </a:r>
                      <a:r>
                        <a:rPr lang="en-MY" sz="1100" b="1" dirty="0" err="1">
                          <a:solidFill>
                            <a:schemeClr val="dk1"/>
                          </a:solidFill>
                          <a:latin typeface="+mn-lt"/>
                          <a:ea typeface="Oswald"/>
                          <a:cs typeface="Oswald"/>
                          <a:sym typeface="Oswald"/>
                        </a:rPr>
                        <a:t>Tx_per_Day</a:t>
                      </a:r>
                      <a:endParaRPr lang="en-MY" sz="1100" b="1" dirty="0">
                        <a:solidFill>
                          <a:schemeClr val="dk1"/>
                        </a:solidFill>
                        <a:latin typeface="+mn-lt"/>
                        <a:ea typeface="Oswald"/>
                        <a:cs typeface="Oswald"/>
                        <a:sym typeface="Oswald"/>
                      </a:endParaRPr>
                    </a:p>
                  </a:txBody>
                  <a:tcPr marL="91425" marR="91425" marT="91425"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lgn="ctr">
                      <a:solidFill>
                        <a:schemeClr val="accent2"/>
                      </a:solidFill>
                      <a:prstDash val="solid"/>
                      <a:round/>
                      <a:headEnd type="none" w="sm" len="sm"/>
                      <a:tailEnd type="none" w="sm" len="sm"/>
                    </a:lnB>
                  </a:tcPr>
                </a:tc>
                <a:tc>
                  <a:txBody>
                    <a:bodyPr/>
                    <a:lstStyle/>
                    <a:p>
                      <a:pPr marL="0" lvl="0" indent="0" algn="l" rtl="0">
                        <a:spcBef>
                          <a:spcPts val="0"/>
                        </a:spcBef>
                        <a:spcAft>
                          <a:spcPts val="0"/>
                        </a:spcAft>
                        <a:buNone/>
                      </a:pPr>
                      <a:r>
                        <a:rPr lang="en-MY" sz="1100" dirty="0">
                          <a:solidFill>
                            <a:schemeClr val="tx1"/>
                          </a:solidFill>
                          <a:latin typeface="+mn-lt"/>
                          <a:ea typeface="Titillium Web"/>
                          <a:cs typeface="Titillium Web"/>
                          <a:sym typeface="Titillium Web"/>
                        </a:rPr>
                        <a:t>Daily transaction frequency per sender.</a:t>
                      </a:r>
                      <a:endParaRPr sz="1100" dirty="0">
                        <a:solidFill>
                          <a:schemeClr val="tx1"/>
                        </a:solidFill>
                        <a:latin typeface="+mn-lt"/>
                        <a:ea typeface="Titillium Web"/>
                        <a:cs typeface="Titillium Web"/>
                        <a:sym typeface="Titillium Web"/>
                      </a:endParaRPr>
                    </a:p>
                  </a:txBody>
                  <a:tcPr marL="91425" marR="91425"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lgn="ctr">
                      <a:solidFill>
                        <a:schemeClr val="accent2"/>
                      </a:solidFill>
                      <a:prstDash val="solid"/>
                      <a:round/>
                      <a:headEnd type="none" w="sm" len="sm"/>
                      <a:tailEnd type="none" w="sm" len="sm"/>
                    </a:lnB>
                  </a:tcPr>
                </a:tc>
                <a:extLst>
                  <a:ext uri="{0D108BD9-81ED-4DB2-BD59-A6C34878D82A}">
                    <a16:rowId xmlns:a16="http://schemas.microsoft.com/office/drawing/2014/main" val="1481573801"/>
                  </a:ext>
                </a:extLst>
              </a:tr>
              <a:tr h="324000">
                <a:tc>
                  <a:txBody>
                    <a:bodyPr/>
                    <a:lstStyle/>
                    <a:p>
                      <a:pPr marL="0" lvl="0" indent="0" algn="l" rtl="0">
                        <a:spcBef>
                          <a:spcPts val="0"/>
                        </a:spcBef>
                        <a:spcAft>
                          <a:spcPts val="0"/>
                        </a:spcAft>
                        <a:buNone/>
                      </a:pPr>
                      <a:r>
                        <a:rPr lang="en-MY" sz="1100" b="1" dirty="0">
                          <a:solidFill>
                            <a:schemeClr val="dk1"/>
                          </a:solidFill>
                          <a:latin typeface="+mn-lt"/>
                          <a:ea typeface="Oswald"/>
                          <a:cs typeface="Oswald"/>
                          <a:sym typeface="Oswald"/>
                        </a:rPr>
                        <a:t>4. </a:t>
                      </a:r>
                      <a:r>
                        <a:rPr lang="en-MY" sz="1100" b="1" dirty="0" err="1">
                          <a:solidFill>
                            <a:schemeClr val="dk1"/>
                          </a:solidFill>
                          <a:latin typeface="+mn-lt"/>
                          <a:ea typeface="Oswald"/>
                          <a:cs typeface="Oswald"/>
                          <a:sym typeface="Oswald"/>
                        </a:rPr>
                        <a:t>Tx_Interval</a:t>
                      </a:r>
                      <a:endParaRPr lang="en-MY" sz="1100" b="1" dirty="0">
                        <a:solidFill>
                          <a:schemeClr val="dk1"/>
                        </a:solidFill>
                        <a:latin typeface="+mn-lt"/>
                        <a:ea typeface="Oswald"/>
                        <a:cs typeface="Oswald"/>
                        <a:sym typeface="Oswald"/>
                      </a:endParaRPr>
                    </a:p>
                  </a:txBody>
                  <a:tcPr marL="91425" marR="91425" marT="91425"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lgn="ctr">
                      <a:solidFill>
                        <a:schemeClr val="accent2"/>
                      </a:solidFill>
                      <a:prstDash val="solid"/>
                      <a:round/>
                      <a:headEnd type="none" w="sm" len="sm"/>
                      <a:tailEnd type="none" w="sm" len="sm"/>
                    </a:lnB>
                  </a:tcPr>
                </a:tc>
                <a:tc>
                  <a:txBody>
                    <a:bodyPr/>
                    <a:lstStyle/>
                    <a:p>
                      <a:pPr marL="0" lvl="0" indent="0" algn="l" rtl="0">
                        <a:spcBef>
                          <a:spcPts val="0"/>
                        </a:spcBef>
                        <a:spcAft>
                          <a:spcPts val="0"/>
                        </a:spcAft>
                        <a:buNone/>
                      </a:pPr>
                      <a:r>
                        <a:rPr lang="en-MY" sz="1100" dirty="0">
                          <a:solidFill>
                            <a:schemeClr val="tx1"/>
                          </a:solidFill>
                          <a:latin typeface="+mn-lt"/>
                          <a:ea typeface="Titillium Web"/>
                          <a:cs typeface="Titillium Web"/>
                          <a:sym typeface="Titillium Web"/>
                        </a:rPr>
                        <a:t>Transactions interval from previous transactions grouped by sender (in sec).</a:t>
                      </a:r>
                      <a:endParaRPr sz="1100" dirty="0">
                        <a:solidFill>
                          <a:schemeClr val="tx1"/>
                        </a:solidFill>
                        <a:latin typeface="+mn-lt"/>
                        <a:ea typeface="Titillium Web"/>
                        <a:cs typeface="Titillium Web"/>
                        <a:sym typeface="Titillium Web"/>
                      </a:endParaRPr>
                    </a:p>
                  </a:txBody>
                  <a:tcPr marL="91425" marR="91425"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lgn="ctr">
                      <a:solidFill>
                        <a:schemeClr val="accent2"/>
                      </a:solidFill>
                      <a:prstDash val="solid"/>
                      <a:round/>
                      <a:headEnd type="none" w="sm" len="sm"/>
                      <a:tailEnd type="none" w="sm" len="sm"/>
                    </a:lnB>
                  </a:tcPr>
                </a:tc>
                <a:extLst>
                  <a:ext uri="{0D108BD9-81ED-4DB2-BD59-A6C34878D82A}">
                    <a16:rowId xmlns:a16="http://schemas.microsoft.com/office/drawing/2014/main" val="2668974652"/>
                  </a:ext>
                </a:extLst>
              </a:tr>
              <a:tr h="324000">
                <a:tc>
                  <a:txBody>
                    <a:bodyPr/>
                    <a:lstStyle/>
                    <a:p>
                      <a:pPr marL="0" lvl="0" indent="0" algn="l" rtl="0">
                        <a:spcBef>
                          <a:spcPts val="0"/>
                        </a:spcBef>
                        <a:spcAft>
                          <a:spcPts val="0"/>
                        </a:spcAft>
                        <a:buNone/>
                      </a:pPr>
                      <a:r>
                        <a:rPr lang="en-MY" sz="1100" b="1" dirty="0">
                          <a:solidFill>
                            <a:schemeClr val="dk1"/>
                          </a:solidFill>
                          <a:latin typeface="+mn-lt"/>
                          <a:ea typeface="Oswald"/>
                          <a:cs typeface="Oswald"/>
                          <a:sym typeface="Oswald"/>
                        </a:rPr>
                        <a:t>5. </a:t>
                      </a:r>
                      <a:r>
                        <a:rPr lang="en-MY" sz="1100" b="1" dirty="0" err="1">
                          <a:solidFill>
                            <a:schemeClr val="dk1"/>
                          </a:solidFill>
                          <a:latin typeface="+mn-lt"/>
                          <a:ea typeface="Oswald"/>
                          <a:cs typeface="Oswald"/>
                          <a:sym typeface="Oswald"/>
                        </a:rPr>
                        <a:t>Avg_Amount_Sent</a:t>
                      </a:r>
                      <a:endParaRPr lang="en-MY" sz="1100" b="1" dirty="0">
                        <a:solidFill>
                          <a:schemeClr val="dk1"/>
                        </a:solidFill>
                        <a:latin typeface="+mn-lt"/>
                        <a:ea typeface="Oswald"/>
                        <a:cs typeface="Oswald"/>
                        <a:sym typeface="Oswald"/>
                      </a:endParaRPr>
                    </a:p>
                  </a:txBody>
                  <a:tcPr marL="91425" marR="91425" marT="91425"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lgn="ctr">
                      <a:solidFill>
                        <a:schemeClr val="accent2"/>
                      </a:solidFill>
                      <a:prstDash val="solid"/>
                      <a:round/>
                      <a:headEnd type="none" w="sm" len="sm"/>
                      <a:tailEnd type="none" w="sm" len="sm"/>
                    </a:lnB>
                  </a:tcPr>
                </a:tc>
                <a:tc>
                  <a:txBody>
                    <a:bodyPr/>
                    <a:lstStyle/>
                    <a:p>
                      <a:pPr marL="0" lvl="0" indent="0" algn="l" rtl="0">
                        <a:spcBef>
                          <a:spcPts val="0"/>
                        </a:spcBef>
                        <a:spcAft>
                          <a:spcPts val="0"/>
                        </a:spcAft>
                        <a:buNone/>
                      </a:pPr>
                      <a:r>
                        <a:rPr lang="en-MY" sz="1100" dirty="0">
                          <a:solidFill>
                            <a:schemeClr val="tx1"/>
                          </a:solidFill>
                          <a:latin typeface="+mn-lt"/>
                          <a:ea typeface="Titillium Web"/>
                          <a:cs typeface="Titillium Web"/>
                          <a:sym typeface="Titillium Web"/>
                        </a:rPr>
                        <a:t>Average transaction amount per sender.</a:t>
                      </a:r>
                      <a:endParaRPr sz="1100" dirty="0">
                        <a:solidFill>
                          <a:schemeClr val="tx1"/>
                        </a:solidFill>
                        <a:latin typeface="+mn-lt"/>
                        <a:ea typeface="Titillium Web"/>
                        <a:cs typeface="Titillium Web"/>
                        <a:sym typeface="Titillium Web"/>
                      </a:endParaRPr>
                    </a:p>
                  </a:txBody>
                  <a:tcPr marL="91425" marR="91425"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lgn="ctr">
                      <a:solidFill>
                        <a:schemeClr val="accent2"/>
                      </a:solidFill>
                      <a:prstDash val="solid"/>
                      <a:round/>
                      <a:headEnd type="none" w="sm" len="sm"/>
                      <a:tailEnd type="none" w="sm" len="sm"/>
                    </a:lnB>
                  </a:tcPr>
                </a:tc>
                <a:extLst>
                  <a:ext uri="{0D108BD9-81ED-4DB2-BD59-A6C34878D82A}">
                    <a16:rowId xmlns:a16="http://schemas.microsoft.com/office/drawing/2014/main" val="3948776955"/>
                  </a:ext>
                </a:extLst>
              </a:tr>
              <a:tr h="324000">
                <a:tc>
                  <a:txBody>
                    <a:bodyPr/>
                    <a:lstStyle/>
                    <a:p>
                      <a:pPr marL="0" lvl="0" indent="0" algn="l" rtl="0">
                        <a:spcBef>
                          <a:spcPts val="0"/>
                        </a:spcBef>
                        <a:spcAft>
                          <a:spcPts val="0"/>
                        </a:spcAft>
                        <a:buNone/>
                      </a:pPr>
                      <a:r>
                        <a:rPr lang="en-MY" sz="1100" b="1" dirty="0">
                          <a:solidFill>
                            <a:schemeClr val="dk1"/>
                          </a:solidFill>
                          <a:latin typeface="+mn-lt"/>
                          <a:ea typeface="Oswald"/>
                          <a:cs typeface="Oswald"/>
                          <a:sym typeface="Oswald"/>
                        </a:rPr>
                        <a:t>6. </a:t>
                      </a:r>
                      <a:r>
                        <a:rPr lang="en-MY" sz="1100" b="1" dirty="0" err="1">
                          <a:solidFill>
                            <a:schemeClr val="dk1"/>
                          </a:solidFill>
                          <a:latin typeface="+mn-lt"/>
                          <a:ea typeface="Oswald"/>
                          <a:cs typeface="Oswald"/>
                          <a:sym typeface="Oswald"/>
                        </a:rPr>
                        <a:t>Pair_bank_location</a:t>
                      </a:r>
                      <a:endParaRPr lang="en-MY" sz="1100" b="1" dirty="0">
                        <a:solidFill>
                          <a:schemeClr val="dk1"/>
                        </a:solidFill>
                        <a:latin typeface="+mn-lt"/>
                        <a:ea typeface="Oswald"/>
                        <a:cs typeface="Oswald"/>
                        <a:sym typeface="Oswald"/>
                      </a:endParaRPr>
                    </a:p>
                  </a:txBody>
                  <a:tcPr marL="91425" marR="91425" marT="91425"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lgn="ctr">
                      <a:solidFill>
                        <a:schemeClr val="accent2"/>
                      </a:solidFill>
                      <a:prstDash val="solid"/>
                      <a:round/>
                      <a:headEnd type="none" w="sm" len="sm"/>
                      <a:tailEnd type="none" w="sm" len="sm"/>
                    </a:lnB>
                  </a:tcPr>
                </a:tc>
                <a:tc>
                  <a:txBody>
                    <a:bodyPr/>
                    <a:lstStyle/>
                    <a:p>
                      <a:pPr marL="0" lvl="0" indent="0" algn="l" rtl="0">
                        <a:spcBef>
                          <a:spcPts val="0"/>
                        </a:spcBef>
                        <a:spcAft>
                          <a:spcPts val="0"/>
                        </a:spcAft>
                        <a:buNone/>
                      </a:pPr>
                      <a:r>
                        <a:rPr lang="en-MY" sz="1100" dirty="0">
                          <a:solidFill>
                            <a:schemeClr val="tx1"/>
                          </a:solidFill>
                          <a:latin typeface="+mn-lt"/>
                          <a:ea typeface="Titillium Web"/>
                          <a:cs typeface="Titillium Web"/>
                          <a:sym typeface="Titillium Web"/>
                        </a:rPr>
                        <a:t>Combine Sender Bank Location and Receiver Bank Location.</a:t>
                      </a:r>
                      <a:endParaRPr sz="1100" dirty="0">
                        <a:solidFill>
                          <a:schemeClr val="tx1"/>
                        </a:solidFill>
                        <a:latin typeface="+mn-lt"/>
                        <a:ea typeface="Titillium Web"/>
                        <a:cs typeface="Titillium Web"/>
                        <a:sym typeface="Titillium Web"/>
                      </a:endParaRPr>
                    </a:p>
                  </a:txBody>
                  <a:tcPr marL="91425" marR="91425"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lgn="ctr">
                      <a:solidFill>
                        <a:schemeClr val="accent2"/>
                      </a:solidFill>
                      <a:prstDash val="solid"/>
                      <a:round/>
                      <a:headEnd type="none" w="sm" len="sm"/>
                      <a:tailEnd type="none" w="sm" len="sm"/>
                    </a:lnB>
                  </a:tcPr>
                </a:tc>
                <a:extLst>
                  <a:ext uri="{0D108BD9-81ED-4DB2-BD59-A6C34878D82A}">
                    <a16:rowId xmlns:a16="http://schemas.microsoft.com/office/drawing/2014/main" val="1419260094"/>
                  </a:ext>
                </a:extLst>
              </a:tr>
              <a:tr h="324000">
                <a:tc>
                  <a:txBody>
                    <a:bodyPr/>
                    <a:lstStyle/>
                    <a:p>
                      <a:pPr marL="0" lvl="0" indent="0" algn="l" rtl="0">
                        <a:spcBef>
                          <a:spcPts val="0"/>
                        </a:spcBef>
                        <a:spcAft>
                          <a:spcPts val="0"/>
                        </a:spcAft>
                        <a:buNone/>
                      </a:pPr>
                      <a:r>
                        <a:rPr lang="en-MY" sz="1100" b="1" dirty="0">
                          <a:solidFill>
                            <a:schemeClr val="dk1"/>
                          </a:solidFill>
                          <a:latin typeface="+mn-lt"/>
                          <a:ea typeface="Oswald"/>
                          <a:cs typeface="Oswald"/>
                          <a:sym typeface="Oswald"/>
                        </a:rPr>
                        <a:t>7. </a:t>
                      </a:r>
                      <a:r>
                        <a:rPr lang="en-MY" sz="1100" b="1" dirty="0" err="1">
                          <a:solidFill>
                            <a:schemeClr val="dk1"/>
                          </a:solidFill>
                          <a:latin typeface="+mn-lt"/>
                          <a:ea typeface="Oswald"/>
                          <a:cs typeface="Oswald"/>
                          <a:sym typeface="Oswald"/>
                        </a:rPr>
                        <a:t>Pair_currency</a:t>
                      </a:r>
                      <a:endParaRPr lang="en-MY" sz="1100" b="1" dirty="0">
                        <a:solidFill>
                          <a:schemeClr val="dk1"/>
                        </a:solidFill>
                        <a:latin typeface="+mn-lt"/>
                        <a:ea typeface="Oswald"/>
                        <a:cs typeface="Oswald"/>
                        <a:sym typeface="Oswald"/>
                      </a:endParaRPr>
                    </a:p>
                  </a:txBody>
                  <a:tcPr marL="91425" marR="91425" marT="91425" marB="91425">
                    <a:lnL w="9525" cap="flat" cmpd="sng">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r>
                        <a:rPr lang="en-MY" sz="1100" dirty="0">
                          <a:solidFill>
                            <a:schemeClr val="tx1"/>
                          </a:solidFill>
                          <a:latin typeface="+mn-lt"/>
                          <a:ea typeface="Titillium Web"/>
                          <a:cs typeface="Titillium Web"/>
                          <a:sym typeface="Titillium Web"/>
                        </a:rPr>
                        <a:t>Combine Payment Currency and Received Currency.</a:t>
                      </a:r>
                      <a:endParaRPr sz="1100" dirty="0">
                        <a:solidFill>
                          <a:schemeClr val="tx1"/>
                        </a:solidFill>
                        <a:latin typeface="+mn-lt"/>
                        <a:ea typeface="Titillium Web"/>
                        <a:cs typeface="Titillium Web"/>
                        <a:sym typeface="Titillium Web"/>
                      </a:endParaRPr>
                    </a:p>
                  </a:txBody>
                  <a:tcPr marL="91425" marR="91425" marT="91425" marB="91425">
                    <a:lnL w="9525" cap="flat" cmpd="sng" algn="ctr">
                      <a:solidFill>
                        <a:srgbClr val="9E9E9E">
                          <a:alpha val="0"/>
                        </a:srgbClr>
                      </a:solidFill>
                      <a:prstDash val="solid"/>
                      <a:round/>
                      <a:headEnd type="none" w="sm" len="sm"/>
                      <a:tailEnd type="none" w="sm" len="sm"/>
                    </a:lnL>
                    <a:lnR w="9525" cap="flat" cmpd="sng" algn="ctr">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4165503695"/>
                  </a:ext>
                </a:extLst>
              </a:tr>
            </a:tbl>
          </a:graphicData>
        </a:graphic>
      </p:graphicFrame>
    </p:spTree>
    <p:extLst>
      <p:ext uri="{BB962C8B-B14F-4D97-AF65-F5344CB8AC3E}">
        <p14:creationId xmlns:p14="http://schemas.microsoft.com/office/powerpoint/2010/main" val="852911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B3260-28AE-1A0B-ECF2-133F79521D14}"/>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45BCEC2C-E604-7FC9-DAC3-1B7EBE85AEC3}"/>
              </a:ext>
            </a:extLst>
          </p:cNvPr>
          <p:cNvSpPr/>
          <p:nvPr/>
        </p:nvSpPr>
        <p:spPr>
          <a:xfrm>
            <a:off x="0" y="385235"/>
            <a:ext cx="10347960"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itle 1">
            <a:extLst>
              <a:ext uri="{FF2B5EF4-FFF2-40B4-BE49-F238E27FC236}">
                <a16:creationId xmlns:a16="http://schemas.microsoft.com/office/drawing/2014/main" id="{9B945995-17AB-5C00-E30E-D9C898D896E2}"/>
              </a:ext>
            </a:extLst>
          </p:cNvPr>
          <p:cNvSpPr txBox="1">
            <a:spLocks/>
          </p:cNvSpPr>
          <p:nvPr/>
        </p:nvSpPr>
        <p:spPr>
          <a:xfrm>
            <a:off x="167389" y="462897"/>
            <a:ext cx="4764617" cy="4635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900" dirty="0">
                <a:solidFill>
                  <a:schemeClr val="bg1"/>
                </a:solidFill>
                <a:effectLst>
                  <a:outerShdw blurRad="38100" dist="38100" dir="2700000" algn="tl">
                    <a:srgbClr val="000000">
                      <a:alpha val="43137"/>
                    </a:srgbClr>
                  </a:outerShdw>
                </a:effectLst>
              </a:rPr>
              <a:t>DATA TRANSFORMATION</a:t>
            </a:r>
          </a:p>
        </p:txBody>
      </p:sp>
      <p:sp>
        <p:nvSpPr>
          <p:cNvPr id="15" name="Google Shape;1897;p101">
            <a:extLst>
              <a:ext uri="{FF2B5EF4-FFF2-40B4-BE49-F238E27FC236}">
                <a16:creationId xmlns:a16="http://schemas.microsoft.com/office/drawing/2014/main" id="{6D4631DB-B3F3-08F0-C631-9F7AADFC1113}"/>
              </a:ext>
            </a:extLst>
          </p:cNvPr>
          <p:cNvSpPr txBox="1"/>
          <p:nvPr/>
        </p:nvSpPr>
        <p:spPr>
          <a:xfrm>
            <a:off x="416097" y="1130160"/>
            <a:ext cx="5066221" cy="431538"/>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CATEGORICAL SIMPLIFICATION</a:t>
            </a:r>
          </a:p>
        </p:txBody>
      </p:sp>
      <p:pic>
        <p:nvPicPr>
          <p:cNvPr id="16" name="Picture 15">
            <a:extLst>
              <a:ext uri="{FF2B5EF4-FFF2-40B4-BE49-F238E27FC236}">
                <a16:creationId xmlns:a16="http://schemas.microsoft.com/office/drawing/2014/main" id="{A8FB9BDB-D367-BFD4-724F-D86A0E1BD631}"/>
              </a:ext>
            </a:extLst>
          </p:cNvPr>
          <p:cNvPicPr>
            <a:picLocks noChangeAspect="1"/>
          </p:cNvPicPr>
          <p:nvPr/>
        </p:nvPicPr>
        <p:blipFill>
          <a:blip r:embed="rId2"/>
          <a:stretch>
            <a:fillRect/>
          </a:stretch>
        </p:blipFill>
        <p:spPr>
          <a:xfrm>
            <a:off x="0" y="1021697"/>
            <a:ext cx="540000" cy="540000"/>
          </a:xfrm>
          <a:prstGeom prst="rect">
            <a:avLst/>
          </a:prstGeom>
        </p:spPr>
      </p:pic>
      <p:graphicFrame>
        <p:nvGraphicFramePr>
          <p:cNvPr id="18" name="Table 17">
            <a:extLst>
              <a:ext uri="{FF2B5EF4-FFF2-40B4-BE49-F238E27FC236}">
                <a16:creationId xmlns:a16="http://schemas.microsoft.com/office/drawing/2014/main" id="{5A64C44A-E9F1-ACAD-A695-86432E931ECF}"/>
              </a:ext>
            </a:extLst>
          </p:cNvPr>
          <p:cNvGraphicFramePr>
            <a:graphicFrameLocks noGrp="1"/>
          </p:cNvGraphicFramePr>
          <p:nvPr>
            <p:extLst>
              <p:ext uri="{D42A27DB-BD31-4B8C-83A1-F6EECF244321}">
                <p14:modId xmlns:p14="http://schemas.microsoft.com/office/powerpoint/2010/main" val="851661589"/>
              </p:ext>
            </p:extLst>
          </p:nvPr>
        </p:nvGraphicFramePr>
        <p:xfrm>
          <a:off x="416097" y="1731090"/>
          <a:ext cx="7954104" cy="4644000"/>
        </p:xfrm>
        <a:graphic>
          <a:graphicData uri="http://schemas.openxmlformats.org/drawingml/2006/table">
            <a:tbl>
              <a:tblPr firstRow="1" firstCol="1" bandRow="1">
                <a:effectLst>
                  <a:outerShdw blurRad="63500" sx="102000" sy="102000" algn="ctr" rotWithShape="0">
                    <a:prstClr val="black">
                      <a:alpha val="40000"/>
                    </a:prstClr>
                  </a:outerShdw>
                </a:effectLst>
                <a:tableStyleId>{125E5076-3810-47DD-B79F-674D7AD40C01}</a:tableStyleId>
              </a:tblPr>
              <a:tblGrid>
                <a:gridCol w="2949450">
                  <a:extLst>
                    <a:ext uri="{9D8B030D-6E8A-4147-A177-3AD203B41FA5}">
                      <a16:colId xmlns:a16="http://schemas.microsoft.com/office/drawing/2014/main" val="2351738067"/>
                    </a:ext>
                  </a:extLst>
                </a:gridCol>
                <a:gridCol w="5004654">
                  <a:extLst>
                    <a:ext uri="{9D8B030D-6E8A-4147-A177-3AD203B41FA5}">
                      <a16:colId xmlns:a16="http://schemas.microsoft.com/office/drawing/2014/main" val="3066592444"/>
                    </a:ext>
                  </a:extLst>
                </a:gridCol>
              </a:tblGrid>
              <a:tr h="324000">
                <a:tc>
                  <a:txBody>
                    <a:bodyPr/>
                    <a:lstStyle/>
                    <a:p>
                      <a:pPr>
                        <a:lnSpc>
                          <a:spcPct val="150000"/>
                        </a:lnSpc>
                        <a:buNone/>
                      </a:pPr>
                      <a:r>
                        <a:rPr lang="en-MY" sz="1200" dirty="0">
                          <a:effectLst/>
                        </a:rPr>
                        <a:t>‘</a:t>
                      </a:r>
                      <a:r>
                        <a:rPr lang="en-MY" sz="1200" dirty="0" err="1">
                          <a:effectLst/>
                        </a:rPr>
                        <a:t>Laundering_Structure</a:t>
                      </a:r>
                      <a:r>
                        <a:rPr lang="en-MY" sz="1200" dirty="0">
                          <a:effectLst/>
                        </a:rPr>
                        <a:t>’ (New Feature)</a:t>
                      </a:r>
                      <a:endParaRPr lang="en-MY" sz="1200" dirty="0">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75000"/>
                      </a:schemeClr>
                    </a:solidFill>
                  </a:tcPr>
                </a:tc>
                <a:tc>
                  <a:txBody>
                    <a:bodyPr/>
                    <a:lstStyle/>
                    <a:p>
                      <a:pPr>
                        <a:lnSpc>
                          <a:spcPct val="150000"/>
                        </a:lnSpc>
                        <a:buNone/>
                      </a:pPr>
                      <a:r>
                        <a:rPr lang="en-MY" sz="1200" dirty="0">
                          <a:effectLst/>
                        </a:rPr>
                        <a:t>‘</a:t>
                      </a:r>
                      <a:r>
                        <a:rPr lang="en-MY" sz="1200" dirty="0" err="1">
                          <a:effectLst/>
                        </a:rPr>
                        <a:t>Laundering_type</a:t>
                      </a:r>
                      <a:r>
                        <a:rPr lang="en-MY" sz="1200" dirty="0">
                          <a:effectLst/>
                        </a:rPr>
                        <a:t>’ (Original Feature)</a:t>
                      </a:r>
                      <a:endParaRPr lang="en-MY" sz="1200" dirty="0">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778953537"/>
                  </a:ext>
                </a:extLst>
              </a:tr>
              <a:tr h="288000">
                <a:tc>
                  <a:txBody>
                    <a:bodyPr/>
                    <a:lstStyle/>
                    <a:p>
                      <a:pPr>
                        <a:lnSpc>
                          <a:spcPct val="150000"/>
                        </a:lnSpc>
                        <a:buNone/>
                      </a:pPr>
                      <a:r>
                        <a:rPr lang="en-MY" sz="1200" dirty="0">
                          <a:solidFill>
                            <a:schemeClr val="tx1"/>
                          </a:solidFill>
                          <a:effectLst/>
                        </a:rPr>
                        <a:t>1. </a:t>
                      </a:r>
                      <a:r>
                        <a:rPr lang="en-MY" sz="1200" dirty="0" err="1">
                          <a:solidFill>
                            <a:schemeClr val="tx1"/>
                          </a:solidFill>
                          <a:effectLst/>
                        </a:rPr>
                        <a:t>Cash_Deposit</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nSpc>
                          <a:spcPct val="150000"/>
                        </a:lnSpc>
                        <a:buNone/>
                      </a:pPr>
                      <a:r>
                        <a:rPr lang="en-MY" sz="1200" dirty="0" err="1">
                          <a:solidFill>
                            <a:schemeClr val="tx1"/>
                          </a:solidFill>
                          <a:effectLst/>
                        </a:rPr>
                        <a:t>Normal_Cash_Deposits</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611749661"/>
                  </a:ext>
                </a:extLst>
              </a:tr>
              <a:tr h="288000">
                <a:tc>
                  <a:txBody>
                    <a:bodyPr/>
                    <a:lstStyle/>
                    <a:p>
                      <a:pPr>
                        <a:lnSpc>
                          <a:spcPct val="150000"/>
                        </a:lnSpc>
                        <a:buNone/>
                      </a:pPr>
                      <a:r>
                        <a:rPr lang="en-MY" sz="1200" dirty="0">
                          <a:solidFill>
                            <a:schemeClr val="tx1"/>
                          </a:solidFill>
                          <a:effectLst/>
                        </a:rPr>
                        <a:t>2. Fan-Out</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nSpc>
                          <a:spcPct val="150000"/>
                        </a:lnSpc>
                        <a:buNone/>
                      </a:pPr>
                      <a:r>
                        <a:rPr lang="en-MY" sz="1200" dirty="0" err="1">
                          <a:solidFill>
                            <a:schemeClr val="tx1"/>
                          </a:solidFill>
                          <a:effectLst/>
                        </a:rPr>
                        <a:t>Normal_Fan_Out</a:t>
                      </a:r>
                      <a:r>
                        <a:rPr lang="en-MY" sz="1200" dirty="0">
                          <a:solidFill>
                            <a:schemeClr val="tx1"/>
                          </a:solidFill>
                          <a:effectLst/>
                        </a:rPr>
                        <a:t>,  </a:t>
                      </a:r>
                      <a:r>
                        <a:rPr lang="en-MY" sz="1200" dirty="0" err="1">
                          <a:solidFill>
                            <a:schemeClr val="tx1"/>
                          </a:solidFill>
                          <a:effectLst/>
                        </a:rPr>
                        <a:t>Normal_Small_Fan_Out</a:t>
                      </a:r>
                      <a:r>
                        <a:rPr lang="en-MY" sz="1200" dirty="0">
                          <a:solidFill>
                            <a:schemeClr val="tx1"/>
                          </a:solidFill>
                          <a:effectLst/>
                        </a:rPr>
                        <a:t>, </a:t>
                      </a:r>
                      <a:r>
                        <a:rPr lang="en-MY" sz="1200" dirty="0" err="1">
                          <a:solidFill>
                            <a:schemeClr val="tx1"/>
                          </a:solidFill>
                          <a:effectLst/>
                        </a:rPr>
                        <a:t>Layered_Fan_Out</a:t>
                      </a:r>
                      <a:r>
                        <a:rPr lang="en-MY" sz="1200" dirty="0">
                          <a:solidFill>
                            <a:schemeClr val="tx1"/>
                          </a:solidFill>
                          <a:effectLst/>
                        </a:rPr>
                        <a:t>, </a:t>
                      </a:r>
                      <a:r>
                        <a:rPr lang="en-MY" sz="1200" dirty="0" err="1">
                          <a:solidFill>
                            <a:schemeClr val="tx1"/>
                          </a:solidFill>
                          <a:effectLst/>
                        </a:rPr>
                        <a:t>Fan_Out</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001445606"/>
                  </a:ext>
                </a:extLst>
              </a:tr>
              <a:tr h="288000">
                <a:tc>
                  <a:txBody>
                    <a:bodyPr/>
                    <a:lstStyle/>
                    <a:p>
                      <a:pPr>
                        <a:lnSpc>
                          <a:spcPct val="150000"/>
                        </a:lnSpc>
                        <a:buNone/>
                      </a:pPr>
                      <a:r>
                        <a:rPr lang="en-MY" sz="1200" dirty="0">
                          <a:solidFill>
                            <a:schemeClr val="tx1"/>
                          </a:solidFill>
                          <a:effectLst/>
                        </a:rPr>
                        <a:t>3. Fan-In</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nSpc>
                          <a:spcPct val="150000"/>
                        </a:lnSpc>
                        <a:buNone/>
                      </a:pPr>
                      <a:r>
                        <a:rPr lang="en-MY" sz="1200" dirty="0" err="1">
                          <a:solidFill>
                            <a:schemeClr val="tx1"/>
                          </a:solidFill>
                          <a:effectLst/>
                        </a:rPr>
                        <a:t>Normal_Fan_In</a:t>
                      </a:r>
                      <a:r>
                        <a:rPr lang="en-MY" sz="1200" dirty="0">
                          <a:solidFill>
                            <a:schemeClr val="tx1"/>
                          </a:solidFill>
                          <a:effectLst/>
                        </a:rPr>
                        <a:t>,  </a:t>
                      </a:r>
                      <a:r>
                        <a:rPr lang="en-MY" sz="1200" dirty="0" err="1">
                          <a:solidFill>
                            <a:schemeClr val="tx1"/>
                          </a:solidFill>
                          <a:effectLst/>
                        </a:rPr>
                        <a:t>Layered_Fan_In</a:t>
                      </a:r>
                      <a:r>
                        <a:rPr lang="en-MY" sz="1200" dirty="0">
                          <a:solidFill>
                            <a:schemeClr val="tx1"/>
                          </a:solidFill>
                          <a:effectLst/>
                        </a:rPr>
                        <a:t>, </a:t>
                      </a:r>
                      <a:r>
                        <a:rPr lang="en-MY" sz="1200" dirty="0" err="1">
                          <a:solidFill>
                            <a:schemeClr val="tx1"/>
                          </a:solidFill>
                          <a:effectLst/>
                        </a:rPr>
                        <a:t>Fan_In</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576293119"/>
                  </a:ext>
                </a:extLst>
              </a:tr>
              <a:tr h="288000">
                <a:tc>
                  <a:txBody>
                    <a:bodyPr/>
                    <a:lstStyle/>
                    <a:p>
                      <a:pPr>
                        <a:lnSpc>
                          <a:spcPct val="150000"/>
                        </a:lnSpc>
                        <a:buNone/>
                      </a:pPr>
                      <a:r>
                        <a:rPr lang="en-MY" sz="1200" dirty="0">
                          <a:solidFill>
                            <a:schemeClr val="tx1"/>
                          </a:solidFill>
                          <a:effectLst/>
                        </a:rPr>
                        <a:t>4. Cash_Withdrawal</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nSpc>
                          <a:spcPct val="150000"/>
                        </a:lnSpc>
                        <a:buNone/>
                      </a:pPr>
                      <a:r>
                        <a:rPr lang="en-MY" sz="1200" dirty="0" err="1">
                          <a:solidFill>
                            <a:schemeClr val="tx1"/>
                          </a:solidFill>
                          <a:effectLst/>
                        </a:rPr>
                        <a:t>Normal_Cash_Withdrawal</a:t>
                      </a:r>
                      <a:r>
                        <a:rPr lang="en-MY" sz="1200" dirty="0">
                          <a:solidFill>
                            <a:schemeClr val="tx1"/>
                          </a:solidFill>
                          <a:effectLst/>
                        </a:rPr>
                        <a:t>, Cash_Withdrawal</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794652062"/>
                  </a:ext>
                </a:extLst>
              </a:tr>
              <a:tr h="288000">
                <a:tc>
                  <a:txBody>
                    <a:bodyPr/>
                    <a:lstStyle/>
                    <a:p>
                      <a:pPr>
                        <a:lnSpc>
                          <a:spcPct val="150000"/>
                        </a:lnSpc>
                        <a:buNone/>
                      </a:pPr>
                      <a:r>
                        <a:rPr lang="en-MY" sz="1200" dirty="0">
                          <a:solidFill>
                            <a:schemeClr val="tx1"/>
                          </a:solidFill>
                          <a:effectLst/>
                        </a:rPr>
                        <a:t>5. </a:t>
                      </a:r>
                      <a:r>
                        <a:rPr lang="en-MY" sz="1200" dirty="0" err="1">
                          <a:solidFill>
                            <a:schemeClr val="tx1"/>
                          </a:solidFill>
                          <a:effectLst/>
                        </a:rPr>
                        <a:t>Behavioral_Group</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nSpc>
                          <a:spcPct val="150000"/>
                        </a:lnSpc>
                        <a:buNone/>
                      </a:pPr>
                      <a:r>
                        <a:rPr lang="en-MY" sz="1200" dirty="0" err="1">
                          <a:solidFill>
                            <a:schemeClr val="tx1"/>
                          </a:solidFill>
                          <a:effectLst/>
                        </a:rPr>
                        <a:t>Normal_Group</a:t>
                      </a:r>
                      <a:r>
                        <a:rPr lang="en-MY" sz="1200" dirty="0">
                          <a:solidFill>
                            <a:schemeClr val="tx1"/>
                          </a:solidFill>
                          <a:effectLst/>
                        </a:rPr>
                        <a:t>, Behavioural_Change_1, Behavioural_Change_2</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546856088"/>
                  </a:ext>
                </a:extLst>
              </a:tr>
              <a:tr h="288000">
                <a:tc>
                  <a:txBody>
                    <a:bodyPr/>
                    <a:lstStyle/>
                    <a:p>
                      <a:pPr>
                        <a:lnSpc>
                          <a:spcPct val="150000"/>
                        </a:lnSpc>
                        <a:buNone/>
                      </a:pPr>
                      <a:r>
                        <a:rPr lang="en-MY" sz="1200" dirty="0">
                          <a:solidFill>
                            <a:schemeClr val="tx1"/>
                          </a:solidFill>
                          <a:effectLst/>
                        </a:rPr>
                        <a:t>6. Mutual</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nSpc>
                          <a:spcPct val="150000"/>
                        </a:lnSpc>
                        <a:buNone/>
                      </a:pPr>
                      <a:r>
                        <a:rPr lang="en-MY" sz="1200" dirty="0" err="1">
                          <a:solidFill>
                            <a:schemeClr val="tx1"/>
                          </a:solidFill>
                          <a:effectLst/>
                        </a:rPr>
                        <a:t>Normal_Mutual</a:t>
                      </a:r>
                      <a:r>
                        <a:rPr lang="en-MY" sz="1200" dirty="0">
                          <a:solidFill>
                            <a:schemeClr val="tx1"/>
                          </a:solidFill>
                          <a:effectLst/>
                        </a:rPr>
                        <a:t>, </a:t>
                      </a:r>
                      <a:r>
                        <a:rPr lang="en-MY" sz="1200" dirty="0" err="1">
                          <a:solidFill>
                            <a:schemeClr val="tx1"/>
                          </a:solidFill>
                          <a:effectLst/>
                        </a:rPr>
                        <a:t>Normal_Plus_Mutual</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826761567"/>
                  </a:ext>
                </a:extLst>
              </a:tr>
              <a:tr h="288000">
                <a:tc>
                  <a:txBody>
                    <a:bodyPr/>
                    <a:lstStyle/>
                    <a:p>
                      <a:pPr>
                        <a:lnSpc>
                          <a:spcPct val="150000"/>
                        </a:lnSpc>
                        <a:buNone/>
                      </a:pPr>
                      <a:r>
                        <a:rPr lang="en-MY" sz="1200" dirty="0">
                          <a:solidFill>
                            <a:schemeClr val="tx1"/>
                          </a:solidFill>
                          <a:effectLst/>
                        </a:rPr>
                        <a:t>7. Forward</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nSpc>
                          <a:spcPct val="150000"/>
                        </a:lnSpc>
                        <a:buNone/>
                      </a:pPr>
                      <a:r>
                        <a:rPr lang="en-MY" sz="1200" dirty="0" err="1">
                          <a:solidFill>
                            <a:schemeClr val="tx1"/>
                          </a:solidFill>
                          <a:effectLst/>
                        </a:rPr>
                        <a:t>Normal_Foward</a:t>
                      </a:r>
                      <a:r>
                        <a:rPr lang="en-MY" sz="1200" dirty="0">
                          <a:solidFill>
                            <a:schemeClr val="tx1"/>
                          </a:solidFill>
                          <a:effectLst/>
                        </a:rPr>
                        <a:t>, Deposit-Send</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249873103"/>
                  </a:ext>
                </a:extLst>
              </a:tr>
              <a:tr h="288000">
                <a:tc>
                  <a:txBody>
                    <a:bodyPr/>
                    <a:lstStyle/>
                    <a:p>
                      <a:pPr>
                        <a:lnSpc>
                          <a:spcPct val="150000"/>
                        </a:lnSpc>
                        <a:buNone/>
                      </a:pPr>
                      <a:r>
                        <a:rPr lang="en-MY" sz="1200" dirty="0">
                          <a:solidFill>
                            <a:schemeClr val="tx1"/>
                          </a:solidFill>
                          <a:effectLst/>
                        </a:rPr>
                        <a:t>8. Periodical</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nSpc>
                          <a:spcPct val="150000"/>
                        </a:lnSpc>
                        <a:buNone/>
                      </a:pPr>
                      <a:r>
                        <a:rPr lang="en-MY" sz="1200" dirty="0" err="1">
                          <a:solidFill>
                            <a:schemeClr val="tx1"/>
                          </a:solidFill>
                          <a:effectLst/>
                        </a:rPr>
                        <a:t>Normal_Periodical</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52673225"/>
                  </a:ext>
                </a:extLst>
              </a:tr>
              <a:tr h="288000">
                <a:tc>
                  <a:txBody>
                    <a:bodyPr/>
                    <a:lstStyle/>
                    <a:p>
                      <a:pPr>
                        <a:lnSpc>
                          <a:spcPct val="150000"/>
                        </a:lnSpc>
                        <a:buNone/>
                      </a:pPr>
                      <a:r>
                        <a:rPr lang="en-MY" sz="1200" dirty="0">
                          <a:solidFill>
                            <a:schemeClr val="tx1"/>
                          </a:solidFill>
                          <a:effectLst/>
                        </a:rPr>
                        <a:t>9. Structuring</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nSpc>
                          <a:spcPct val="150000"/>
                        </a:lnSpc>
                        <a:buNone/>
                      </a:pPr>
                      <a:r>
                        <a:rPr lang="en-MY" sz="1200" dirty="0">
                          <a:solidFill>
                            <a:schemeClr val="tx1"/>
                          </a:solidFill>
                          <a:effectLst/>
                        </a:rPr>
                        <a:t>Smurfing, Structuring</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076270343"/>
                  </a:ext>
                </a:extLst>
              </a:tr>
              <a:tr h="288000">
                <a:tc>
                  <a:txBody>
                    <a:bodyPr/>
                    <a:lstStyle/>
                    <a:p>
                      <a:pPr>
                        <a:lnSpc>
                          <a:spcPct val="150000"/>
                        </a:lnSpc>
                        <a:buNone/>
                      </a:pPr>
                      <a:r>
                        <a:rPr lang="en-MY" sz="1200" dirty="0">
                          <a:solidFill>
                            <a:schemeClr val="tx1"/>
                          </a:solidFill>
                          <a:effectLst/>
                        </a:rPr>
                        <a:t>10. Cycle</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nSpc>
                          <a:spcPct val="150000"/>
                        </a:lnSpc>
                        <a:buNone/>
                      </a:pPr>
                      <a:r>
                        <a:rPr lang="en-MY" sz="1200" dirty="0">
                          <a:solidFill>
                            <a:schemeClr val="tx1"/>
                          </a:solidFill>
                          <a:effectLst/>
                        </a:rPr>
                        <a:t>Cycle</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388944664"/>
                  </a:ext>
                </a:extLst>
              </a:tr>
              <a:tr h="288000">
                <a:tc>
                  <a:txBody>
                    <a:bodyPr/>
                    <a:lstStyle/>
                    <a:p>
                      <a:pPr>
                        <a:lnSpc>
                          <a:spcPct val="150000"/>
                        </a:lnSpc>
                        <a:buNone/>
                      </a:pPr>
                      <a:r>
                        <a:rPr lang="en-MY" sz="1200" dirty="0">
                          <a:solidFill>
                            <a:schemeClr val="tx1"/>
                          </a:solidFill>
                          <a:effectLst/>
                        </a:rPr>
                        <a:t>11. Bipartite</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nSpc>
                          <a:spcPct val="150000"/>
                        </a:lnSpc>
                        <a:buNone/>
                      </a:pPr>
                      <a:r>
                        <a:rPr lang="en-MY" sz="1200" dirty="0">
                          <a:solidFill>
                            <a:schemeClr val="tx1"/>
                          </a:solidFill>
                          <a:effectLst/>
                        </a:rPr>
                        <a:t>Stacked Bipartite, Bipartite</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859091055"/>
                  </a:ext>
                </a:extLst>
              </a:tr>
              <a:tr h="288000">
                <a:tc>
                  <a:txBody>
                    <a:bodyPr/>
                    <a:lstStyle/>
                    <a:p>
                      <a:pPr>
                        <a:lnSpc>
                          <a:spcPct val="150000"/>
                        </a:lnSpc>
                        <a:buNone/>
                      </a:pPr>
                      <a:r>
                        <a:rPr lang="en-MY" sz="1200" dirty="0">
                          <a:solidFill>
                            <a:schemeClr val="tx1"/>
                          </a:solidFill>
                          <a:effectLst/>
                        </a:rPr>
                        <a:t>12. Scatter-Gather</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nSpc>
                          <a:spcPct val="150000"/>
                        </a:lnSpc>
                        <a:buNone/>
                      </a:pPr>
                      <a:r>
                        <a:rPr lang="en-MY" sz="1200" dirty="0">
                          <a:solidFill>
                            <a:schemeClr val="tx1"/>
                          </a:solidFill>
                          <a:effectLst/>
                        </a:rPr>
                        <a:t>Scatter-Gather</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638042361"/>
                  </a:ext>
                </a:extLst>
              </a:tr>
              <a:tr h="288000">
                <a:tc>
                  <a:txBody>
                    <a:bodyPr/>
                    <a:lstStyle/>
                    <a:p>
                      <a:pPr>
                        <a:lnSpc>
                          <a:spcPct val="150000"/>
                        </a:lnSpc>
                        <a:buNone/>
                      </a:pPr>
                      <a:r>
                        <a:rPr lang="en-MY" sz="1200" dirty="0">
                          <a:solidFill>
                            <a:schemeClr val="tx1"/>
                          </a:solidFill>
                          <a:effectLst/>
                        </a:rPr>
                        <a:t>13. Gather-Scatter</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nSpc>
                          <a:spcPct val="150000"/>
                        </a:lnSpc>
                        <a:buNone/>
                      </a:pPr>
                      <a:r>
                        <a:rPr lang="en-MY" sz="1200" dirty="0">
                          <a:solidFill>
                            <a:schemeClr val="tx1"/>
                          </a:solidFill>
                          <a:effectLst/>
                        </a:rPr>
                        <a:t>Gather-Scatter</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26268542"/>
                  </a:ext>
                </a:extLst>
              </a:tr>
              <a:tr h="288000">
                <a:tc>
                  <a:txBody>
                    <a:bodyPr/>
                    <a:lstStyle/>
                    <a:p>
                      <a:pPr>
                        <a:lnSpc>
                          <a:spcPct val="150000"/>
                        </a:lnSpc>
                        <a:buNone/>
                      </a:pPr>
                      <a:r>
                        <a:rPr lang="en-MY" sz="1200" dirty="0">
                          <a:solidFill>
                            <a:schemeClr val="tx1"/>
                          </a:solidFill>
                          <a:effectLst/>
                        </a:rPr>
                        <a:t>14. </a:t>
                      </a:r>
                      <a:r>
                        <a:rPr lang="en-MY" sz="1200" dirty="0" err="1">
                          <a:solidFill>
                            <a:schemeClr val="tx1"/>
                          </a:solidFill>
                          <a:effectLst/>
                        </a:rPr>
                        <a:t>Single_Large</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nSpc>
                          <a:spcPct val="150000"/>
                        </a:lnSpc>
                        <a:buNone/>
                      </a:pPr>
                      <a:r>
                        <a:rPr lang="en-MY" sz="1200" dirty="0" err="1">
                          <a:solidFill>
                            <a:schemeClr val="tx1"/>
                          </a:solidFill>
                          <a:effectLst/>
                        </a:rPr>
                        <a:t>Normal_single_large</a:t>
                      </a:r>
                      <a:r>
                        <a:rPr lang="en-MY" sz="1200" dirty="0">
                          <a:solidFill>
                            <a:schemeClr val="tx1"/>
                          </a:solidFill>
                          <a:effectLst/>
                        </a:rPr>
                        <a:t>, </a:t>
                      </a:r>
                      <a:r>
                        <a:rPr lang="en-MY" sz="1200" dirty="0" err="1">
                          <a:solidFill>
                            <a:schemeClr val="tx1"/>
                          </a:solidFill>
                          <a:effectLst/>
                        </a:rPr>
                        <a:t>Single_large</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813870231"/>
                  </a:ext>
                </a:extLst>
              </a:tr>
              <a:tr h="288000">
                <a:tc>
                  <a:txBody>
                    <a:bodyPr/>
                    <a:lstStyle/>
                    <a:p>
                      <a:pPr>
                        <a:lnSpc>
                          <a:spcPct val="150000"/>
                        </a:lnSpc>
                        <a:buNone/>
                      </a:pPr>
                      <a:r>
                        <a:rPr lang="en-MY" sz="1200" dirty="0">
                          <a:solidFill>
                            <a:schemeClr val="tx1"/>
                          </a:solidFill>
                          <a:effectLst/>
                        </a:rPr>
                        <a:t>15. Over-Invoicing</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nSpc>
                          <a:spcPct val="150000"/>
                        </a:lnSpc>
                        <a:buNone/>
                      </a:pPr>
                      <a:r>
                        <a:rPr lang="en-MY" sz="1200" dirty="0">
                          <a:solidFill>
                            <a:schemeClr val="tx1"/>
                          </a:solidFill>
                          <a:effectLst/>
                        </a:rPr>
                        <a:t>Over-Invoicing</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497395890"/>
                  </a:ext>
                </a:extLst>
              </a:tr>
            </a:tbl>
          </a:graphicData>
        </a:graphic>
      </p:graphicFrame>
    </p:spTree>
    <p:extLst>
      <p:ext uri="{BB962C8B-B14F-4D97-AF65-F5344CB8AC3E}">
        <p14:creationId xmlns:p14="http://schemas.microsoft.com/office/powerpoint/2010/main" val="1198128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1">
          <a:extLst>
            <a:ext uri="{FF2B5EF4-FFF2-40B4-BE49-F238E27FC236}">
              <a16:creationId xmlns:a16="http://schemas.microsoft.com/office/drawing/2014/main" id="{728EC3D4-5BA1-D0FA-816A-2F2AF5FED292}"/>
            </a:ext>
          </a:extLst>
        </p:cNvPr>
        <p:cNvGrpSpPr/>
        <p:nvPr/>
      </p:nvGrpSpPr>
      <p:grpSpPr>
        <a:xfrm>
          <a:off x="0" y="0"/>
          <a:ext cx="0" cy="0"/>
          <a:chOff x="0" y="0"/>
          <a:chExt cx="0" cy="0"/>
        </a:xfrm>
      </p:grpSpPr>
      <p:graphicFrame>
        <p:nvGraphicFramePr>
          <p:cNvPr id="17" name="Google Shape;1883;p99">
            <a:extLst>
              <a:ext uri="{FF2B5EF4-FFF2-40B4-BE49-F238E27FC236}">
                <a16:creationId xmlns:a16="http://schemas.microsoft.com/office/drawing/2014/main" id="{93C6D198-6FEC-27D1-10EE-74909DE4B179}"/>
              </a:ext>
            </a:extLst>
          </p:cNvPr>
          <p:cNvGraphicFramePr/>
          <p:nvPr>
            <p:extLst>
              <p:ext uri="{D42A27DB-BD31-4B8C-83A1-F6EECF244321}">
                <p14:modId xmlns:p14="http://schemas.microsoft.com/office/powerpoint/2010/main" val="4121836531"/>
              </p:ext>
            </p:extLst>
          </p:nvPr>
        </p:nvGraphicFramePr>
        <p:xfrm>
          <a:off x="5922606" y="3244978"/>
          <a:ext cx="1440000" cy="2445780"/>
        </p:xfrm>
        <a:graphic>
          <a:graphicData uri="http://schemas.openxmlformats.org/drawingml/2006/table">
            <a:tbl>
              <a:tblPr>
                <a:noFill/>
              </a:tblPr>
              <a:tblGrid>
                <a:gridCol w="1440000">
                  <a:extLst>
                    <a:ext uri="{9D8B030D-6E8A-4147-A177-3AD203B41FA5}">
                      <a16:colId xmlns:a16="http://schemas.microsoft.com/office/drawing/2014/main" val="20000"/>
                    </a:ext>
                  </a:extLst>
                </a:gridCol>
              </a:tblGrid>
              <a:tr h="426680">
                <a:tc>
                  <a:txBody>
                    <a:bodyPr/>
                    <a:lstStyle/>
                    <a:p>
                      <a:pPr marL="0" lvl="0" indent="0" algn="ctr" rtl="0">
                        <a:spcBef>
                          <a:spcPts val="0"/>
                        </a:spcBef>
                        <a:spcAft>
                          <a:spcPts val="0"/>
                        </a:spcAft>
                        <a:buNone/>
                      </a:pPr>
                      <a:r>
                        <a:rPr lang="de" sz="1200" dirty="0">
                          <a:solidFill>
                            <a:schemeClr val="bg1"/>
                          </a:solidFill>
                          <a:latin typeface="+mn-lt"/>
                          <a:ea typeface="Oswald"/>
                          <a:cs typeface="Oswald"/>
                          <a:sym typeface="Oswald"/>
                        </a:rPr>
                        <a:t>Pair Bank Location</a:t>
                      </a:r>
                      <a:endParaRPr sz="1200" dirty="0">
                        <a:solidFill>
                          <a:schemeClr val="bg1"/>
                        </a:solidFill>
                        <a:latin typeface="+mn-lt"/>
                        <a:ea typeface="Oswald"/>
                        <a:cs typeface="Oswald"/>
                        <a:sym typeface="Oswald"/>
                      </a:endParaRPr>
                    </a:p>
                  </a:txBody>
                  <a:tcPr marL="121900" marR="121900" marT="121900" marB="1219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solidFill>
                        <a:schemeClr val="accent2"/>
                      </a:solidFill>
                      <a:prstDash val="solid"/>
                      <a:round/>
                      <a:headEnd type="none" w="sm" len="sm"/>
                      <a:tailEnd type="none" w="sm" len="sm"/>
                    </a:lnB>
                    <a:solidFill>
                      <a:schemeClr val="accent2">
                        <a:lumMod val="50000"/>
                      </a:schemeClr>
                    </a:solidFill>
                  </a:tcPr>
                </a:tc>
                <a:extLst>
                  <a:ext uri="{0D108BD9-81ED-4DB2-BD59-A6C34878D82A}">
                    <a16:rowId xmlns:a16="http://schemas.microsoft.com/office/drawing/2014/main" val="10000"/>
                  </a:ext>
                </a:extLst>
              </a:tr>
              <a:tr h="0">
                <a:tc>
                  <a:txBody>
                    <a:bodyPr/>
                    <a:lstStyle/>
                    <a:p>
                      <a:pPr marL="0" lvl="0" indent="0" algn="ctr" rtl="0">
                        <a:spcBef>
                          <a:spcPts val="0"/>
                        </a:spcBef>
                        <a:spcAft>
                          <a:spcPts val="0"/>
                        </a:spcAft>
                        <a:buNone/>
                      </a:pPr>
                      <a:r>
                        <a:rPr lang="en-MY" sz="1050" b="1" dirty="0">
                          <a:solidFill>
                            <a:schemeClr val="tx1"/>
                          </a:solidFill>
                          <a:latin typeface="+mn-lt"/>
                          <a:ea typeface="Titillium Web"/>
                          <a:cs typeface="Titillium Web"/>
                          <a:sym typeface="Titillium Web"/>
                        </a:rPr>
                        <a:t>UK - UK</a:t>
                      </a:r>
                    </a:p>
                  </a:txBody>
                  <a:tcPr marL="121900" marR="121900" marT="121900" marB="1219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solidFill>
                        <a:schemeClr val="accent2"/>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1"/>
                  </a:ext>
                </a:extLst>
              </a:tr>
              <a:tr h="396000">
                <a:tc>
                  <a:txBody>
                    <a:bodyPr/>
                    <a:lstStyle/>
                    <a:p>
                      <a:pPr marL="0" lvl="0" indent="0" algn="ctr" rtl="0">
                        <a:spcBef>
                          <a:spcPts val="0"/>
                        </a:spcBef>
                        <a:spcAft>
                          <a:spcPts val="0"/>
                        </a:spcAft>
                        <a:buNone/>
                      </a:pPr>
                      <a:r>
                        <a:rPr lang="en-MY" sz="1050" b="1" dirty="0">
                          <a:solidFill>
                            <a:schemeClr val="tx1"/>
                          </a:solidFill>
                          <a:latin typeface="+mn-lt"/>
                          <a:ea typeface="Titillium Web"/>
                          <a:cs typeface="Titillium Web"/>
                          <a:sym typeface="Titillium Web"/>
                        </a:rPr>
                        <a:t>UK – Morocco</a:t>
                      </a:r>
                    </a:p>
                  </a:txBody>
                  <a:tcPr marL="121900" marR="121900" marT="121900" marB="1219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2"/>
                  </a:ext>
                </a:extLst>
              </a:tr>
              <a:tr h="396000">
                <a:tc>
                  <a:txBody>
                    <a:bodyPr/>
                    <a:lstStyle/>
                    <a:p>
                      <a:pPr marL="0" lvl="0" indent="0" algn="ctr" rtl="0">
                        <a:spcBef>
                          <a:spcPts val="0"/>
                        </a:spcBef>
                        <a:spcAft>
                          <a:spcPts val="0"/>
                        </a:spcAft>
                        <a:buNone/>
                      </a:pPr>
                      <a:r>
                        <a:rPr lang="en-MY" sz="1050" b="1" dirty="0">
                          <a:solidFill>
                            <a:schemeClr val="tx1"/>
                          </a:solidFill>
                          <a:latin typeface="+mn-lt"/>
                          <a:ea typeface="Titillium Web"/>
                          <a:cs typeface="Titillium Web"/>
                          <a:sym typeface="Titillium Web"/>
                        </a:rPr>
                        <a:t>UK - Nigeria</a:t>
                      </a:r>
                    </a:p>
                  </a:txBody>
                  <a:tcPr marL="121900" marR="121900" marT="121900" marB="1219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3"/>
                  </a:ext>
                </a:extLst>
              </a:tr>
              <a:tr h="396000">
                <a:tc>
                  <a:txBody>
                    <a:bodyPr/>
                    <a:lstStyle/>
                    <a:p>
                      <a:pPr marL="0" lvl="0" indent="0" algn="ctr" rtl="0">
                        <a:spcBef>
                          <a:spcPts val="0"/>
                        </a:spcBef>
                        <a:spcAft>
                          <a:spcPts val="0"/>
                        </a:spcAft>
                        <a:buNone/>
                      </a:pPr>
                      <a:r>
                        <a:rPr lang="en-MY" sz="1050" b="1" dirty="0">
                          <a:solidFill>
                            <a:schemeClr val="tx1"/>
                          </a:solidFill>
                          <a:latin typeface="+mn-lt"/>
                          <a:ea typeface="Titillium Web"/>
                          <a:cs typeface="Titillium Web"/>
                          <a:sym typeface="Titillium Web"/>
                        </a:rPr>
                        <a:t>UK - Albania</a:t>
                      </a:r>
                    </a:p>
                  </a:txBody>
                  <a:tcPr marL="121900" marR="121900" marT="121900" marB="1219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4"/>
                  </a:ext>
                </a:extLst>
              </a:tr>
              <a:tr h="396000">
                <a:tc>
                  <a:txBody>
                    <a:bodyPr/>
                    <a:lstStyle/>
                    <a:p>
                      <a:pPr marL="0" lvl="0" indent="0" algn="ctr" rtl="0">
                        <a:spcBef>
                          <a:spcPts val="0"/>
                        </a:spcBef>
                        <a:spcAft>
                          <a:spcPts val="0"/>
                        </a:spcAft>
                        <a:buNone/>
                      </a:pPr>
                      <a:r>
                        <a:rPr lang="en-MY" sz="1050" b="1" dirty="0">
                          <a:solidFill>
                            <a:schemeClr val="tx1"/>
                          </a:solidFill>
                          <a:latin typeface="+mn-lt"/>
                          <a:ea typeface="Titillium Web"/>
                          <a:cs typeface="Titillium Web"/>
                          <a:sym typeface="Titillium Web"/>
                        </a:rPr>
                        <a:t>UK -Mexico</a:t>
                      </a:r>
                      <a:endParaRPr sz="1050" b="1" dirty="0">
                        <a:solidFill>
                          <a:schemeClr val="tx1"/>
                        </a:solidFill>
                        <a:latin typeface="+mn-lt"/>
                        <a:ea typeface="Titillium Web"/>
                        <a:cs typeface="Titillium Web"/>
                        <a:sym typeface="Titillium Web"/>
                      </a:endParaRPr>
                    </a:p>
                  </a:txBody>
                  <a:tcPr marL="121900" marR="121900" marT="121900" marB="1219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18" name="Google Shape;1883;p99">
            <a:extLst>
              <a:ext uri="{FF2B5EF4-FFF2-40B4-BE49-F238E27FC236}">
                <a16:creationId xmlns:a16="http://schemas.microsoft.com/office/drawing/2014/main" id="{E2101605-B94D-6446-D6B5-FB00E45A5217}"/>
              </a:ext>
            </a:extLst>
          </p:cNvPr>
          <p:cNvGraphicFramePr/>
          <p:nvPr>
            <p:extLst>
              <p:ext uri="{D42A27DB-BD31-4B8C-83A1-F6EECF244321}">
                <p14:modId xmlns:p14="http://schemas.microsoft.com/office/powerpoint/2010/main" val="894720939"/>
              </p:ext>
            </p:extLst>
          </p:nvPr>
        </p:nvGraphicFramePr>
        <p:xfrm>
          <a:off x="7933399" y="3244978"/>
          <a:ext cx="1440000" cy="2445780"/>
        </p:xfrm>
        <a:graphic>
          <a:graphicData uri="http://schemas.openxmlformats.org/drawingml/2006/table">
            <a:tbl>
              <a:tblPr>
                <a:noFill/>
              </a:tblPr>
              <a:tblGrid>
                <a:gridCol w="1440000">
                  <a:extLst>
                    <a:ext uri="{9D8B030D-6E8A-4147-A177-3AD203B41FA5}">
                      <a16:colId xmlns:a16="http://schemas.microsoft.com/office/drawing/2014/main" val="20000"/>
                    </a:ext>
                  </a:extLst>
                </a:gridCol>
              </a:tblGrid>
              <a:tr h="426680">
                <a:tc>
                  <a:txBody>
                    <a:bodyPr/>
                    <a:lstStyle/>
                    <a:p>
                      <a:pPr marL="0" lvl="0" indent="0" algn="ctr" rtl="0">
                        <a:spcBef>
                          <a:spcPts val="0"/>
                        </a:spcBef>
                        <a:spcAft>
                          <a:spcPts val="0"/>
                        </a:spcAft>
                        <a:buNone/>
                      </a:pPr>
                      <a:r>
                        <a:rPr lang="de" sz="1200" dirty="0">
                          <a:solidFill>
                            <a:schemeClr val="bg1"/>
                          </a:solidFill>
                          <a:latin typeface="+mn-lt"/>
                          <a:ea typeface="Oswald"/>
                          <a:cs typeface="Oswald"/>
                          <a:sym typeface="Oswald"/>
                        </a:rPr>
                        <a:t>Pair Bank Location</a:t>
                      </a:r>
                      <a:endParaRPr sz="1200" dirty="0">
                        <a:solidFill>
                          <a:schemeClr val="bg1"/>
                        </a:solidFill>
                        <a:latin typeface="+mn-lt"/>
                        <a:ea typeface="Oswald"/>
                        <a:cs typeface="Oswald"/>
                        <a:sym typeface="Oswald"/>
                      </a:endParaRPr>
                    </a:p>
                  </a:txBody>
                  <a:tcPr marL="121900" marR="121900" marT="121900" marB="1219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solidFill>
                        <a:schemeClr val="accent2"/>
                      </a:solidFill>
                      <a:prstDash val="solid"/>
                      <a:round/>
                      <a:headEnd type="none" w="sm" len="sm"/>
                      <a:tailEnd type="none" w="sm" len="sm"/>
                    </a:lnB>
                    <a:solidFill>
                      <a:schemeClr val="accent2">
                        <a:lumMod val="50000"/>
                      </a:schemeClr>
                    </a:solidFill>
                  </a:tcPr>
                </a:tc>
                <a:extLst>
                  <a:ext uri="{0D108BD9-81ED-4DB2-BD59-A6C34878D82A}">
                    <a16:rowId xmlns:a16="http://schemas.microsoft.com/office/drawing/2014/main" val="10000"/>
                  </a:ext>
                </a:extLst>
              </a:tr>
              <a:tr h="365720">
                <a:tc>
                  <a:txBody>
                    <a:bodyPr/>
                    <a:lstStyle/>
                    <a:p>
                      <a:pPr marL="0" lvl="0" indent="0" algn="ctr" rtl="0">
                        <a:spcBef>
                          <a:spcPts val="0"/>
                        </a:spcBef>
                        <a:spcAft>
                          <a:spcPts val="0"/>
                        </a:spcAft>
                        <a:buNone/>
                      </a:pPr>
                      <a:r>
                        <a:rPr lang="en-MY" sz="1050" b="1" dirty="0">
                          <a:solidFill>
                            <a:schemeClr val="tx1"/>
                          </a:solidFill>
                          <a:latin typeface="+mn-lt"/>
                          <a:ea typeface="Titillium Web"/>
                          <a:cs typeface="Titillium Web"/>
                          <a:sym typeface="Titillium Web"/>
                        </a:rPr>
                        <a:t>304</a:t>
                      </a:r>
                      <a:endParaRPr sz="1050" b="1" dirty="0">
                        <a:solidFill>
                          <a:schemeClr val="tx1"/>
                        </a:solidFill>
                        <a:latin typeface="+mn-lt"/>
                        <a:ea typeface="Titillium Web"/>
                        <a:cs typeface="Titillium Web"/>
                        <a:sym typeface="Titillium Web"/>
                      </a:endParaRPr>
                    </a:p>
                  </a:txBody>
                  <a:tcPr marL="121900" marR="121900" marT="121900" marB="1219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solidFill>
                        <a:schemeClr val="accent2"/>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1"/>
                  </a:ext>
                </a:extLst>
              </a:tr>
              <a:tr h="365720">
                <a:tc>
                  <a:txBody>
                    <a:bodyPr/>
                    <a:lstStyle/>
                    <a:p>
                      <a:pPr marL="0" lvl="0" indent="0" algn="ctr" rtl="0">
                        <a:spcBef>
                          <a:spcPts val="0"/>
                        </a:spcBef>
                        <a:spcAft>
                          <a:spcPts val="0"/>
                        </a:spcAft>
                        <a:buNone/>
                      </a:pPr>
                      <a:r>
                        <a:rPr lang="en-MY" sz="1050" b="1" dirty="0">
                          <a:solidFill>
                            <a:schemeClr val="tx1"/>
                          </a:solidFill>
                          <a:latin typeface="+mn-lt"/>
                          <a:ea typeface="Titillium Web"/>
                          <a:cs typeface="Titillium Web"/>
                          <a:sym typeface="Titillium Web"/>
                        </a:rPr>
                        <a:t>296</a:t>
                      </a:r>
                      <a:endParaRPr sz="1050" b="1" dirty="0">
                        <a:solidFill>
                          <a:schemeClr val="tx1"/>
                        </a:solidFill>
                        <a:latin typeface="+mn-lt"/>
                        <a:ea typeface="Titillium Web"/>
                        <a:cs typeface="Titillium Web"/>
                        <a:sym typeface="Titillium Web"/>
                      </a:endParaRPr>
                    </a:p>
                  </a:txBody>
                  <a:tcPr marL="121900" marR="121900" marT="121900" marB="1219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2"/>
                  </a:ext>
                </a:extLst>
              </a:tr>
              <a:tr h="365720">
                <a:tc>
                  <a:txBody>
                    <a:bodyPr/>
                    <a:lstStyle/>
                    <a:p>
                      <a:pPr marL="0" lvl="0" indent="0" algn="ctr" rtl="0">
                        <a:spcBef>
                          <a:spcPts val="0"/>
                        </a:spcBef>
                        <a:spcAft>
                          <a:spcPts val="0"/>
                        </a:spcAft>
                        <a:buNone/>
                      </a:pPr>
                      <a:r>
                        <a:rPr lang="en-MY" sz="1050" b="1" dirty="0">
                          <a:solidFill>
                            <a:schemeClr val="tx1"/>
                          </a:solidFill>
                          <a:latin typeface="+mn-lt"/>
                          <a:ea typeface="Titillium Web"/>
                          <a:cs typeface="Titillium Web"/>
                          <a:sym typeface="Titillium Web"/>
                        </a:rPr>
                        <a:t>298</a:t>
                      </a:r>
                      <a:endParaRPr sz="1050" b="1" dirty="0">
                        <a:solidFill>
                          <a:schemeClr val="tx1"/>
                        </a:solidFill>
                        <a:latin typeface="+mn-lt"/>
                        <a:ea typeface="Titillium Web"/>
                        <a:cs typeface="Titillium Web"/>
                        <a:sym typeface="Titillium Web"/>
                      </a:endParaRPr>
                    </a:p>
                  </a:txBody>
                  <a:tcPr marL="121900" marR="121900" marT="121900" marB="1219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3"/>
                  </a:ext>
                </a:extLst>
              </a:tr>
              <a:tr h="365720">
                <a:tc>
                  <a:txBody>
                    <a:bodyPr/>
                    <a:lstStyle/>
                    <a:p>
                      <a:pPr marL="0" lvl="0" indent="0" algn="ctr" rtl="0">
                        <a:spcBef>
                          <a:spcPts val="0"/>
                        </a:spcBef>
                        <a:spcAft>
                          <a:spcPts val="0"/>
                        </a:spcAft>
                        <a:buNone/>
                      </a:pPr>
                      <a:r>
                        <a:rPr lang="en-MY" sz="1050" b="1" dirty="0">
                          <a:solidFill>
                            <a:schemeClr val="tx1"/>
                          </a:solidFill>
                          <a:latin typeface="+mn-lt"/>
                          <a:ea typeface="Titillium Web"/>
                          <a:cs typeface="Titillium Web"/>
                          <a:sym typeface="Titillium Web"/>
                        </a:rPr>
                        <a:t>288</a:t>
                      </a:r>
                      <a:endParaRPr sz="1050" b="1" dirty="0">
                        <a:solidFill>
                          <a:schemeClr val="tx1"/>
                        </a:solidFill>
                        <a:latin typeface="+mn-lt"/>
                        <a:ea typeface="Titillium Web"/>
                        <a:cs typeface="Titillium Web"/>
                        <a:sym typeface="Titillium Web"/>
                      </a:endParaRPr>
                    </a:p>
                  </a:txBody>
                  <a:tcPr marL="121900" marR="121900" marT="121900" marB="1219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4"/>
                  </a:ext>
                </a:extLst>
              </a:tr>
              <a:tr h="365720">
                <a:tc>
                  <a:txBody>
                    <a:bodyPr/>
                    <a:lstStyle/>
                    <a:p>
                      <a:pPr marL="0" lvl="0" indent="0" algn="ctr" rtl="0">
                        <a:spcBef>
                          <a:spcPts val="0"/>
                        </a:spcBef>
                        <a:spcAft>
                          <a:spcPts val="0"/>
                        </a:spcAft>
                        <a:buNone/>
                      </a:pPr>
                      <a:r>
                        <a:rPr lang="en-MY" sz="1050" b="1" dirty="0">
                          <a:solidFill>
                            <a:schemeClr val="tx1"/>
                          </a:solidFill>
                          <a:latin typeface="+mn-lt"/>
                          <a:ea typeface="Titillium Web"/>
                          <a:cs typeface="Titillium Web"/>
                          <a:sym typeface="Titillium Web"/>
                        </a:rPr>
                        <a:t>295</a:t>
                      </a:r>
                      <a:endParaRPr sz="1050" b="1" dirty="0">
                        <a:solidFill>
                          <a:schemeClr val="tx1"/>
                        </a:solidFill>
                        <a:latin typeface="+mn-lt"/>
                        <a:ea typeface="Titillium Web"/>
                        <a:cs typeface="Titillium Web"/>
                        <a:sym typeface="Titillium Web"/>
                      </a:endParaRPr>
                    </a:p>
                  </a:txBody>
                  <a:tcPr marL="121900" marR="121900" marT="121900" marB="12190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26" name="Graphic 25" descr="Arrow: Straight with solid fill">
            <a:extLst>
              <a:ext uri="{FF2B5EF4-FFF2-40B4-BE49-F238E27FC236}">
                <a16:creationId xmlns:a16="http://schemas.microsoft.com/office/drawing/2014/main" id="{6C483777-F3A2-5BF4-40A1-1322BB7F24A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7360284" y="4342987"/>
            <a:ext cx="515807" cy="515807"/>
          </a:xfrm>
          <a:prstGeom prst="rect">
            <a:avLst/>
          </a:prstGeom>
          <a:effectLst>
            <a:outerShdw blurRad="50800" dist="38100" dir="5400000" algn="t" rotWithShape="0">
              <a:prstClr val="black">
                <a:alpha val="40000"/>
              </a:prstClr>
            </a:outerShdw>
          </a:effectLst>
        </p:spPr>
      </p:pic>
      <p:sp>
        <p:nvSpPr>
          <p:cNvPr id="7" name="Rectangle 6">
            <a:extLst>
              <a:ext uri="{FF2B5EF4-FFF2-40B4-BE49-F238E27FC236}">
                <a16:creationId xmlns:a16="http://schemas.microsoft.com/office/drawing/2014/main" id="{79BAF5B3-52BE-B425-3733-C6DF685BA5C5}"/>
              </a:ext>
            </a:extLst>
          </p:cNvPr>
          <p:cNvSpPr/>
          <p:nvPr/>
        </p:nvSpPr>
        <p:spPr>
          <a:xfrm>
            <a:off x="0" y="385235"/>
            <a:ext cx="5095875"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itle 1">
            <a:extLst>
              <a:ext uri="{FF2B5EF4-FFF2-40B4-BE49-F238E27FC236}">
                <a16:creationId xmlns:a16="http://schemas.microsoft.com/office/drawing/2014/main" id="{EAA84C0F-E19E-FEAB-FB4B-A46A494AEC7C}"/>
              </a:ext>
            </a:extLst>
          </p:cNvPr>
          <p:cNvSpPr txBox="1">
            <a:spLocks/>
          </p:cNvSpPr>
          <p:nvPr/>
        </p:nvSpPr>
        <p:spPr>
          <a:xfrm>
            <a:off x="1240713" y="446517"/>
            <a:ext cx="2918710" cy="4635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900" dirty="0">
                <a:solidFill>
                  <a:schemeClr val="bg1"/>
                </a:solidFill>
                <a:effectLst>
                  <a:outerShdw blurRad="38100" dist="38100" dir="2700000" algn="tl">
                    <a:srgbClr val="000000">
                      <a:alpha val="43137"/>
                    </a:srgbClr>
                  </a:outerShdw>
                </a:effectLst>
              </a:rPr>
              <a:t>DATA CLEANING</a:t>
            </a:r>
          </a:p>
        </p:txBody>
      </p:sp>
      <p:sp>
        <p:nvSpPr>
          <p:cNvPr id="14" name="Google Shape;2020;p104">
            <a:extLst>
              <a:ext uri="{FF2B5EF4-FFF2-40B4-BE49-F238E27FC236}">
                <a16:creationId xmlns:a16="http://schemas.microsoft.com/office/drawing/2014/main" id="{458EE4CD-FF59-43CE-A232-48FEFE78922D}"/>
              </a:ext>
            </a:extLst>
          </p:cNvPr>
          <p:cNvSpPr txBox="1"/>
          <p:nvPr/>
        </p:nvSpPr>
        <p:spPr>
          <a:xfrm>
            <a:off x="9967223" y="3793196"/>
            <a:ext cx="1440000" cy="1615388"/>
          </a:xfrm>
          <a:prstGeom prst="rect">
            <a:avLst/>
          </a:prstGeom>
          <a:solidFill>
            <a:schemeClr val="accent6">
              <a:lumMod val="60000"/>
              <a:lumOff val="40000"/>
            </a:schemeClr>
          </a:solidFill>
          <a:ln>
            <a:noFill/>
          </a:ln>
          <a:effectLst>
            <a:outerShdw blurRad="50800" dist="38100" dir="10800000" algn="r" rotWithShape="0">
              <a:prstClr val="black">
                <a:alpha val="40000"/>
              </a:prstClr>
            </a:outerShdw>
          </a:effectLst>
        </p:spPr>
        <p:txBody>
          <a:bodyPr spcFirstLastPara="1" wrap="square" lIns="121900" tIns="121900" rIns="121900" bIns="121900" anchor="ctr" anchorCtr="0">
            <a:noAutofit/>
          </a:bodyPr>
          <a:lstStyle/>
          <a:p>
            <a:pPr algn="ctr"/>
            <a:r>
              <a:rPr lang="en-MY" sz="1200" dirty="0">
                <a:solidFill>
                  <a:schemeClr val="bg1"/>
                </a:solidFill>
                <a:ea typeface="Oswald"/>
                <a:cs typeface="Oswald"/>
                <a:sym typeface="Oswald"/>
              </a:rPr>
              <a:t>Even though it is not ordinal data, label encoding is selected due to its high cardinality (324 total pairs)</a:t>
            </a:r>
            <a:endParaRPr sz="1400" b="1" dirty="0">
              <a:solidFill>
                <a:schemeClr val="bg1"/>
              </a:solidFill>
              <a:ea typeface="Oswald"/>
              <a:cs typeface="Oswald"/>
              <a:sym typeface="Oswald"/>
            </a:endParaRPr>
          </a:p>
        </p:txBody>
      </p:sp>
      <p:sp>
        <p:nvSpPr>
          <p:cNvPr id="6" name="Google Shape;1897;p101">
            <a:extLst>
              <a:ext uri="{FF2B5EF4-FFF2-40B4-BE49-F238E27FC236}">
                <a16:creationId xmlns:a16="http://schemas.microsoft.com/office/drawing/2014/main" id="{CD25C84A-EB20-601D-6F25-EB4AE3DA2065}"/>
              </a:ext>
            </a:extLst>
          </p:cNvPr>
          <p:cNvSpPr txBox="1"/>
          <p:nvPr/>
        </p:nvSpPr>
        <p:spPr>
          <a:xfrm>
            <a:off x="5927518" y="1262119"/>
            <a:ext cx="5550107" cy="1762727"/>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Label Encoding: Transform categorical variables into numerical variables</a:t>
            </a:r>
          </a:p>
          <a:p>
            <a:pPr marL="171450" indent="-171450">
              <a:buFontTx/>
              <a:buChar char="-"/>
            </a:pPr>
            <a:r>
              <a:rPr lang="en-US" sz="1200" dirty="0" err="1"/>
              <a:t>Payment_type</a:t>
            </a:r>
            <a:endParaRPr lang="en-US" sz="1200" dirty="0"/>
          </a:p>
          <a:p>
            <a:pPr marL="171450" indent="-171450">
              <a:buFontTx/>
              <a:buChar char="-"/>
            </a:pPr>
            <a:r>
              <a:rPr lang="en-US" sz="1200" dirty="0" err="1"/>
              <a:t>TimeOfDay</a:t>
            </a:r>
            <a:endParaRPr lang="en-US" sz="1200" dirty="0"/>
          </a:p>
          <a:p>
            <a:pPr marL="171450" indent="-171450">
              <a:buFontTx/>
              <a:buChar char="-"/>
            </a:pPr>
            <a:r>
              <a:rPr lang="en-US" sz="1200" dirty="0" err="1"/>
              <a:t>Pair_bank_location</a:t>
            </a:r>
            <a:endParaRPr lang="en-US" sz="1200" dirty="0"/>
          </a:p>
          <a:p>
            <a:pPr marL="171450" indent="-171450">
              <a:buFontTx/>
              <a:buChar char="-"/>
            </a:pPr>
            <a:r>
              <a:rPr lang="en-US" sz="1200" dirty="0" err="1"/>
              <a:t>Pair_currency</a:t>
            </a:r>
            <a:endParaRPr lang="en-US" sz="1200" dirty="0"/>
          </a:p>
          <a:p>
            <a:pPr marL="171450" indent="-171450">
              <a:buFontTx/>
              <a:buChar char="-"/>
            </a:pPr>
            <a:r>
              <a:rPr lang="en-US" sz="1200" dirty="0" err="1"/>
              <a:t>Laundering_Structure</a:t>
            </a:r>
            <a:endParaRPr lang="en-US" sz="1200" dirty="0"/>
          </a:p>
          <a:p>
            <a:pPr marL="171450" indent="-171450">
              <a:buFontTx/>
              <a:buChar char="-"/>
            </a:pPr>
            <a:endParaRPr lang="en-US" sz="1200" dirty="0"/>
          </a:p>
          <a:p>
            <a:r>
              <a:rPr lang="en-US" sz="1200" b="1" dirty="0"/>
              <a:t>Example:</a:t>
            </a:r>
          </a:p>
        </p:txBody>
      </p:sp>
      <p:pic>
        <p:nvPicPr>
          <p:cNvPr id="12" name="Picture 11">
            <a:extLst>
              <a:ext uri="{FF2B5EF4-FFF2-40B4-BE49-F238E27FC236}">
                <a16:creationId xmlns:a16="http://schemas.microsoft.com/office/drawing/2014/main" id="{010792D6-16ED-21A9-84A1-244AFACB0DA0}"/>
              </a:ext>
            </a:extLst>
          </p:cNvPr>
          <p:cNvPicPr>
            <a:picLocks noChangeAspect="1"/>
          </p:cNvPicPr>
          <p:nvPr/>
        </p:nvPicPr>
        <p:blipFill>
          <a:blip r:embed="rId5"/>
          <a:stretch>
            <a:fillRect/>
          </a:stretch>
        </p:blipFill>
        <p:spPr>
          <a:xfrm>
            <a:off x="5382606" y="1041987"/>
            <a:ext cx="540000" cy="540000"/>
          </a:xfrm>
          <a:prstGeom prst="rect">
            <a:avLst/>
          </a:prstGeom>
        </p:spPr>
      </p:pic>
      <p:sp>
        <p:nvSpPr>
          <p:cNvPr id="2" name="Rectangle 1">
            <a:extLst>
              <a:ext uri="{FF2B5EF4-FFF2-40B4-BE49-F238E27FC236}">
                <a16:creationId xmlns:a16="http://schemas.microsoft.com/office/drawing/2014/main" id="{A73D227B-3396-139F-8EB3-B988B9383503}"/>
              </a:ext>
            </a:extLst>
          </p:cNvPr>
          <p:cNvSpPr/>
          <p:nvPr/>
        </p:nvSpPr>
        <p:spPr>
          <a:xfrm>
            <a:off x="5314950" y="380392"/>
            <a:ext cx="5095875"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1">
            <a:extLst>
              <a:ext uri="{FF2B5EF4-FFF2-40B4-BE49-F238E27FC236}">
                <a16:creationId xmlns:a16="http://schemas.microsoft.com/office/drawing/2014/main" id="{F6C911C1-1F05-A8D4-27F5-B0B80F9D4A4C}"/>
              </a:ext>
            </a:extLst>
          </p:cNvPr>
          <p:cNvSpPr txBox="1">
            <a:spLocks/>
          </p:cNvSpPr>
          <p:nvPr/>
        </p:nvSpPr>
        <p:spPr>
          <a:xfrm>
            <a:off x="5922606" y="446518"/>
            <a:ext cx="4764617" cy="4635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900" dirty="0">
                <a:solidFill>
                  <a:schemeClr val="bg1"/>
                </a:solidFill>
                <a:effectLst>
                  <a:outerShdw blurRad="38100" dist="38100" dir="2700000" algn="tl">
                    <a:srgbClr val="000000">
                      <a:alpha val="43137"/>
                    </a:srgbClr>
                  </a:outerShdw>
                </a:effectLst>
              </a:rPr>
              <a:t>FEATURE ENGINEERING</a:t>
            </a:r>
          </a:p>
        </p:txBody>
      </p:sp>
      <p:sp>
        <p:nvSpPr>
          <p:cNvPr id="4" name="Google Shape;1897;p101">
            <a:extLst>
              <a:ext uri="{FF2B5EF4-FFF2-40B4-BE49-F238E27FC236}">
                <a16:creationId xmlns:a16="http://schemas.microsoft.com/office/drawing/2014/main" id="{4DF35DF0-C521-3A1D-61D9-0E24B386C22A}"/>
              </a:ext>
            </a:extLst>
          </p:cNvPr>
          <p:cNvSpPr txBox="1"/>
          <p:nvPr/>
        </p:nvSpPr>
        <p:spPr>
          <a:xfrm>
            <a:off x="540981" y="1207328"/>
            <a:ext cx="4549982" cy="1270013"/>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Missing and Duplicated Data</a:t>
            </a:r>
          </a:p>
          <a:p>
            <a:pPr marL="171450" lvl="0" indent="-171450">
              <a:spcBef>
                <a:spcPts val="0"/>
              </a:spcBef>
              <a:spcAft>
                <a:spcPts val="0"/>
              </a:spcAft>
              <a:buFontTx/>
              <a:buChar char="-"/>
            </a:pPr>
            <a:r>
              <a:rPr lang="de" sz="1200" dirty="0">
                <a:sym typeface="Oswald"/>
              </a:rPr>
              <a:t>No duplicated data but has 292,715 missing values in column Tx_Interval</a:t>
            </a:r>
          </a:p>
          <a:p>
            <a:pPr marL="171450" indent="-171450">
              <a:buFontTx/>
              <a:buChar char="-"/>
            </a:pPr>
            <a:r>
              <a:rPr lang="en-US" sz="1200" dirty="0"/>
              <a:t>Because it is the first transaction for the account, hence it has no previous transaction to compute the interval.</a:t>
            </a:r>
          </a:p>
          <a:p>
            <a:pPr marL="171450" indent="-171450">
              <a:buFontTx/>
              <a:buChar char="-"/>
            </a:pPr>
            <a:r>
              <a:rPr lang="en-US" sz="1200" dirty="0"/>
              <a:t>Therefore, missing values are imputed with ‘0’</a:t>
            </a:r>
          </a:p>
        </p:txBody>
      </p:sp>
      <p:pic>
        <p:nvPicPr>
          <p:cNvPr id="5" name="Picture 4">
            <a:extLst>
              <a:ext uri="{FF2B5EF4-FFF2-40B4-BE49-F238E27FC236}">
                <a16:creationId xmlns:a16="http://schemas.microsoft.com/office/drawing/2014/main" id="{C8142FFA-AF6C-94FF-1312-DF42DBAC6B5F}"/>
              </a:ext>
            </a:extLst>
          </p:cNvPr>
          <p:cNvPicPr>
            <a:picLocks noChangeAspect="1"/>
          </p:cNvPicPr>
          <p:nvPr/>
        </p:nvPicPr>
        <p:blipFill>
          <a:blip r:embed="rId5"/>
          <a:stretch>
            <a:fillRect/>
          </a:stretch>
        </p:blipFill>
        <p:spPr>
          <a:xfrm>
            <a:off x="29398" y="1151954"/>
            <a:ext cx="540000" cy="540000"/>
          </a:xfrm>
          <a:prstGeom prst="rect">
            <a:avLst/>
          </a:prstGeom>
        </p:spPr>
      </p:pic>
      <p:sp>
        <p:nvSpPr>
          <p:cNvPr id="9" name="Google Shape;1897;p101">
            <a:extLst>
              <a:ext uri="{FF2B5EF4-FFF2-40B4-BE49-F238E27FC236}">
                <a16:creationId xmlns:a16="http://schemas.microsoft.com/office/drawing/2014/main" id="{4FD054C3-3F5B-79E0-DC27-9420C56733F4}"/>
              </a:ext>
            </a:extLst>
          </p:cNvPr>
          <p:cNvSpPr txBox="1"/>
          <p:nvPr/>
        </p:nvSpPr>
        <p:spPr>
          <a:xfrm>
            <a:off x="598545" y="3128902"/>
            <a:ext cx="4549982" cy="2503516"/>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Remove Irrelevant Columns</a:t>
            </a:r>
          </a:p>
          <a:p>
            <a:pPr marL="171450" lvl="0" indent="-171450">
              <a:spcBef>
                <a:spcPts val="0"/>
              </a:spcBef>
              <a:spcAft>
                <a:spcPts val="0"/>
              </a:spcAft>
              <a:buFontTx/>
              <a:buChar char="-"/>
            </a:pPr>
            <a:r>
              <a:rPr lang="en-MY" sz="1200" dirty="0" err="1">
                <a:sym typeface="Oswald"/>
              </a:rPr>
              <a:t>Sender_account</a:t>
            </a:r>
            <a:endParaRPr lang="en-MY" sz="1200" dirty="0">
              <a:sym typeface="Oswald"/>
            </a:endParaRPr>
          </a:p>
          <a:p>
            <a:pPr marL="171450" lvl="0" indent="-171450">
              <a:spcBef>
                <a:spcPts val="0"/>
              </a:spcBef>
              <a:spcAft>
                <a:spcPts val="0"/>
              </a:spcAft>
              <a:buFontTx/>
              <a:buChar char="-"/>
            </a:pPr>
            <a:r>
              <a:rPr lang="en-MY" sz="1200" dirty="0" err="1">
                <a:sym typeface="Oswald"/>
              </a:rPr>
              <a:t>Receiver_account</a:t>
            </a:r>
            <a:endParaRPr lang="en-MY" sz="1200" dirty="0">
              <a:sym typeface="Oswald"/>
            </a:endParaRPr>
          </a:p>
          <a:p>
            <a:pPr marL="171450" lvl="0" indent="-171450">
              <a:spcBef>
                <a:spcPts val="0"/>
              </a:spcBef>
              <a:spcAft>
                <a:spcPts val="0"/>
              </a:spcAft>
              <a:buFontTx/>
              <a:buChar char="-"/>
            </a:pPr>
            <a:r>
              <a:rPr lang="en-MY" sz="1200" dirty="0">
                <a:sym typeface="Oswald"/>
              </a:rPr>
              <a:t>Date</a:t>
            </a:r>
          </a:p>
          <a:p>
            <a:pPr marL="171450" lvl="0" indent="-171450">
              <a:spcBef>
                <a:spcPts val="0"/>
              </a:spcBef>
              <a:spcAft>
                <a:spcPts val="0"/>
              </a:spcAft>
              <a:buFontTx/>
              <a:buChar char="-"/>
            </a:pPr>
            <a:r>
              <a:rPr lang="en-MY" sz="1200" dirty="0">
                <a:sym typeface="Oswald"/>
              </a:rPr>
              <a:t>Time</a:t>
            </a:r>
          </a:p>
          <a:p>
            <a:pPr marL="171450" lvl="0" indent="-171450">
              <a:spcBef>
                <a:spcPts val="0"/>
              </a:spcBef>
              <a:spcAft>
                <a:spcPts val="0"/>
              </a:spcAft>
              <a:buFontTx/>
              <a:buChar char="-"/>
            </a:pPr>
            <a:r>
              <a:rPr lang="en-MY" sz="1200" dirty="0" err="1">
                <a:sym typeface="Oswald"/>
              </a:rPr>
              <a:t>DateTime</a:t>
            </a:r>
            <a:endParaRPr lang="en-MY" sz="1200" dirty="0">
              <a:sym typeface="Oswald"/>
            </a:endParaRPr>
          </a:p>
          <a:p>
            <a:pPr marL="171450" lvl="0" indent="-171450">
              <a:spcBef>
                <a:spcPts val="0"/>
              </a:spcBef>
              <a:spcAft>
                <a:spcPts val="0"/>
              </a:spcAft>
              <a:buFontTx/>
              <a:buChar char="-"/>
            </a:pPr>
            <a:r>
              <a:rPr lang="en-MY" sz="1200" dirty="0" err="1">
                <a:sym typeface="Oswald"/>
              </a:rPr>
              <a:t>Payment_currency</a:t>
            </a:r>
            <a:endParaRPr lang="en-MY" sz="1200" dirty="0">
              <a:sym typeface="Oswald"/>
            </a:endParaRPr>
          </a:p>
          <a:p>
            <a:pPr marL="171450" lvl="0" indent="-171450">
              <a:spcBef>
                <a:spcPts val="0"/>
              </a:spcBef>
              <a:spcAft>
                <a:spcPts val="0"/>
              </a:spcAft>
              <a:buFontTx/>
              <a:buChar char="-"/>
            </a:pPr>
            <a:r>
              <a:rPr lang="en-MY" sz="1200" dirty="0" err="1">
                <a:sym typeface="Oswald"/>
              </a:rPr>
              <a:t>Received_currency</a:t>
            </a:r>
            <a:endParaRPr lang="en-MY" sz="1200" dirty="0">
              <a:sym typeface="Oswald"/>
            </a:endParaRPr>
          </a:p>
          <a:p>
            <a:pPr marL="171450" lvl="0" indent="-171450">
              <a:spcBef>
                <a:spcPts val="0"/>
              </a:spcBef>
              <a:spcAft>
                <a:spcPts val="0"/>
              </a:spcAft>
              <a:buFontTx/>
              <a:buChar char="-"/>
            </a:pPr>
            <a:r>
              <a:rPr lang="en-MY" sz="1200" dirty="0" err="1">
                <a:sym typeface="Oswald"/>
              </a:rPr>
              <a:t>Sender_bank_location</a:t>
            </a:r>
            <a:endParaRPr lang="en-MY" sz="1200" dirty="0">
              <a:sym typeface="Oswald"/>
            </a:endParaRPr>
          </a:p>
          <a:p>
            <a:pPr marL="171450" lvl="0" indent="-171450">
              <a:spcBef>
                <a:spcPts val="0"/>
              </a:spcBef>
              <a:spcAft>
                <a:spcPts val="0"/>
              </a:spcAft>
              <a:buFontTx/>
              <a:buChar char="-"/>
            </a:pPr>
            <a:r>
              <a:rPr lang="en-MY" sz="1200" dirty="0" err="1">
                <a:sym typeface="Oswald"/>
              </a:rPr>
              <a:t>Receiver_bank_location</a:t>
            </a:r>
            <a:endParaRPr lang="en-MY" sz="1200" dirty="0">
              <a:sym typeface="Oswald"/>
            </a:endParaRPr>
          </a:p>
          <a:p>
            <a:pPr marL="171450" lvl="0" indent="-171450">
              <a:spcBef>
                <a:spcPts val="0"/>
              </a:spcBef>
              <a:spcAft>
                <a:spcPts val="0"/>
              </a:spcAft>
              <a:buFontTx/>
              <a:buChar char="-"/>
            </a:pPr>
            <a:r>
              <a:rPr lang="en-MY" sz="1200" dirty="0" err="1">
                <a:sym typeface="Oswald"/>
              </a:rPr>
              <a:t>Laundering_type</a:t>
            </a:r>
            <a:endParaRPr lang="en-MY" sz="1200" dirty="0">
              <a:sym typeface="Oswald"/>
            </a:endParaRPr>
          </a:p>
          <a:p>
            <a:pPr marL="171450" lvl="0" indent="-171450">
              <a:spcBef>
                <a:spcPts val="0"/>
              </a:spcBef>
              <a:spcAft>
                <a:spcPts val="0"/>
              </a:spcAft>
              <a:buFontTx/>
              <a:buChar char="-"/>
            </a:pPr>
            <a:endParaRPr lang="en-US" sz="1200" dirty="0"/>
          </a:p>
        </p:txBody>
      </p:sp>
      <p:pic>
        <p:nvPicPr>
          <p:cNvPr id="10" name="Picture 9">
            <a:extLst>
              <a:ext uri="{FF2B5EF4-FFF2-40B4-BE49-F238E27FC236}">
                <a16:creationId xmlns:a16="http://schemas.microsoft.com/office/drawing/2014/main" id="{8988A73A-6E0E-D9B9-DD95-3B27647AAFA1}"/>
              </a:ext>
            </a:extLst>
          </p:cNvPr>
          <p:cNvPicPr>
            <a:picLocks noChangeAspect="1"/>
          </p:cNvPicPr>
          <p:nvPr/>
        </p:nvPicPr>
        <p:blipFill>
          <a:blip r:embed="rId5"/>
          <a:stretch>
            <a:fillRect/>
          </a:stretch>
        </p:blipFill>
        <p:spPr>
          <a:xfrm>
            <a:off x="29398" y="3173961"/>
            <a:ext cx="540000" cy="540000"/>
          </a:xfrm>
          <a:prstGeom prst="rect">
            <a:avLst/>
          </a:prstGeom>
        </p:spPr>
      </p:pic>
      <p:sp>
        <p:nvSpPr>
          <p:cNvPr id="11" name="Google Shape;2020;p104">
            <a:extLst>
              <a:ext uri="{FF2B5EF4-FFF2-40B4-BE49-F238E27FC236}">
                <a16:creationId xmlns:a16="http://schemas.microsoft.com/office/drawing/2014/main" id="{917C1D0D-31CC-2792-336C-5D706F5EACBD}"/>
              </a:ext>
            </a:extLst>
          </p:cNvPr>
          <p:cNvSpPr txBox="1"/>
          <p:nvPr/>
        </p:nvSpPr>
        <p:spPr>
          <a:xfrm>
            <a:off x="3196279" y="3873479"/>
            <a:ext cx="1439018" cy="1454821"/>
          </a:xfrm>
          <a:prstGeom prst="rect">
            <a:avLst/>
          </a:prstGeom>
          <a:solidFill>
            <a:schemeClr val="accent6">
              <a:lumMod val="60000"/>
              <a:lumOff val="40000"/>
            </a:schemeClr>
          </a:solidFill>
          <a:ln>
            <a:noFill/>
          </a:ln>
          <a:effectLst>
            <a:outerShdw blurRad="50800" dist="38100" dir="5400000" algn="t" rotWithShape="0">
              <a:prstClr val="black">
                <a:alpha val="40000"/>
              </a:prstClr>
            </a:outerShdw>
          </a:effectLst>
        </p:spPr>
        <p:txBody>
          <a:bodyPr spcFirstLastPara="1" wrap="square" lIns="121900" tIns="121900" rIns="121900" bIns="121900" anchor="ctr" anchorCtr="0">
            <a:noAutofit/>
          </a:bodyPr>
          <a:lstStyle/>
          <a:p>
            <a:pPr algn="ctr"/>
            <a:r>
              <a:rPr lang="en-MY" sz="1200" dirty="0">
                <a:solidFill>
                  <a:schemeClr val="bg1"/>
                </a:solidFill>
                <a:ea typeface="Oswald"/>
                <a:cs typeface="Oswald"/>
                <a:sym typeface="Oswald"/>
              </a:rPr>
              <a:t>Because it have been used to derive new features. The info already captured in derived features.</a:t>
            </a:r>
          </a:p>
        </p:txBody>
      </p:sp>
      <p:pic>
        <p:nvPicPr>
          <p:cNvPr id="20" name="Picture 19">
            <a:extLst>
              <a:ext uri="{FF2B5EF4-FFF2-40B4-BE49-F238E27FC236}">
                <a16:creationId xmlns:a16="http://schemas.microsoft.com/office/drawing/2014/main" id="{8A48F16F-95B8-CD2F-BD9D-345B61ED03BC}"/>
              </a:ext>
            </a:extLst>
          </p:cNvPr>
          <p:cNvPicPr>
            <a:picLocks noChangeAspect="1"/>
          </p:cNvPicPr>
          <p:nvPr/>
        </p:nvPicPr>
        <p:blipFill>
          <a:blip r:embed="rId6"/>
          <a:stretch>
            <a:fillRect/>
          </a:stretch>
        </p:blipFill>
        <p:spPr>
          <a:xfrm>
            <a:off x="9697223" y="3523196"/>
            <a:ext cx="540000" cy="540000"/>
          </a:xfrm>
          <a:prstGeom prst="rect">
            <a:avLst/>
          </a:prstGeom>
          <a:effectLst>
            <a:outerShdw blurRad="50800" dist="38100" dir="5400000" algn="t" rotWithShape="0">
              <a:prstClr val="black">
                <a:alpha val="40000"/>
              </a:prstClr>
            </a:outerShdw>
          </a:effectLst>
        </p:spPr>
      </p:pic>
      <p:pic>
        <p:nvPicPr>
          <p:cNvPr id="21" name="Picture 20">
            <a:extLst>
              <a:ext uri="{FF2B5EF4-FFF2-40B4-BE49-F238E27FC236}">
                <a16:creationId xmlns:a16="http://schemas.microsoft.com/office/drawing/2014/main" id="{F9AE848A-D40F-EDAE-48E5-1BBE91C75C04}"/>
              </a:ext>
            </a:extLst>
          </p:cNvPr>
          <p:cNvPicPr>
            <a:picLocks noChangeAspect="1"/>
          </p:cNvPicPr>
          <p:nvPr/>
        </p:nvPicPr>
        <p:blipFill>
          <a:blip r:embed="rId6"/>
          <a:stretch>
            <a:fillRect/>
          </a:stretch>
        </p:blipFill>
        <p:spPr>
          <a:xfrm>
            <a:off x="2934247" y="3666596"/>
            <a:ext cx="540000" cy="540000"/>
          </a:xfrm>
          <a:prstGeom prst="rect">
            <a:avLst/>
          </a:prstGeom>
          <a:effectLst>
            <a:outerShdw blurRad="50800" dist="38100" dir="5400000" algn="t" rotWithShape="0">
              <a:prstClr val="black">
                <a:alpha val="40000"/>
              </a:prstClr>
            </a:outerShdw>
          </a:effectLst>
        </p:spPr>
      </p:pic>
      <p:cxnSp>
        <p:nvCxnSpPr>
          <p:cNvPr id="22" name="Straight Connector 21">
            <a:extLst>
              <a:ext uri="{FF2B5EF4-FFF2-40B4-BE49-F238E27FC236}">
                <a16:creationId xmlns:a16="http://schemas.microsoft.com/office/drawing/2014/main" id="{2E4016B2-1770-68D8-457F-703D90F9EF07}"/>
              </a:ext>
            </a:extLst>
          </p:cNvPr>
          <p:cNvCxnSpPr>
            <a:cxnSpLocks/>
          </p:cNvCxnSpPr>
          <p:nvPr/>
        </p:nvCxnSpPr>
        <p:spPr>
          <a:xfrm>
            <a:off x="5206090" y="364368"/>
            <a:ext cx="0" cy="5868000"/>
          </a:xfrm>
          <a:prstGeom prst="line">
            <a:avLst/>
          </a:prstGeom>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70985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85">
          <a:extLst>
            <a:ext uri="{FF2B5EF4-FFF2-40B4-BE49-F238E27FC236}">
              <a16:creationId xmlns:a16="http://schemas.microsoft.com/office/drawing/2014/main" id="{E78A1600-7E21-9A66-7EA9-9E194DF8BE9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67991AE-B01F-0A00-F742-4D30BE973B15}"/>
              </a:ext>
            </a:extLst>
          </p:cNvPr>
          <p:cNvSpPr/>
          <p:nvPr/>
        </p:nvSpPr>
        <p:spPr>
          <a:xfrm>
            <a:off x="0" y="385235"/>
            <a:ext cx="8077200"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1">
            <a:extLst>
              <a:ext uri="{FF2B5EF4-FFF2-40B4-BE49-F238E27FC236}">
                <a16:creationId xmlns:a16="http://schemas.microsoft.com/office/drawing/2014/main" id="{F0C3BA8C-BC92-3484-8FA9-D8258F22A0CC}"/>
              </a:ext>
            </a:extLst>
          </p:cNvPr>
          <p:cNvSpPr txBox="1">
            <a:spLocks/>
          </p:cNvSpPr>
          <p:nvPr/>
        </p:nvSpPr>
        <p:spPr>
          <a:xfrm>
            <a:off x="296653" y="432860"/>
            <a:ext cx="8292175" cy="4635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900" dirty="0">
                <a:solidFill>
                  <a:schemeClr val="bg1"/>
                </a:solidFill>
                <a:effectLst>
                  <a:outerShdw blurRad="38100" dist="38100" dir="2700000" algn="tl">
                    <a:srgbClr val="000000">
                      <a:alpha val="43137"/>
                    </a:srgbClr>
                  </a:outerShdw>
                </a:effectLst>
              </a:rPr>
              <a:t>FEATURE SELECTION</a:t>
            </a:r>
          </a:p>
        </p:txBody>
      </p:sp>
      <p:pic>
        <p:nvPicPr>
          <p:cNvPr id="10" name="Picture 9" descr="A screenshot of a computer screen&#10;&#10;AI-generated content may be incorrect.">
            <a:extLst>
              <a:ext uri="{FF2B5EF4-FFF2-40B4-BE49-F238E27FC236}">
                <a16:creationId xmlns:a16="http://schemas.microsoft.com/office/drawing/2014/main" id="{B25CB19B-8320-2A68-6DB8-A08FF6B1725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4165" y="991660"/>
            <a:ext cx="6466663" cy="5765800"/>
          </a:xfrm>
          <a:prstGeom prst="rect">
            <a:avLst/>
          </a:prstGeom>
          <a:noFill/>
          <a:ln>
            <a:noFill/>
          </a:ln>
          <a:effectLst>
            <a:outerShdw blurRad="63500" sx="102000" sy="102000" algn="ctr" rotWithShape="0">
              <a:prstClr val="black">
                <a:alpha val="40000"/>
              </a:prstClr>
            </a:outerShdw>
          </a:effectLst>
        </p:spPr>
      </p:pic>
      <p:sp>
        <p:nvSpPr>
          <p:cNvPr id="12" name="Rectangle: Rounded Corners 11">
            <a:extLst>
              <a:ext uri="{FF2B5EF4-FFF2-40B4-BE49-F238E27FC236}">
                <a16:creationId xmlns:a16="http://schemas.microsoft.com/office/drawing/2014/main" id="{45EBCEA9-11DB-1A56-D77B-4AB73FC2E815}"/>
              </a:ext>
            </a:extLst>
          </p:cNvPr>
          <p:cNvSpPr/>
          <p:nvPr/>
        </p:nvSpPr>
        <p:spPr>
          <a:xfrm rot="2493981">
            <a:off x="4775208" y="4718505"/>
            <a:ext cx="409707" cy="1157676"/>
          </a:xfrm>
          <a:prstGeom prst="roundRect">
            <a:avLst>
              <a:gd name="adj" fmla="val 33838"/>
            </a:avLst>
          </a:prstGeom>
          <a:noFill/>
          <a:ln w="19050">
            <a:solidFill>
              <a:schemeClr val="accent2">
                <a:lumMod val="75000"/>
              </a:schemeClr>
            </a:solidFill>
            <a:prstDash val="sysDash"/>
          </a:ln>
          <a:effectLst>
            <a:outerShdw blurRad="50800" dist="38100" dir="16200000"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TextBox 13">
            <a:extLst>
              <a:ext uri="{FF2B5EF4-FFF2-40B4-BE49-F238E27FC236}">
                <a16:creationId xmlns:a16="http://schemas.microsoft.com/office/drawing/2014/main" id="{7D90754A-2DFE-9E14-CA85-15297FF23F9B}"/>
              </a:ext>
            </a:extLst>
          </p:cNvPr>
          <p:cNvSpPr txBox="1"/>
          <p:nvPr/>
        </p:nvSpPr>
        <p:spPr>
          <a:xfrm>
            <a:off x="6240526" y="4530400"/>
            <a:ext cx="2790825" cy="461665"/>
          </a:xfrm>
          <a:prstGeom prst="rect">
            <a:avLst/>
          </a:prstGeom>
          <a:solidFill>
            <a:schemeClr val="accent1">
              <a:lumMod val="75000"/>
            </a:schemeClr>
          </a:solidFill>
          <a:ln>
            <a:noFill/>
          </a:ln>
        </p:spPr>
        <p:txBody>
          <a:bodyPr spcFirstLastPara="1" wrap="square" lIns="121900" tIns="121900" rIns="121900" bIns="121900" anchor="ctr" anchorCtr="0">
            <a:noAutofit/>
          </a:bodyPr>
          <a:lstStyle>
            <a:defPPr>
              <a:defRPr lang="en-US"/>
            </a:defPPr>
            <a:lvl1pPr>
              <a:defRPr sz="1200">
                <a:solidFill>
                  <a:schemeClr val="dk1"/>
                </a:solidFill>
                <a:ea typeface="Oswald"/>
                <a:cs typeface="Oswald"/>
              </a:defRPr>
            </a:lvl1pPr>
          </a:lstStyle>
          <a:p>
            <a:r>
              <a:rPr lang="en-MY" dirty="0">
                <a:solidFill>
                  <a:schemeClr val="bg1"/>
                </a:solidFill>
              </a:rPr>
              <a:t>Multicollinearity exist between Pair bank location and Pair currency (&gt;0.75)</a:t>
            </a:r>
          </a:p>
        </p:txBody>
      </p:sp>
      <p:cxnSp>
        <p:nvCxnSpPr>
          <p:cNvPr id="16" name="Straight Arrow Connector 15">
            <a:extLst>
              <a:ext uri="{FF2B5EF4-FFF2-40B4-BE49-F238E27FC236}">
                <a16:creationId xmlns:a16="http://schemas.microsoft.com/office/drawing/2014/main" id="{0EDFA94A-CB83-D698-BF70-5C9989810ACC}"/>
              </a:ext>
            </a:extLst>
          </p:cNvPr>
          <p:cNvCxnSpPr>
            <a:cxnSpLocks/>
            <a:stCxn id="14" idx="1"/>
          </p:cNvCxnSpPr>
          <p:nvPr/>
        </p:nvCxnSpPr>
        <p:spPr>
          <a:xfrm flipH="1">
            <a:off x="5517382" y="4761233"/>
            <a:ext cx="723144" cy="15366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aphicFrame>
        <p:nvGraphicFramePr>
          <p:cNvPr id="19" name="Table 18">
            <a:extLst>
              <a:ext uri="{FF2B5EF4-FFF2-40B4-BE49-F238E27FC236}">
                <a16:creationId xmlns:a16="http://schemas.microsoft.com/office/drawing/2014/main" id="{ECA2797A-A687-F595-B974-A36B3466DB3D}"/>
              </a:ext>
            </a:extLst>
          </p:cNvPr>
          <p:cNvGraphicFramePr>
            <a:graphicFrameLocks noGrp="1"/>
          </p:cNvGraphicFramePr>
          <p:nvPr>
            <p:extLst>
              <p:ext uri="{D42A27DB-BD31-4B8C-83A1-F6EECF244321}">
                <p14:modId xmlns:p14="http://schemas.microsoft.com/office/powerpoint/2010/main" val="3657319663"/>
              </p:ext>
            </p:extLst>
          </p:nvPr>
        </p:nvGraphicFramePr>
        <p:xfrm>
          <a:off x="7059701" y="1089513"/>
          <a:ext cx="2664000" cy="3204000"/>
        </p:xfrm>
        <a:graphic>
          <a:graphicData uri="http://schemas.openxmlformats.org/drawingml/2006/table">
            <a:tbl>
              <a:tblPr firstRow="1" firstCol="1" bandRow="1">
                <a:effectLst>
                  <a:outerShdw blurRad="50800" dist="38100" algn="l" rotWithShape="0">
                    <a:prstClr val="black">
                      <a:alpha val="40000"/>
                    </a:prstClr>
                  </a:outerShdw>
                </a:effectLst>
                <a:tableStyleId>{125E5076-3810-47DD-B79F-674D7AD40C01}</a:tableStyleId>
              </a:tblPr>
              <a:tblGrid>
                <a:gridCol w="1764000">
                  <a:extLst>
                    <a:ext uri="{9D8B030D-6E8A-4147-A177-3AD203B41FA5}">
                      <a16:colId xmlns:a16="http://schemas.microsoft.com/office/drawing/2014/main" val="755014123"/>
                    </a:ext>
                  </a:extLst>
                </a:gridCol>
                <a:gridCol w="900000">
                  <a:extLst>
                    <a:ext uri="{9D8B030D-6E8A-4147-A177-3AD203B41FA5}">
                      <a16:colId xmlns:a16="http://schemas.microsoft.com/office/drawing/2014/main" val="2688733697"/>
                    </a:ext>
                  </a:extLst>
                </a:gridCol>
              </a:tblGrid>
              <a:tr h="324000">
                <a:tc gridSpan="2">
                  <a:txBody>
                    <a:bodyPr/>
                    <a:lstStyle/>
                    <a:p>
                      <a:pPr algn="ctr">
                        <a:lnSpc>
                          <a:spcPct val="150000"/>
                        </a:lnSpc>
                        <a:buNone/>
                      </a:pPr>
                      <a:r>
                        <a:rPr lang="en-MY" sz="1200" dirty="0">
                          <a:effectLst/>
                        </a:rPr>
                        <a:t>Correlation with target (</a:t>
                      </a:r>
                      <a:r>
                        <a:rPr lang="en-MY" sz="1200" dirty="0" err="1">
                          <a:effectLst/>
                        </a:rPr>
                        <a:t>Is_laundering</a:t>
                      </a:r>
                      <a:r>
                        <a:rPr lang="en-MY" sz="1200" dirty="0">
                          <a:effectLst/>
                        </a:rPr>
                        <a:t>)</a:t>
                      </a:r>
                      <a:endParaRPr lang="en-MY" sz="1200" dirty="0">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75000"/>
                      </a:schemeClr>
                    </a:solidFill>
                  </a:tcPr>
                </a:tc>
                <a:tc hMerge="1">
                  <a:txBody>
                    <a:bodyPr/>
                    <a:lstStyle/>
                    <a:p>
                      <a:endParaRPr dirty="0"/>
                    </a:p>
                  </a:txBody>
                  <a:tcPr marL="38738" marR="38738" marT="0" marB="0">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292688043"/>
                  </a:ext>
                </a:extLst>
              </a:tr>
              <a:tr h="288000">
                <a:tc>
                  <a:txBody>
                    <a:bodyPr/>
                    <a:lstStyle/>
                    <a:p>
                      <a:pPr>
                        <a:lnSpc>
                          <a:spcPct val="150000"/>
                        </a:lnSpc>
                        <a:buNone/>
                      </a:pPr>
                      <a:r>
                        <a:rPr lang="en-MY" sz="1200" dirty="0">
                          <a:solidFill>
                            <a:schemeClr val="tx1"/>
                          </a:solidFill>
                          <a:effectLst/>
                        </a:rPr>
                        <a:t>1. </a:t>
                      </a:r>
                      <a:r>
                        <a:rPr lang="en-MY" sz="1200" dirty="0" err="1">
                          <a:solidFill>
                            <a:schemeClr val="tx1"/>
                          </a:solidFill>
                          <a:effectLst/>
                        </a:rPr>
                        <a:t>Avg_Amount_Sent</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0.0431</a:t>
                      </a: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032853515"/>
                  </a:ext>
                </a:extLst>
              </a:tr>
              <a:tr h="288000">
                <a:tc>
                  <a:txBody>
                    <a:bodyPr/>
                    <a:lstStyle/>
                    <a:p>
                      <a:pPr>
                        <a:lnSpc>
                          <a:spcPct val="150000"/>
                        </a:lnSpc>
                        <a:buNone/>
                      </a:pPr>
                      <a:r>
                        <a:rPr lang="en-MY" sz="1200" dirty="0">
                          <a:solidFill>
                            <a:schemeClr val="tx1"/>
                          </a:solidFill>
                          <a:effectLst/>
                        </a:rPr>
                        <a:t>2. Amount</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0.0401</a:t>
                      </a: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016801435"/>
                  </a:ext>
                </a:extLst>
              </a:tr>
              <a:tr h="288000">
                <a:tc>
                  <a:txBody>
                    <a:bodyPr/>
                    <a:lstStyle/>
                    <a:p>
                      <a:pPr>
                        <a:lnSpc>
                          <a:spcPct val="150000"/>
                        </a:lnSpc>
                        <a:buNone/>
                      </a:pPr>
                      <a:r>
                        <a:rPr lang="en-MY" sz="1200" dirty="0">
                          <a:solidFill>
                            <a:schemeClr val="tx1"/>
                          </a:solidFill>
                          <a:effectLst/>
                        </a:rPr>
                        <a:t>3. </a:t>
                      </a:r>
                      <a:r>
                        <a:rPr lang="en-MY" sz="1200" dirty="0" err="1">
                          <a:solidFill>
                            <a:schemeClr val="tx1"/>
                          </a:solidFill>
                          <a:effectLst/>
                        </a:rPr>
                        <a:t>Tx_Interval</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0.0360</a:t>
                      </a: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78372968"/>
                  </a:ext>
                </a:extLst>
              </a:tr>
              <a:tr h="288000">
                <a:tc>
                  <a:txBody>
                    <a:bodyPr/>
                    <a:lstStyle/>
                    <a:p>
                      <a:pPr>
                        <a:lnSpc>
                          <a:spcPct val="150000"/>
                        </a:lnSpc>
                        <a:buNone/>
                      </a:pPr>
                      <a:r>
                        <a:rPr lang="en-MY" sz="1200" dirty="0">
                          <a:solidFill>
                            <a:schemeClr val="tx1"/>
                          </a:solidFill>
                          <a:effectLst/>
                        </a:rPr>
                        <a:t>4. </a:t>
                      </a:r>
                      <a:r>
                        <a:rPr lang="en-MY" sz="1200" dirty="0" err="1">
                          <a:solidFill>
                            <a:schemeClr val="tx1"/>
                          </a:solidFill>
                          <a:effectLst/>
                        </a:rPr>
                        <a:t>Laundering_Structure</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0.0321</a:t>
                      </a: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110782998"/>
                  </a:ext>
                </a:extLst>
              </a:tr>
              <a:tr h="288000">
                <a:tc>
                  <a:txBody>
                    <a:bodyPr/>
                    <a:lstStyle/>
                    <a:p>
                      <a:pPr>
                        <a:lnSpc>
                          <a:spcPct val="150000"/>
                        </a:lnSpc>
                        <a:buNone/>
                      </a:pPr>
                      <a:r>
                        <a:rPr lang="en-MY" sz="1200" dirty="0">
                          <a:solidFill>
                            <a:schemeClr val="tx1"/>
                          </a:solidFill>
                          <a:effectLst/>
                        </a:rPr>
                        <a:t>5. </a:t>
                      </a:r>
                      <a:r>
                        <a:rPr lang="en-MY" sz="1200" dirty="0" err="1">
                          <a:solidFill>
                            <a:schemeClr val="tx1"/>
                          </a:solidFill>
                          <a:effectLst/>
                        </a:rPr>
                        <a:t>Tx_per_Day</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-0.0188</a:t>
                      </a: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23078648"/>
                  </a:ext>
                </a:extLst>
              </a:tr>
              <a:tr h="288000">
                <a:tc>
                  <a:txBody>
                    <a:bodyPr/>
                    <a:lstStyle/>
                    <a:p>
                      <a:pPr>
                        <a:lnSpc>
                          <a:spcPct val="150000"/>
                        </a:lnSpc>
                        <a:buNone/>
                      </a:pPr>
                      <a:r>
                        <a:rPr lang="en-MY" sz="1200" dirty="0">
                          <a:solidFill>
                            <a:schemeClr val="tx1"/>
                          </a:solidFill>
                          <a:effectLst/>
                        </a:rPr>
                        <a:t>6. </a:t>
                      </a:r>
                      <a:r>
                        <a:rPr lang="en-MY" sz="1200" dirty="0" err="1">
                          <a:solidFill>
                            <a:schemeClr val="tx1"/>
                          </a:solidFill>
                          <a:effectLst/>
                        </a:rPr>
                        <a:t>Pair_currency</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-0.0105</a:t>
                      </a: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939047118"/>
                  </a:ext>
                </a:extLst>
              </a:tr>
              <a:tr h="288000">
                <a:tc>
                  <a:txBody>
                    <a:bodyPr/>
                    <a:lstStyle/>
                    <a:p>
                      <a:pPr>
                        <a:lnSpc>
                          <a:spcPct val="150000"/>
                        </a:lnSpc>
                        <a:buNone/>
                      </a:pPr>
                      <a:r>
                        <a:rPr lang="en-MY" sz="1200" dirty="0">
                          <a:solidFill>
                            <a:schemeClr val="tx1"/>
                          </a:solidFill>
                          <a:effectLst/>
                        </a:rPr>
                        <a:t>7. </a:t>
                      </a:r>
                      <a:r>
                        <a:rPr lang="en-MY" sz="1200" dirty="0" err="1">
                          <a:solidFill>
                            <a:schemeClr val="tx1"/>
                          </a:solidFill>
                          <a:effectLst/>
                        </a:rPr>
                        <a:t>Pair_bank_location</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-0.0065</a:t>
                      </a: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567558525"/>
                  </a:ext>
                </a:extLst>
              </a:tr>
              <a:tr h="288000">
                <a:tc>
                  <a:txBody>
                    <a:bodyPr/>
                    <a:lstStyle/>
                    <a:p>
                      <a:pPr>
                        <a:lnSpc>
                          <a:spcPct val="150000"/>
                        </a:lnSpc>
                        <a:buNone/>
                      </a:pPr>
                      <a:r>
                        <a:rPr lang="en-MY" sz="1200" dirty="0">
                          <a:solidFill>
                            <a:schemeClr val="tx1"/>
                          </a:solidFill>
                          <a:effectLst/>
                        </a:rPr>
                        <a:t>8. </a:t>
                      </a:r>
                      <a:r>
                        <a:rPr lang="en-MY" sz="1200" dirty="0" err="1">
                          <a:solidFill>
                            <a:schemeClr val="tx1"/>
                          </a:solidFill>
                          <a:effectLst/>
                        </a:rPr>
                        <a:t>Payment_type</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-0.0017</a:t>
                      </a: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163566485"/>
                  </a:ext>
                </a:extLst>
              </a:tr>
              <a:tr h="288000">
                <a:tc>
                  <a:txBody>
                    <a:bodyPr/>
                    <a:lstStyle/>
                    <a:p>
                      <a:pPr marL="0" algn="l" defTabSz="914400" rtl="0" eaLnBrk="1" latinLnBrk="0" hangingPunct="1">
                        <a:lnSpc>
                          <a:spcPct val="150000"/>
                        </a:lnSpc>
                        <a:buNone/>
                      </a:pPr>
                      <a:r>
                        <a:rPr lang="en-MY" sz="1200" b="1" kern="1200" dirty="0">
                          <a:solidFill>
                            <a:schemeClr val="tx1"/>
                          </a:solidFill>
                          <a:effectLst/>
                          <a:latin typeface="+mn-lt"/>
                          <a:ea typeface="+mn-ea"/>
                          <a:cs typeface="+mn-cs"/>
                        </a:rPr>
                        <a:t>9. </a:t>
                      </a:r>
                      <a:r>
                        <a:rPr lang="en-MY" sz="1200" b="1" kern="1200" dirty="0" err="1">
                          <a:solidFill>
                            <a:schemeClr val="tx1"/>
                          </a:solidFill>
                          <a:effectLst/>
                          <a:latin typeface="+mn-lt"/>
                          <a:ea typeface="+mn-ea"/>
                          <a:cs typeface="+mn-cs"/>
                        </a:rPr>
                        <a:t>TimeOfDay</a:t>
                      </a:r>
                      <a:endParaRPr lang="en-MY" sz="1200" b="1" kern="1200" dirty="0">
                        <a:solidFill>
                          <a:schemeClr val="tx1"/>
                        </a:solidFill>
                        <a:effectLst/>
                        <a:latin typeface="+mn-lt"/>
                        <a:ea typeface="+mn-ea"/>
                        <a:cs typeface="+mn-cs"/>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-0.0015</a:t>
                      </a: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79424863"/>
                  </a:ext>
                </a:extLst>
              </a:tr>
              <a:tr h="288000">
                <a:tc>
                  <a:txBody>
                    <a:bodyPr/>
                    <a:lstStyle/>
                    <a:p>
                      <a:pPr marL="0" algn="l" defTabSz="914400" rtl="0" eaLnBrk="1" latinLnBrk="0" hangingPunct="1">
                        <a:lnSpc>
                          <a:spcPct val="150000"/>
                        </a:lnSpc>
                        <a:buNone/>
                      </a:pPr>
                      <a:r>
                        <a:rPr lang="en-MY" sz="1200" b="1" kern="1200" dirty="0">
                          <a:solidFill>
                            <a:schemeClr val="tx1"/>
                          </a:solidFill>
                          <a:effectLst/>
                          <a:latin typeface="+mn-lt"/>
                          <a:ea typeface="+mn-ea"/>
                          <a:cs typeface="+mn-cs"/>
                        </a:rPr>
                        <a:t>10. </a:t>
                      </a:r>
                      <a:r>
                        <a:rPr lang="en-MY" sz="1200" b="1" kern="1200" dirty="0" err="1">
                          <a:solidFill>
                            <a:schemeClr val="tx1"/>
                          </a:solidFill>
                          <a:effectLst/>
                          <a:latin typeface="+mn-lt"/>
                          <a:ea typeface="+mn-ea"/>
                          <a:cs typeface="+mn-cs"/>
                        </a:rPr>
                        <a:t>Is_Weekend</a:t>
                      </a:r>
                      <a:endParaRPr lang="en-MY" sz="1200" b="1" kern="1200" dirty="0">
                        <a:solidFill>
                          <a:schemeClr val="tx1"/>
                        </a:solidFill>
                        <a:effectLst/>
                        <a:latin typeface="+mn-lt"/>
                        <a:ea typeface="+mn-ea"/>
                        <a:cs typeface="+mn-cs"/>
                      </a:endParaRPr>
                    </a:p>
                  </a:txBody>
                  <a:tcPr marL="38738" marR="38738"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-0.0011</a:t>
                      </a: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986503578"/>
                  </a:ext>
                </a:extLst>
              </a:tr>
            </a:tbl>
          </a:graphicData>
        </a:graphic>
      </p:graphicFrame>
      <p:sp>
        <p:nvSpPr>
          <p:cNvPr id="20" name="TextBox 19">
            <a:extLst>
              <a:ext uri="{FF2B5EF4-FFF2-40B4-BE49-F238E27FC236}">
                <a16:creationId xmlns:a16="http://schemas.microsoft.com/office/drawing/2014/main" id="{FFDF5DC4-0293-BC7F-893C-344987B5E60A}"/>
              </a:ext>
            </a:extLst>
          </p:cNvPr>
          <p:cNvSpPr txBox="1"/>
          <p:nvPr/>
        </p:nvSpPr>
        <p:spPr>
          <a:xfrm>
            <a:off x="10142574" y="1950760"/>
            <a:ext cx="1428750" cy="1622543"/>
          </a:xfrm>
          <a:prstGeom prst="rect">
            <a:avLst/>
          </a:prstGeom>
          <a:solidFill>
            <a:schemeClr val="accent6">
              <a:lumMod val="60000"/>
              <a:lumOff val="40000"/>
            </a:schemeClr>
          </a:solidFill>
          <a:ln>
            <a:noFill/>
          </a:ln>
          <a:effectLst>
            <a:outerShdw blurRad="50800" dist="38100" dir="5400000" algn="t" rotWithShape="0">
              <a:prstClr val="black">
                <a:alpha val="40000"/>
              </a:prstClr>
            </a:outerShdw>
          </a:effectLst>
        </p:spPr>
        <p:txBody>
          <a:bodyPr spcFirstLastPara="1" wrap="square" lIns="121900" tIns="121900" rIns="121900" bIns="121900" anchor="ctr" anchorCtr="0">
            <a:noAutofit/>
          </a:bodyPr>
          <a:lstStyle>
            <a:defPPr>
              <a:defRPr lang="en-US"/>
            </a:defPPr>
            <a:lvl1pPr algn="ctr">
              <a:defRPr sz="1200">
                <a:solidFill>
                  <a:schemeClr val="bg1"/>
                </a:solidFill>
                <a:ea typeface="Oswald"/>
                <a:cs typeface="Oswald"/>
              </a:defRPr>
            </a:lvl1pPr>
          </a:lstStyle>
          <a:p>
            <a:r>
              <a:rPr lang="en-MY" dirty="0"/>
              <a:t>All features have very weak linear correlations with target feature (&lt;0.05)</a:t>
            </a:r>
          </a:p>
        </p:txBody>
      </p:sp>
      <p:sp>
        <p:nvSpPr>
          <p:cNvPr id="21" name="TextBox 20">
            <a:extLst>
              <a:ext uri="{FF2B5EF4-FFF2-40B4-BE49-F238E27FC236}">
                <a16:creationId xmlns:a16="http://schemas.microsoft.com/office/drawing/2014/main" id="{3ED799A1-CA12-036C-3121-67E6B8790202}"/>
              </a:ext>
            </a:extLst>
          </p:cNvPr>
          <p:cNvSpPr txBox="1"/>
          <p:nvPr/>
        </p:nvSpPr>
        <p:spPr>
          <a:xfrm>
            <a:off x="6834179" y="5262195"/>
            <a:ext cx="5006755" cy="1456620"/>
          </a:xfrm>
          <a:prstGeom prst="rect">
            <a:avLst/>
          </a:prstGeom>
          <a:solidFill>
            <a:schemeClr val="accent6">
              <a:lumMod val="60000"/>
              <a:lumOff val="40000"/>
            </a:schemeClr>
          </a:solidFill>
          <a:ln>
            <a:noFill/>
          </a:ln>
          <a:effectLst>
            <a:outerShdw blurRad="50800" dist="38100" dir="5400000" algn="t" rotWithShape="0">
              <a:prstClr val="black">
                <a:alpha val="40000"/>
              </a:prstClr>
            </a:outerShdw>
          </a:effectLst>
        </p:spPr>
        <p:txBody>
          <a:bodyPr spcFirstLastPara="1" wrap="square" lIns="121900" tIns="121900" rIns="121900" bIns="121900" anchor="ctr" anchorCtr="0">
            <a:noAutofit/>
          </a:bodyPr>
          <a:lstStyle>
            <a:defPPr>
              <a:defRPr lang="en-US"/>
            </a:defPPr>
            <a:lvl1pPr algn="ctr">
              <a:defRPr sz="1200">
                <a:solidFill>
                  <a:schemeClr val="bg1"/>
                </a:solidFill>
                <a:ea typeface="Oswald"/>
                <a:cs typeface="Oswald"/>
              </a:defRPr>
            </a:lvl1pPr>
          </a:lstStyle>
          <a:p>
            <a:r>
              <a:rPr lang="en-MY" dirty="0"/>
              <a:t>Remain all features except for </a:t>
            </a:r>
            <a:r>
              <a:rPr lang="en-MY" b="1" dirty="0" err="1">
                <a:solidFill>
                  <a:schemeClr val="accent2">
                    <a:lumMod val="50000"/>
                  </a:schemeClr>
                </a:solidFill>
              </a:rPr>
              <a:t>Pair_currency</a:t>
            </a:r>
            <a:r>
              <a:rPr lang="en-MY" b="1" dirty="0">
                <a:solidFill>
                  <a:schemeClr val="accent2">
                    <a:lumMod val="50000"/>
                  </a:schemeClr>
                </a:solidFill>
              </a:rPr>
              <a:t> </a:t>
            </a:r>
            <a:r>
              <a:rPr lang="en-MY" dirty="0"/>
              <a:t>due to multicollinearity.</a:t>
            </a:r>
          </a:p>
          <a:p>
            <a:endParaRPr lang="en-MY" dirty="0"/>
          </a:p>
          <a:p>
            <a:r>
              <a:rPr lang="en-MY" dirty="0"/>
              <a:t>Therefore, the model  is now has </a:t>
            </a:r>
            <a:r>
              <a:rPr lang="en-MY" dirty="0">
                <a:solidFill>
                  <a:srgbClr val="FFC000"/>
                </a:solidFill>
              </a:rPr>
              <a:t>9 independent variables (x) and 1 dependent variable </a:t>
            </a:r>
            <a:r>
              <a:rPr lang="en-MY" dirty="0"/>
              <a:t>ready for training.</a:t>
            </a:r>
          </a:p>
          <a:p>
            <a:endParaRPr lang="en-MY" dirty="0"/>
          </a:p>
          <a:p>
            <a:r>
              <a:rPr lang="en-MY" b="1" dirty="0"/>
              <a:t>The dependent/target variable:</a:t>
            </a:r>
          </a:p>
          <a:p>
            <a:r>
              <a:rPr lang="en-MY" dirty="0" err="1">
                <a:solidFill>
                  <a:srgbClr val="FFC000"/>
                </a:solidFill>
              </a:rPr>
              <a:t>Is_laundering</a:t>
            </a:r>
            <a:r>
              <a:rPr lang="en-MY" dirty="0">
                <a:solidFill>
                  <a:srgbClr val="FFC000"/>
                </a:solidFill>
              </a:rPr>
              <a:t> </a:t>
            </a:r>
            <a:r>
              <a:rPr lang="en-MY" dirty="0"/>
              <a:t>where ‘0’ is normal transaction and ‘1’ suspicious transaction</a:t>
            </a:r>
          </a:p>
        </p:txBody>
      </p:sp>
      <p:pic>
        <p:nvPicPr>
          <p:cNvPr id="25" name="Picture 24">
            <a:extLst>
              <a:ext uri="{FF2B5EF4-FFF2-40B4-BE49-F238E27FC236}">
                <a16:creationId xmlns:a16="http://schemas.microsoft.com/office/drawing/2014/main" id="{741BF325-70D3-2B90-942F-C80A41C92DA5}"/>
              </a:ext>
            </a:extLst>
          </p:cNvPr>
          <p:cNvPicPr>
            <a:picLocks noChangeAspect="1"/>
          </p:cNvPicPr>
          <p:nvPr/>
        </p:nvPicPr>
        <p:blipFill>
          <a:blip r:embed="rId4"/>
          <a:stretch>
            <a:fillRect/>
          </a:stretch>
        </p:blipFill>
        <p:spPr>
          <a:xfrm>
            <a:off x="9872574" y="1680760"/>
            <a:ext cx="540000" cy="540000"/>
          </a:xfrm>
          <a:prstGeom prst="rect">
            <a:avLst/>
          </a:prstGeom>
          <a:effectLst>
            <a:outerShdw blurRad="50800" dist="38100" dir="5400000" algn="t" rotWithShape="0">
              <a:prstClr val="black">
                <a:alpha val="40000"/>
              </a:prstClr>
            </a:outerShdw>
          </a:effectLst>
        </p:spPr>
      </p:pic>
      <p:pic>
        <p:nvPicPr>
          <p:cNvPr id="27" name="Picture 26">
            <a:extLst>
              <a:ext uri="{FF2B5EF4-FFF2-40B4-BE49-F238E27FC236}">
                <a16:creationId xmlns:a16="http://schemas.microsoft.com/office/drawing/2014/main" id="{7D29B656-2EC0-5B04-8BBA-D8A11B18B716}"/>
              </a:ext>
            </a:extLst>
          </p:cNvPr>
          <p:cNvPicPr>
            <a:picLocks noChangeAspect="1"/>
          </p:cNvPicPr>
          <p:nvPr/>
        </p:nvPicPr>
        <p:blipFill>
          <a:blip r:embed="rId5"/>
          <a:stretch>
            <a:fillRect/>
          </a:stretch>
        </p:blipFill>
        <p:spPr>
          <a:xfrm>
            <a:off x="6844691" y="2885801"/>
            <a:ext cx="247763" cy="247763"/>
          </a:xfrm>
          <a:prstGeom prst="rect">
            <a:avLst/>
          </a:prstGeom>
          <a:effectLst>
            <a:innerShdw blurRad="63500" dist="50800" dir="13500000">
              <a:prstClr val="black">
                <a:alpha val="50000"/>
              </a:prstClr>
            </a:innerShdw>
          </a:effectLst>
        </p:spPr>
      </p:pic>
    </p:spTree>
    <p:extLst>
      <p:ext uri="{BB962C8B-B14F-4D97-AF65-F5344CB8AC3E}">
        <p14:creationId xmlns:p14="http://schemas.microsoft.com/office/powerpoint/2010/main" val="3706209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85">
          <a:extLst>
            <a:ext uri="{FF2B5EF4-FFF2-40B4-BE49-F238E27FC236}">
              <a16:creationId xmlns:a16="http://schemas.microsoft.com/office/drawing/2014/main" id="{387C9203-35C0-0800-3145-DD9F24056E78}"/>
            </a:ext>
          </a:extLst>
        </p:cNvPr>
        <p:cNvGrpSpPr/>
        <p:nvPr/>
      </p:nvGrpSpPr>
      <p:grpSpPr>
        <a:xfrm>
          <a:off x="0" y="0"/>
          <a:ext cx="0" cy="0"/>
          <a:chOff x="0" y="0"/>
          <a:chExt cx="0" cy="0"/>
        </a:xfrm>
      </p:grpSpPr>
      <p:sp>
        <p:nvSpPr>
          <p:cNvPr id="2020" name="Google Shape;2020;p104">
            <a:extLst>
              <a:ext uri="{FF2B5EF4-FFF2-40B4-BE49-F238E27FC236}">
                <a16:creationId xmlns:a16="http://schemas.microsoft.com/office/drawing/2014/main" id="{46494EF5-884D-CAD0-A410-2B662190ABFD}"/>
              </a:ext>
            </a:extLst>
          </p:cNvPr>
          <p:cNvSpPr txBox="1"/>
          <p:nvPr/>
        </p:nvSpPr>
        <p:spPr>
          <a:xfrm>
            <a:off x="938914" y="1122615"/>
            <a:ext cx="9299285" cy="511200"/>
          </a:xfrm>
          <a:prstGeom prst="rect">
            <a:avLst/>
          </a:prstGeom>
          <a:noFill/>
          <a:ln>
            <a:noFill/>
          </a:ln>
        </p:spPr>
        <p:txBody>
          <a:bodyPr spcFirstLastPara="1" wrap="square" lIns="121900" tIns="121900" rIns="121900" bIns="121900" anchor="ctr" anchorCtr="0">
            <a:noAutofit/>
          </a:bodyPr>
          <a:lstStyle/>
          <a:p>
            <a:r>
              <a:rPr lang="de" sz="2400" b="1" dirty="0">
                <a:solidFill>
                  <a:schemeClr val="dk1"/>
                </a:solidFill>
                <a:ea typeface="Oswald"/>
                <a:cs typeface="Oswald"/>
                <a:sym typeface="Oswald"/>
              </a:rPr>
              <a:t>Identify Min, M</a:t>
            </a:r>
            <a:r>
              <a:rPr lang="en-MY" sz="2400" b="1" dirty="0">
                <a:solidFill>
                  <a:schemeClr val="dk1"/>
                </a:solidFill>
                <a:ea typeface="Oswald"/>
                <a:cs typeface="Oswald"/>
                <a:sym typeface="Oswald"/>
              </a:rPr>
              <a:t>a</a:t>
            </a:r>
            <a:r>
              <a:rPr lang="de" sz="2400" b="1" dirty="0">
                <a:solidFill>
                  <a:schemeClr val="dk1"/>
                </a:solidFill>
                <a:ea typeface="Oswald"/>
                <a:cs typeface="Oswald"/>
                <a:sym typeface="Oswald"/>
              </a:rPr>
              <a:t>x &amp; Mean for Laundering and Normal Transactions</a:t>
            </a:r>
            <a:endParaRPr sz="2400" b="1" dirty="0">
              <a:solidFill>
                <a:schemeClr val="dk1"/>
              </a:solidFill>
              <a:ea typeface="Oswald"/>
              <a:cs typeface="Oswald"/>
              <a:sym typeface="Oswald"/>
            </a:endParaRPr>
          </a:p>
        </p:txBody>
      </p:sp>
      <p:sp>
        <p:nvSpPr>
          <p:cNvPr id="2021" name="Google Shape;2021;p104">
            <a:extLst>
              <a:ext uri="{FF2B5EF4-FFF2-40B4-BE49-F238E27FC236}">
                <a16:creationId xmlns:a16="http://schemas.microsoft.com/office/drawing/2014/main" id="{6D5590F8-B4C5-17CE-7165-836D5301F937}"/>
              </a:ext>
            </a:extLst>
          </p:cNvPr>
          <p:cNvSpPr txBox="1"/>
          <p:nvPr/>
        </p:nvSpPr>
        <p:spPr>
          <a:xfrm>
            <a:off x="6856737" y="2297357"/>
            <a:ext cx="4567575" cy="2849999"/>
          </a:xfrm>
          <a:prstGeom prst="rect">
            <a:avLst/>
          </a:prstGeom>
          <a:noFill/>
          <a:ln>
            <a:noFill/>
          </a:ln>
        </p:spPr>
        <p:txBody>
          <a:bodyPr spcFirstLastPara="1" wrap="square" lIns="121900" tIns="121900" rIns="121900" bIns="121900" anchor="t" anchorCtr="0">
            <a:noAutofit/>
          </a:bodyPr>
          <a:lstStyle/>
          <a:p>
            <a:pPr marL="380990" indent="-380990">
              <a:buFont typeface="Wingdings" panose="05000000000000000000" pitchFamily="2" charset="2"/>
              <a:buChar char="ü"/>
            </a:pPr>
            <a:r>
              <a:rPr lang="de" dirty="0">
                <a:ea typeface="Titillium Web"/>
                <a:cs typeface="Titillium Web"/>
                <a:sym typeface="Titillium Web"/>
              </a:rPr>
              <a:t>Maximum amount in laundering transactions is significantly higher than normal transactions</a:t>
            </a:r>
          </a:p>
          <a:p>
            <a:pPr marL="380990" indent="-380990">
              <a:buFont typeface="Wingdings" panose="05000000000000000000" pitchFamily="2" charset="2"/>
              <a:buChar char="ü"/>
            </a:pPr>
            <a:r>
              <a:rPr lang="de" dirty="0">
                <a:ea typeface="Titillium Web"/>
                <a:cs typeface="Titillium Web"/>
                <a:sym typeface="Titillium Web"/>
              </a:rPr>
              <a:t>Both transactions have extremely small minimum amount</a:t>
            </a:r>
          </a:p>
          <a:p>
            <a:endParaRPr lang="de" dirty="0">
              <a:solidFill>
                <a:schemeClr val="accent5"/>
              </a:solidFill>
              <a:ea typeface="Titillium Web"/>
              <a:cs typeface="Titillium Web"/>
              <a:sym typeface="Titillium Web"/>
            </a:endParaRPr>
          </a:p>
          <a:p>
            <a:pPr marL="380990" indent="-380990">
              <a:buFont typeface="Wingdings" panose="05000000000000000000" pitchFamily="2" charset="2"/>
              <a:buChar char="ü"/>
            </a:pPr>
            <a:r>
              <a:rPr lang="de" b="1" dirty="0">
                <a:solidFill>
                  <a:schemeClr val="accent2"/>
                </a:solidFill>
                <a:ea typeface="Titillium Web"/>
                <a:cs typeface="Titillium Web"/>
                <a:sym typeface="Titillium Web"/>
              </a:rPr>
              <a:t>Laundering transactions often involve extreme values</a:t>
            </a:r>
            <a:endParaRPr b="1" dirty="0">
              <a:solidFill>
                <a:schemeClr val="accent2"/>
              </a:solidFill>
              <a:ea typeface="Titillium Web"/>
              <a:cs typeface="Titillium Web"/>
              <a:sym typeface="Titillium Web"/>
            </a:endParaRPr>
          </a:p>
        </p:txBody>
      </p:sp>
      <p:pic>
        <p:nvPicPr>
          <p:cNvPr id="2" name="Picture 1">
            <a:extLst>
              <a:ext uri="{FF2B5EF4-FFF2-40B4-BE49-F238E27FC236}">
                <a16:creationId xmlns:a16="http://schemas.microsoft.com/office/drawing/2014/main" id="{B67C2829-E58F-ABAD-DDE0-59AB0D81C2A6}"/>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612" y="1710644"/>
            <a:ext cx="6356125" cy="4219745"/>
          </a:xfrm>
          <a:prstGeom prst="rect">
            <a:avLst/>
          </a:prstGeom>
          <a:noFill/>
          <a:ln>
            <a:noFill/>
          </a:ln>
        </p:spPr>
      </p:pic>
      <p:cxnSp>
        <p:nvCxnSpPr>
          <p:cNvPr id="4" name="Straight Arrow Connector 3">
            <a:extLst>
              <a:ext uri="{FF2B5EF4-FFF2-40B4-BE49-F238E27FC236}">
                <a16:creationId xmlns:a16="http://schemas.microsoft.com/office/drawing/2014/main" id="{23E03EF7-E1B3-93F4-31BC-7F440833E503}"/>
              </a:ext>
            </a:extLst>
          </p:cNvPr>
          <p:cNvCxnSpPr/>
          <p:nvPr/>
        </p:nvCxnSpPr>
        <p:spPr>
          <a:xfrm>
            <a:off x="2289629" y="4510314"/>
            <a:ext cx="3860800" cy="0"/>
          </a:xfrm>
          <a:prstGeom prst="straightConnector1">
            <a:avLst/>
          </a:prstGeom>
          <a:ln w="3810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13522A-F3C6-763F-45C0-E534F7A0323F}"/>
              </a:ext>
            </a:extLst>
          </p:cNvPr>
          <p:cNvSpPr txBox="1"/>
          <p:nvPr/>
        </p:nvSpPr>
        <p:spPr>
          <a:xfrm>
            <a:off x="2565401" y="4047168"/>
            <a:ext cx="3860800" cy="379656"/>
          </a:xfrm>
          <a:prstGeom prst="rect">
            <a:avLst/>
          </a:prstGeom>
          <a:noFill/>
          <a:ln>
            <a:noFill/>
          </a:ln>
        </p:spPr>
        <p:txBody>
          <a:bodyPr wrap="square">
            <a:spAutoFit/>
          </a:bodyPr>
          <a:lstStyle/>
          <a:p>
            <a:r>
              <a:rPr lang="en-US" sz="1867" b="1" dirty="0">
                <a:solidFill>
                  <a:schemeClr val="accent2"/>
                </a:solidFill>
                <a:latin typeface="Titillium Web"/>
                <a:ea typeface="Titillium Web"/>
                <a:cs typeface="Titillium Web"/>
                <a:sym typeface="Titillium Web"/>
              </a:rPr>
              <a:t>Large Gaps = Extreme Outliers</a:t>
            </a:r>
          </a:p>
        </p:txBody>
      </p:sp>
      <p:sp>
        <p:nvSpPr>
          <p:cNvPr id="5" name="Rectangle 4">
            <a:extLst>
              <a:ext uri="{FF2B5EF4-FFF2-40B4-BE49-F238E27FC236}">
                <a16:creationId xmlns:a16="http://schemas.microsoft.com/office/drawing/2014/main" id="{5CEB20F8-5E9F-0C7F-A39A-2F2CA85FCEC8}"/>
              </a:ext>
            </a:extLst>
          </p:cNvPr>
          <p:cNvSpPr/>
          <p:nvPr/>
        </p:nvSpPr>
        <p:spPr>
          <a:xfrm>
            <a:off x="0" y="385235"/>
            <a:ext cx="7065282"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1">
            <a:extLst>
              <a:ext uri="{FF2B5EF4-FFF2-40B4-BE49-F238E27FC236}">
                <a16:creationId xmlns:a16="http://schemas.microsoft.com/office/drawing/2014/main" id="{44C82AD4-FDB8-7C1A-732F-BD6EEA869195}"/>
              </a:ext>
            </a:extLst>
          </p:cNvPr>
          <p:cNvSpPr txBox="1">
            <a:spLocks/>
          </p:cNvSpPr>
          <p:nvPr/>
        </p:nvSpPr>
        <p:spPr>
          <a:xfrm>
            <a:off x="938914" y="432860"/>
            <a:ext cx="4764617" cy="4635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900" dirty="0">
                <a:solidFill>
                  <a:schemeClr val="bg1"/>
                </a:solidFill>
                <a:effectLst>
                  <a:outerShdw blurRad="38100" dist="38100" dir="2700000" algn="tl">
                    <a:srgbClr val="000000">
                      <a:alpha val="43137"/>
                    </a:srgbClr>
                  </a:outerShdw>
                </a:effectLst>
              </a:rPr>
              <a:t>EXPLORATORY DATA ANALYSIS</a:t>
            </a:r>
          </a:p>
        </p:txBody>
      </p:sp>
      <p:grpSp>
        <p:nvGrpSpPr>
          <p:cNvPr id="10" name="Group 9">
            <a:extLst>
              <a:ext uri="{FF2B5EF4-FFF2-40B4-BE49-F238E27FC236}">
                <a16:creationId xmlns:a16="http://schemas.microsoft.com/office/drawing/2014/main" id="{DB351362-5017-9C26-2D9D-83240DE267D7}"/>
              </a:ext>
            </a:extLst>
          </p:cNvPr>
          <p:cNvGrpSpPr/>
          <p:nvPr/>
        </p:nvGrpSpPr>
        <p:grpSpPr>
          <a:xfrm>
            <a:off x="350429" y="1165815"/>
            <a:ext cx="720000" cy="468000"/>
            <a:chOff x="5627835" y="1494960"/>
            <a:chExt cx="870900" cy="572713"/>
          </a:xfrm>
        </p:grpSpPr>
        <p:sp>
          <p:nvSpPr>
            <p:cNvPr id="11" name="Google Shape;1905;p101">
              <a:extLst>
                <a:ext uri="{FF2B5EF4-FFF2-40B4-BE49-F238E27FC236}">
                  <a16:creationId xmlns:a16="http://schemas.microsoft.com/office/drawing/2014/main" id="{6C89F22A-5D87-AF71-652C-F6E3BCE5154F}"/>
                </a:ext>
              </a:extLst>
            </p:cNvPr>
            <p:cNvSpPr/>
            <p:nvPr/>
          </p:nvSpPr>
          <p:spPr>
            <a:xfrm>
              <a:off x="5752733" y="1543358"/>
              <a:ext cx="524315" cy="524315"/>
            </a:xfrm>
            <a:custGeom>
              <a:avLst/>
              <a:gdLst/>
              <a:ahLst/>
              <a:cxnLst/>
              <a:rect l="l" t="t" r="r" b="b"/>
              <a:pathLst>
                <a:path w="22956" h="22956" extrusionOk="0">
                  <a:moveTo>
                    <a:pt x="0" y="1"/>
                  </a:moveTo>
                  <a:lnTo>
                    <a:pt x="0" y="22956"/>
                  </a:lnTo>
                  <a:lnTo>
                    <a:pt x="22956" y="22956"/>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906;p101">
              <a:extLst>
                <a:ext uri="{FF2B5EF4-FFF2-40B4-BE49-F238E27FC236}">
                  <a16:creationId xmlns:a16="http://schemas.microsoft.com/office/drawing/2014/main" id="{5E9213E8-7972-4953-8D46-E14FBAEBFB5A}"/>
                </a:ext>
              </a:extLst>
            </p:cNvPr>
            <p:cNvSpPr/>
            <p:nvPr/>
          </p:nvSpPr>
          <p:spPr>
            <a:xfrm>
              <a:off x="5801130" y="1494960"/>
              <a:ext cx="524315" cy="524315"/>
            </a:xfrm>
            <a:custGeom>
              <a:avLst/>
              <a:gdLst/>
              <a:ahLst/>
              <a:cxnLst/>
              <a:rect l="l" t="t" r="r" b="b"/>
              <a:pathLst>
                <a:path w="22956" h="22956" fill="none" extrusionOk="0">
                  <a:moveTo>
                    <a:pt x="1" y="0"/>
                  </a:moveTo>
                  <a:lnTo>
                    <a:pt x="22956" y="0"/>
                  </a:lnTo>
                  <a:lnTo>
                    <a:pt x="22956" y="22956"/>
                  </a:lnTo>
                  <a:lnTo>
                    <a:pt x="1" y="22956"/>
                  </a:lnTo>
                  <a:close/>
                </a:path>
              </a:pathLst>
            </a:custGeom>
            <a:noFill/>
            <a:ln w="190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907;p101">
              <a:extLst>
                <a:ext uri="{FF2B5EF4-FFF2-40B4-BE49-F238E27FC236}">
                  <a16:creationId xmlns:a16="http://schemas.microsoft.com/office/drawing/2014/main" id="{D48F2A29-16C5-D224-B0BD-1981DE2DD9D3}"/>
                </a:ext>
              </a:extLst>
            </p:cNvPr>
            <p:cNvSpPr txBox="1">
              <a:spLocks/>
            </p:cNvSpPr>
            <p:nvPr/>
          </p:nvSpPr>
          <p:spPr>
            <a:xfrm>
              <a:off x="5627835" y="1593618"/>
              <a:ext cx="870900" cy="375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9pPr>
            </a:lstStyle>
            <a:p>
              <a:r>
                <a:rPr lang="de" sz="2700" b="1" dirty="0">
                  <a:latin typeface="+mn-lt"/>
                </a:rPr>
                <a:t>1</a:t>
              </a:r>
            </a:p>
          </p:txBody>
        </p:sp>
      </p:grpSp>
    </p:spTree>
    <p:extLst>
      <p:ext uri="{BB962C8B-B14F-4D97-AF65-F5344CB8AC3E}">
        <p14:creationId xmlns:p14="http://schemas.microsoft.com/office/powerpoint/2010/main" val="9779910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85">
          <a:extLst>
            <a:ext uri="{FF2B5EF4-FFF2-40B4-BE49-F238E27FC236}">
              <a16:creationId xmlns:a16="http://schemas.microsoft.com/office/drawing/2014/main" id="{01248D3E-8D28-7B97-CBFA-A188EC21614B}"/>
            </a:ext>
          </a:extLst>
        </p:cNvPr>
        <p:cNvGrpSpPr/>
        <p:nvPr/>
      </p:nvGrpSpPr>
      <p:grpSpPr>
        <a:xfrm>
          <a:off x="0" y="0"/>
          <a:ext cx="0" cy="0"/>
          <a:chOff x="0" y="0"/>
          <a:chExt cx="0" cy="0"/>
        </a:xfrm>
      </p:grpSpPr>
      <p:sp>
        <p:nvSpPr>
          <p:cNvPr id="2020" name="Google Shape;2020;p104">
            <a:extLst>
              <a:ext uri="{FF2B5EF4-FFF2-40B4-BE49-F238E27FC236}">
                <a16:creationId xmlns:a16="http://schemas.microsoft.com/office/drawing/2014/main" id="{446EFEE2-D137-0FF4-7A95-17860BC49969}"/>
              </a:ext>
            </a:extLst>
          </p:cNvPr>
          <p:cNvSpPr txBox="1"/>
          <p:nvPr/>
        </p:nvSpPr>
        <p:spPr>
          <a:xfrm>
            <a:off x="938914" y="1122615"/>
            <a:ext cx="9299285" cy="511200"/>
          </a:xfrm>
          <a:prstGeom prst="rect">
            <a:avLst/>
          </a:prstGeom>
          <a:noFill/>
          <a:ln>
            <a:noFill/>
          </a:ln>
        </p:spPr>
        <p:txBody>
          <a:bodyPr spcFirstLastPara="1" wrap="square" lIns="121900" tIns="121900" rIns="121900" bIns="121900" anchor="ctr" anchorCtr="0">
            <a:noAutofit/>
          </a:bodyPr>
          <a:lstStyle/>
          <a:p>
            <a:r>
              <a:rPr lang="de" sz="2400" b="1" dirty="0">
                <a:solidFill>
                  <a:schemeClr val="dk1"/>
                </a:solidFill>
                <a:ea typeface="Oswald"/>
                <a:cs typeface="Oswald"/>
                <a:sym typeface="Oswald"/>
              </a:rPr>
              <a:t>Identify Most Frequent Typologies for Laundering Transactions</a:t>
            </a:r>
            <a:endParaRPr sz="2400" b="1" dirty="0">
              <a:solidFill>
                <a:schemeClr val="dk1"/>
              </a:solidFill>
              <a:ea typeface="Oswald"/>
              <a:cs typeface="Oswald"/>
              <a:sym typeface="Oswald"/>
            </a:endParaRPr>
          </a:p>
        </p:txBody>
      </p:sp>
      <p:sp>
        <p:nvSpPr>
          <p:cNvPr id="5" name="Rectangle 4">
            <a:extLst>
              <a:ext uri="{FF2B5EF4-FFF2-40B4-BE49-F238E27FC236}">
                <a16:creationId xmlns:a16="http://schemas.microsoft.com/office/drawing/2014/main" id="{A34849AA-8005-8DC8-68CC-3989482B991A}"/>
              </a:ext>
            </a:extLst>
          </p:cNvPr>
          <p:cNvSpPr/>
          <p:nvPr/>
        </p:nvSpPr>
        <p:spPr>
          <a:xfrm>
            <a:off x="0" y="385235"/>
            <a:ext cx="7065282"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1">
            <a:extLst>
              <a:ext uri="{FF2B5EF4-FFF2-40B4-BE49-F238E27FC236}">
                <a16:creationId xmlns:a16="http://schemas.microsoft.com/office/drawing/2014/main" id="{3B00919F-9D4B-BEE3-D528-BD3438FDF4C7}"/>
              </a:ext>
            </a:extLst>
          </p:cNvPr>
          <p:cNvSpPr txBox="1">
            <a:spLocks/>
          </p:cNvSpPr>
          <p:nvPr/>
        </p:nvSpPr>
        <p:spPr>
          <a:xfrm>
            <a:off x="938914" y="432860"/>
            <a:ext cx="4764617" cy="4635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900" dirty="0">
                <a:solidFill>
                  <a:schemeClr val="bg1"/>
                </a:solidFill>
                <a:effectLst>
                  <a:outerShdw blurRad="38100" dist="38100" dir="2700000" algn="tl">
                    <a:srgbClr val="000000">
                      <a:alpha val="43137"/>
                    </a:srgbClr>
                  </a:outerShdw>
                </a:effectLst>
              </a:rPr>
              <a:t>EXPLORATORY DATA ANALYSIS</a:t>
            </a:r>
          </a:p>
        </p:txBody>
      </p:sp>
      <p:pic>
        <p:nvPicPr>
          <p:cNvPr id="3" name="Picture 2">
            <a:extLst>
              <a:ext uri="{FF2B5EF4-FFF2-40B4-BE49-F238E27FC236}">
                <a16:creationId xmlns:a16="http://schemas.microsoft.com/office/drawing/2014/main" id="{B6258102-C8BF-36EA-55ED-2A115E13486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3889" y="1812395"/>
            <a:ext cx="9299284" cy="4621824"/>
          </a:xfrm>
          <a:prstGeom prst="rect">
            <a:avLst/>
          </a:prstGeom>
          <a:noFill/>
          <a:ln>
            <a:noFill/>
          </a:ln>
        </p:spPr>
      </p:pic>
      <p:sp>
        <p:nvSpPr>
          <p:cNvPr id="8" name="Rectangle: Rounded Corners 7">
            <a:extLst>
              <a:ext uri="{FF2B5EF4-FFF2-40B4-BE49-F238E27FC236}">
                <a16:creationId xmlns:a16="http://schemas.microsoft.com/office/drawing/2014/main" id="{A8EE1D99-6EA5-C4F1-9392-DDE443176069}"/>
              </a:ext>
            </a:extLst>
          </p:cNvPr>
          <p:cNvSpPr/>
          <p:nvPr/>
        </p:nvSpPr>
        <p:spPr>
          <a:xfrm>
            <a:off x="1436914" y="1937657"/>
            <a:ext cx="2133600" cy="3690257"/>
          </a:xfrm>
          <a:prstGeom prst="roundRect">
            <a:avLst>
              <a:gd name="adj" fmla="val 3334"/>
            </a:avLst>
          </a:prstGeom>
          <a:noFill/>
          <a:ln w="28575">
            <a:solidFill>
              <a:schemeClr val="accent2"/>
            </a:solidFill>
            <a:prstDash val="sysDash"/>
            <a:extLst>
              <a:ext uri="{C807C97D-BFC1-408E-A445-0C87EB9F89A2}">
                <ask:lineSketchStyleProps xmlns:ask="http://schemas.microsoft.com/office/drawing/2018/sketchyshapes" sd="2750918369">
                  <a:custGeom>
                    <a:avLst/>
                    <a:gdLst>
                      <a:gd name="connsiteX0" fmla="*/ 0 w 1686954"/>
                      <a:gd name="connsiteY0" fmla="*/ 56243 h 2865383"/>
                      <a:gd name="connsiteX1" fmla="*/ 56243 w 1686954"/>
                      <a:gd name="connsiteY1" fmla="*/ 0 h 2865383"/>
                      <a:gd name="connsiteX2" fmla="*/ 1630711 w 1686954"/>
                      <a:gd name="connsiteY2" fmla="*/ 0 h 2865383"/>
                      <a:gd name="connsiteX3" fmla="*/ 1686954 w 1686954"/>
                      <a:gd name="connsiteY3" fmla="*/ 56243 h 2865383"/>
                      <a:gd name="connsiteX4" fmla="*/ 1686954 w 1686954"/>
                      <a:gd name="connsiteY4" fmla="*/ 2809140 h 2865383"/>
                      <a:gd name="connsiteX5" fmla="*/ 1630711 w 1686954"/>
                      <a:gd name="connsiteY5" fmla="*/ 2865383 h 2865383"/>
                      <a:gd name="connsiteX6" fmla="*/ 56243 w 1686954"/>
                      <a:gd name="connsiteY6" fmla="*/ 2865383 h 2865383"/>
                      <a:gd name="connsiteX7" fmla="*/ 0 w 1686954"/>
                      <a:gd name="connsiteY7" fmla="*/ 2809140 h 2865383"/>
                      <a:gd name="connsiteX8" fmla="*/ 0 w 1686954"/>
                      <a:gd name="connsiteY8" fmla="*/ 56243 h 2865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6954" h="2865383" extrusionOk="0">
                        <a:moveTo>
                          <a:pt x="0" y="56243"/>
                        </a:moveTo>
                        <a:cubicBezTo>
                          <a:pt x="-2984" y="25436"/>
                          <a:pt x="23769" y="1004"/>
                          <a:pt x="56243" y="0"/>
                        </a:cubicBezTo>
                        <a:cubicBezTo>
                          <a:pt x="645225" y="-125106"/>
                          <a:pt x="1396897" y="18730"/>
                          <a:pt x="1630711" y="0"/>
                        </a:cubicBezTo>
                        <a:cubicBezTo>
                          <a:pt x="1662889" y="-2700"/>
                          <a:pt x="1685317" y="27282"/>
                          <a:pt x="1686954" y="56243"/>
                        </a:cubicBezTo>
                        <a:cubicBezTo>
                          <a:pt x="1699457" y="1196824"/>
                          <a:pt x="1665215" y="1472890"/>
                          <a:pt x="1686954" y="2809140"/>
                        </a:cubicBezTo>
                        <a:cubicBezTo>
                          <a:pt x="1687271" y="2839897"/>
                          <a:pt x="1662822" y="2868697"/>
                          <a:pt x="1630711" y="2865383"/>
                        </a:cubicBezTo>
                        <a:cubicBezTo>
                          <a:pt x="1375740" y="2854393"/>
                          <a:pt x="221351" y="2942524"/>
                          <a:pt x="56243" y="2865383"/>
                        </a:cubicBezTo>
                        <a:cubicBezTo>
                          <a:pt x="27035" y="2864186"/>
                          <a:pt x="-801" y="2840704"/>
                          <a:pt x="0" y="2809140"/>
                        </a:cubicBezTo>
                        <a:cubicBezTo>
                          <a:pt x="26585" y="1734918"/>
                          <a:pt x="-80836" y="468733"/>
                          <a:pt x="0" y="56243"/>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 name="Google Shape;2021;p104">
            <a:extLst>
              <a:ext uri="{FF2B5EF4-FFF2-40B4-BE49-F238E27FC236}">
                <a16:creationId xmlns:a16="http://schemas.microsoft.com/office/drawing/2014/main" id="{8413588C-D42B-83B8-CAEE-E46D04CFF6E6}"/>
              </a:ext>
            </a:extLst>
          </p:cNvPr>
          <p:cNvSpPr txBox="1"/>
          <p:nvPr/>
        </p:nvSpPr>
        <p:spPr>
          <a:xfrm>
            <a:off x="3741805" y="2359213"/>
            <a:ext cx="6646953" cy="1069787"/>
          </a:xfrm>
          <a:prstGeom prst="rect">
            <a:avLst/>
          </a:prstGeom>
          <a:noFill/>
          <a:ln>
            <a:noFill/>
          </a:ln>
        </p:spPr>
        <p:txBody>
          <a:bodyPr spcFirstLastPara="1" wrap="square" lIns="91425" tIns="91425" rIns="91425" bIns="91425" anchor="t" anchorCtr="0">
            <a:noAutofit/>
          </a:bodyPr>
          <a:lstStyle/>
          <a:p>
            <a:pPr lvl="0" algn="l" rtl="0">
              <a:spcBef>
                <a:spcPts val="0"/>
              </a:spcBef>
              <a:spcAft>
                <a:spcPts val="0"/>
              </a:spcAft>
            </a:pPr>
            <a:endParaRPr lang="de" sz="1500" dirty="0">
              <a:solidFill>
                <a:schemeClr val="dk2"/>
              </a:solidFill>
              <a:latin typeface="Titillium Web"/>
              <a:ea typeface="Titillium Web"/>
              <a:cs typeface="Titillium Web"/>
              <a:sym typeface="Titillium Web"/>
            </a:endParaRPr>
          </a:p>
          <a:p>
            <a:pPr marL="285750" lvl="0" indent="-285750" algn="l" rtl="0">
              <a:spcBef>
                <a:spcPts val="0"/>
              </a:spcBef>
              <a:spcAft>
                <a:spcPts val="0"/>
              </a:spcAft>
              <a:buFont typeface="Wingdings" panose="05000000000000000000" pitchFamily="2" charset="2"/>
              <a:buChar char="ü"/>
            </a:pPr>
            <a:r>
              <a:rPr lang="de" b="1" dirty="0">
                <a:solidFill>
                  <a:schemeClr val="accent2"/>
                </a:solidFill>
                <a:ea typeface="Titillium Web"/>
                <a:cs typeface="Titillium Web"/>
                <a:sym typeface="Titillium Web"/>
              </a:rPr>
              <a:t>Structuring, Cash Withdrawal, Deposit Send &amp; Smurfing are the most dominant typologies</a:t>
            </a:r>
            <a:endParaRPr b="1" dirty="0">
              <a:solidFill>
                <a:schemeClr val="accent2"/>
              </a:solidFill>
              <a:ea typeface="Titillium Web"/>
              <a:cs typeface="Titillium Web"/>
              <a:sym typeface="Titillium Web"/>
            </a:endParaRPr>
          </a:p>
        </p:txBody>
      </p:sp>
      <p:grpSp>
        <p:nvGrpSpPr>
          <p:cNvPr id="14" name="Group 13">
            <a:extLst>
              <a:ext uri="{FF2B5EF4-FFF2-40B4-BE49-F238E27FC236}">
                <a16:creationId xmlns:a16="http://schemas.microsoft.com/office/drawing/2014/main" id="{C9278BDF-A3AF-3FC0-16E7-44B41C52F072}"/>
              </a:ext>
            </a:extLst>
          </p:cNvPr>
          <p:cNvGrpSpPr/>
          <p:nvPr/>
        </p:nvGrpSpPr>
        <p:grpSpPr>
          <a:xfrm>
            <a:off x="350429" y="1165815"/>
            <a:ext cx="720000" cy="468000"/>
            <a:chOff x="5627835" y="1494960"/>
            <a:chExt cx="870900" cy="572713"/>
          </a:xfrm>
        </p:grpSpPr>
        <p:sp>
          <p:nvSpPr>
            <p:cNvPr id="15" name="Google Shape;1905;p101">
              <a:extLst>
                <a:ext uri="{FF2B5EF4-FFF2-40B4-BE49-F238E27FC236}">
                  <a16:creationId xmlns:a16="http://schemas.microsoft.com/office/drawing/2014/main" id="{AC3856E0-78AD-A3D2-E71D-FC7093F164C7}"/>
                </a:ext>
              </a:extLst>
            </p:cNvPr>
            <p:cNvSpPr/>
            <p:nvPr/>
          </p:nvSpPr>
          <p:spPr>
            <a:xfrm>
              <a:off x="5752733" y="1543358"/>
              <a:ext cx="524315" cy="524315"/>
            </a:xfrm>
            <a:custGeom>
              <a:avLst/>
              <a:gdLst/>
              <a:ahLst/>
              <a:cxnLst/>
              <a:rect l="l" t="t" r="r" b="b"/>
              <a:pathLst>
                <a:path w="22956" h="22956" extrusionOk="0">
                  <a:moveTo>
                    <a:pt x="0" y="1"/>
                  </a:moveTo>
                  <a:lnTo>
                    <a:pt x="0" y="22956"/>
                  </a:lnTo>
                  <a:lnTo>
                    <a:pt x="22956" y="22956"/>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906;p101">
              <a:extLst>
                <a:ext uri="{FF2B5EF4-FFF2-40B4-BE49-F238E27FC236}">
                  <a16:creationId xmlns:a16="http://schemas.microsoft.com/office/drawing/2014/main" id="{E38909CE-9512-48EB-9E23-82CB6B78B130}"/>
                </a:ext>
              </a:extLst>
            </p:cNvPr>
            <p:cNvSpPr/>
            <p:nvPr/>
          </p:nvSpPr>
          <p:spPr>
            <a:xfrm>
              <a:off x="5801130" y="1494960"/>
              <a:ext cx="524315" cy="524315"/>
            </a:xfrm>
            <a:custGeom>
              <a:avLst/>
              <a:gdLst/>
              <a:ahLst/>
              <a:cxnLst/>
              <a:rect l="l" t="t" r="r" b="b"/>
              <a:pathLst>
                <a:path w="22956" h="22956" fill="none" extrusionOk="0">
                  <a:moveTo>
                    <a:pt x="1" y="0"/>
                  </a:moveTo>
                  <a:lnTo>
                    <a:pt x="22956" y="0"/>
                  </a:lnTo>
                  <a:lnTo>
                    <a:pt x="22956" y="22956"/>
                  </a:lnTo>
                  <a:lnTo>
                    <a:pt x="1" y="22956"/>
                  </a:lnTo>
                  <a:close/>
                </a:path>
              </a:pathLst>
            </a:custGeom>
            <a:noFill/>
            <a:ln w="190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907;p101">
              <a:extLst>
                <a:ext uri="{FF2B5EF4-FFF2-40B4-BE49-F238E27FC236}">
                  <a16:creationId xmlns:a16="http://schemas.microsoft.com/office/drawing/2014/main" id="{891FD732-07D6-33BB-7BEA-B0A64A2314BB}"/>
                </a:ext>
              </a:extLst>
            </p:cNvPr>
            <p:cNvSpPr txBox="1">
              <a:spLocks/>
            </p:cNvSpPr>
            <p:nvPr/>
          </p:nvSpPr>
          <p:spPr>
            <a:xfrm>
              <a:off x="5627835" y="1593618"/>
              <a:ext cx="870900" cy="375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9pPr>
            </a:lstStyle>
            <a:p>
              <a:r>
                <a:rPr lang="de" sz="2700" b="1" dirty="0">
                  <a:latin typeface="+mn-lt"/>
                </a:rPr>
                <a:t>2</a:t>
              </a:r>
            </a:p>
          </p:txBody>
        </p:sp>
      </p:grpSp>
    </p:spTree>
    <p:extLst>
      <p:ext uri="{BB962C8B-B14F-4D97-AF65-F5344CB8AC3E}">
        <p14:creationId xmlns:p14="http://schemas.microsoft.com/office/powerpoint/2010/main" val="978975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85">
          <a:extLst>
            <a:ext uri="{FF2B5EF4-FFF2-40B4-BE49-F238E27FC236}">
              <a16:creationId xmlns:a16="http://schemas.microsoft.com/office/drawing/2014/main" id="{14BA9CB5-BED8-0E6B-051C-25AC6737E0CA}"/>
            </a:ext>
          </a:extLst>
        </p:cNvPr>
        <p:cNvGrpSpPr/>
        <p:nvPr/>
      </p:nvGrpSpPr>
      <p:grpSpPr>
        <a:xfrm>
          <a:off x="0" y="0"/>
          <a:ext cx="0" cy="0"/>
          <a:chOff x="0" y="0"/>
          <a:chExt cx="0" cy="0"/>
        </a:xfrm>
      </p:grpSpPr>
      <p:sp>
        <p:nvSpPr>
          <p:cNvPr id="2020" name="Google Shape;2020;p104">
            <a:extLst>
              <a:ext uri="{FF2B5EF4-FFF2-40B4-BE49-F238E27FC236}">
                <a16:creationId xmlns:a16="http://schemas.microsoft.com/office/drawing/2014/main" id="{D84F8F1D-126E-9A0E-59E2-060E24743BDD}"/>
              </a:ext>
            </a:extLst>
          </p:cNvPr>
          <p:cNvSpPr txBox="1"/>
          <p:nvPr/>
        </p:nvSpPr>
        <p:spPr>
          <a:xfrm>
            <a:off x="938914" y="1122615"/>
            <a:ext cx="9299285" cy="511200"/>
          </a:xfrm>
          <a:prstGeom prst="rect">
            <a:avLst/>
          </a:prstGeom>
          <a:noFill/>
          <a:ln>
            <a:noFill/>
          </a:ln>
        </p:spPr>
        <p:txBody>
          <a:bodyPr spcFirstLastPara="1" wrap="square" lIns="121900" tIns="121900" rIns="121900" bIns="121900" anchor="ctr" anchorCtr="0">
            <a:noAutofit/>
          </a:bodyPr>
          <a:lstStyle/>
          <a:p>
            <a:r>
              <a:rPr lang="de" sz="2400" b="1" dirty="0">
                <a:solidFill>
                  <a:schemeClr val="dk1"/>
                </a:solidFill>
                <a:ea typeface="Oswald"/>
                <a:cs typeface="Oswald"/>
                <a:sym typeface="Oswald"/>
              </a:rPr>
              <a:t>Identify Most Frequent Payment Types for Laundering Transactions</a:t>
            </a:r>
            <a:endParaRPr sz="2400" b="1" dirty="0">
              <a:solidFill>
                <a:schemeClr val="dk1"/>
              </a:solidFill>
              <a:ea typeface="Oswald"/>
              <a:cs typeface="Oswald"/>
              <a:sym typeface="Oswald"/>
            </a:endParaRPr>
          </a:p>
        </p:txBody>
      </p:sp>
      <p:sp>
        <p:nvSpPr>
          <p:cNvPr id="5" name="Rectangle 4">
            <a:extLst>
              <a:ext uri="{FF2B5EF4-FFF2-40B4-BE49-F238E27FC236}">
                <a16:creationId xmlns:a16="http://schemas.microsoft.com/office/drawing/2014/main" id="{B49419B2-E81F-71AB-8BA2-5896E0FA71F4}"/>
              </a:ext>
            </a:extLst>
          </p:cNvPr>
          <p:cNvSpPr/>
          <p:nvPr/>
        </p:nvSpPr>
        <p:spPr>
          <a:xfrm>
            <a:off x="0" y="385235"/>
            <a:ext cx="7065282"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1">
            <a:extLst>
              <a:ext uri="{FF2B5EF4-FFF2-40B4-BE49-F238E27FC236}">
                <a16:creationId xmlns:a16="http://schemas.microsoft.com/office/drawing/2014/main" id="{6350E6AA-EE20-37F7-EAFB-679FEB738A5E}"/>
              </a:ext>
            </a:extLst>
          </p:cNvPr>
          <p:cNvSpPr txBox="1">
            <a:spLocks/>
          </p:cNvSpPr>
          <p:nvPr/>
        </p:nvSpPr>
        <p:spPr>
          <a:xfrm>
            <a:off x="938914" y="432860"/>
            <a:ext cx="4764617" cy="4635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900" dirty="0">
                <a:solidFill>
                  <a:schemeClr val="bg1"/>
                </a:solidFill>
                <a:effectLst>
                  <a:outerShdw blurRad="38100" dist="38100" dir="2700000" algn="tl">
                    <a:srgbClr val="000000">
                      <a:alpha val="43137"/>
                    </a:srgbClr>
                  </a:outerShdw>
                </a:effectLst>
              </a:rPr>
              <a:t>EXPLORATORY DATA ANALYSIS</a:t>
            </a:r>
          </a:p>
        </p:txBody>
      </p:sp>
      <p:sp>
        <p:nvSpPr>
          <p:cNvPr id="2" name="Google Shape;2021;p104">
            <a:extLst>
              <a:ext uri="{FF2B5EF4-FFF2-40B4-BE49-F238E27FC236}">
                <a16:creationId xmlns:a16="http://schemas.microsoft.com/office/drawing/2014/main" id="{326C441D-97F6-DFC9-8A38-F41867A3B577}"/>
              </a:ext>
            </a:extLst>
          </p:cNvPr>
          <p:cNvSpPr txBox="1"/>
          <p:nvPr/>
        </p:nvSpPr>
        <p:spPr>
          <a:xfrm>
            <a:off x="6697641" y="2522190"/>
            <a:ext cx="4754131" cy="1813619"/>
          </a:xfrm>
          <a:prstGeom prst="rect">
            <a:avLst/>
          </a:prstGeom>
          <a:noFill/>
          <a:ln>
            <a:noFill/>
          </a:ln>
        </p:spPr>
        <p:txBody>
          <a:bodyPr spcFirstLastPara="1" wrap="square" lIns="91425" tIns="91425" rIns="91425" bIns="91425" anchor="t" anchorCtr="0">
            <a:noAutofit/>
          </a:bodyPr>
          <a:lstStyle/>
          <a:p>
            <a:pPr marL="285750" lvl="0" indent="-285750" algn="l" rtl="0">
              <a:spcBef>
                <a:spcPts val="0"/>
              </a:spcBef>
              <a:spcAft>
                <a:spcPts val="0"/>
              </a:spcAft>
              <a:buFont typeface="Wingdings" panose="05000000000000000000" pitchFamily="2" charset="2"/>
              <a:buChar char="ü"/>
            </a:pPr>
            <a:r>
              <a:rPr lang="de" dirty="0">
                <a:solidFill>
                  <a:schemeClr val="dk2"/>
                </a:solidFill>
                <a:ea typeface="Titillium Web"/>
                <a:cs typeface="Titillium Web"/>
                <a:sym typeface="Titillium Web"/>
              </a:rPr>
              <a:t>Cross-border transactions has the largest proportions followed by Cash Deposit and Cash Withdrawal</a:t>
            </a:r>
          </a:p>
          <a:p>
            <a:pPr marL="285750" indent="-285750">
              <a:buFont typeface="Wingdings" panose="05000000000000000000" pitchFamily="2" charset="2"/>
              <a:buChar char="ü"/>
            </a:pPr>
            <a:r>
              <a:rPr lang="de" dirty="0">
                <a:solidFill>
                  <a:schemeClr val="dk2"/>
                </a:solidFill>
                <a:ea typeface="Titillium Web"/>
                <a:cs typeface="Titillium Web"/>
                <a:sym typeface="Titillium Web"/>
              </a:rPr>
              <a:t>ACH, Credit Card, Debit Card, and Cheque have relatively similar proportion</a:t>
            </a:r>
          </a:p>
          <a:p>
            <a:pPr lvl="0" algn="l" rtl="0">
              <a:spcBef>
                <a:spcPts val="0"/>
              </a:spcBef>
              <a:spcAft>
                <a:spcPts val="0"/>
              </a:spcAft>
            </a:pPr>
            <a:endParaRPr lang="de" dirty="0">
              <a:solidFill>
                <a:schemeClr val="dk2"/>
              </a:solidFill>
              <a:ea typeface="Titillium Web"/>
              <a:cs typeface="Titillium Web"/>
              <a:sym typeface="Titillium Web"/>
            </a:endParaRPr>
          </a:p>
          <a:p>
            <a:pPr lvl="0" algn="l" rtl="0">
              <a:spcBef>
                <a:spcPts val="0"/>
              </a:spcBef>
              <a:spcAft>
                <a:spcPts val="0"/>
              </a:spcAft>
            </a:pPr>
            <a:endParaRPr lang="de" dirty="0">
              <a:solidFill>
                <a:schemeClr val="dk2"/>
              </a:solidFill>
              <a:ea typeface="Titillium Web"/>
              <a:cs typeface="Titillium Web"/>
              <a:sym typeface="Titillium Web"/>
            </a:endParaRPr>
          </a:p>
          <a:p>
            <a:pPr marL="285750" lvl="0" indent="-285750" algn="l" rtl="0">
              <a:spcBef>
                <a:spcPts val="0"/>
              </a:spcBef>
              <a:spcAft>
                <a:spcPts val="0"/>
              </a:spcAft>
              <a:buFont typeface="Wingdings" panose="05000000000000000000" pitchFamily="2" charset="2"/>
              <a:buChar char="ü"/>
            </a:pPr>
            <a:r>
              <a:rPr lang="de" b="1" dirty="0">
                <a:solidFill>
                  <a:schemeClr val="accent2"/>
                </a:solidFill>
                <a:ea typeface="Titillium Web"/>
                <a:cs typeface="Titillium Web"/>
                <a:sym typeface="Titillium Web"/>
              </a:rPr>
              <a:t>Cross-border transactions is the most preferred payment method by launderers</a:t>
            </a:r>
            <a:endParaRPr b="1" dirty="0">
              <a:solidFill>
                <a:schemeClr val="accent2"/>
              </a:solidFill>
              <a:ea typeface="Titillium Web"/>
              <a:cs typeface="Titillium Web"/>
              <a:sym typeface="Titillium Web"/>
            </a:endParaRPr>
          </a:p>
        </p:txBody>
      </p:sp>
      <p:pic>
        <p:nvPicPr>
          <p:cNvPr id="4" name="Picture 3">
            <a:extLst>
              <a:ext uri="{FF2B5EF4-FFF2-40B4-BE49-F238E27FC236}">
                <a16:creationId xmlns:a16="http://schemas.microsoft.com/office/drawing/2014/main" id="{245D96E1-2648-59E7-8223-CDC38961BB5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7783" y="1945841"/>
            <a:ext cx="4754131" cy="4740195"/>
          </a:xfrm>
          <a:prstGeom prst="rect">
            <a:avLst/>
          </a:prstGeom>
          <a:noFill/>
          <a:ln>
            <a:noFill/>
          </a:ln>
        </p:spPr>
      </p:pic>
      <p:grpSp>
        <p:nvGrpSpPr>
          <p:cNvPr id="6" name="Group 5">
            <a:extLst>
              <a:ext uri="{FF2B5EF4-FFF2-40B4-BE49-F238E27FC236}">
                <a16:creationId xmlns:a16="http://schemas.microsoft.com/office/drawing/2014/main" id="{0D94788A-229E-45DB-4BF5-A909E3E633FB}"/>
              </a:ext>
            </a:extLst>
          </p:cNvPr>
          <p:cNvGrpSpPr/>
          <p:nvPr/>
        </p:nvGrpSpPr>
        <p:grpSpPr>
          <a:xfrm>
            <a:off x="350429" y="1165815"/>
            <a:ext cx="720000" cy="468000"/>
            <a:chOff x="5627835" y="1494960"/>
            <a:chExt cx="870900" cy="572713"/>
          </a:xfrm>
        </p:grpSpPr>
        <p:sp>
          <p:nvSpPr>
            <p:cNvPr id="10" name="Google Shape;1905;p101">
              <a:extLst>
                <a:ext uri="{FF2B5EF4-FFF2-40B4-BE49-F238E27FC236}">
                  <a16:creationId xmlns:a16="http://schemas.microsoft.com/office/drawing/2014/main" id="{155957DF-453B-6B86-5395-F6835608D0FC}"/>
                </a:ext>
              </a:extLst>
            </p:cNvPr>
            <p:cNvSpPr/>
            <p:nvPr/>
          </p:nvSpPr>
          <p:spPr>
            <a:xfrm>
              <a:off x="5752733" y="1543358"/>
              <a:ext cx="524315" cy="524315"/>
            </a:xfrm>
            <a:custGeom>
              <a:avLst/>
              <a:gdLst/>
              <a:ahLst/>
              <a:cxnLst/>
              <a:rect l="l" t="t" r="r" b="b"/>
              <a:pathLst>
                <a:path w="22956" h="22956" extrusionOk="0">
                  <a:moveTo>
                    <a:pt x="0" y="1"/>
                  </a:moveTo>
                  <a:lnTo>
                    <a:pt x="0" y="22956"/>
                  </a:lnTo>
                  <a:lnTo>
                    <a:pt x="22956" y="22956"/>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06;p101">
              <a:extLst>
                <a:ext uri="{FF2B5EF4-FFF2-40B4-BE49-F238E27FC236}">
                  <a16:creationId xmlns:a16="http://schemas.microsoft.com/office/drawing/2014/main" id="{31E8CE79-8CCD-4D7A-D96A-408E00461643}"/>
                </a:ext>
              </a:extLst>
            </p:cNvPr>
            <p:cNvSpPr/>
            <p:nvPr/>
          </p:nvSpPr>
          <p:spPr>
            <a:xfrm>
              <a:off x="5801130" y="1494960"/>
              <a:ext cx="524315" cy="524315"/>
            </a:xfrm>
            <a:custGeom>
              <a:avLst/>
              <a:gdLst/>
              <a:ahLst/>
              <a:cxnLst/>
              <a:rect l="l" t="t" r="r" b="b"/>
              <a:pathLst>
                <a:path w="22956" h="22956" fill="none" extrusionOk="0">
                  <a:moveTo>
                    <a:pt x="1" y="0"/>
                  </a:moveTo>
                  <a:lnTo>
                    <a:pt x="22956" y="0"/>
                  </a:lnTo>
                  <a:lnTo>
                    <a:pt x="22956" y="22956"/>
                  </a:lnTo>
                  <a:lnTo>
                    <a:pt x="1" y="22956"/>
                  </a:lnTo>
                  <a:close/>
                </a:path>
              </a:pathLst>
            </a:custGeom>
            <a:noFill/>
            <a:ln w="190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907;p101">
              <a:extLst>
                <a:ext uri="{FF2B5EF4-FFF2-40B4-BE49-F238E27FC236}">
                  <a16:creationId xmlns:a16="http://schemas.microsoft.com/office/drawing/2014/main" id="{07EC489D-6063-8D71-2BA9-00777144D653}"/>
                </a:ext>
              </a:extLst>
            </p:cNvPr>
            <p:cNvSpPr txBox="1">
              <a:spLocks/>
            </p:cNvSpPr>
            <p:nvPr/>
          </p:nvSpPr>
          <p:spPr>
            <a:xfrm>
              <a:off x="5627835" y="1593618"/>
              <a:ext cx="870900" cy="375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9pPr>
            </a:lstStyle>
            <a:p>
              <a:r>
                <a:rPr lang="de" sz="2700" b="1" dirty="0">
                  <a:latin typeface="+mn-lt"/>
                </a:rPr>
                <a:t>3</a:t>
              </a:r>
            </a:p>
          </p:txBody>
        </p:sp>
      </p:grpSp>
    </p:spTree>
    <p:extLst>
      <p:ext uri="{BB962C8B-B14F-4D97-AF65-F5344CB8AC3E}">
        <p14:creationId xmlns:p14="http://schemas.microsoft.com/office/powerpoint/2010/main" val="12636964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85">
          <a:extLst>
            <a:ext uri="{FF2B5EF4-FFF2-40B4-BE49-F238E27FC236}">
              <a16:creationId xmlns:a16="http://schemas.microsoft.com/office/drawing/2014/main" id="{2500CF9C-02FC-5EA3-A7A2-710F2FE7131D}"/>
            </a:ext>
          </a:extLst>
        </p:cNvPr>
        <p:cNvGrpSpPr/>
        <p:nvPr/>
      </p:nvGrpSpPr>
      <p:grpSpPr>
        <a:xfrm>
          <a:off x="0" y="0"/>
          <a:ext cx="0" cy="0"/>
          <a:chOff x="0" y="0"/>
          <a:chExt cx="0" cy="0"/>
        </a:xfrm>
      </p:grpSpPr>
      <p:sp>
        <p:nvSpPr>
          <p:cNvPr id="2020" name="Google Shape;2020;p104">
            <a:extLst>
              <a:ext uri="{FF2B5EF4-FFF2-40B4-BE49-F238E27FC236}">
                <a16:creationId xmlns:a16="http://schemas.microsoft.com/office/drawing/2014/main" id="{8A0C409A-6963-AA5B-B9CD-960264545392}"/>
              </a:ext>
            </a:extLst>
          </p:cNvPr>
          <p:cNvSpPr txBox="1"/>
          <p:nvPr/>
        </p:nvSpPr>
        <p:spPr>
          <a:xfrm>
            <a:off x="938914" y="1122615"/>
            <a:ext cx="9299285" cy="511200"/>
          </a:xfrm>
          <a:prstGeom prst="rect">
            <a:avLst/>
          </a:prstGeom>
          <a:noFill/>
          <a:ln>
            <a:noFill/>
          </a:ln>
        </p:spPr>
        <p:txBody>
          <a:bodyPr spcFirstLastPara="1" wrap="square" lIns="121900" tIns="121900" rIns="121900" bIns="121900" anchor="ctr" anchorCtr="0">
            <a:noAutofit/>
          </a:bodyPr>
          <a:lstStyle/>
          <a:p>
            <a:r>
              <a:rPr lang="de" sz="2400" b="1" dirty="0">
                <a:solidFill>
                  <a:schemeClr val="dk1"/>
                </a:solidFill>
                <a:ea typeface="Oswald"/>
                <a:cs typeface="Oswald"/>
                <a:sym typeface="Oswald"/>
              </a:rPr>
              <a:t>Identify High Risk Pair Bank Locations</a:t>
            </a:r>
            <a:endParaRPr sz="2400" b="1" dirty="0">
              <a:solidFill>
                <a:schemeClr val="dk1"/>
              </a:solidFill>
              <a:ea typeface="Oswald"/>
              <a:cs typeface="Oswald"/>
              <a:sym typeface="Oswald"/>
            </a:endParaRPr>
          </a:p>
        </p:txBody>
      </p:sp>
      <p:sp>
        <p:nvSpPr>
          <p:cNvPr id="5" name="Rectangle 4">
            <a:extLst>
              <a:ext uri="{FF2B5EF4-FFF2-40B4-BE49-F238E27FC236}">
                <a16:creationId xmlns:a16="http://schemas.microsoft.com/office/drawing/2014/main" id="{8D3DAB85-E7F9-F2E6-951F-F18654A67620}"/>
              </a:ext>
            </a:extLst>
          </p:cNvPr>
          <p:cNvSpPr/>
          <p:nvPr/>
        </p:nvSpPr>
        <p:spPr>
          <a:xfrm>
            <a:off x="0" y="385235"/>
            <a:ext cx="7065282"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1">
            <a:extLst>
              <a:ext uri="{FF2B5EF4-FFF2-40B4-BE49-F238E27FC236}">
                <a16:creationId xmlns:a16="http://schemas.microsoft.com/office/drawing/2014/main" id="{848F8FE4-8F5A-F98C-0805-F376342F4B4F}"/>
              </a:ext>
            </a:extLst>
          </p:cNvPr>
          <p:cNvSpPr txBox="1">
            <a:spLocks/>
          </p:cNvSpPr>
          <p:nvPr/>
        </p:nvSpPr>
        <p:spPr>
          <a:xfrm>
            <a:off x="938914" y="432860"/>
            <a:ext cx="4764617" cy="4635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900" dirty="0">
                <a:solidFill>
                  <a:schemeClr val="bg1"/>
                </a:solidFill>
                <a:effectLst>
                  <a:outerShdw blurRad="38100" dist="38100" dir="2700000" algn="tl">
                    <a:srgbClr val="000000">
                      <a:alpha val="43137"/>
                    </a:srgbClr>
                  </a:outerShdw>
                </a:effectLst>
              </a:rPr>
              <a:t>EXPLORATORY DATA ANALYSIS</a:t>
            </a:r>
          </a:p>
        </p:txBody>
      </p:sp>
      <p:pic>
        <p:nvPicPr>
          <p:cNvPr id="10242" name="Picture 2">
            <a:extLst>
              <a:ext uri="{FF2B5EF4-FFF2-40B4-BE49-F238E27FC236}">
                <a16:creationId xmlns:a16="http://schemas.microsoft.com/office/drawing/2014/main" id="{88C30746-FF7A-B5FE-2398-9FE318CE22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914" y="1812395"/>
            <a:ext cx="6778397" cy="4043735"/>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2021;p104">
            <a:extLst>
              <a:ext uri="{FF2B5EF4-FFF2-40B4-BE49-F238E27FC236}">
                <a16:creationId xmlns:a16="http://schemas.microsoft.com/office/drawing/2014/main" id="{40A27F29-F24F-A8AA-1FFF-2AEA6941C50C}"/>
              </a:ext>
            </a:extLst>
          </p:cNvPr>
          <p:cNvSpPr txBox="1"/>
          <p:nvPr/>
        </p:nvSpPr>
        <p:spPr>
          <a:xfrm>
            <a:off x="7913253" y="2560346"/>
            <a:ext cx="3865089" cy="2011653"/>
          </a:xfrm>
          <a:prstGeom prst="rect">
            <a:avLst/>
          </a:prstGeom>
          <a:noFill/>
          <a:ln>
            <a:noFill/>
          </a:ln>
        </p:spPr>
        <p:txBody>
          <a:bodyPr spcFirstLastPara="1" wrap="square" lIns="91425" tIns="91425" rIns="91425" bIns="91425" anchor="t" anchorCtr="0">
            <a:noAutofit/>
          </a:bodyPr>
          <a:lstStyle/>
          <a:p>
            <a:pPr lvl="0" algn="l" rtl="0">
              <a:spcBef>
                <a:spcPts val="0"/>
              </a:spcBef>
              <a:spcAft>
                <a:spcPts val="0"/>
              </a:spcAft>
            </a:pPr>
            <a:endParaRPr lang="de" sz="1500" dirty="0">
              <a:solidFill>
                <a:schemeClr val="dk2"/>
              </a:solidFill>
              <a:latin typeface="Titillium Web"/>
              <a:ea typeface="Titillium Web"/>
              <a:cs typeface="Titillium Web"/>
              <a:sym typeface="Titillium Web"/>
            </a:endParaRPr>
          </a:p>
          <a:p>
            <a:pPr marL="285750" lvl="0" indent="-285750" algn="l" rtl="0">
              <a:spcBef>
                <a:spcPts val="0"/>
              </a:spcBef>
              <a:spcAft>
                <a:spcPts val="0"/>
              </a:spcAft>
              <a:buFont typeface="Wingdings" panose="05000000000000000000" pitchFamily="2" charset="2"/>
              <a:buChar char="ü"/>
            </a:pPr>
            <a:r>
              <a:rPr lang="de" b="1" dirty="0">
                <a:solidFill>
                  <a:schemeClr val="accent2"/>
                </a:solidFill>
                <a:latin typeface="Titillium Web"/>
                <a:ea typeface="Titillium Web"/>
                <a:cs typeface="Titillium Web"/>
                <a:sym typeface="Titillium Web"/>
              </a:rPr>
              <a:t>UK is the most high-risk pair bank locations as it seems to be a central hub for both sending and receiving illicit money from laundering transactions</a:t>
            </a:r>
            <a:endParaRPr b="1" dirty="0">
              <a:solidFill>
                <a:schemeClr val="accent2"/>
              </a:solidFill>
              <a:latin typeface="Titillium Web"/>
              <a:ea typeface="Titillium Web"/>
              <a:cs typeface="Titillium Web"/>
              <a:sym typeface="Titillium Web"/>
            </a:endParaRPr>
          </a:p>
        </p:txBody>
      </p:sp>
      <p:sp>
        <p:nvSpPr>
          <p:cNvPr id="9" name="Rectangle: Rounded Corners 8">
            <a:extLst>
              <a:ext uri="{FF2B5EF4-FFF2-40B4-BE49-F238E27FC236}">
                <a16:creationId xmlns:a16="http://schemas.microsoft.com/office/drawing/2014/main" id="{F2EDF0F9-6E6E-62E7-0218-F2DD042365D2}"/>
              </a:ext>
            </a:extLst>
          </p:cNvPr>
          <p:cNvSpPr/>
          <p:nvPr/>
        </p:nvSpPr>
        <p:spPr>
          <a:xfrm>
            <a:off x="1436913" y="2079170"/>
            <a:ext cx="6172201" cy="402773"/>
          </a:xfrm>
          <a:prstGeom prst="roundRect">
            <a:avLst>
              <a:gd name="adj" fmla="val 3334"/>
            </a:avLst>
          </a:prstGeom>
          <a:noFill/>
          <a:ln w="28575">
            <a:solidFill>
              <a:schemeClr val="accent2"/>
            </a:solidFill>
            <a:prstDash val="sysDash"/>
            <a:extLst>
              <a:ext uri="{C807C97D-BFC1-408E-A445-0C87EB9F89A2}">
                <ask:lineSketchStyleProps xmlns:ask="http://schemas.microsoft.com/office/drawing/2018/sketchyshapes" sd="2750918369">
                  <a:custGeom>
                    <a:avLst/>
                    <a:gdLst>
                      <a:gd name="connsiteX0" fmla="*/ 0 w 1686954"/>
                      <a:gd name="connsiteY0" fmla="*/ 56243 h 2865383"/>
                      <a:gd name="connsiteX1" fmla="*/ 56243 w 1686954"/>
                      <a:gd name="connsiteY1" fmla="*/ 0 h 2865383"/>
                      <a:gd name="connsiteX2" fmla="*/ 1630711 w 1686954"/>
                      <a:gd name="connsiteY2" fmla="*/ 0 h 2865383"/>
                      <a:gd name="connsiteX3" fmla="*/ 1686954 w 1686954"/>
                      <a:gd name="connsiteY3" fmla="*/ 56243 h 2865383"/>
                      <a:gd name="connsiteX4" fmla="*/ 1686954 w 1686954"/>
                      <a:gd name="connsiteY4" fmla="*/ 2809140 h 2865383"/>
                      <a:gd name="connsiteX5" fmla="*/ 1630711 w 1686954"/>
                      <a:gd name="connsiteY5" fmla="*/ 2865383 h 2865383"/>
                      <a:gd name="connsiteX6" fmla="*/ 56243 w 1686954"/>
                      <a:gd name="connsiteY6" fmla="*/ 2865383 h 2865383"/>
                      <a:gd name="connsiteX7" fmla="*/ 0 w 1686954"/>
                      <a:gd name="connsiteY7" fmla="*/ 2809140 h 2865383"/>
                      <a:gd name="connsiteX8" fmla="*/ 0 w 1686954"/>
                      <a:gd name="connsiteY8" fmla="*/ 56243 h 2865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86954" h="2865383" extrusionOk="0">
                        <a:moveTo>
                          <a:pt x="0" y="56243"/>
                        </a:moveTo>
                        <a:cubicBezTo>
                          <a:pt x="-2984" y="25436"/>
                          <a:pt x="23769" y="1004"/>
                          <a:pt x="56243" y="0"/>
                        </a:cubicBezTo>
                        <a:cubicBezTo>
                          <a:pt x="645225" y="-125106"/>
                          <a:pt x="1396897" y="18730"/>
                          <a:pt x="1630711" y="0"/>
                        </a:cubicBezTo>
                        <a:cubicBezTo>
                          <a:pt x="1662889" y="-2700"/>
                          <a:pt x="1685317" y="27282"/>
                          <a:pt x="1686954" y="56243"/>
                        </a:cubicBezTo>
                        <a:cubicBezTo>
                          <a:pt x="1699457" y="1196824"/>
                          <a:pt x="1665215" y="1472890"/>
                          <a:pt x="1686954" y="2809140"/>
                        </a:cubicBezTo>
                        <a:cubicBezTo>
                          <a:pt x="1687271" y="2839897"/>
                          <a:pt x="1662822" y="2868697"/>
                          <a:pt x="1630711" y="2865383"/>
                        </a:cubicBezTo>
                        <a:cubicBezTo>
                          <a:pt x="1375740" y="2854393"/>
                          <a:pt x="221351" y="2942524"/>
                          <a:pt x="56243" y="2865383"/>
                        </a:cubicBezTo>
                        <a:cubicBezTo>
                          <a:pt x="27035" y="2864186"/>
                          <a:pt x="-801" y="2840704"/>
                          <a:pt x="0" y="2809140"/>
                        </a:cubicBezTo>
                        <a:cubicBezTo>
                          <a:pt x="26585" y="1734918"/>
                          <a:pt x="-80836" y="468733"/>
                          <a:pt x="0" y="56243"/>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10" name="Group 9">
            <a:extLst>
              <a:ext uri="{FF2B5EF4-FFF2-40B4-BE49-F238E27FC236}">
                <a16:creationId xmlns:a16="http://schemas.microsoft.com/office/drawing/2014/main" id="{83F65BBF-2964-79A0-F668-1D580647F6D4}"/>
              </a:ext>
            </a:extLst>
          </p:cNvPr>
          <p:cNvGrpSpPr/>
          <p:nvPr/>
        </p:nvGrpSpPr>
        <p:grpSpPr>
          <a:xfrm>
            <a:off x="350429" y="1165815"/>
            <a:ext cx="720000" cy="468000"/>
            <a:chOff x="5627835" y="1494960"/>
            <a:chExt cx="870900" cy="572713"/>
          </a:xfrm>
        </p:grpSpPr>
        <p:sp>
          <p:nvSpPr>
            <p:cNvPr id="11" name="Google Shape;1905;p101">
              <a:extLst>
                <a:ext uri="{FF2B5EF4-FFF2-40B4-BE49-F238E27FC236}">
                  <a16:creationId xmlns:a16="http://schemas.microsoft.com/office/drawing/2014/main" id="{32858B79-5D84-4680-C7D0-9EC54609328F}"/>
                </a:ext>
              </a:extLst>
            </p:cNvPr>
            <p:cNvSpPr/>
            <p:nvPr/>
          </p:nvSpPr>
          <p:spPr>
            <a:xfrm>
              <a:off x="5752733" y="1543358"/>
              <a:ext cx="524315" cy="524315"/>
            </a:xfrm>
            <a:custGeom>
              <a:avLst/>
              <a:gdLst/>
              <a:ahLst/>
              <a:cxnLst/>
              <a:rect l="l" t="t" r="r" b="b"/>
              <a:pathLst>
                <a:path w="22956" h="22956" extrusionOk="0">
                  <a:moveTo>
                    <a:pt x="0" y="1"/>
                  </a:moveTo>
                  <a:lnTo>
                    <a:pt x="0" y="22956"/>
                  </a:lnTo>
                  <a:lnTo>
                    <a:pt x="22956" y="22956"/>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906;p101">
              <a:extLst>
                <a:ext uri="{FF2B5EF4-FFF2-40B4-BE49-F238E27FC236}">
                  <a16:creationId xmlns:a16="http://schemas.microsoft.com/office/drawing/2014/main" id="{BEE02C72-FD2B-6095-7BBF-1DCA21C7BEF2}"/>
                </a:ext>
              </a:extLst>
            </p:cNvPr>
            <p:cNvSpPr/>
            <p:nvPr/>
          </p:nvSpPr>
          <p:spPr>
            <a:xfrm>
              <a:off x="5801130" y="1494960"/>
              <a:ext cx="524315" cy="524315"/>
            </a:xfrm>
            <a:custGeom>
              <a:avLst/>
              <a:gdLst/>
              <a:ahLst/>
              <a:cxnLst/>
              <a:rect l="l" t="t" r="r" b="b"/>
              <a:pathLst>
                <a:path w="22956" h="22956" fill="none" extrusionOk="0">
                  <a:moveTo>
                    <a:pt x="1" y="0"/>
                  </a:moveTo>
                  <a:lnTo>
                    <a:pt x="22956" y="0"/>
                  </a:lnTo>
                  <a:lnTo>
                    <a:pt x="22956" y="22956"/>
                  </a:lnTo>
                  <a:lnTo>
                    <a:pt x="1" y="22956"/>
                  </a:lnTo>
                  <a:close/>
                </a:path>
              </a:pathLst>
            </a:custGeom>
            <a:noFill/>
            <a:ln w="190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907;p101">
              <a:extLst>
                <a:ext uri="{FF2B5EF4-FFF2-40B4-BE49-F238E27FC236}">
                  <a16:creationId xmlns:a16="http://schemas.microsoft.com/office/drawing/2014/main" id="{D493DF33-C232-A346-545E-3B36FB74D01A}"/>
                </a:ext>
              </a:extLst>
            </p:cNvPr>
            <p:cNvSpPr txBox="1">
              <a:spLocks/>
            </p:cNvSpPr>
            <p:nvPr/>
          </p:nvSpPr>
          <p:spPr>
            <a:xfrm>
              <a:off x="5627835" y="1593618"/>
              <a:ext cx="870900" cy="375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9pPr>
            </a:lstStyle>
            <a:p>
              <a:r>
                <a:rPr lang="de" sz="2700" b="1" dirty="0">
                  <a:latin typeface="+mn-lt"/>
                </a:rPr>
                <a:t>4</a:t>
              </a:r>
            </a:p>
          </p:txBody>
        </p:sp>
      </p:grpSp>
    </p:spTree>
    <p:extLst>
      <p:ext uri="{BB962C8B-B14F-4D97-AF65-F5344CB8AC3E}">
        <p14:creationId xmlns:p14="http://schemas.microsoft.com/office/powerpoint/2010/main" val="19234429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85">
          <a:extLst>
            <a:ext uri="{FF2B5EF4-FFF2-40B4-BE49-F238E27FC236}">
              <a16:creationId xmlns:a16="http://schemas.microsoft.com/office/drawing/2014/main" id="{0837E069-9024-2F54-039B-D3D3348DC306}"/>
            </a:ext>
          </a:extLst>
        </p:cNvPr>
        <p:cNvGrpSpPr/>
        <p:nvPr/>
      </p:nvGrpSpPr>
      <p:grpSpPr>
        <a:xfrm>
          <a:off x="0" y="0"/>
          <a:ext cx="0" cy="0"/>
          <a:chOff x="0" y="0"/>
          <a:chExt cx="0" cy="0"/>
        </a:xfrm>
      </p:grpSpPr>
      <p:sp>
        <p:nvSpPr>
          <p:cNvPr id="2020" name="Google Shape;2020;p104">
            <a:extLst>
              <a:ext uri="{FF2B5EF4-FFF2-40B4-BE49-F238E27FC236}">
                <a16:creationId xmlns:a16="http://schemas.microsoft.com/office/drawing/2014/main" id="{CA30C082-A1ED-0747-5090-9D60802050A1}"/>
              </a:ext>
            </a:extLst>
          </p:cNvPr>
          <p:cNvSpPr txBox="1"/>
          <p:nvPr/>
        </p:nvSpPr>
        <p:spPr>
          <a:xfrm>
            <a:off x="938914" y="1155273"/>
            <a:ext cx="10594717" cy="511200"/>
          </a:xfrm>
          <a:prstGeom prst="rect">
            <a:avLst/>
          </a:prstGeom>
          <a:noFill/>
          <a:ln>
            <a:noFill/>
          </a:ln>
        </p:spPr>
        <p:txBody>
          <a:bodyPr spcFirstLastPara="1" wrap="square" lIns="121900" tIns="121900" rIns="121900" bIns="121900" anchor="ctr" anchorCtr="0">
            <a:noAutofit/>
          </a:bodyPr>
          <a:lstStyle/>
          <a:p>
            <a:r>
              <a:rPr lang="de" sz="2400" b="1" dirty="0">
                <a:solidFill>
                  <a:schemeClr val="dk1"/>
                </a:solidFill>
                <a:ea typeface="Oswald"/>
                <a:cs typeface="Oswald"/>
                <a:sym typeface="Oswald"/>
              </a:rPr>
              <a:t>Identify Monthly Transaction Frequency and Average Laundering Amount by Transaction Type</a:t>
            </a:r>
            <a:endParaRPr sz="2400" b="1" dirty="0">
              <a:solidFill>
                <a:schemeClr val="dk1"/>
              </a:solidFill>
              <a:ea typeface="Oswald"/>
              <a:cs typeface="Oswald"/>
              <a:sym typeface="Oswald"/>
            </a:endParaRPr>
          </a:p>
        </p:txBody>
      </p:sp>
      <p:sp>
        <p:nvSpPr>
          <p:cNvPr id="5" name="Rectangle 4">
            <a:extLst>
              <a:ext uri="{FF2B5EF4-FFF2-40B4-BE49-F238E27FC236}">
                <a16:creationId xmlns:a16="http://schemas.microsoft.com/office/drawing/2014/main" id="{A5C512AC-D16E-970E-18FB-19CC3C437C70}"/>
              </a:ext>
            </a:extLst>
          </p:cNvPr>
          <p:cNvSpPr/>
          <p:nvPr/>
        </p:nvSpPr>
        <p:spPr>
          <a:xfrm>
            <a:off x="0" y="385235"/>
            <a:ext cx="7065282"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1">
            <a:extLst>
              <a:ext uri="{FF2B5EF4-FFF2-40B4-BE49-F238E27FC236}">
                <a16:creationId xmlns:a16="http://schemas.microsoft.com/office/drawing/2014/main" id="{3328CBAF-B9F1-DDDC-C5BC-2F9083CAA550}"/>
              </a:ext>
            </a:extLst>
          </p:cNvPr>
          <p:cNvSpPr txBox="1">
            <a:spLocks/>
          </p:cNvSpPr>
          <p:nvPr/>
        </p:nvSpPr>
        <p:spPr>
          <a:xfrm>
            <a:off x="938914" y="432860"/>
            <a:ext cx="4764617" cy="4635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900" dirty="0">
                <a:solidFill>
                  <a:schemeClr val="bg1"/>
                </a:solidFill>
                <a:effectLst>
                  <a:outerShdw blurRad="38100" dist="38100" dir="2700000" algn="tl">
                    <a:srgbClr val="000000">
                      <a:alpha val="43137"/>
                    </a:srgbClr>
                  </a:outerShdw>
                </a:effectLst>
              </a:rPr>
              <a:t>EXPLORATORY DATA ANALYSIS</a:t>
            </a:r>
          </a:p>
        </p:txBody>
      </p:sp>
      <p:pic>
        <p:nvPicPr>
          <p:cNvPr id="2" name="Picture 1">
            <a:extLst>
              <a:ext uri="{FF2B5EF4-FFF2-40B4-BE49-F238E27FC236}">
                <a16:creationId xmlns:a16="http://schemas.microsoft.com/office/drawing/2014/main" id="{8BED932D-DCA1-F8A4-3627-EEEC60E5CE0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39921" y="1933980"/>
            <a:ext cx="5040769" cy="3348000"/>
          </a:xfrm>
          <a:prstGeom prst="rect">
            <a:avLst/>
          </a:prstGeom>
          <a:noFill/>
          <a:ln>
            <a:noFill/>
          </a:ln>
        </p:spPr>
      </p:pic>
      <p:pic>
        <p:nvPicPr>
          <p:cNvPr id="3" name="Picture 2" descr="A graph with numbers and a line&#10;&#10;Description automatically generated with medium confidence">
            <a:extLst>
              <a:ext uri="{FF2B5EF4-FFF2-40B4-BE49-F238E27FC236}">
                <a16:creationId xmlns:a16="http://schemas.microsoft.com/office/drawing/2014/main" id="{C8302CC2-4902-1BEC-9D9C-0B20B0FDE8E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92862" y="1933980"/>
            <a:ext cx="5040769" cy="3348000"/>
          </a:xfrm>
          <a:prstGeom prst="rect">
            <a:avLst/>
          </a:prstGeom>
          <a:noFill/>
          <a:ln>
            <a:noFill/>
          </a:ln>
        </p:spPr>
      </p:pic>
      <p:sp>
        <p:nvSpPr>
          <p:cNvPr id="4" name="Google Shape;2021;p104">
            <a:extLst>
              <a:ext uri="{FF2B5EF4-FFF2-40B4-BE49-F238E27FC236}">
                <a16:creationId xmlns:a16="http://schemas.microsoft.com/office/drawing/2014/main" id="{B45AEE89-DF3D-0963-5486-21868243C1B4}"/>
              </a:ext>
            </a:extLst>
          </p:cNvPr>
          <p:cNvSpPr txBox="1"/>
          <p:nvPr/>
        </p:nvSpPr>
        <p:spPr>
          <a:xfrm>
            <a:off x="938913" y="5281980"/>
            <a:ext cx="10893857" cy="906810"/>
          </a:xfrm>
          <a:prstGeom prst="rect">
            <a:avLst/>
          </a:prstGeom>
          <a:noFill/>
          <a:ln>
            <a:noFill/>
          </a:ln>
        </p:spPr>
        <p:txBody>
          <a:bodyPr spcFirstLastPara="1" wrap="square" lIns="91425" tIns="91425" rIns="91425" bIns="91425" anchor="t" anchorCtr="0">
            <a:noAutofit/>
          </a:bodyPr>
          <a:lstStyle/>
          <a:p>
            <a:pPr lvl="0" algn="l" rtl="0">
              <a:spcBef>
                <a:spcPts val="0"/>
              </a:spcBef>
              <a:spcAft>
                <a:spcPts val="0"/>
              </a:spcAft>
            </a:pPr>
            <a:endParaRPr lang="de" sz="1500" dirty="0">
              <a:solidFill>
                <a:schemeClr val="dk2"/>
              </a:solidFill>
              <a:latin typeface="Titillium Web"/>
              <a:ea typeface="Titillium Web"/>
              <a:cs typeface="Titillium Web"/>
              <a:sym typeface="Titillium Web"/>
            </a:endParaRPr>
          </a:p>
          <a:p>
            <a:pPr marL="285750" indent="-285750">
              <a:buFont typeface="Wingdings" panose="05000000000000000000" pitchFamily="2" charset="2"/>
              <a:buChar char="ü"/>
            </a:pPr>
            <a:r>
              <a:rPr lang="en-MY" b="1" dirty="0">
                <a:solidFill>
                  <a:schemeClr val="accent2"/>
                </a:solidFill>
              </a:rPr>
              <a:t>The sharp contrast in frequency and amount emphasize that laundering transactions occurrence are rare but usually involve larger amounts of money.</a:t>
            </a:r>
            <a:endParaRPr b="1" dirty="0">
              <a:solidFill>
                <a:schemeClr val="accent2"/>
              </a:solidFill>
              <a:sym typeface="Titillium Web"/>
            </a:endParaRPr>
          </a:p>
        </p:txBody>
      </p:sp>
      <p:grpSp>
        <p:nvGrpSpPr>
          <p:cNvPr id="6" name="Group 5">
            <a:extLst>
              <a:ext uri="{FF2B5EF4-FFF2-40B4-BE49-F238E27FC236}">
                <a16:creationId xmlns:a16="http://schemas.microsoft.com/office/drawing/2014/main" id="{2E28D91D-240F-A621-E717-DF932DC9ACE1}"/>
              </a:ext>
            </a:extLst>
          </p:cNvPr>
          <p:cNvGrpSpPr/>
          <p:nvPr/>
        </p:nvGrpSpPr>
        <p:grpSpPr>
          <a:xfrm>
            <a:off x="350429" y="1165815"/>
            <a:ext cx="720000" cy="468000"/>
            <a:chOff x="5627835" y="1494960"/>
            <a:chExt cx="870900" cy="572713"/>
          </a:xfrm>
        </p:grpSpPr>
        <p:sp>
          <p:nvSpPr>
            <p:cNvPr id="8" name="Google Shape;1905;p101">
              <a:extLst>
                <a:ext uri="{FF2B5EF4-FFF2-40B4-BE49-F238E27FC236}">
                  <a16:creationId xmlns:a16="http://schemas.microsoft.com/office/drawing/2014/main" id="{D7472281-F65F-212D-60B2-FBD56756C1C9}"/>
                </a:ext>
              </a:extLst>
            </p:cNvPr>
            <p:cNvSpPr/>
            <p:nvPr/>
          </p:nvSpPr>
          <p:spPr>
            <a:xfrm>
              <a:off x="5752733" y="1543358"/>
              <a:ext cx="524315" cy="524315"/>
            </a:xfrm>
            <a:custGeom>
              <a:avLst/>
              <a:gdLst/>
              <a:ahLst/>
              <a:cxnLst/>
              <a:rect l="l" t="t" r="r" b="b"/>
              <a:pathLst>
                <a:path w="22956" h="22956" extrusionOk="0">
                  <a:moveTo>
                    <a:pt x="0" y="1"/>
                  </a:moveTo>
                  <a:lnTo>
                    <a:pt x="0" y="22956"/>
                  </a:lnTo>
                  <a:lnTo>
                    <a:pt x="22956" y="22956"/>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06;p101">
              <a:extLst>
                <a:ext uri="{FF2B5EF4-FFF2-40B4-BE49-F238E27FC236}">
                  <a16:creationId xmlns:a16="http://schemas.microsoft.com/office/drawing/2014/main" id="{10611B6A-02A3-6B40-2F72-85E3AA462323}"/>
                </a:ext>
              </a:extLst>
            </p:cNvPr>
            <p:cNvSpPr/>
            <p:nvPr/>
          </p:nvSpPr>
          <p:spPr>
            <a:xfrm>
              <a:off x="5801130" y="1494960"/>
              <a:ext cx="524315" cy="524315"/>
            </a:xfrm>
            <a:custGeom>
              <a:avLst/>
              <a:gdLst/>
              <a:ahLst/>
              <a:cxnLst/>
              <a:rect l="l" t="t" r="r" b="b"/>
              <a:pathLst>
                <a:path w="22956" h="22956" fill="none" extrusionOk="0">
                  <a:moveTo>
                    <a:pt x="1" y="0"/>
                  </a:moveTo>
                  <a:lnTo>
                    <a:pt x="22956" y="0"/>
                  </a:lnTo>
                  <a:lnTo>
                    <a:pt x="22956" y="22956"/>
                  </a:lnTo>
                  <a:lnTo>
                    <a:pt x="1" y="22956"/>
                  </a:lnTo>
                  <a:close/>
                </a:path>
              </a:pathLst>
            </a:custGeom>
            <a:noFill/>
            <a:ln w="19050" cap="flat" cmpd="sng">
              <a:solidFill>
                <a:schemeClr val="accent1"/>
              </a:solidFill>
              <a:prstDash val="solid"/>
              <a:miter lim="1190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07;p101">
              <a:extLst>
                <a:ext uri="{FF2B5EF4-FFF2-40B4-BE49-F238E27FC236}">
                  <a16:creationId xmlns:a16="http://schemas.microsoft.com/office/drawing/2014/main" id="{69C6326F-43AC-B256-7DEF-FE859499E0BE}"/>
                </a:ext>
              </a:extLst>
            </p:cNvPr>
            <p:cNvSpPr txBox="1">
              <a:spLocks/>
            </p:cNvSpPr>
            <p:nvPr/>
          </p:nvSpPr>
          <p:spPr>
            <a:xfrm>
              <a:off x="5627835" y="1593618"/>
              <a:ext cx="870900" cy="375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1pPr>
              <a:lvl2pPr marR="0" lvl="1"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2pPr>
              <a:lvl3pPr marR="0" lvl="2"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3pPr>
              <a:lvl4pPr marR="0" lvl="3"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4pPr>
              <a:lvl5pPr marR="0" lvl="4"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5pPr>
              <a:lvl6pPr marR="0" lvl="5"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6pPr>
              <a:lvl7pPr marR="0" lvl="6"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7pPr>
              <a:lvl8pPr marR="0" lvl="7"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8pPr>
              <a:lvl9pPr marR="0" lvl="8" algn="ctr" rtl="0">
                <a:lnSpc>
                  <a:spcPct val="100000"/>
                </a:lnSpc>
                <a:spcBef>
                  <a:spcPts val="0"/>
                </a:spcBef>
                <a:spcAft>
                  <a:spcPts val="0"/>
                </a:spcAft>
                <a:buClr>
                  <a:schemeClr val="dk1"/>
                </a:buClr>
                <a:buSzPts val="2800"/>
                <a:buFont typeface="Oswald"/>
                <a:buNone/>
                <a:defRPr sz="2800" b="0" i="0" u="none" strike="noStrike" cap="none">
                  <a:solidFill>
                    <a:schemeClr val="dk1"/>
                  </a:solidFill>
                  <a:latin typeface="Oswald"/>
                  <a:ea typeface="Oswald"/>
                  <a:cs typeface="Oswald"/>
                  <a:sym typeface="Oswald"/>
                </a:defRPr>
              </a:lvl9pPr>
            </a:lstStyle>
            <a:p>
              <a:r>
                <a:rPr lang="de" sz="2700" b="1" dirty="0">
                  <a:latin typeface="+mn-lt"/>
                </a:rPr>
                <a:t>5</a:t>
              </a:r>
            </a:p>
          </p:txBody>
        </p:sp>
      </p:grpSp>
    </p:spTree>
    <p:extLst>
      <p:ext uri="{BB962C8B-B14F-4D97-AF65-F5344CB8AC3E}">
        <p14:creationId xmlns:p14="http://schemas.microsoft.com/office/powerpoint/2010/main" val="13599010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17933-2D23-4B04-6D55-E9EA5A7FB27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1B3E8F-B2C8-E2D6-A065-84F357AE437E}"/>
              </a:ext>
            </a:extLst>
          </p:cNvPr>
          <p:cNvSpPr txBox="1"/>
          <p:nvPr/>
        </p:nvSpPr>
        <p:spPr>
          <a:xfrm>
            <a:off x="4180114" y="2641219"/>
            <a:ext cx="5943600" cy="461665"/>
          </a:xfrm>
          <a:prstGeom prst="rect">
            <a:avLst/>
          </a:prstGeom>
          <a:noFill/>
        </p:spPr>
        <p:txBody>
          <a:bodyPr wrap="square" rtlCol="0">
            <a:spAutoFit/>
          </a:bodyPr>
          <a:lstStyle/>
          <a:p>
            <a:r>
              <a:rPr lang="en-MY" sz="2400" spc="300" dirty="0">
                <a:solidFill>
                  <a:schemeClr val="tx1">
                    <a:lumMod val="75000"/>
                    <a:lumOff val="25000"/>
                  </a:schemeClr>
                </a:solidFill>
                <a:effectLst>
                  <a:innerShdw blurRad="114300">
                    <a:prstClr val="black"/>
                  </a:innerShdw>
                </a:effectLst>
              </a:rPr>
              <a:t>CHAPTER 5</a:t>
            </a:r>
          </a:p>
        </p:txBody>
      </p:sp>
      <p:sp>
        <p:nvSpPr>
          <p:cNvPr id="4" name="TextBox 3">
            <a:extLst>
              <a:ext uri="{FF2B5EF4-FFF2-40B4-BE49-F238E27FC236}">
                <a16:creationId xmlns:a16="http://schemas.microsoft.com/office/drawing/2014/main" id="{8B262641-0212-273F-5916-2F6999713B2B}"/>
              </a:ext>
            </a:extLst>
          </p:cNvPr>
          <p:cNvSpPr txBox="1"/>
          <p:nvPr/>
        </p:nvSpPr>
        <p:spPr>
          <a:xfrm>
            <a:off x="4180113" y="2930121"/>
            <a:ext cx="7564211" cy="1938992"/>
          </a:xfrm>
          <a:prstGeom prst="rect">
            <a:avLst/>
          </a:prstGeom>
          <a:noFill/>
        </p:spPr>
        <p:txBody>
          <a:bodyPr wrap="square" rtlCol="0">
            <a:spAutoFit/>
            <a:scene3d>
              <a:camera prst="orthographicFront"/>
              <a:lightRig rig="threePt" dir="t"/>
            </a:scene3d>
            <a:sp3d extrusionH="57150">
              <a:bevelT w="38100" h="38100" prst="angle"/>
            </a:sp3d>
          </a:bodyPr>
          <a:lstStyle/>
          <a:p>
            <a:r>
              <a:rPr lang="en-US" sz="6000" b="1" kern="0" dirty="0">
                <a:solidFill>
                  <a:srgbClr val="6C1D35"/>
                </a:solidFill>
              </a:rPr>
              <a:t>MODEL DEVELOPMENT AND EVALUATION</a:t>
            </a:r>
          </a:p>
        </p:txBody>
      </p:sp>
      <p:pic>
        <p:nvPicPr>
          <p:cNvPr id="5" name="Picture 4">
            <a:extLst>
              <a:ext uri="{FF2B5EF4-FFF2-40B4-BE49-F238E27FC236}">
                <a16:creationId xmlns:a16="http://schemas.microsoft.com/office/drawing/2014/main" id="{A39D7DC1-837F-D743-937E-515C2BAA3A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2795" y="344422"/>
            <a:ext cx="2249407" cy="751894"/>
          </a:xfrm>
          <a:prstGeom prst="rect">
            <a:avLst/>
          </a:prstGeom>
        </p:spPr>
      </p:pic>
      <p:pic>
        <p:nvPicPr>
          <p:cNvPr id="9" name="Picture 8">
            <a:extLst>
              <a:ext uri="{FF2B5EF4-FFF2-40B4-BE49-F238E27FC236}">
                <a16:creationId xmlns:a16="http://schemas.microsoft.com/office/drawing/2014/main" id="{E0EE611F-1A27-4BA2-11DC-4B3781465F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3714" y="6529906"/>
            <a:ext cx="2060121" cy="155037"/>
          </a:xfrm>
          <a:prstGeom prst="rect">
            <a:avLst/>
          </a:prstGeom>
        </p:spPr>
      </p:pic>
      <p:cxnSp>
        <p:nvCxnSpPr>
          <p:cNvPr id="10" name="Straight Connector 9">
            <a:extLst>
              <a:ext uri="{FF2B5EF4-FFF2-40B4-BE49-F238E27FC236}">
                <a16:creationId xmlns:a16="http://schemas.microsoft.com/office/drawing/2014/main" id="{A44C962F-94DC-CAD9-353B-5F5F33747B4A}"/>
              </a:ext>
            </a:extLst>
          </p:cNvPr>
          <p:cNvCxnSpPr>
            <a:cxnSpLocks/>
          </p:cNvCxnSpPr>
          <p:nvPr/>
        </p:nvCxnSpPr>
        <p:spPr>
          <a:xfrm>
            <a:off x="0" y="6626873"/>
            <a:ext cx="10286999" cy="0"/>
          </a:xfrm>
          <a:prstGeom prst="line">
            <a:avLst/>
          </a:prstGeom>
          <a:ln w="28575"/>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257742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85">
          <a:extLst>
            <a:ext uri="{FF2B5EF4-FFF2-40B4-BE49-F238E27FC236}">
              <a16:creationId xmlns:a16="http://schemas.microsoft.com/office/drawing/2014/main" id="{D60863E0-37C8-B0AF-A5E3-D515463464B0}"/>
            </a:ext>
          </a:extLst>
        </p:cNvPr>
        <p:cNvGrpSpPr/>
        <p:nvPr/>
      </p:nvGrpSpPr>
      <p:grpSpPr>
        <a:xfrm>
          <a:off x="0" y="0"/>
          <a:ext cx="0" cy="0"/>
          <a:chOff x="0" y="0"/>
          <a:chExt cx="0" cy="0"/>
        </a:xfrm>
      </p:grpSpPr>
      <p:sp>
        <p:nvSpPr>
          <p:cNvPr id="36" name="Google Shape;4298;p119">
            <a:extLst>
              <a:ext uri="{FF2B5EF4-FFF2-40B4-BE49-F238E27FC236}">
                <a16:creationId xmlns:a16="http://schemas.microsoft.com/office/drawing/2014/main" id="{E2C6EF9A-4B57-D5E9-5EDE-21938D2ACACA}"/>
              </a:ext>
            </a:extLst>
          </p:cNvPr>
          <p:cNvSpPr txBox="1">
            <a:spLocks/>
          </p:cNvSpPr>
          <p:nvPr/>
        </p:nvSpPr>
        <p:spPr>
          <a:xfrm>
            <a:off x="1204918" y="1286102"/>
            <a:ext cx="3760828" cy="91200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de" sz="6000" b="1" dirty="0">
                <a:solidFill>
                  <a:schemeClr val="tx1"/>
                </a:solidFill>
                <a:effectLst>
                  <a:outerShdw blurRad="38100" dist="38100" dir="2700000" algn="tl">
                    <a:srgbClr val="000000">
                      <a:alpha val="43137"/>
                    </a:srgbClr>
                  </a:outerShdw>
                </a:effectLst>
                <a:latin typeface="+mn-lt"/>
              </a:rPr>
              <a:t>70 : 15 : 15</a:t>
            </a:r>
          </a:p>
        </p:txBody>
      </p:sp>
      <p:graphicFrame>
        <p:nvGraphicFramePr>
          <p:cNvPr id="52" name="Google Shape;1883;p99">
            <a:extLst>
              <a:ext uri="{FF2B5EF4-FFF2-40B4-BE49-F238E27FC236}">
                <a16:creationId xmlns:a16="http://schemas.microsoft.com/office/drawing/2014/main" id="{07874D75-0F26-44D0-4FD2-DC2F5AE0D5CA}"/>
              </a:ext>
            </a:extLst>
          </p:cNvPr>
          <p:cNvGraphicFramePr/>
          <p:nvPr>
            <p:extLst>
              <p:ext uri="{D42A27DB-BD31-4B8C-83A1-F6EECF244321}">
                <p14:modId xmlns:p14="http://schemas.microsoft.com/office/powerpoint/2010/main" val="1733109268"/>
              </p:ext>
            </p:extLst>
          </p:nvPr>
        </p:nvGraphicFramePr>
        <p:xfrm>
          <a:off x="925888" y="2065327"/>
          <a:ext cx="4318887" cy="882093"/>
        </p:xfrm>
        <a:graphic>
          <a:graphicData uri="http://schemas.openxmlformats.org/drawingml/2006/table">
            <a:tbl>
              <a:tblPr>
                <a:noFill/>
              </a:tblPr>
              <a:tblGrid>
                <a:gridCol w="1439629">
                  <a:extLst>
                    <a:ext uri="{9D8B030D-6E8A-4147-A177-3AD203B41FA5}">
                      <a16:colId xmlns:a16="http://schemas.microsoft.com/office/drawing/2014/main" val="20001"/>
                    </a:ext>
                  </a:extLst>
                </a:gridCol>
                <a:gridCol w="1439629">
                  <a:extLst>
                    <a:ext uri="{9D8B030D-6E8A-4147-A177-3AD203B41FA5}">
                      <a16:colId xmlns:a16="http://schemas.microsoft.com/office/drawing/2014/main" val="3670895096"/>
                    </a:ext>
                  </a:extLst>
                </a:gridCol>
                <a:gridCol w="1439629">
                  <a:extLst>
                    <a:ext uri="{9D8B030D-6E8A-4147-A177-3AD203B41FA5}">
                      <a16:colId xmlns:a16="http://schemas.microsoft.com/office/drawing/2014/main" val="20002"/>
                    </a:ext>
                  </a:extLst>
                </a:gridCol>
              </a:tblGrid>
              <a:tr h="470653">
                <a:tc>
                  <a:txBody>
                    <a:bodyPr/>
                    <a:lstStyle/>
                    <a:p>
                      <a:pPr marL="0" lvl="0" indent="0" algn="ctr" rtl="0">
                        <a:spcBef>
                          <a:spcPts val="0"/>
                        </a:spcBef>
                        <a:spcAft>
                          <a:spcPts val="0"/>
                        </a:spcAft>
                        <a:buNone/>
                      </a:pPr>
                      <a:r>
                        <a:rPr lang="de" sz="1400" b="1" dirty="0">
                          <a:solidFill>
                            <a:schemeClr val="tx2"/>
                          </a:solidFill>
                          <a:latin typeface="+mn-lt"/>
                          <a:ea typeface="Oswald"/>
                          <a:cs typeface="Oswald"/>
                          <a:sym typeface="Oswald"/>
                        </a:rPr>
                        <a:t>Training Set</a:t>
                      </a:r>
                      <a:endParaRPr sz="1400" b="1" dirty="0">
                        <a:solidFill>
                          <a:schemeClr val="tx2"/>
                        </a:solidFill>
                        <a:latin typeface="+mn-lt"/>
                        <a:ea typeface="Oswald"/>
                        <a:cs typeface="Oswald"/>
                        <a:sym typeface="Oswald"/>
                      </a:endParaRPr>
                    </a:p>
                  </a:txBody>
                  <a:tcPr marL="121900" marR="121900" marT="121900" marB="121900">
                    <a:lnL w="9525" cap="flat" cmpd="sng">
                      <a:solidFill>
                        <a:schemeClr val="accent2">
                          <a:alpha val="0"/>
                        </a:schemeClr>
                      </a:solidFill>
                      <a:prstDash val="solid"/>
                      <a:round/>
                      <a:headEnd type="none" w="sm" len="sm"/>
                      <a:tailEnd type="none" w="sm" len="sm"/>
                    </a:lnL>
                    <a:lnR w="9525" cap="flat" cmpd="sng">
                      <a:solidFill>
                        <a:schemeClr val="accent2">
                          <a:alpha val="0"/>
                        </a:schemeClr>
                      </a:solidFill>
                      <a:prstDash val="solid"/>
                      <a:round/>
                      <a:headEnd type="none" w="sm" len="sm"/>
                      <a:tailEnd type="none" w="sm" len="sm"/>
                    </a:lnR>
                    <a:lnT w="9525" cap="flat" cmpd="sng">
                      <a:solidFill>
                        <a:schemeClr val="accent2">
                          <a:alpha val="0"/>
                        </a:schemeClr>
                      </a:solidFill>
                      <a:prstDash val="solid"/>
                      <a:round/>
                      <a:headEnd type="none" w="sm" len="sm"/>
                      <a:tailEnd type="none" w="sm" len="sm"/>
                    </a:lnT>
                    <a:lnB w="19050" cap="flat" cmpd="sng" algn="ctr">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en-MY" sz="1400" b="1" dirty="0">
                          <a:solidFill>
                            <a:schemeClr val="tx2"/>
                          </a:solidFill>
                          <a:latin typeface="+mn-lt"/>
                          <a:ea typeface="Oswald"/>
                          <a:cs typeface="Oswald"/>
                          <a:sym typeface="Oswald"/>
                        </a:rPr>
                        <a:t>Validation Set</a:t>
                      </a:r>
                      <a:endParaRPr sz="1400" b="1" dirty="0">
                        <a:solidFill>
                          <a:schemeClr val="tx2"/>
                        </a:solidFill>
                        <a:latin typeface="+mn-lt"/>
                        <a:ea typeface="Oswald"/>
                        <a:cs typeface="Oswald"/>
                        <a:sym typeface="Oswald"/>
                      </a:endParaRPr>
                    </a:p>
                  </a:txBody>
                  <a:tcPr marL="121900" marR="121900" marT="121900" marB="121900">
                    <a:lnL w="9525" cap="flat" cmpd="sng" algn="ctr">
                      <a:solidFill>
                        <a:schemeClr val="accent2">
                          <a:alpha val="0"/>
                        </a:schemeClr>
                      </a:solidFill>
                      <a:prstDash val="solid"/>
                      <a:round/>
                      <a:headEnd type="none" w="sm" len="sm"/>
                      <a:tailEnd type="none" w="sm" len="sm"/>
                    </a:lnL>
                    <a:lnR w="9525" cap="flat" cmpd="sng">
                      <a:solidFill>
                        <a:schemeClr val="accent2">
                          <a:alpha val="0"/>
                        </a:schemeClr>
                      </a:solidFill>
                      <a:prstDash val="solid"/>
                      <a:round/>
                      <a:headEnd type="none" w="sm" len="sm"/>
                      <a:tailEnd type="none" w="sm" len="sm"/>
                    </a:lnR>
                    <a:lnT w="9525" cap="flat" cmpd="sng">
                      <a:solidFill>
                        <a:schemeClr val="accent2">
                          <a:alpha val="0"/>
                        </a:schemeClr>
                      </a:solidFill>
                      <a:prstDash val="solid"/>
                      <a:round/>
                      <a:headEnd type="none" w="sm" len="sm"/>
                      <a:tailEnd type="none" w="sm" len="sm"/>
                    </a:lnT>
                    <a:lnB w="19050" cap="flat" cmpd="sng" algn="ctr">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de" sz="1400" b="1" dirty="0">
                          <a:solidFill>
                            <a:schemeClr val="tx2"/>
                          </a:solidFill>
                          <a:latin typeface="+mn-lt"/>
                          <a:ea typeface="Oswald"/>
                          <a:cs typeface="Oswald"/>
                          <a:sym typeface="Oswald"/>
                        </a:rPr>
                        <a:t>Testing Set</a:t>
                      </a:r>
                      <a:endParaRPr sz="1400" b="1" dirty="0">
                        <a:solidFill>
                          <a:schemeClr val="tx2"/>
                        </a:solidFill>
                        <a:latin typeface="+mn-lt"/>
                        <a:ea typeface="Oswald"/>
                        <a:cs typeface="Oswald"/>
                        <a:sym typeface="Oswald"/>
                      </a:endParaRPr>
                    </a:p>
                  </a:txBody>
                  <a:tcPr marL="121900" marR="121900" marT="121900" marB="121900">
                    <a:lnL w="9525" cap="flat" cmpd="sng">
                      <a:solidFill>
                        <a:schemeClr val="accent2">
                          <a:alpha val="0"/>
                        </a:schemeClr>
                      </a:solidFill>
                      <a:prstDash val="solid"/>
                      <a:round/>
                      <a:headEnd type="none" w="sm" len="sm"/>
                      <a:tailEnd type="none" w="sm" len="sm"/>
                    </a:lnL>
                    <a:lnR w="9525" cap="flat" cmpd="sng">
                      <a:solidFill>
                        <a:schemeClr val="accent2">
                          <a:alpha val="0"/>
                        </a:schemeClr>
                      </a:solidFill>
                      <a:prstDash val="solid"/>
                      <a:round/>
                      <a:headEnd type="none" w="sm" len="sm"/>
                      <a:tailEnd type="none" w="sm" len="sm"/>
                    </a:lnR>
                    <a:lnT w="9525" cap="flat" cmpd="sng">
                      <a:solidFill>
                        <a:schemeClr val="accent2">
                          <a:alpha val="0"/>
                        </a:schemeClr>
                      </a:solidFill>
                      <a:prstDash val="solid"/>
                      <a:round/>
                      <a:headEnd type="none" w="sm" len="sm"/>
                      <a:tailEnd type="none" w="sm" len="sm"/>
                    </a:lnT>
                    <a:lnB w="19050" cap="flat" cmpd="sng">
                      <a:solidFill>
                        <a:schemeClr val="accent2"/>
                      </a:solidFill>
                      <a:prstDash val="solid"/>
                      <a:round/>
                      <a:headEnd type="none" w="sm" len="sm"/>
                      <a:tailEnd type="none" w="sm" len="sm"/>
                    </a:lnB>
                  </a:tcPr>
                </a:tc>
                <a:extLst>
                  <a:ext uri="{0D108BD9-81ED-4DB2-BD59-A6C34878D82A}">
                    <a16:rowId xmlns:a16="http://schemas.microsoft.com/office/drawing/2014/main" val="10000"/>
                  </a:ext>
                </a:extLst>
              </a:tr>
              <a:tr h="376517">
                <a:tc>
                  <a:txBody>
                    <a:bodyPr/>
                    <a:lstStyle/>
                    <a:p>
                      <a:pPr marL="0" lvl="0" indent="0" algn="ctr" rtl="0">
                        <a:spcBef>
                          <a:spcPts val="0"/>
                        </a:spcBef>
                        <a:spcAft>
                          <a:spcPts val="0"/>
                        </a:spcAft>
                        <a:buNone/>
                      </a:pPr>
                      <a:r>
                        <a:rPr lang="en-MY" sz="1100" dirty="0">
                          <a:solidFill>
                            <a:schemeClr val="tx1"/>
                          </a:solidFill>
                          <a:latin typeface="+mn-lt"/>
                          <a:ea typeface="Titillium Web"/>
                          <a:cs typeface="Titillium Web"/>
                          <a:sym typeface="Titillium Web"/>
                        </a:rPr>
                        <a:t>6,657,198 records</a:t>
                      </a:r>
                      <a:endParaRPr sz="1100" dirty="0">
                        <a:solidFill>
                          <a:schemeClr val="tx1"/>
                        </a:solidFill>
                        <a:latin typeface="+mn-lt"/>
                        <a:ea typeface="Titillium Web"/>
                        <a:cs typeface="Titillium Web"/>
                        <a:sym typeface="Titillium Web"/>
                      </a:endParaRPr>
                    </a:p>
                  </a:txBody>
                  <a:tcPr marL="121900" marR="121900" marT="121900" marB="1219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lgn="ctr">
                      <a:solidFill>
                        <a:schemeClr val="accent2"/>
                      </a:solidFill>
                      <a:prstDash val="solid"/>
                      <a:round/>
                      <a:headEnd type="none" w="sm" len="sm"/>
                      <a:tailEnd type="none" w="sm" len="sm"/>
                    </a:lnT>
                    <a:lnB w="9525" cap="flat" cmpd="sng" algn="ctr">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MY" sz="1100" dirty="0">
                          <a:solidFill>
                            <a:schemeClr val="tx1"/>
                          </a:solidFill>
                          <a:latin typeface="+mn-lt"/>
                          <a:ea typeface="Titillium Web"/>
                          <a:cs typeface="Titillium Web"/>
                          <a:sym typeface="Titillium Web"/>
                        </a:rPr>
                        <a:t>1,421,926 records</a:t>
                      </a:r>
                      <a:endParaRPr sz="1100" dirty="0">
                        <a:solidFill>
                          <a:schemeClr val="tx1"/>
                        </a:solidFill>
                        <a:latin typeface="+mn-lt"/>
                        <a:ea typeface="Titillium Web"/>
                        <a:cs typeface="Titillium Web"/>
                        <a:sym typeface="Titillium Web"/>
                      </a:endParaRPr>
                    </a:p>
                  </a:txBody>
                  <a:tcPr marL="121900" marR="121900" marT="121900" marB="121900">
                    <a:lnL w="9525" cap="flat" cmpd="sng" algn="ctr">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lgn="ctr">
                      <a:solidFill>
                        <a:schemeClr val="accent2"/>
                      </a:solidFill>
                      <a:prstDash val="solid"/>
                      <a:round/>
                      <a:headEnd type="none" w="sm" len="sm"/>
                      <a:tailEnd type="none" w="sm" len="sm"/>
                    </a:lnT>
                    <a:lnB w="9525" cap="flat" cmpd="sng" algn="ctr">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de" sz="1100" dirty="0">
                          <a:solidFill>
                            <a:schemeClr val="tx1"/>
                          </a:solidFill>
                          <a:latin typeface="+mn-lt"/>
                          <a:ea typeface="Titillium Web"/>
                          <a:cs typeface="Titillium Web"/>
                          <a:sym typeface="Titillium Web"/>
                        </a:rPr>
                        <a:t>1,425,728 records</a:t>
                      </a:r>
                    </a:p>
                  </a:txBody>
                  <a:tcPr marL="121900" marR="121900" marT="121900" marB="1219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2" name="Rectangle 1">
            <a:extLst>
              <a:ext uri="{FF2B5EF4-FFF2-40B4-BE49-F238E27FC236}">
                <a16:creationId xmlns:a16="http://schemas.microsoft.com/office/drawing/2014/main" id="{69923F75-FEA7-D7F5-68BE-17F885578A16}"/>
              </a:ext>
            </a:extLst>
          </p:cNvPr>
          <p:cNvSpPr/>
          <p:nvPr/>
        </p:nvSpPr>
        <p:spPr>
          <a:xfrm>
            <a:off x="0" y="385235"/>
            <a:ext cx="10334624" cy="5141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1">
            <a:extLst>
              <a:ext uri="{FF2B5EF4-FFF2-40B4-BE49-F238E27FC236}">
                <a16:creationId xmlns:a16="http://schemas.microsoft.com/office/drawing/2014/main" id="{B28BCE6D-B0B4-B669-46CC-B09B0C4321CB}"/>
              </a:ext>
            </a:extLst>
          </p:cNvPr>
          <p:cNvSpPr txBox="1">
            <a:spLocks/>
          </p:cNvSpPr>
          <p:nvPr/>
        </p:nvSpPr>
        <p:spPr>
          <a:xfrm>
            <a:off x="119763" y="456146"/>
            <a:ext cx="10214861" cy="38565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800" dirty="0">
                <a:solidFill>
                  <a:schemeClr val="bg1"/>
                </a:solidFill>
                <a:effectLst>
                  <a:outerShdw blurRad="38100" dist="38100" dir="2700000" algn="tl">
                    <a:srgbClr val="000000">
                      <a:alpha val="43137"/>
                    </a:srgbClr>
                  </a:outerShdw>
                </a:effectLst>
              </a:rPr>
              <a:t>SPLIT TRAIN-VALIDATE-TEST DATASET USING STRATIFIED SAMPLING</a:t>
            </a:r>
          </a:p>
        </p:txBody>
      </p:sp>
      <p:sp>
        <p:nvSpPr>
          <p:cNvPr id="4" name="Google Shape;4298;p119">
            <a:extLst>
              <a:ext uri="{FF2B5EF4-FFF2-40B4-BE49-F238E27FC236}">
                <a16:creationId xmlns:a16="http://schemas.microsoft.com/office/drawing/2014/main" id="{FD5AB57A-5DAB-68D0-DA9D-8161E8EB029F}"/>
              </a:ext>
            </a:extLst>
          </p:cNvPr>
          <p:cNvSpPr txBox="1">
            <a:spLocks/>
          </p:cNvSpPr>
          <p:nvPr/>
        </p:nvSpPr>
        <p:spPr>
          <a:xfrm>
            <a:off x="2605088" y="1942455"/>
            <a:ext cx="2295525" cy="912000"/>
          </a:xfrm>
          <a:prstGeom prst="rect">
            <a:avLst/>
          </a:prstGeom>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endParaRPr lang="de" sz="8800" b="1" dirty="0">
              <a:solidFill>
                <a:schemeClr val="tx1"/>
              </a:solidFill>
              <a:effectLst>
                <a:outerShdw blurRad="38100" dist="38100" dir="2700000" algn="tl">
                  <a:srgbClr val="000000">
                    <a:alpha val="43137"/>
                  </a:srgbClr>
                </a:outerShdw>
              </a:effectLst>
              <a:latin typeface="+mn-lt"/>
            </a:endParaRPr>
          </a:p>
        </p:txBody>
      </p:sp>
      <p:graphicFrame>
        <p:nvGraphicFramePr>
          <p:cNvPr id="7" name="Table 6">
            <a:extLst>
              <a:ext uri="{FF2B5EF4-FFF2-40B4-BE49-F238E27FC236}">
                <a16:creationId xmlns:a16="http://schemas.microsoft.com/office/drawing/2014/main" id="{38D65A08-8D50-2085-8004-01486DCCBF92}"/>
              </a:ext>
            </a:extLst>
          </p:cNvPr>
          <p:cNvGraphicFramePr>
            <a:graphicFrameLocks noGrp="1"/>
          </p:cNvGraphicFramePr>
          <p:nvPr>
            <p:extLst>
              <p:ext uri="{D42A27DB-BD31-4B8C-83A1-F6EECF244321}">
                <p14:modId xmlns:p14="http://schemas.microsoft.com/office/powerpoint/2010/main" val="4220016093"/>
              </p:ext>
            </p:extLst>
          </p:nvPr>
        </p:nvGraphicFramePr>
        <p:xfrm>
          <a:off x="6246360" y="2453722"/>
          <a:ext cx="5520322" cy="2281898"/>
        </p:xfrm>
        <a:graphic>
          <a:graphicData uri="http://schemas.openxmlformats.org/drawingml/2006/table">
            <a:tbl>
              <a:tblPr firstRow="1" firstCol="1" bandRow="1">
                <a:tableStyleId>{5C22544A-7EE6-4342-B048-85BDC9FD1C3A}</a:tableStyleId>
              </a:tblPr>
              <a:tblGrid>
                <a:gridCol w="696322">
                  <a:extLst>
                    <a:ext uri="{9D8B030D-6E8A-4147-A177-3AD203B41FA5}">
                      <a16:colId xmlns:a16="http://schemas.microsoft.com/office/drawing/2014/main" val="3097662644"/>
                    </a:ext>
                  </a:extLst>
                </a:gridCol>
                <a:gridCol w="1368000">
                  <a:extLst>
                    <a:ext uri="{9D8B030D-6E8A-4147-A177-3AD203B41FA5}">
                      <a16:colId xmlns:a16="http://schemas.microsoft.com/office/drawing/2014/main" val="392732401"/>
                    </a:ext>
                  </a:extLst>
                </a:gridCol>
                <a:gridCol w="864000">
                  <a:extLst>
                    <a:ext uri="{9D8B030D-6E8A-4147-A177-3AD203B41FA5}">
                      <a16:colId xmlns:a16="http://schemas.microsoft.com/office/drawing/2014/main" val="1527001443"/>
                    </a:ext>
                  </a:extLst>
                </a:gridCol>
                <a:gridCol w="864000">
                  <a:extLst>
                    <a:ext uri="{9D8B030D-6E8A-4147-A177-3AD203B41FA5}">
                      <a16:colId xmlns:a16="http://schemas.microsoft.com/office/drawing/2014/main" val="2669806238"/>
                    </a:ext>
                  </a:extLst>
                </a:gridCol>
                <a:gridCol w="864000">
                  <a:extLst>
                    <a:ext uri="{9D8B030D-6E8A-4147-A177-3AD203B41FA5}">
                      <a16:colId xmlns:a16="http://schemas.microsoft.com/office/drawing/2014/main" val="4279104350"/>
                    </a:ext>
                  </a:extLst>
                </a:gridCol>
                <a:gridCol w="864000">
                  <a:extLst>
                    <a:ext uri="{9D8B030D-6E8A-4147-A177-3AD203B41FA5}">
                      <a16:colId xmlns:a16="http://schemas.microsoft.com/office/drawing/2014/main" val="374471500"/>
                    </a:ext>
                  </a:extLst>
                </a:gridCol>
              </a:tblGrid>
              <a:tr h="324000">
                <a:tc>
                  <a:txBody>
                    <a:bodyPr/>
                    <a:lstStyle/>
                    <a:p>
                      <a:pPr algn="ctr">
                        <a:lnSpc>
                          <a:spcPct val="150000"/>
                        </a:lnSpc>
                        <a:buNone/>
                      </a:pPr>
                      <a:endParaRPr lang="en-MY" sz="1200" dirty="0">
                        <a:effectLst/>
                        <a:latin typeface="+mn-lt"/>
                        <a:ea typeface="Calibri" panose="020F0502020204030204" pitchFamily="34" charset="0"/>
                        <a:cs typeface="Arial" panose="020B0604020202020204" pitchFamily="34" charset="0"/>
                      </a:endParaRPr>
                    </a:p>
                  </a:txBody>
                  <a:tcPr marL="68580" marR="68580" marT="0" marB="0" anchor="ctr">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endParaRPr lang="en-MY" sz="1200" dirty="0">
                        <a:effectLst/>
                        <a:latin typeface="+mn-lt"/>
                        <a:ea typeface="Calibri" panose="020F0502020204030204" pitchFamily="34" charset="0"/>
                        <a:cs typeface="Arial" panose="020B0604020202020204" pitchFamily="34" charset="0"/>
                      </a:endParaRPr>
                    </a:p>
                  </a:txBody>
                  <a:tcPr marL="68580" marR="68580" marT="0" marB="0" anchor="ctr">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Precision</a:t>
                      </a:r>
                    </a:p>
                  </a:txBody>
                  <a:tcPr marL="68580" marR="68580" marT="0" marB="0">
                    <a:lnB w="12700" cap="flat" cmpd="sng" algn="ctr">
                      <a:solidFill>
                        <a:schemeClr val="accent1"/>
                      </a:solidFill>
                      <a:prstDash val="solid"/>
                      <a:round/>
                      <a:headEnd type="none" w="med" len="med"/>
                      <a:tailEnd type="none" w="med" len="med"/>
                    </a:lnB>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Recall</a:t>
                      </a:r>
                    </a:p>
                  </a:txBody>
                  <a:tcPr marL="68580" marR="68580" marT="0" marB="0">
                    <a:lnB w="12700" cap="flat" cmpd="sng" algn="ctr">
                      <a:solidFill>
                        <a:schemeClr val="accent1"/>
                      </a:solidFill>
                      <a:prstDash val="solid"/>
                      <a:round/>
                      <a:headEnd type="none" w="med" len="med"/>
                      <a:tailEnd type="none" w="med" len="med"/>
                    </a:lnB>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F1-Score</a:t>
                      </a:r>
                    </a:p>
                  </a:txBody>
                  <a:tcPr marL="68580" marR="68580" marT="0" marB="0">
                    <a:lnB w="12700" cap="flat" cmpd="sng" algn="ctr">
                      <a:solidFill>
                        <a:schemeClr val="accent1"/>
                      </a:solidFill>
                      <a:prstDash val="solid"/>
                      <a:round/>
                      <a:headEnd type="none" w="med" len="med"/>
                      <a:tailEnd type="none" w="med" len="med"/>
                    </a:lnB>
                  </a:tcPr>
                </a:tc>
                <a:tc>
                  <a:txBody>
                    <a:bodyPr/>
                    <a:lstStyle/>
                    <a:p>
                      <a:pPr marL="0" algn="ctr" defTabSz="914400" rtl="0" eaLnBrk="1" latinLnBrk="0" hangingPunct="1">
                        <a:lnSpc>
                          <a:spcPct val="150000"/>
                        </a:lnSpc>
                        <a:buNone/>
                      </a:pPr>
                      <a:r>
                        <a:rPr lang="en-MY" sz="1200" b="1" kern="1200" dirty="0">
                          <a:solidFill>
                            <a:schemeClr val="lt1"/>
                          </a:solidFill>
                          <a:effectLst/>
                          <a:latin typeface="+mn-lt"/>
                          <a:ea typeface="Calibri" panose="020F0502020204030204" pitchFamily="34" charset="0"/>
                          <a:cs typeface="Arial" panose="020B0604020202020204" pitchFamily="34" charset="0"/>
                        </a:rPr>
                        <a:t>Accuracy</a:t>
                      </a:r>
                    </a:p>
                  </a:txBody>
                  <a:tcPr marL="68580" marR="68580" marT="0" marB="0">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286765864"/>
                  </a:ext>
                </a:extLst>
              </a:tr>
              <a:tr h="506750">
                <a:tc rowSpan="2">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Random Forest</a:t>
                      </a:r>
                    </a:p>
                  </a:txBody>
                  <a:tcPr marL="68580" marR="68580"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2">
                        <a:lumMod val="60000"/>
                        <a:lumOff val="40000"/>
                      </a:schemeClr>
                    </a:solidFill>
                  </a:tcPr>
                </a:tc>
                <a:tc>
                  <a:txBody>
                    <a:bodyPr/>
                    <a:lstStyle/>
                    <a:p>
                      <a:pPr algn="ctr">
                        <a:lnSpc>
                          <a:spcPct val="150000"/>
                        </a:lnSpc>
                        <a:buNone/>
                      </a:pPr>
                      <a:r>
                        <a:rPr lang="en-US" sz="1200" b="1" dirty="0">
                          <a:effectLst/>
                          <a:latin typeface="+mn-lt"/>
                        </a:rPr>
                        <a:t>Random Sampling</a:t>
                      </a:r>
                      <a:endParaRPr lang="en-MY" sz="1200" b="1" dirty="0">
                        <a:effectLst/>
                        <a:latin typeface="+mn-lt"/>
                        <a:ea typeface="Calibri" panose="020F0502020204030204" pitchFamily="34" charset="0"/>
                        <a:cs typeface="Arial" panose="020B0604020202020204" pitchFamily="34" charset="0"/>
                      </a:endParaRPr>
                    </a:p>
                  </a:txBody>
                  <a:tcPr marL="68580" marR="68580" marT="0" marB="0" anchor="ctr">
                    <a:lnT w="12700" cap="flat" cmpd="sng" algn="ctr">
                      <a:solidFill>
                        <a:schemeClr val="accent1"/>
                      </a:solidFill>
                      <a:prstDash val="solid"/>
                      <a:round/>
                      <a:headEnd type="none" w="med" len="med"/>
                      <a:tailEnd type="none" w="med" len="med"/>
                    </a:lnT>
                    <a:noFill/>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0.9829</a:t>
                      </a:r>
                    </a:p>
                  </a:txBody>
                  <a:tcPr marL="68580" marR="68580" marT="0" marB="0" anchor="ctr">
                    <a:lnT w="12700" cap="flat" cmpd="sng" algn="ctr">
                      <a:solidFill>
                        <a:schemeClr val="accent1"/>
                      </a:solidFill>
                      <a:prstDash val="solid"/>
                      <a:round/>
                      <a:headEnd type="none" w="med" len="med"/>
                      <a:tailEnd type="none" w="med" len="med"/>
                    </a:lnT>
                    <a:noFill/>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0.7033</a:t>
                      </a:r>
                    </a:p>
                  </a:txBody>
                  <a:tcPr marL="68580" marR="68580" marT="0" marB="0" anchor="ctr">
                    <a:lnT w="12700" cap="flat" cmpd="sng" algn="ctr">
                      <a:solidFill>
                        <a:schemeClr val="accent1"/>
                      </a:solidFill>
                      <a:prstDash val="solid"/>
                      <a:round/>
                      <a:headEnd type="none" w="med" len="med"/>
                      <a:tailEnd type="none" w="med" len="med"/>
                    </a:lnT>
                    <a:noFill/>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0.8199</a:t>
                      </a:r>
                    </a:p>
                  </a:txBody>
                  <a:tcPr marL="68580" marR="68580" marT="0" marB="0" anchor="ctr">
                    <a:lnT w="12700" cap="flat" cmpd="sng" algn="ctr">
                      <a:solidFill>
                        <a:schemeClr val="accent1"/>
                      </a:solidFill>
                      <a:prstDash val="solid"/>
                      <a:round/>
                      <a:headEnd type="none" w="med" len="med"/>
                      <a:tailEnd type="none" w="med" len="med"/>
                    </a:lnT>
                    <a:noFill/>
                  </a:tcPr>
                </a:tc>
                <a:tc>
                  <a:txBody>
                    <a:bodyPr/>
                    <a:lstStyle/>
                    <a:p>
                      <a:pPr algn="ctr"/>
                      <a:r>
                        <a:rPr lang="en-MY" sz="1200" dirty="0">
                          <a:latin typeface="+mn-lt"/>
                        </a:rPr>
                        <a:t>0.9997</a:t>
                      </a:r>
                    </a:p>
                  </a:txBody>
                  <a:tcPr marL="68580" marR="68580"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2513934009"/>
                  </a:ext>
                </a:extLst>
              </a:tr>
              <a:tr h="483716">
                <a:tc vMerge="1">
                  <a:txBody>
                    <a:bodyPr/>
                    <a:lstStyle/>
                    <a:p>
                      <a:pPr algn="ctr">
                        <a:lnSpc>
                          <a:spcPct val="150000"/>
                        </a:lnSpc>
                        <a:buNone/>
                      </a:pPr>
                      <a:endParaRPr lang="en-MY" sz="1400" dirty="0">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buNone/>
                      </a:pPr>
                      <a:r>
                        <a:rPr lang="en-US" sz="1200" b="1" dirty="0">
                          <a:effectLst/>
                          <a:latin typeface="+mn-lt"/>
                        </a:rPr>
                        <a:t>Stratified Sampling</a:t>
                      </a:r>
                      <a:endParaRPr lang="en-MY" sz="1200" b="1" dirty="0">
                        <a:effectLst/>
                        <a:latin typeface="+mn-lt"/>
                        <a:ea typeface="Calibri" panose="020F0502020204030204" pitchFamily="34" charset="0"/>
                        <a:cs typeface="Arial" panose="020B0604020202020204" pitchFamily="34" charset="0"/>
                      </a:endParaRPr>
                    </a:p>
                  </a:txBody>
                  <a:tcPr marL="68580" marR="68580" marT="0" marB="0" anchor="ctr">
                    <a:lnB w="12700" cap="flat" cmpd="sng" algn="ctr">
                      <a:solidFill>
                        <a:schemeClr val="accent1"/>
                      </a:solidFill>
                      <a:prstDash val="solid"/>
                      <a:round/>
                      <a:headEnd type="none" w="med" len="med"/>
                      <a:tailEnd type="none" w="med" len="med"/>
                    </a:lnB>
                    <a:solidFill>
                      <a:srgbClr val="FFC000"/>
                    </a:solidFill>
                  </a:tcPr>
                </a:tc>
                <a:tc>
                  <a:txBody>
                    <a:bodyPr/>
                    <a:lstStyle/>
                    <a:p>
                      <a:pPr marL="0" algn="ctr" defTabSz="914400" rtl="0" eaLnBrk="1" latinLnBrk="0" hangingPunct="1">
                        <a:lnSpc>
                          <a:spcPct val="150000"/>
                        </a:lnSpc>
                        <a:buNone/>
                      </a:pPr>
                      <a:r>
                        <a:rPr lang="en-MY" sz="1200" kern="1200" dirty="0">
                          <a:solidFill>
                            <a:schemeClr val="dk1"/>
                          </a:solidFill>
                          <a:effectLst/>
                          <a:latin typeface="+mn-lt"/>
                          <a:ea typeface="Calibri" panose="020F0502020204030204" pitchFamily="34" charset="0"/>
                          <a:cs typeface="Arial" panose="020B0604020202020204" pitchFamily="34" charset="0"/>
                        </a:rPr>
                        <a:t>0.9894</a:t>
                      </a:r>
                    </a:p>
                  </a:txBody>
                  <a:tcPr marL="68580" marR="68580" marT="0" marB="0" anchor="ctr">
                    <a:lnB w="12700" cap="flat" cmpd="sng" algn="ctr">
                      <a:solidFill>
                        <a:schemeClr val="accent1"/>
                      </a:solidFill>
                      <a:prstDash val="solid"/>
                      <a:round/>
                      <a:headEnd type="none" w="med" len="med"/>
                      <a:tailEnd type="none" w="med" len="med"/>
                    </a:lnB>
                    <a:solidFill>
                      <a:srgbClr val="FFC000"/>
                    </a:solidFill>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0.6919</a:t>
                      </a:r>
                    </a:p>
                  </a:txBody>
                  <a:tcPr marL="68580" marR="68580" marT="0" marB="0" anchor="ctr">
                    <a:lnB w="12700" cap="flat" cmpd="sng" algn="ctr">
                      <a:solidFill>
                        <a:schemeClr val="accent1"/>
                      </a:solidFill>
                      <a:prstDash val="solid"/>
                      <a:round/>
                      <a:headEnd type="none" w="med" len="med"/>
                      <a:tailEnd type="none" w="med" len="med"/>
                    </a:lnB>
                    <a:solidFill>
                      <a:srgbClr val="FFC000"/>
                    </a:solidFill>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0.8143</a:t>
                      </a:r>
                    </a:p>
                  </a:txBody>
                  <a:tcPr marL="68580" marR="68580" marT="0" marB="0" anchor="ctr">
                    <a:lnB w="12700" cap="flat" cmpd="sng" algn="ctr">
                      <a:solidFill>
                        <a:schemeClr val="accent1"/>
                      </a:solidFill>
                      <a:prstDash val="solid"/>
                      <a:round/>
                      <a:headEnd type="none" w="med" len="med"/>
                      <a:tailEnd type="none" w="med" len="med"/>
                    </a:lnB>
                    <a:solidFill>
                      <a:srgbClr val="FFC000"/>
                    </a:solidFill>
                  </a:tcPr>
                </a:tc>
                <a:tc>
                  <a:txBody>
                    <a:bodyPr/>
                    <a:lstStyle/>
                    <a:p>
                      <a:pPr algn="ctr"/>
                      <a:r>
                        <a:rPr lang="en-MY" sz="1200" dirty="0">
                          <a:latin typeface="+mn-lt"/>
                        </a:rPr>
                        <a:t>0.9997</a:t>
                      </a:r>
                    </a:p>
                  </a:txBody>
                  <a:tcPr marL="68580" marR="68580" marT="0" marB="0" anchor="ctr">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rgbClr val="FFC000"/>
                    </a:solidFill>
                  </a:tcPr>
                </a:tc>
                <a:extLst>
                  <a:ext uri="{0D108BD9-81ED-4DB2-BD59-A6C34878D82A}">
                    <a16:rowId xmlns:a16="http://schemas.microsoft.com/office/drawing/2014/main" val="4134638092"/>
                  </a:ext>
                </a:extLst>
              </a:tr>
              <a:tr h="483716">
                <a:tc rowSpan="2">
                  <a:txBody>
                    <a:bodyPr/>
                    <a:lstStyle/>
                    <a:p>
                      <a:pPr algn="ctr">
                        <a:lnSpc>
                          <a:spcPct val="150000"/>
                        </a:lnSpc>
                        <a:buNone/>
                      </a:pPr>
                      <a:r>
                        <a:rPr lang="en-MY" sz="1200" dirty="0" err="1">
                          <a:effectLst/>
                          <a:latin typeface="+mn-lt"/>
                          <a:ea typeface="Calibri" panose="020F0502020204030204" pitchFamily="34" charset="0"/>
                          <a:cs typeface="Arial" panose="020B0604020202020204" pitchFamily="34" charset="0"/>
                        </a:rPr>
                        <a:t>XGBoost</a:t>
                      </a:r>
                      <a:endParaRPr lang="en-MY" sz="1200" dirty="0">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60000"/>
                        <a:lumOff val="40000"/>
                      </a:schemeClr>
                    </a:solidFill>
                  </a:tcPr>
                </a:tc>
                <a:tc>
                  <a:txBody>
                    <a:bodyPr/>
                    <a:lstStyle/>
                    <a:p>
                      <a:pPr algn="ctr">
                        <a:lnSpc>
                          <a:spcPct val="150000"/>
                        </a:lnSpc>
                        <a:buNone/>
                      </a:pPr>
                      <a:r>
                        <a:rPr lang="en-US" sz="1200" b="1" dirty="0">
                          <a:effectLst/>
                          <a:latin typeface="+mn-lt"/>
                        </a:rPr>
                        <a:t>Random Sampling</a:t>
                      </a:r>
                      <a:endParaRPr lang="en-MY" sz="1200" b="1" dirty="0">
                        <a:effectLst/>
                        <a:latin typeface="+mn-lt"/>
                        <a:ea typeface="Calibri" panose="020F0502020204030204" pitchFamily="34" charset="0"/>
                        <a:cs typeface="Arial" panose="020B0604020202020204" pitchFamily="34" charset="0"/>
                      </a:endParaRPr>
                    </a:p>
                  </a:txBody>
                  <a:tcPr marL="68580" marR="68580" marT="0" marB="0" anchor="ctr">
                    <a:lnT w="12700" cap="flat" cmpd="sng" algn="ctr">
                      <a:solidFill>
                        <a:schemeClr val="accent1"/>
                      </a:solidFill>
                      <a:prstDash val="solid"/>
                      <a:round/>
                      <a:headEnd type="none" w="med" len="med"/>
                      <a:tailEnd type="none" w="med" len="med"/>
                    </a:lnT>
                    <a:noFill/>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0.8412</a:t>
                      </a:r>
                    </a:p>
                  </a:txBody>
                  <a:tcPr marL="68580" marR="68580" marT="0" marB="0" anchor="ctr">
                    <a:lnT w="12700" cap="flat" cmpd="sng" algn="ctr">
                      <a:solidFill>
                        <a:schemeClr val="accent1"/>
                      </a:solidFill>
                      <a:prstDash val="solid"/>
                      <a:round/>
                      <a:headEnd type="none" w="med" len="med"/>
                      <a:tailEnd type="none" w="med" len="med"/>
                    </a:lnT>
                    <a:noFill/>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0.6327</a:t>
                      </a:r>
                    </a:p>
                  </a:txBody>
                  <a:tcPr marL="68580" marR="68580" marT="0" marB="0" anchor="ctr">
                    <a:lnT w="12700" cap="flat" cmpd="sng" algn="ctr">
                      <a:solidFill>
                        <a:schemeClr val="accent1"/>
                      </a:solidFill>
                      <a:prstDash val="solid"/>
                      <a:round/>
                      <a:headEnd type="none" w="med" len="med"/>
                      <a:tailEnd type="none" w="med" len="med"/>
                    </a:lnT>
                    <a:noFill/>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0.7222</a:t>
                      </a:r>
                    </a:p>
                  </a:txBody>
                  <a:tcPr marL="68580" marR="68580" marT="0" marB="0" anchor="ctr">
                    <a:lnT w="12700" cap="flat" cmpd="sng" algn="ctr">
                      <a:solidFill>
                        <a:schemeClr val="accent1"/>
                      </a:solidFill>
                      <a:prstDash val="solid"/>
                      <a:round/>
                      <a:headEnd type="none" w="med" len="med"/>
                      <a:tailEnd type="none" w="med" len="med"/>
                    </a:lnT>
                    <a:noFill/>
                  </a:tcPr>
                </a:tc>
                <a:tc>
                  <a:txBody>
                    <a:bodyPr/>
                    <a:lstStyle/>
                    <a:p>
                      <a:pPr algn="ctr"/>
                      <a:r>
                        <a:rPr lang="en-MY" sz="1200" dirty="0">
                          <a:latin typeface="+mn-lt"/>
                        </a:rPr>
                        <a:t>0.9995</a:t>
                      </a:r>
                    </a:p>
                  </a:txBody>
                  <a:tcPr marL="68580" marR="68580"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extLst>
                  <a:ext uri="{0D108BD9-81ED-4DB2-BD59-A6C34878D82A}">
                    <a16:rowId xmlns:a16="http://schemas.microsoft.com/office/drawing/2014/main" val="3053793190"/>
                  </a:ext>
                </a:extLst>
              </a:tr>
              <a:tr h="483716">
                <a:tc vMerge="1">
                  <a:txBody>
                    <a:bodyPr/>
                    <a:lstStyle/>
                    <a:p>
                      <a:pPr algn="ctr">
                        <a:lnSpc>
                          <a:spcPct val="150000"/>
                        </a:lnSpc>
                        <a:buNone/>
                      </a:pPr>
                      <a:endParaRPr lang="en-MY" sz="1400" dirty="0">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buNone/>
                      </a:pPr>
                      <a:r>
                        <a:rPr lang="en-US" sz="1200" b="1" dirty="0">
                          <a:effectLst/>
                          <a:latin typeface="+mn-lt"/>
                        </a:rPr>
                        <a:t>Stratified Sampling</a:t>
                      </a:r>
                      <a:endParaRPr lang="en-MY" sz="1200" b="1" dirty="0">
                        <a:effectLst/>
                        <a:latin typeface="+mn-lt"/>
                        <a:ea typeface="Calibri" panose="020F0502020204030204" pitchFamily="34" charset="0"/>
                        <a:cs typeface="Arial" panose="020B0604020202020204" pitchFamily="34" charset="0"/>
                      </a:endParaRPr>
                    </a:p>
                  </a:txBody>
                  <a:tcPr marL="68580" marR="68580" marT="0" marB="0" anchor="ctr">
                    <a:lnB w="12700" cap="flat" cmpd="sng" algn="ctr">
                      <a:solidFill>
                        <a:schemeClr val="accent1"/>
                      </a:solidFill>
                      <a:prstDash val="solid"/>
                      <a:round/>
                      <a:headEnd type="none" w="med" len="med"/>
                      <a:tailEnd type="none" w="med" len="med"/>
                    </a:lnB>
                    <a:solidFill>
                      <a:srgbClr val="FFC000"/>
                    </a:solid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0.8923</a:t>
                      </a:r>
                    </a:p>
                  </a:txBody>
                  <a:tcPr marL="68580" marR="68580" marT="0" marB="0" anchor="ctr">
                    <a:lnB w="12700" cap="flat" cmpd="sng" algn="ctr">
                      <a:solidFill>
                        <a:schemeClr val="accent1"/>
                      </a:solidFill>
                      <a:prstDash val="solid"/>
                      <a:round/>
                      <a:headEnd type="none" w="med" len="med"/>
                      <a:tailEnd type="none" w="med" len="med"/>
                    </a:lnB>
                    <a:solidFill>
                      <a:srgbClr val="FFC000"/>
                    </a:solid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0.6845</a:t>
                      </a:r>
                    </a:p>
                  </a:txBody>
                  <a:tcPr marL="68580" marR="68580" marT="0" marB="0" anchor="ctr">
                    <a:lnB w="12700" cap="flat" cmpd="sng" algn="ctr">
                      <a:solidFill>
                        <a:schemeClr val="accent1"/>
                      </a:solidFill>
                      <a:prstDash val="solid"/>
                      <a:round/>
                      <a:headEnd type="none" w="med" len="med"/>
                      <a:tailEnd type="none" w="med" len="med"/>
                    </a:lnB>
                    <a:solidFill>
                      <a:srgbClr val="FFC000"/>
                    </a:solid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0.7747</a:t>
                      </a:r>
                    </a:p>
                  </a:txBody>
                  <a:tcPr marL="68580" marR="68580" marT="0" marB="0" anchor="ctr">
                    <a:lnB w="12700" cap="flat" cmpd="sng" algn="ctr">
                      <a:solidFill>
                        <a:schemeClr val="accent1"/>
                      </a:solidFill>
                      <a:prstDash val="solid"/>
                      <a:round/>
                      <a:headEnd type="none" w="med" len="med"/>
                      <a:tailEnd type="none" w="med" len="med"/>
                    </a:lnB>
                    <a:solidFill>
                      <a:srgbClr val="FFC000"/>
                    </a:solidFill>
                  </a:tcPr>
                </a:tc>
                <a:tc>
                  <a:txBody>
                    <a:bodyPr/>
                    <a:lstStyle/>
                    <a:p>
                      <a:pPr algn="ctr"/>
                      <a:r>
                        <a:rPr lang="en-MY" sz="1200" b="0" dirty="0">
                          <a:solidFill>
                            <a:schemeClr val="tx1"/>
                          </a:solidFill>
                          <a:latin typeface="+mn-lt"/>
                        </a:rPr>
                        <a:t>0.9996</a:t>
                      </a:r>
                    </a:p>
                  </a:txBody>
                  <a:tcPr marL="68580" marR="68580" marT="0" marB="0" anchor="ctr">
                    <a:lnR w="12700" cap="flat" cmpd="sng" algn="ctr">
                      <a:solidFill>
                        <a:schemeClr val="accent1"/>
                      </a:solidFill>
                      <a:prstDash val="solid"/>
                      <a:round/>
                      <a:headEnd type="none" w="med" len="med"/>
                      <a:tailEnd type="none" w="med" len="med"/>
                    </a:lnR>
                    <a:lnB w="12700" cap="flat" cmpd="sng" algn="ctr">
                      <a:solidFill>
                        <a:schemeClr val="accent1"/>
                      </a:solidFill>
                      <a:prstDash val="solid"/>
                      <a:round/>
                      <a:headEnd type="none" w="med" len="med"/>
                      <a:tailEnd type="none" w="med" len="med"/>
                    </a:lnB>
                    <a:solidFill>
                      <a:srgbClr val="FFC000"/>
                    </a:solidFill>
                  </a:tcPr>
                </a:tc>
                <a:extLst>
                  <a:ext uri="{0D108BD9-81ED-4DB2-BD59-A6C34878D82A}">
                    <a16:rowId xmlns:a16="http://schemas.microsoft.com/office/drawing/2014/main" val="554908856"/>
                  </a:ext>
                </a:extLst>
              </a:tr>
            </a:tbl>
          </a:graphicData>
        </a:graphic>
      </p:graphicFrame>
      <p:sp>
        <p:nvSpPr>
          <p:cNvPr id="8" name="TextBox 7">
            <a:extLst>
              <a:ext uri="{FF2B5EF4-FFF2-40B4-BE49-F238E27FC236}">
                <a16:creationId xmlns:a16="http://schemas.microsoft.com/office/drawing/2014/main" id="{1BE679DE-49F5-56D7-C827-64927FD8E735}"/>
              </a:ext>
            </a:extLst>
          </p:cNvPr>
          <p:cNvSpPr txBox="1"/>
          <p:nvPr/>
        </p:nvSpPr>
        <p:spPr>
          <a:xfrm>
            <a:off x="6263749" y="1744736"/>
            <a:ext cx="5520322" cy="544992"/>
          </a:xfrm>
          <a:prstGeom prst="rect">
            <a:avLst/>
          </a:prstGeom>
          <a:solidFill>
            <a:schemeClr val="accent6">
              <a:lumMod val="60000"/>
              <a:lumOff val="40000"/>
            </a:schemeClr>
          </a:solidFill>
          <a:ln>
            <a:noFill/>
          </a:ln>
          <a:effectLst/>
        </p:spPr>
        <p:txBody>
          <a:bodyPr spcFirstLastPara="1" wrap="square" lIns="121900" tIns="121900" rIns="121900" bIns="121900" anchor="ctr" anchorCtr="0">
            <a:noAutofit/>
          </a:bodyPr>
          <a:lstStyle>
            <a:defPPr>
              <a:defRPr lang="en-US"/>
            </a:defPPr>
            <a:lvl1pPr>
              <a:defRPr sz="1200">
                <a:solidFill>
                  <a:schemeClr val="dk1"/>
                </a:solidFill>
                <a:ea typeface="Oswald"/>
                <a:cs typeface="Oswald"/>
              </a:defRPr>
            </a:lvl1pPr>
          </a:lstStyle>
          <a:p>
            <a:r>
              <a:rPr lang="en-MY" dirty="0">
                <a:solidFill>
                  <a:schemeClr val="bg1"/>
                </a:solidFill>
              </a:rPr>
              <a:t>Stratified sampling was selected as sampling method throughout this project ensuring the class proportions are preserved across training, validation, and testing set.</a:t>
            </a:r>
          </a:p>
        </p:txBody>
      </p:sp>
      <p:graphicFrame>
        <p:nvGraphicFramePr>
          <p:cNvPr id="10" name="Table 9">
            <a:extLst>
              <a:ext uri="{FF2B5EF4-FFF2-40B4-BE49-F238E27FC236}">
                <a16:creationId xmlns:a16="http://schemas.microsoft.com/office/drawing/2014/main" id="{911F9258-E95B-B88E-236F-B236C33B3266}"/>
              </a:ext>
            </a:extLst>
          </p:cNvPr>
          <p:cNvGraphicFramePr>
            <a:graphicFrameLocks noGrp="1"/>
          </p:cNvGraphicFramePr>
          <p:nvPr>
            <p:extLst>
              <p:ext uri="{D42A27DB-BD31-4B8C-83A1-F6EECF244321}">
                <p14:modId xmlns:p14="http://schemas.microsoft.com/office/powerpoint/2010/main" val="1297730573"/>
              </p:ext>
            </p:extLst>
          </p:nvPr>
        </p:nvGraphicFramePr>
        <p:xfrm>
          <a:off x="540000" y="4015242"/>
          <a:ext cx="5213985" cy="1941599"/>
        </p:xfrm>
        <a:graphic>
          <a:graphicData uri="http://schemas.openxmlformats.org/drawingml/2006/table">
            <a:tbl>
              <a:tblPr firstRow="1" firstCol="1" bandRow="1">
                <a:tableStyleId>{5C22544A-7EE6-4342-B048-85BDC9FD1C3A}</a:tableStyleId>
              </a:tblPr>
              <a:tblGrid>
                <a:gridCol w="2606675">
                  <a:extLst>
                    <a:ext uri="{9D8B030D-6E8A-4147-A177-3AD203B41FA5}">
                      <a16:colId xmlns:a16="http://schemas.microsoft.com/office/drawing/2014/main" val="2203496632"/>
                    </a:ext>
                  </a:extLst>
                </a:gridCol>
                <a:gridCol w="2607310">
                  <a:extLst>
                    <a:ext uri="{9D8B030D-6E8A-4147-A177-3AD203B41FA5}">
                      <a16:colId xmlns:a16="http://schemas.microsoft.com/office/drawing/2014/main" val="1074286017"/>
                    </a:ext>
                  </a:extLst>
                </a:gridCol>
              </a:tblGrid>
              <a:tr h="324000">
                <a:tc>
                  <a:txBody>
                    <a:bodyPr/>
                    <a:lstStyle/>
                    <a:p>
                      <a:pPr algn="ctr">
                        <a:lnSpc>
                          <a:spcPct val="150000"/>
                        </a:lnSpc>
                        <a:buNone/>
                      </a:pPr>
                      <a:r>
                        <a:rPr lang="en-US" sz="1200" dirty="0">
                          <a:effectLst/>
                        </a:rPr>
                        <a:t>Random Forest</a:t>
                      </a:r>
                      <a:endParaRPr lang="en-MY"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solidFill>
                      <a:schemeClr val="accent2">
                        <a:lumMod val="60000"/>
                        <a:lumOff val="40000"/>
                      </a:schemeClr>
                    </a:solidFill>
                  </a:tcPr>
                </a:tc>
                <a:tc>
                  <a:txBody>
                    <a:bodyPr/>
                    <a:lstStyle/>
                    <a:p>
                      <a:pPr algn="ctr">
                        <a:lnSpc>
                          <a:spcPct val="150000"/>
                        </a:lnSpc>
                        <a:buNone/>
                      </a:pPr>
                      <a:r>
                        <a:rPr lang="en-US" sz="1200" dirty="0" err="1">
                          <a:effectLst/>
                        </a:rPr>
                        <a:t>XGBoost</a:t>
                      </a:r>
                      <a:endParaRPr lang="en-MY"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solidFill>
                      <a:schemeClr val="accent1">
                        <a:lumMod val="60000"/>
                        <a:lumOff val="40000"/>
                      </a:schemeClr>
                    </a:solidFill>
                  </a:tcPr>
                </a:tc>
                <a:extLst>
                  <a:ext uri="{0D108BD9-81ED-4DB2-BD59-A6C34878D82A}">
                    <a16:rowId xmlns:a16="http://schemas.microsoft.com/office/drawing/2014/main" val="338059634"/>
                  </a:ext>
                </a:extLst>
              </a:tr>
              <a:tr h="26752">
                <a:tc>
                  <a:txBody>
                    <a:bodyPr/>
                    <a:lstStyle/>
                    <a:p>
                      <a:pPr marL="342900" lvl="0" indent="-342900">
                        <a:lnSpc>
                          <a:spcPct val="150000"/>
                        </a:lnSpc>
                        <a:buFont typeface="+mj-lt"/>
                        <a:buAutoNum type="alphaLcParenBoth"/>
                      </a:pPr>
                      <a:r>
                        <a:rPr lang="en-US" sz="1200" b="0" dirty="0" err="1">
                          <a:solidFill>
                            <a:schemeClr val="tx1"/>
                          </a:solidFill>
                          <a:effectLst/>
                        </a:rPr>
                        <a:t>n_estimators</a:t>
                      </a:r>
                      <a:r>
                        <a:rPr lang="en-US" sz="1200" b="0" dirty="0">
                          <a:solidFill>
                            <a:schemeClr val="tx1"/>
                          </a:solidFill>
                          <a:effectLst/>
                        </a:rPr>
                        <a:t> =100</a:t>
                      </a:r>
                      <a:endParaRPr lang="en-MY" sz="1200" b="0" dirty="0">
                        <a:solidFill>
                          <a:schemeClr val="tx1"/>
                        </a:solidFill>
                        <a:effectLst/>
                      </a:endParaRPr>
                    </a:p>
                    <a:p>
                      <a:pPr marL="342900" lvl="0" indent="-342900">
                        <a:lnSpc>
                          <a:spcPct val="150000"/>
                        </a:lnSpc>
                        <a:buFont typeface="+mj-lt"/>
                        <a:buAutoNum type="alphaLcParenBoth"/>
                      </a:pPr>
                      <a:r>
                        <a:rPr lang="en-US" sz="1200" b="0" dirty="0" err="1">
                          <a:solidFill>
                            <a:schemeClr val="tx1"/>
                          </a:solidFill>
                          <a:effectLst/>
                        </a:rPr>
                        <a:t>max_depth</a:t>
                      </a:r>
                      <a:r>
                        <a:rPr lang="en-US" sz="1200" b="0" dirty="0">
                          <a:solidFill>
                            <a:schemeClr val="tx1"/>
                          </a:solidFill>
                          <a:effectLst/>
                        </a:rPr>
                        <a:t> = None</a:t>
                      </a:r>
                      <a:endParaRPr lang="en-MY" sz="1200" b="0" dirty="0">
                        <a:solidFill>
                          <a:schemeClr val="tx1"/>
                        </a:solidFill>
                        <a:effectLst/>
                      </a:endParaRPr>
                    </a:p>
                    <a:p>
                      <a:pPr marL="342900" lvl="0" indent="-342900">
                        <a:lnSpc>
                          <a:spcPct val="150000"/>
                        </a:lnSpc>
                        <a:buFont typeface="+mj-lt"/>
                        <a:buAutoNum type="alphaLcParenBoth"/>
                      </a:pPr>
                      <a:r>
                        <a:rPr lang="en-US" sz="1200" b="0" dirty="0" err="1">
                          <a:solidFill>
                            <a:schemeClr val="tx1"/>
                          </a:solidFill>
                          <a:effectLst/>
                        </a:rPr>
                        <a:t>min_samples_split</a:t>
                      </a:r>
                      <a:r>
                        <a:rPr lang="en-US" sz="1200" b="0" dirty="0">
                          <a:solidFill>
                            <a:schemeClr val="tx1"/>
                          </a:solidFill>
                          <a:effectLst/>
                        </a:rPr>
                        <a:t> = 2</a:t>
                      </a:r>
                      <a:endParaRPr lang="en-MY" sz="1200" b="0" dirty="0">
                        <a:solidFill>
                          <a:schemeClr val="tx1"/>
                        </a:solidFill>
                        <a:effectLst/>
                      </a:endParaRPr>
                    </a:p>
                    <a:p>
                      <a:pPr marL="342900" lvl="0" indent="-342900">
                        <a:lnSpc>
                          <a:spcPct val="150000"/>
                        </a:lnSpc>
                        <a:buFont typeface="+mj-lt"/>
                        <a:buAutoNum type="alphaLcParenBoth"/>
                      </a:pPr>
                      <a:r>
                        <a:rPr lang="en-US" sz="1200" b="0" dirty="0" err="1">
                          <a:solidFill>
                            <a:schemeClr val="tx1"/>
                          </a:solidFill>
                          <a:effectLst/>
                        </a:rPr>
                        <a:t>random_state</a:t>
                      </a:r>
                      <a:r>
                        <a:rPr lang="en-US" sz="1200" b="0" dirty="0">
                          <a:solidFill>
                            <a:schemeClr val="tx1"/>
                          </a:solidFill>
                          <a:effectLst/>
                        </a:rPr>
                        <a:t> = 42</a:t>
                      </a:r>
                      <a:endParaRPr lang="en-MY" sz="1200" b="0" dirty="0">
                        <a:solidFill>
                          <a:schemeClr val="tx1"/>
                        </a:solidFill>
                        <a:effectLst/>
                      </a:endParaRPr>
                    </a:p>
                    <a:p>
                      <a:pPr marL="342900" lvl="0" indent="-342900">
                        <a:lnSpc>
                          <a:spcPct val="150000"/>
                        </a:lnSpc>
                        <a:buFont typeface="+mj-lt"/>
                        <a:buAutoNum type="alphaLcParenBoth"/>
                      </a:pPr>
                      <a:r>
                        <a:rPr lang="en-US" sz="1200" b="0" dirty="0" err="1">
                          <a:solidFill>
                            <a:schemeClr val="tx1"/>
                          </a:solidFill>
                          <a:effectLst/>
                        </a:rPr>
                        <a:t>n_jobs</a:t>
                      </a:r>
                      <a:r>
                        <a:rPr lang="en-US" sz="1200" b="0" dirty="0">
                          <a:solidFill>
                            <a:schemeClr val="tx1"/>
                          </a:solidFill>
                          <a:effectLst/>
                        </a:rPr>
                        <a:t> = -1</a:t>
                      </a:r>
                      <a:endParaRPr lang="en-MY" sz="1200" b="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lnR w="12700" cap="flat" cmpd="sng" algn="ctr">
                      <a:solidFill>
                        <a:schemeClr val="accent1"/>
                      </a:solidFill>
                      <a:prstDash val="solid"/>
                      <a:round/>
                      <a:headEnd type="none" w="med" len="med"/>
                      <a:tailEnd type="none" w="med" len="med"/>
                    </a:lnR>
                    <a:solidFill>
                      <a:schemeClr val="bg1"/>
                    </a:solidFill>
                  </a:tcPr>
                </a:tc>
                <a:tc>
                  <a:txBody>
                    <a:bodyPr/>
                    <a:lstStyle/>
                    <a:p>
                      <a:pPr marL="342900" lvl="0" indent="-342900" algn="l" defTabSz="914400" rtl="0" eaLnBrk="1" latinLnBrk="0" hangingPunct="1">
                        <a:lnSpc>
                          <a:spcPct val="150000"/>
                        </a:lnSpc>
                        <a:buFont typeface="+mj-lt"/>
                        <a:buAutoNum type="alphaLcParenBoth"/>
                      </a:pPr>
                      <a:r>
                        <a:rPr lang="en-US" sz="1200" b="0" kern="1200" dirty="0" err="1">
                          <a:solidFill>
                            <a:schemeClr val="tx1"/>
                          </a:solidFill>
                          <a:effectLst/>
                          <a:latin typeface="+mn-lt"/>
                          <a:ea typeface="+mn-ea"/>
                          <a:cs typeface="+mn-cs"/>
                        </a:rPr>
                        <a:t>n_estimators</a:t>
                      </a:r>
                      <a:r>
                        <a:rPr lang="en-US" sz="1200" b="0" kern="1200" dirty="0">
                          <a:solidFill>
                            <a:schemeClr val="tx1"/>
                          </a:solidFill>
                          <a:effectLst/>
                          <a:latin typeface="+mn-lt"/>
                          <a:ea typeface="+mn-ea"/>
                          <a:cs typeface="+mn-cs"/>
                        </a:rPr>
                        <a:t> = 100</a:t>
                      </a:r>
                      <a:endParaRPr lang="en-MY" sz="1200" b="0" kern="1200" dirty="0">
                        <a:solidFill>
                          <a:schemeClr val="tx1"/>
                        </a:solidFill>
                        <a:effectLst/>
                        <a:latin typeface="+mn-lt"/>
                        <a:ea typeface="+mn-ea"/>
                        <a:cs typeface="+mn-cs"/>
                      </a:endParaRPr>
                    </a:p>
                    <a:p>
                      <a:pPr marL="342900" lvl="0" indent="-342900" algn="l" defTabSz="914400" rtl="0" eaLnBrk="1" latinLnBrk="0" hangingPunct="1">
                        <a:lnSpc>
                          <a:spcPct val="150000"/>
                        </a:lnSpc>
                        <a:buFont typeface="+mj-lt"/>
                        <a:buAutoNum type="alphaLcParenBoth"/>
                      </a:pPr>
                      <a:r>
                        <a:rPr lang="en-US" sz="1200" b="0" kern="1200" dirty="0" err="1">
                          <a:solidFill>
                            <a:schemeClr val="tx1"/>
                          </a:solidFill>
                          <a:effectLst/>
                          <a:latin typeface="+mn-lt"/>
                          <a:ea typeface="+mn-ea"/>
                          <a:cs typeface="+mn-cs"/>
                        </a:rPr>
                        <a:t>max_depth</a:t>
                      </a:r>
                      <a:r>
                        <a:rPr lang="en-US" sz="1200" b="0" kern="1200" dirty="0">
                          <a:solidFill>
                            <a:schemeClr val="tx1"/>
                          </a:solidFill>
                          <a:effectLst/>
                          <a:latin typeface="+mn-lt"/>
                          <a:ea typeface="+mn-ea"/>
                          <a:cs typeface="+mn-cs"/>
                        </a:rPr>
                        <a:t> = 6</a:t>
                      </a:r>
                      <a:endParaRPr lang="en-MY" sz="1200" b="0" kern="1200" dirty="0">
                        <a:solidFill>
                          <a:schemeClr val="tx1"/>
                        </a:solidFill>
                        <a:effectLst/>
                        <a:latin typeface="+mn-lt"/>
                        <a:ea typeface="+mn-ea"/>
                        <a:cs typeface="+mn-cs"/>
                      </a:endParaRPr>
                    </a:p>
                    <a:p>
                      <a:pPr marL="342900" lvl="0" indent="-342900" algn="l" defTabSz="914400" rtl="0" eaLnBrk="1" latinLnBrk="0" hangingPunct="1">
                        <a:lnSpc>
                          <a:spcPct val="150000"/>
                        </a:lnSpc>
                        <a:buFont typeface="+mj-lt"/>
                        <a:buAutoNum type="alphaLcParenBoth"/>
                      </a:pPr>
                      <a:r>
                        <a:rPr lang="en-US" sz="1200" b="0" kern="1200" dirty="0" err="1">
                          <a:solidFill>
                            <a:schemeClr val="tx1"/>
                          </a:solidFill>
                          <a:effectLst/>
                          <a:latin typeface="+mn-lt"/>
                          <a:ea typeface="+mn-ea"/>
                          <a:cs typeface="+mn-cs"/>
                        </a:rPr>
                        <a:t>learning_rate</a:t>
                      </a:r>
                      <a:r>
                        <a:rPr lang="en-US" sz="1200" b="0" kern="1200" dirty="0">
                          <a:solidFill>
                            <a:schemeClr val="tx1"/>
                          </a:solidFill>
                          <a:effectLst/>
                          <a:latin typeface="+mn-lt"/>
                          <a:ea typeface="+mn-ea"/>
                          <a:cs typeface="+mn-cs"/>
                        </a:rPr>
                        <a:t> = 0.3</a:t>
                      </a:r>
                      <a:endParaRPr lang="en-MY" sz="1200" b="0" kern="1200" dirty="0">
                        <a:solidFill>
                          <a:schemeClr val="tx1"/>
                        </a:solidFill>
                        <a:effectLst/>
                        <a:latin typeface="+mn-lt"/>
                        <a:ea typeface="+mn-ea"/>
                        <a:cs typeface="+mn-cs"/>
                      </a:endParaRPr>
                    </a:p>
                    <a:p>
                      <a:pPr marL="342900" lvl="0" indent="-342900" algn="l" defTabSz="914400" rtl="0" eaLnBrk="1" latinLnBrk="0" hangingPunct="1">
                        <a:lnSpc>
                          <a:spcPct val="150000"/>
                        </a:lnSpc>
                        <a:buFont typeface="+mj-lt"/>
                        <a:buAutoNum type="alphaLcParenBoth"/>
                      </a:pPr>
                      <a:r>
                        <a:rPr lang="en-US" sz="1200" b="0" kern="1200" dirty="0">
                          <a:solidFill>
                            <a:schemeClr val="tx1"/>
                          </a:solidFill>
                          <a:effectLst/>
                          <a:latin typeface="+mn-lt"/>
                          <a:ea typeface="+mn-ea"/>
                          <a:cs typeface="+mn-cs"/>
                        </a:rPr>
                        <a:t>subsample = 1</a:t>
                      </a:r>
                      <a:endParaRPr lang="en-MY" sz="1200" b="0" kern="1200" dirty="0">
                        <a:solidFill>
                          <a:schemeClr val="tx1"/>
                        </a:solidFill>
                        <a:effectLst/>
                        <a:latin typeface="+mn-lt"/>
                        <a:ea typeface="+mn-ea"/>
                        <a:cs typeface="+mn-cs"/>
                      </a:endParaRPr>
                    </a:p>
                    <a:p>
                      <a:pPr marL="342900" lvl="0" indent="-342900" algn="l" defTabSz="914400" rtl="0" eaLnBrk="1" latinLnBrk="0" hangingPunct="1">
                        <a:lnSpc>
                          <a:spcPct val="150000"/>
                        </a:lnSpc>
                        <a:buFont typeface="+mj-lt"/>
                        <a:buAutoNum type="alphaLcParenBoth"/>
                      </a:pPr>
                      <a:r>
                        <a:rPr lang="en-US" sz="1200" b="0" kern="1200" dirty="0" err="1">
                          <a:solidFill>
                            <a:schemeClr val="tx1"/>
                          </a:solidFill>
                          <a:effectLst/>
                          <a:latin typeface="+mn-lt"/>
                          <a:ea typeface="+mn-ea"/>
                          <a:cs typeface="+mn-cs"/>
                        </a:rPr>
                        <a:t>random_state</a:t>
                      </a:r>
                      <a:r>
                        <a:rPr lang="en-US" sz="1200" b="0" kern="1200" dirty="0">
                          <a:solidFill>
                            <a:schemeClr val="tx1"/>
                          </a:solidFill>
                          <a:effectLst/>
                          <a:latin typeface="+mn-lt"/>
                          <a:ea typeface="+mn-ea"/>
                          <a:cs typeface="+mn-cs"/>
                        </a:rPr>
                        <a:t> = 42</a:t>
                      </a:r>
                      <a:endParaRPr lang="en-MY" sz="1200" b="0" kern="1200" dirty="0">
                        <a:solidFill>
                          <a:schemeClr val="tx1"/>
                        </a:solidFill>
                        <a:effectLst/>
                        <a:latin typeface="+mn-lt"/>
                        <a:ea typeface="+mn-ea"/>
                        <a:cs typeface="+mn-cs"/>
                      </a:endParaRPr>
                    </a:p>
                    <a:p>
                      <a:pPr marL="342900" lvl="0" indent="-342900" algn="l" defTabSz="914400" rtl="0" eaLnBrk="1" latinLnBrk="0" hangingPunct="1">
                        <a:lnSpc>
                          <a:spcPct val="150000"/>
                        </a:lnSpc>
                        <a:buFont typeface="+mj-lt"/>
                        <a:buAutoNum type="alphaLcParenBoth"/>
                      </a:pPr>
                      <a:r>
                        <a:rPr lang="en-US" sz="1200" b="0" kern="1200" dirty="0" err="1">
                          <a:solidFill>
                            <a:schemeClr val="tx1"/>
                          </a:solidFill>
                          <a:effectLst/>
                          <a:latin typeface="+mn-lt"/>
                          <a:ea typeface="+mn-ea"/>
                          <a:cs typeface="+mn-cs"/>
                        </a:rPr>
                        <a:t>n_jobs</a:t>
                      </a:r>
                      <a:r>
                        <a:rPr lang="en-US" sz="1200" b="0" kern="1200" dirty="0">
                          <a:solidFill>
                            <a:schemeClr val="tx1"/>
                          </a:solidFill>
                          <a:effectLst/>
                          <a:latin typeface="+mn-lt"/>
                          <a:ea typeface="+mn-ea"/>
                          <a:cs typeface="+mn-cs"/>
                        </a:rPr>
                        <a:t>=-1</a:t>
                      </a:r>
                      <a:endParaRPr lang="en-MY" sz="1200" b="0" kern="1200" dirty="0">
                        <a:solidFill>
                          <a:schemeClr val="tx1"/>
                        </a:solidFill>
                        <a:effectLst/>
                        <a:latin typeface="+mn-lt"/>
                        <a:ea typeface="+mn-ea"/>
                        <a:cs typeface="+mn-cs"/>
                      </a:endParaRPr>
                    </a:p>
                  </a:txBody>
                  <a:tcPr marL="68580" marR="68580" marT="0" marB="0">
                    <a:lnL w="12700" cap="flat" cmpd="sng" algn="ctr">
                      <a:solidFill>
                        <a:schemeClr val="accent1"/>
                      </a:solidFill>
                      <a:prstDash val="solid"/>
                      <a:round/>
                      <a:headEnd type="none" w="med" len="med"/>
                      <a:tailEnd type="none" w="med" len="med"/>
                    </a:lnL>
                    <a:solidFill>
                      <a:schemeClr val="bg1"/>
                    </a:solidFill>
                  </a:tcPr>
                </a:tc>
                <a:extLst>
                  <a:ext uri="{0D108BD9-81ED-4DB2-BD59-A6C34878D82A}">
                    <a16:rowId xmlns:a16="http://schemas.microsoft.com/office/drawing/2014/main" val="1899634311"/>
                  </a:ext>
                </a:extLst>
              </a:tr>
            </a:tbl>
          </a:graphicData>
        </a:graphic>
      </p:graphicFrame>
      <p:sp>
        <p:nvSpPr>
          <p:cNvPr id="11" name="Google Shape;2020;p104">
            <a:extLst>
              <a:ext uri="{FF2B5EF4-FFF2-40B4-BE49-F238E27FC236}">
                <a16:creationId xmlns:a16="http://schemas.microsoft.com/office/drawing/2014/main" id="{540BCF20-3158-89DC-C5E2-5D3796E65D2C}"/>
              </a:ext>
            </a:extLst>
          </p:cNvPr>
          <p:cNvSpPr txBox="1"/>
          <p:nvPr/>
        </p:nvSpPr>
        <p:spPr>
          <a:xfrm>
            <a:off x="6263749" y="5832282"/>
            <a:ext cx="5520322" cy="544992"/>
          </a:xfrm>
          <a:prstGeom prst="rect">
            <a:avLst/>
          </a:prstGeom>
          <a:solidFill>
            <a:schemeClr val="accent6">
              <a:lumMod val="60000"/>
              <a:lumOff val="40000"/>
            </a:schemeClr>
          </a:solidFill>
          <a:ln>
            <a:noFill/>
          </a:ln>
        </p:spPr>
        <p:txBody>
          <a:bodyPr spcFirstLastPara="1" wrap="square" lIns="121900" tIns="121900" rIns="121900" bIns="121900" anchor="ctr" anchorCtr="0">
            <a:noAutofit/>
          </a:bodyPr>
          <a:lstStyle/>
          <a:p>
            <a:r>
              <a:rPr lang="en-MY" sz="1200" dirty="0">
                <a:solidFill>
                  <a:schemeClr val="bg1"/>
                </a:solidFill>
                <a:ea typeface="Oswald"/>
                <a:cs typeface="Oswald"/>
                <a:sym typeface="Oswald"/>
              </a:rPr>
              <a:t>Therefore, the result from stratified sampling with default setting become the </a:t>
            </a:r>
            <a:r>
              <a:rPr lang="en-MY" sz="1200" b="1" dirty="0">
                <a:solidFill>
                  <a:srgbClr val="FFFF00"/>
                </a:solidFill>
                <a:ea typeface="Oswald"/>
                <a:cs typeface="Oswald"/>
                <a:sym typeface="Oswald"/>
              </a:rPr>
              <a:t>baseline model </a:t>
            </a:r>
            <a:r>
              <a:rPr lang="en-MY" sz="1200" dirty="0">
                <a:solidFill>
                  <a:schemeClr val="bg1"/>
                </a:solidFill>
                <a:ea typeface="Oswald"/>
                <a:cs typeface="Oswald"/>
                <a:sym typeface="Oswald"/>
              </a:rPr>
              <a:t>to compare throughout the project. </a:t>
            </a:r>
          </a:p>
        </p:txBody>
      </p:sp>
      <p:sp>
        <p:nvSpPr>
          <p:cNvPr id="13" name="Google Shape;1897;p101">
            <a:extLst>
              <a:ext uri="{FF2B5EF4-FFF2-40B4-BE49-F238E27FC236}">
                <a16:creationId xmlns:a16="http://schemas.microsoft.com/office/drawing/2014/main" id="{A33D3576-C3C2-64FF-C10E-E1C7ECABC3D7}"/>
              </a:ext>
            </a:extLst>
          </p:cNvPr>
          <p:cNvSpPr txBox="1"/>
          <p:nvPr/>
        </p:nvSpPr>
        <p:spPr>
          <a:xfrm>
            <a:off x="540000" y="1256135"/>
            <a:ext cx="907800" cy="426987"/>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Ratio :</a:t>
            </a:r>
          </a:p>
        </p:txBody>
      </p:sp>
      <p:pic>
        <p:nvPicPr>
          <p:cNvPr id="14" name="Picture 13">
            <a:extLst>
              <a:ext uri="{FF2B5EF4-FFF2-40B4-BE49-F238E27FC236}">
                <a16:creationId xmlns:a16="http://schemas.microsoft.com/office/drawing/2014/main" id="{C7FCFB94-38D0-F183-DD40-1B946D8C65AE}"/>
              </a:ext>
            </a:extLst>
          </p:cNvPr>
          <p:cNvPicPr>
            <a:picLocks noChangeAspect="1"/>
          </p:cNvPicPr>
          <p:nvPr/>
        </p:nvPicPr>
        <p:blipFill>
          <a:blip r:embed="rId3"/>
          <a:stretch>
            <a:fillRect/>
          </a:stretch>
        </p:blipFill>
        <p:spPr>
          <a:xfrm>
            <a:off x="0" y="1194522"/>
            <a:ext cx="540000" cy="540000"/>
          </a:xfrm>
          <a:prstGeom prst="rect">
            <a:avLst/>
          </a:prstGeom>
        </p:spPr>
      </p:pic>
      <p:sp>
        <p:nvSpPr>
          <p:cNvPr id="15" name="Google Shape;1897;p101">
            <a:extLst>
              <a:ext uri="{FF2B5EF4-FFF2-40B4-BE49-F238E27FC236}">
                <a16:creationId xmlns:a16="http://schemas.microsoft.com/office/drawing/2014/main" id="{58C9BACB-A9EF-86DB-1C11-ACDAC7A65733}"/>
              </a:ext>
            </a:extLst>
          </p:cNvPr>
          <p:cNvSpPr txBox="1"/>
          <p:nvPr/>
        </p:nvSpPr>
        <p:spPr>
          <a:xfrm>
            <a:off x="540000" y="3475242"/>
            <a:ext cx="2403225" cy="426987"/>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Default Parameters:</a:t>
            </a:r>
          </a:p>
        </p:txBody>
      </p:sp>
      <p:pic>
        <p:nvPicPr>
          <p:cNvPr id="16" name="Picture 15">
            <a:extLst>
              <a:ext uri="{FF2B5EF4-FFF2-40B4-BE49-F238E27FC236}">
                <a16:creationId xmlns:a16="http://schemas.microsoft.com/office/drawing/2014/main" id="{B237C89A-18AC-BD5C-2760-0CF0CEAF9333}"/>
              </a:ext>
            </a:extLst>
          </p:cNvPr>
          <p:cNvPicPr>
            <a:picLocks noChangeAspect="1"/>
          </p:cNvPicPr>
          <p:nvPr/>
        </p:nvPicPr>
        <p:blipFill>
          <a:blip r:embed="rId3"/>
          <a:stretch>
            <a:fillRect/>
          </a:stretch>
        </p:blipFill>
        <p:spPr>
          <a:xfrm>
            <a:off x="1" y="3413629"/>
            <a:ext cx="540000" cy="540000"/>
          </a:xfrm>
          <a:prstGeom prst="rect">
            <a:avLst/>
          </a:prstGeom>
        </p:spPr>
      </p:pic>
      <p:sp>
        <p:nvSpPr>
          <p:cNvPr id="17" name="Google Shape;1897;p101">
            <a:extLst>
              <a:ext uri="{FF2B5EF4-FFF2-40B4-BE49-F238E27FC236}">
                <a16:creationId xmlns:a16="http://schemas.microsoft.com/office/drawing/2014/main" id="{1923A92A-81BC-174D-C92F-163322862794}"/>
              </a:ext>
            </a:extLst>
          </p:cNvPr>
          <p:cNvSpPr txBox="1"/>
          <p:nvPr/>
        </p:nvSpPr>
        <p:spPr>
          <a:xfrm>
            <a:off x="6246360" y="1256135"/>
            <a:ext cx="2376508" cy="426987"/>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Sampling method:</a:t>
            </a:r>
          </a:p>
        </p:txBody>
      </p:sp>
      <p:pic>
        <p:nvPicPr>
          <p:cNvPr id="18" name="Picture 17">
            <a:extLst>
              <a:ext uri="{FF2B5EF4-FFF2-40B4-BE49-F238E27FC236}">
                <a16:creationId xmlns:a16="http://schemas.microsoft.com/office/drawing/2014/main" id="{E14AEBDC-F2C5-D8A1-BF2C-67B006547319}"/>
              </a:ext>
            </a:extLst>
          </p:cNvPr>
          <p:cNvPicPr>
            <a:picLocks noChangeAspect="1"/>
          </p:cNvPicPr>
          <p:nvPr/>
        </p:nvPicPr>
        <p:blipFill>
          <a:blip r:embed="rId3"/>
          <a:stretch>
            <a:fillRect/>
          </a:stretch>
        </p:blipFill>
        <p:spPr>
          <a:xfrm>
            <a:off x="5706360" y="1194522"/>
            <a:ext cx="540000" cy="540000"/>
          </a:xfrm>
          <a:prstGeom prst="rect">
            <a:avLst/>
          </a:prstGeom>
        </p:spPr>
      </p:pic>
      <p:pic>
        <p:nvPicPr>
          <p:cNvPr id="20" name="Picture 19">
            <a:extLst>
              <a:ext uri="{FF2B5EF4-FFF2-40B4-BE49-F238E27FC236}">
                <a16:creationId xmlns:a16="http://schemas.microsoft.com/office/drawing/2014/main" id="{48C191B3-71F7-7F26-F47D-2DE5A5D6EECC}"/>
              </a:ext>
            </a:extLst>
          </p:cNvPr>
          <p:cNvPicPr>
            <a:picLocks noChangeAspect="1"/>
          </p:cNvPicPr>
          <p:nvPr/>
        </p:nvPicPr>
        <p:blipFill>
          <a:blip r:embed="rId4"/>
          <a:stretch>
            <a:fillRect/>
          </a:stretch>
        </p:blipFill>
        <p:spPr>
          <a:xfrm>
            <a:off x="5926627" y="1726083"/>
            <a:ext cx="540000" cy="540000"/>
          </a:xfrm>
          <a:prstGeom prst="rect">
            <a:avLst/>
          </a:prstGeom>
          <a:effectLst>
            <a:outerShdw blurRad="50800" dist="38100" dir="5400000" algn="t" rotWithShape="0">
              <a:prstClr val="black">
                <a:alpha val="40000"/>
              </a:prstClr>
            </a:outerShdw>
          </a:effectLst>
        </p:spPr>
      </p:pic>
      <p:sp>
        <p:nvSpPr>
          <p:cNvPr id="22" name="Google Shape;2020;p104">
            <a:extLst>
              <a:ext uri="{FF2B5EF4-FFF2-40B4-BE49-F238E27FC236}">
                <a16:creationId xmlns:a16="http://schemas.microsoft.com/office/drawing/2014/main" id="{D8A553C9-5A51-94AC-C65A-CC7FBC4E5F75}"/>
              </a:ext>
            </a:extLst>
          </p:cNvPr>
          <p:cNvSpPr txBox="1"/>
          <p:nvPr/>
        </p:nvSpPr>
        <p:spPr>
          <a:xfrm>
            <a:off x="6195277" y="4779522"/>
            <a:ext cx="2618241" cy="927858"/>
          </a:xfrm>
          <a:prstGeom prst="rect">
            <a:avLst/>
          </a:prstGeom>
          <a:noFill/>
          <a:ln>
            <a:noFill/>
          </a:ln>
        </p:spPr>
        <p:txBody>
          <a:bodyPr spcFirstLastPara="1" wrap="square" lIns="121900" tIns="121900" rIns="121900" bIns="121900" anchor="ctr" anchorCtr="0">
            <a:noAutofit/>
          </a:bodyPr>
          <a:lstStyle/>
          <a:p>
            <a:r>
              <a:rPr lang="en-MY" sz="1200" b="1" dirty="0">
                <a:solidFill>
                  <a:schemeClr val="dk1"/>
                </a:solidFill>
                <a:ea typeface="Oswald"/>
                <a:cs typeface="Oswald"/>
                <a:sym typeface="Oswald"/>
              </a:rPr>
              <a:t>Random Forest:</a:t>
            </a:r>
          </a:p>
          <a:p>
            <a:pPr marL="171450" indent="-171450">
              <a:buFontTx/>
              <a:buChar char="-"/>
            </a:pPr>
            <a:r>
              <a:rPr lang="en-MY" sz="1200" dirty="0">
                <a:solidFill>
                  <a:schemeClr val="dk1"/>
                </a:solidFill>
                <a:ea typeface="Oswald"/>
                <a:cs typeface="Oswald"/>
                <a:sym typeface="Oswald"/>
              </a:rPr>
              <a:t>Minor difference between strategies.</a:t>
            </a:r>
          </a:p>
          <a:p>
            <a:pPr marL="171450" indent="-171450">
              <a:buFontTx/>
              <a:buChar char="-"/>
            </a:pPr>
            <a:r>
              <a:rPr lang="en-MY" sz="1200" dirty="0">
                <a:solidFill>
                  <a:schemeClr val="dk1"/>
                </a:solidFill>
                <a:ea typeface="Oswald"/>
                <a:cs typeface="Oswald"/>
                <a:sym typeface="Oswald"/>
              </a:rPr>
              <a:t>Show stable performance regardless of different strategies.</a:t>
            </a:r>
          </a:p>
        </p:txBody>
      </p:sp>
      <p:sp>
        <p:nvSpPr>
          <p:cNvPr id="24" name="TextBox 23">
            <a:extLst>
              <a:ext uri="{FF2B5EF4-FFF2-40B4-BE49-F238E27FC236}">
                <a16:creationId xmlns:a16="http://schemas.microsoft.com/office/drawing/2014/main" id="{B59C9A5B-F928-4FE0-48CD-D102040A41F3}"/>
              </a:ext>
            </a:extLst>
          </p:cNvPr>
          <p:cNvSpPr txBox="1"/>
          <p:nvPr/>
        </p:nvSpPr>
        <p:spPr>
          <a:xfrm>
            <a:off x="9006521" y="4749951"/>
            <a:ext cx="2760161" cy="1015663"/>
          </a:xfrm>
          <a:prstGeom prst="rect">
            <a:avLst/>
          </a:prstGeom>
          <a:noFill/>
        </p:spPr>
        <p:txBody>
          <a:bodyPr wrap="square">
            <a:spAutoFit/>
          </a:bodyPr>
          <a:lstStyle/>
          <a:p>
            <a:r>
              <a:rPr lang="en-MY" sz="1200" b="1" dirty="0" err="1">
                <a:solidFill>
                  <a:schemeClr val="dk1"/>
                </a:solidFill>
                <a:ea typeface="Oswald"/>
                <a:cs typeface="Oswald"/>
                <a:sym typeface="Oswald"/>
              </a:rPr>
              <a:t>XGBoost</a:t>
            </a:r>
            <a:r>
              <a:rPr lang="en-MY" sz="1200" b="1" dirty="0">
                <a:solidFill>
                  <a:schemeClr val="dk1"/>
                </a:solidFill>
                <a:ea typeface="Oswald"/>
                <a:cs typeface="Oswald"/>
                <a:sym typeface="Oswald"/>
              </a:rPr>
              <a:t>:</a:t>
            </a:r>
          </a:p>
          <a:p>
            <a:pPr marL="171450" indent="-171450">
              <a:buFontTx/>
              <a:buChar char="-"/>
            </a:pPr>
            <a:r>
              <a:rPr lang="en-MY" sz="1200" dirty="0">
                <a:solidFill>
                  <a:schemeClr val="dk1"/>
                </a:solidFill>
                <a:ea typeface="Oswald"/>
                <a:cs typeface="Oswald"/>
                <a:sym typeface="Oswald"/>
              </a:rPr>
              <a:t>Stronger dependence on sampling strategy.</a:t>
            </a:r>
          </a:p>
          <a:p>
            <a:pPr marL="171450" indent="-171450">
              <a:buFontTx/>
              <a:buChar char="-"/>
            </a:pPr>
            <a:r>
              <a:rPr lang="en-MY" sz="1200" dirty="0">
                <a:solidFill>
                  <a:schemeClr val="dk1"/>
                </a:solidFill>
                <a:ea typeface="Oswald"/>
                <a:cs typeface="Oswald"/>
                <a:sym typeface="Oswald"/>
              </a:rPr>
              <a:t>More balanced performance using stratified sampling.</a:t>
            </a:r>
          </a:p>
        </p:txBody>
      </p:sp>
      <p:cxnSp>
        <p:nvCxnSpPr>
          <p:cNvPr id="28" name="Straight Connector 27">
            <a:extLst>
              <a:ext uri="{FF2B5EF4-FFF2-40B4-BE49-F238E27FC236}">
                <a16:creationId xmlns:a16="http://schemas.microsoft.com/office/drawing/2014/main" id="{EB856286-263E-FA3F-1E95-C08608082953}"/>
              </a:ext>
            </a:extLst>
          </p:cNvPr>
          <p:cNvCxnSpPr>
            <a:cxnSpLocks/>
          </p:cNvCxnSpPr>
          <p:nvPr/>
        </p:nvCxnSpPr>
        <p:spPr>
          <a:xfrm>
            <a:off x="5747657" y="952068"/>
            <a:ext cx="0" cy="5868000"/>
          </a:xfrm>
          <a:prstGeom prst="line">
            <a:avLst/>
          </a:prstGeom>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02033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81">
          <a:extLst>
            <a:ext uri="{FF2B5EF4-FFF2-40B4-BE49-F238E27FC236}">
              <a16:creationId xmlns:a16="http://schemas.microsoft.com/office/drawing/2014/main" id="{3F9CCC85-2E3B-31BB-6306-9DBAE2FB2CA5}"/>
            </a:ext>
          </a:extLst>
        </p:cNvPr>
        <p:cNvGrpSpPr/>
        <p:nvPr/>
      </p:nvGrpSpPr>
      <p:grpSpPr>
        <a:xfrm>
          <a:off x="0" y="0"/>
          <a:ext cx="0" cy="0"/>
          <a:chOff x="0" y="0"/>
          <a:chExt cx="0" cy="0"/>
        </a:xfrm>
      </p:grpSpPr>
      <p:sp>
        <p:nvSpPr>
          <p:cNvPr id="11" name="Google Shape;1281;p68">
            <a:extLst>
              <a:ext uri="{FF2B5EF4-FFF2-40B4-BE49-F238E27FC236}">
                <a16:creationId xmlns:a16="http://schemas.microsoft.com/office/drawing/2014/main" id="{3E00701B-C339-6C10-B51F-A3EFBE11871D}"/>
              </a:ext>
            </a:extLst>
          </p:cNvPr>
          <p:cNvSpPr txBox="1">
            <a:spLocks/>
          </p:cNvSpPr>
          <p:nvPr/>
        </p:nvSpPr>
        <p:spPr>
          <a:xfrm>
            <a:off x="425318" y="1170705"/>
            <a:ext cx="5188166" cy="492023"/>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e-DE" sz="1200" dirty="0">
                <a:latin typeface="+mn-lt"/>
              </a:rPr>
              <a:t>Reducing the majority samples (normal transactions) to match the size of minority class (laundering transactions).</a:t>
            </a:r>
          </a:p>
        </p:txBody>
      </p:sp>
      <p:graphicFrame>
        <p:nvGraphicFramePr>
          <p:cNvPr id="12" name="Google Shape;1883;p99">
            <a:extLst>
              <a:ext uri="{FF2B5EF4-FFF2-40B4-BE49-F238E27FC236}">
                <a16:creationId xmlns:a16="http://schemas.microsoft.com/office/drawing/2014/main" id="{0567616E-C4E2-65E0-587B-F84C1ED66DAB}"/>
              </a:ext>
            </a:extLst>
          </p:cNvPr>
          <p:cNvGraphicFramePr/>
          <p:nvPr>
            <p:extLst>
              <p:ext uri="{D42A27DB-BD31-4B8C-83A1-F6EECF244321}">
                <p14:modId xmlns:p14="http://schemas.microsoft.com/office/powerpoint/2010/main" val="1344762495"/>
              </p:ext>
            </p:extLst>
          </p:nvPr>
        </p:nvGraphicFramePr>
        <p:xfrm>
          <a:off x="139500" y="2849066"/>
          <a:ext cx="5004000" cy="1219080"/>
        </p:xfrm>
        <a:graphic>
          <a:graphicData uri="http://schemas.openxmlformats.org/drawingml/2006/table">
            <a:tbl>
              <a:tblPr>
                <a:noFill/>
              </a:tblPr>
              <a:tblGrid>
                <a:gridCol w="1620000">
                  <a:extLst>
                    <a:ext uri="{9D8B030D-6E8A-4147-A177-3AD203B41FA5}">
                      <a16:colId xmlns:a16="http://schemas.microsoft.com/office/drawing/2014/main" val="20000"/>
                    </a:ext>
                  </a:extLst>
                </a:gridCol>
                <a:gridCol w="1692000">
                  <a:extLst>
                    <a:ext uri="{9D8B030D-6E8A-4147-A177-3AD203B41FA5}">
                      <a16:colId xmlns:a16="http://schemas.microsoft.com/office/drawing/2014/main" val="20001"/>
                    </a:ext>
                  </a:extLst>
                </a:gridCol>
                <a:gridCol w="1692000">
                  <a:extLst>
                    <a:ext uri="{9D8B030D-6E8A-4147-A177-3AD203B41FA5}">
                      <a16:colId xmlns:a16="http://schemas.microsoft.com/office/drawing/2014/main" val="20002"/>
                    </a:ext>
                  </a:extLst>
                </a:gridCol>
              </a:tblGrid>
              <a:tr h="336020">
                <a:tc>
                  <a:txBody>
                    <a:bodyPr/>
                    <a:lstStyle/>
                    <a:p>
                      <a:pPr marL="0" lvl="0" indent="0" algn="ctr" rtl="0">
                        <a:spcBef>
                          <a:spcPts val="0"/>
                        </a:spcBef>
                        <a:spcAft>
                          <a:spcPts val="0"/>
                        </a:spcAft>
                        <a:buNone/>
                      </a:pPr>
                      <a:endParaRPr sz="1100" dirty="0">
                        <a:solidFill>
                          <a:schemeClr val="dk1"/>
                        </a:solidFill>
                        <a:latin typeface="+mn-lt"/>
                        <a:ea typeface="Oswald"/>
                        <a:cs typeface="Oswald"/>
                        <a:sym typeface="Oswald"/>
                      </a:endParaRPr>
                    </a:p>
                  </a:txBody>
                  <a:tcPr marL="121900" marR="121900" marT="121900" marB="121900">
                    <a:lnL w="9525" cap="flat" cmpd="sng">
                      <a:solidFill>
                        <a:schemeClr val="accent2">
                          <a:alpha val="0"/>
                        </a:schemeClr>
                      </a:solidFill>
                      <a:prstDash val="solid"/>
                      <a:round/>
                      <a:headEnd type="none" w="sm" len="sm"/>
                      <a:tailEnd type="none" w="sm" len="sm"/>
                    </a:lnL>
                    <a:lnR w="9525" cap="flat" cmpd="sng">
                      <a:solidFill>
                        <a:schemeClr val="accent2">
                          <a:alpha val="0"/>
                        </a:schemeClr>
                      </a:solidFill>
                      <a:prstDash val="solid"/>
                      <a:round/>
                      <a:headEnd type="none" w="sm" len="sm"/>
                      <a:tailEnd type="none" w="sm" len="sm"/>
                    </a:lnR>
                    <a:lnT w="9525" cap="flat" cmpd="sng">
                      <a:solidFill>
                        <a:schemeClr val="accent2">
                          <a:alpha val="0"/>
                        </a:schemeClr>
                      </a:solidFill>
                      <a:prstDash val="solid"/>
                      <a:round/>
                      <a:headEnd type="none" w="sm" len="sm"/>
                      <a:tailEnd type="none" w="sm" len="sm"/>
                    </a:lnT>
                    <a:lnB w="19050" cap="flat" cmpd="sng">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de" sz="1100" b="1" dirty="0">
                          <a:solidFill>
                            <a:schemeClr val="dk1"/>
                          </a:solidFill>
                          <a:latin typeface="+mn-lt"/>
                          <a:ea typeface="Oswald"/>
                          <a:cs typeface="Oswald"/>
                          <a:sym typeface="Oswald"/>
                        </a:rPr>
                        <a:t>Tranining Set before RUS</a:t>
                      </a:r>
                      <a:endParaRPr sz="1100" b="1" dirty="0">
                        <a:solidFill>
                          <a:schemeClr val="dk1"/>
                        </a:solidFill>
                        <a:latin typeface="+mn-lt"/>
                        <a:ea typeface="Oswald"/>
                        <a:cs typeface="Oswald"/>
                        <a:sym typeface="Oswald"/>
                      </a:endParaRPr>
                    </a:p>
                  </a:txBody>
                  <a:tcPr marL="121900" marR="121900" marT="121900" marB="121900">
                    <a:lnL w="9525" cap="flat" cmpd="sng">
                      <a:solidFill>
                        <a:schemeClr val="accent2">
                          <a:alpha val="0"/>
                        </a:schemeClr>
                      </a:solidFill>
                      <a:prstDash val="solid"/>
                      <a:round/>
                      <a:headEnd type="none" w="sm" len="sm"/>
                      <a:tailEnd type="none" w="sm" len="sm"/>
                    </a:lnL>
                    <a:lnR w="9525" cap="flat" cmpd="sng">
                      <a:solidFill>
                        <a:schemeClr val="accent2">
                          <a:alpha val="0"/>
                        </a:schemeClr>
                      </a:solidFill>
                      <a:prstDash val="solid"/>
                      <a:round/>
                      <a:headEnd type="none" w="sm" len="sm"/>
                      <a:tailEnd type="none" w="sm" len="sm"/>
                    </a:lnR>
                    <a:lnT w="9525" cap="flat" cmpd="sng">
                      <a:solidFill>
                        <a:schemeClr val="accent2">
                          <a:alpha val="0"/>
                        </a:schemeClr>
                      </a:solidFill>
                      <a:prstDash val="solid"/>
                      <a:round/>
                      <a:headEnd type="none" w="sm" len="sm"/>
                      <a:tailEnd type="none" w="sm" len="sm"/>
                    </a:lnT>
                    <a:lnB w="19050" cap="flat" cmpd="sng">
                      <a:solidFill>
                        <a:schemeClr val="accent2"/>
                      </a:solidFill>
                      <a:prstDash val="solid"/>
                      <a:round/>
                      <a:headEnd type="none" w="sm" len="sm"/>
                      <a:tailEnd type="none" w="sm" len="sm"/>
                    </a:lnB>
                  </a:tcPr>
                </a:tc>
                <a:tc>
                  <a:txBody>
                    <a:bodyPr/>
                    <a:lstStyle/>
                    <a:p>
                      <a:pPr marL="0" lvl="0" indent="0" algn="ctr" rtl="0">
                        <a:spcBef>
                          <a:spcPts val="0"/>
                        </a:spcBef>
                        <a:spcAft>
                          <a:spcPts val="0"/>
                        </a:spcAft>
                        <a:buNone/>
                      </a:pPr>
                      <a:r>
                        <a:rPr lang="de" sz="1100" b="1" dirty="0">
                          <a:solidFill>
                            <a:schemeClr val="dk1"/>
                          </a:solidFill>
                          <a:latin typeface="+mn-lt"/>
                          <a:ea typeface="Oswald"/>
                          <a:cs typeface="Oswald"/>
                          <a:sym typeface="Oswald"/>
                        </a:rPr>
                        <a:t>Training Set after RUS</a:t>
                      </a:r>
                      <a:endParaRPr sz="1100" b="1" dirty="0">
                        <a:solidFill>
                          <a:schemeClr val="dk1"/>
                        </a:solidFill>
                        <a:latin typeface="+mn-lt"/>
                        <a:ea typeface="Oswald"/>
                        <a:cs typeface="Oswald"/>
                        <a:sym typeface="Oswald"/>
                      </a:endParaRPr>
                    </a:p>
                  </a:txBody>
                  <a:tcPr marL="121900" marR="121900" marT="121900" marB="121900">
                    <a:lnL w="9525" cap="flat" cmpd="sng">
                      <a:solidFill>
                        <a:schemeClr val="accent2">
                          <a:alpha val="0"/>
                        </a:schemeClr>
                      </a:solidFill>
                      <a:prstDash val="solid"/>
                      <a:round/>
                      <a:headEnd type="none" w="sm" len="sm"/>
                      <a:tailEnd type="none" w="sm" len="sm"/>
                    </a:lnL>
                    <a:lnR w="9525" cap="flat" cmpd="sng">
                      <a:solidFill>
                        <a:schemeClr val="accent2">
                          <a:alpha val="0"/>
                        </a:schemeClr>
                      </a:solidFill>
                      <a:prstDash val="solid"/>
                      <a:round/>
                      <a:headEnd type="none" w="sm" len="sm"/>
                      <a:tailEnd type="none" w="sm" len="sm"/>
                    </a:lnR>
                    <a:lnT w="9525" cap="flat" cmpd="sng">
                      <a:solidFill>
                        <a:schemeClr val="accent2">
                          <a:alpha val="0"/>
                        </a:schemeClr>
                      </a:solidFill>
                      <a:prstDash val="solid"/>
                      <a:round/>
                      <a:headEnd type="none" w="sm" len="sm"/>
                      <a:tailEnd type="none" w="sm" len="sm"/>
                    </a:lnT>
                    <a:lnB w="19050" cap="flat" cmpd="sng">
                      <a:solidFill>
                        <a:schemeClr val="accent2"/>
                      </a:solidFill>
                      <a:prstDash val="solid"/>
                      <a:round/>
                      <a:headEnd type="none" w="sm" len="sm"/>
                      <a:tailEnd type="none" w="sm" len="sm"/>
                    </a:lnB>
                  </a:tcPr>
                </a:tc>
                <a:extLst>
                  <a:ext uri="{0D108BD9-81ED-4DB2-BD59-A6C34878D82A}">
                    <a16:rowId xmlns:a16="http://schemas.microsoft.com/office/drawing/2014/main" val="10000"/>
                  </a:ext>
                </a:extLst>
              </a:tr>
              <a:tr h="329797">
                <a:tc>
                  <a:txBody>
                    <a:bodyPr/>
                    <a:lstStyle/>
                    <a:p>
                      <a:pPr marL="0" lvl="0" indent="0" algn="ctr" rtl="0">
                        <a:spcBef>
                          <a:spcPts val="0"/>
                        </a:spcBef>
                        <a:spcAft>
                          <a:spcPts val="0"/>
                        </a:spcAft>
                        <a:buNone/>
                      </a:pPr>
                      <a:r>
                        <a:rPr lang="en-MY" sz="1050" b="1" dirty="0">
                          <a:solidFill>
                            <a:schemeClr val="dk1"/>
                          </a:solidFill>
                          <a:latin typeface="+mn-lt"/>
                          <a:ea typeface="Oswald"/>
                          <a:cs typeface="Oswald"/>
                          <a:sym typeface="Oswald"/>
                        </a:rPr>
                        <a:t>Normal Transactions</a:t>
                      </a:r>
                    </a:p>
                  </a:txBody>
                  <a:tcPr marL="121900" marR="121900" marT="121900" marB="1219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de" sz="1050" dirty="0">
                          <a:solidFill>
                            <a:schemeClr val="tx1"/>
                          </a:solidFill>
                          <a:latin typeface="+mn-lt"/>
                          <a:ea typeface="Titillium Web"/>
                          <a:cs typeface="Titillium Web"/>
                          <a:sym typeface="Titillium Web"/>
                        </a:rPr>
                        <a:t>6,650,283</a:t>
                      </a:r>
                      <a:endParaRPr sz="1050" dirty="0">
                        <a:solidFill>
                          <a:schemeClr val="tx1"/>
                        </a:solidFill>
                        <a:latin typeface="+mn-lt"/>
                        <a:ea typeface="Titillium Web"/>
                        <a:cs typeface="Titillium Web"/>
                        <a:sym typeface="Titillium Web"/>
                      </a:endParaRPr>
                    </a:p>
                  </a:txBody>
                  <a:tcPr marL="121900" marR="121900" marT="121900" marB="1219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de" sz="1050" dirty="0">
                          <a:solidFill>
                            <a:schemeClr val="tx1"/>
                          </a:solidFill>
                          <a:latin typeface="+mn-lt"/>
                          <a:ea typeface="Titillium Web"/>
                          <a:cs typeface="Titillium Web"/>
                          <a:sym typeface="Titillium Web"/>
                        </a:rPr>
                        <a:t>6,915</a:t>
                      </a:r>
                    </a:p>
                  </a:txBody>
                  <a:tcPr marL="121900" marR="121900" marT="121900" marB="1219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1"/>
                  </a:ext>
                </a:extLst>
              </a:tr>
              <a:tr h="329797">
                <a:tc>
                  <a:txBody>
                    <a:bodyPr/>
                    <a:lstStyle/>
                    <a:p>
                      <a:pPr marL="0" lvl="0" indent="0" algn="ctr" rtl="0">
                        <a:spcBef>
                          <a:spcPts val="0"/>
                        </a:spcBef>
                        <a:spcAft>
                          <a:spcPts val="0"/>
                        </a:spcAft>
                        <a:buNone/>
                      </a:pPr>
                      <a:r>
                        <a:rPr lang="en-MY" sz="1050" b="1" dirty="0">
                          <a:solidFill>
                            <a:schemeClr val="dk1"/>
                          </a:solidFill>
                          <a:latin typeface="+mn-lt"/>
                          <a:ea typeface="Oswald"/>
                          <a:cs typeface="Oswald"/>
                          <a:sym typeface="Oswald"/>
                        </a:rPr>
                        <a:t>Suspicious Transactions</a:t>
                      </a:r>
                    </a:p>
                  </a:txBody>
                  <a:tcPr marL="121900" marR="121900" marT="121900" marB="1219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de" sz="1050" dirty="0">
                          <a:solidFill>
                            <a:schemeClr val="tx1"/>
                          </a:solidFill>
                          <a:latin typeface="+mn-lt"/>
                          <a:ea typeface="Titillium Web"/>
                          <a:cs typeface="Titillium Web"/>
                          <a:sym typeface="Titillium Web"/>
                        </a:rPr>
                        <a:t>6,915</a:t>
                      </a:r>
                      <a:endParaRPr sz="1050" dirty="0">
                        <a:solidFill>
                          <a:schemeClr val="tx1"/>
                        </a:solidFill>
                        <a:latin typeface="+mn-lt"/>
                        <a:ea typeface="Titillium Web"/>
                        <a:cs typeface="Titillium Web"/>
                        <a:sym typeface="Titillium Web"/>
                      </a:endParaRPr>
                    </a:p>
                  </a:txBody>
                  <a:tcPr marL="121900" marR="121900" marT="121900" marB="1219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de" sz="1050" dirty="0">
                          <a:solidFill>
                            <a:schemeClr val="tx1"/>
                          </a:solidFill>
                          <a:latin typeface="+mn-lt"/>
                          <a:ea typeface="Titillium Web"/>
                          <a:cs typeface="Titillium Web"/>
                          <a:sym typeface="Titillium Web"/>
                        </a:rPr>
                        <a:t>6,915</a:t>
                      </a:r>
                    </a:p>
                  </a:txBody>
                  <a:tcPr marL="121900" marR="121900" marT="121900" marB="1219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4" name="Rectangle 3">
            <a:extLst>
              <a:ext uri="{FF2B5EF4-FFF2-40B4-BE49-F238E27FC236}">
                <a16:creationId xmlns:a16="http://schemas.microsoft.com/office/drawing/2014/main" id="{B5E14226-ADE3-F10E-410E-A85D8D99726F}"/>
              </a:ext>
            </a:extLst>
          </p:cNvPr>
          <p:cNvSpPr/>
          <p:nvPr/>
        </p:nvSpPr>
        <p:spPr>
          <a:xfrm>
            <a:off x="0" y="385235"/>
            <a:ext cx="10287000"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1">
            <a:extLst>
              <a:ext uri="{FF2B5EF4-FFF2-40B4-BE49-F238E27FC236}">
                <a16:creationId xmlns:a16="http://schemas.microsoft.com/office/drawing/2014/main" id="{D6035EA0-CA7A-7B96-13F3-1BA3122ED431}"/>
              </a:ext>
            </a:extLst>
          </p:cNvPr>
          <p:cNvSpPr txBox="1">
            <a:spLocks/>
          </p:cNvSpPr>
          <p:nvPr/>
        </p:nvSpPr>
        <p:spPr>
          <a:xfrm>
            <a:off x="138814" y="432860"/>
            <a:ext cx="9941357" cy="4635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900" dirty="0">
                <a:solidFill>
                  <a:schemeClr val="bg1"/>
                </a:solidFill>
                <a:effectLst>
                  <a:outerShdw blurRad="38100" dist="38100" dir="2700000" algn="tl">
                    <a:srgbClr val="000000">
                      <a:alpha val="43137"/>
                    </a:srgbClr>
                  </a:outerShdw>
                </a:effectLst>
              </a:rPr>
              <a:t>HANDLING CLASS IMBALANCE </a:t>
            </a:r>
            <a:r>
              <a:rPr lang="en-US" sz="1400" dirty="0">
                <a:solidFill>
                  <a:schemeClr val="bg1"/>
                </a:solidFill>
                <a:effectLst>
                  <a:outerShdw blurRad="38100" dist="38100" dir="2700000" algn="tl">
                    <a:srgbClr val="000000">
                      <a:alpha val="43137"/>
                    </a:srgbClr>
                  </a:outerShdw>
                </a:effectLst>
              </a:rPr>
              <a:t>(during model training only)</a:t>
            </a:r>
            <a:endParaRPr lang="en-US" sz="2900" dirty="0">
              <a:solidFill>
                <a:schemeClr val="bg1"/>
              </a:solidFill>
              <a:effectLst>
                <a:outerShdw blurRad="38100" dist="38100" dir="2700000" algn="tl">
                  <a:srgbClr val="000000">
                    <a:alpha val="43137"/>
                  </a:srgbClr>
                </a:outerShdw>
              </a:effectLst>
            </a:endParaRPr>
          </a:p>
        </p:txBody>
      </p:sp>
      <p:sp>
        <p:nvSpPr>
          <p:cNvPr id="2" name="Google Shape;1897;p101">
            <a:extLst>
              <a:ext uri="{FF2B5EF4-FFF2-40B4-BE49-F238E27FC236}">
                <a16:creationId xmlns:a16="http://schemas.microsoft.com/office/drawing/2014/main" id="{9856AFED-8747-DE1B-5776-12FFD7A4C845}"/>
              </a:ext>
            </a:extLst>
          </p:cNvPr>
          <p:cNvSpPr txBox="1"/>
          <p:nvPr/>
        </p:nvSpPr>
        <p:spPr>
          <a:xfrm>
            <a:off x="449792" y="976447"/>
            <a:ext cx="2988311" cy="426987"/>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Random Under Sampling</a:t>
            </a:r>
          </a:p>
        </p:txBody>
      </p:sp>
      <p:pic>
        <p:nvPicPr>
          <p:cNvPr id="3" name="Picture 2">
            <a:extLst>
              <a:ext uri="{FF2B5EF4-FFF2-40B4-BE49-F238E27FC236}">
                <a16:creationId xmlns:a16="http://schemas.microsoft.com/office/drawing/2014/main" id="{3F2F003C-6E44-E81E-EF9B-6B2AF122D7E2}"/>
              </a:ext>
            </a:extLst>
          </p:cNvPr>
          <p:cNvPicPr>
            <a:picLocks noChangeAspect="1"/>
          </p:cNvPicPr>
          <p:nvPr/>
        </p:nvPicPr>
        <p:blipFill>
          <a:blip r:embed="rId3"/>
          <a:stretch>
            <a:fillRect/>
          </a:stretch>
        </p:blipFill>
        <p:spPr>
          <a:xfrm>
            <a:off x="0" y="1020682"/>
            <a:ext cx="540000" cy="540000"/>
          </a:xfrm>
          <a:prstGeom prst="rect">
            <a:avLst/>
          </a:prstGeom>
        </p:spPr>
      </p:pic>
      <p:pic>
        <p:nvPicPr>
          <p:cNvPr id="7" name="Picture 6" descr="A blue circle with black text&#10;&#10;Description automatically generated">
            <a:extLst>
              <a:ext uri="{FF2B5EF4-FFF2-40B4-BE49-F238E27FC236}">
                <a16:creationId xmlns:a16="http://schemas.microsoft.com/office/drawing/2014/main" id="{843D1B4B-A0A6-CDA3-161C-5D52FBDB2902}"/>
              </a:ext>
            </a:extLst>
          </p:cNvPr>
          <p:cNvPicPr>
            <a:picLocks noChangeAspect="1"/>
          </p:cNvPicPr>
          <p:nvPr/>
        </p:nvPicPr>
        <p:blipFill>
          <a:blip r:embed="rId4">
            <a:extLst>
              <a:ext uri="{28A0092B-C50C-407E-A947-70E740481C1C}">
                <a14:useLocalDpi xmlns:a14="http://schemas.microsoft.com/office/drawing/2010/main" val="0"/>
              </a:ext>
            </a:extLst>
          </a:blip>
          <a:srcRect l="20714" r="22018"/>
          <a:stretch>
            <a:fillRect/>
          </a:stretch>
        </p:blipFill>
        <p:spPr bwMode="auto">
          <a:xfrm>
            <a:off x="2100274" y="1699329"/>
            <a:ext cx="1147428" cy="1260000"/>
          </a:xfrm>
          <a:prstGeom prst="rect">
            <a:avLst/>
          </a:prstGeom>
          <a:noFill/>
          <a:ln>
            <a:noFill/>
          </a:ln>
        </p:spPr>
      </p:pic>
      <p:pic>
        <p:nvPicPr>
          <p:cNvPr id="8" name="Picture 7" descr="A blue and red circle with text&#10;&#10;Description automatically generated">
            <a:extLst>
              <a:ext uri="{FF2B5EF4-FFF2-40B4-BE49-F238E27FC236}">
                <a16:creationId xmlns:a16="http://schemas.microsoft.com/office/drawing/2014/main" id="{C4650AC2-FA97-41DA-B899-84EB6A8C23B1}"/>
              </a:ext>
            </a:extLst>
          </p:cNvPr>
          <p:cNvPicPr>
            <a:picLocks noChangeAspect="1"/>
          </p:cNvPicPr>
          <p:nvPr/>
        </p:nvPicPr>
        <p:blipFill>
          <a:blip r:embed="rId5">
            <a:extLst>
              <a:ext uri="{28A0092B-C50C-407E-A947-70E740481C1C}">
                <a14:useLocalDpi xmlns:a14="http://schemas.microsoft.com/office/drawing/2010/main" val="0"/>
              </a:ext>
            </a:extLst>
          </a:blip>
          <a:srcRect l="18040" r="18773"/>
          <a:stretch>
            <a:fillRect/>
          </a:stretch>
        </p:blipFill>
        <p:spPr bwMode="auto">
          <a:xfrm>
            <a:off x="3606349" y="1678621"/>
            <a:ext cx="1237562" cy="1260000"/>
          </a:xfrm>
          <a:prstGeom prst="rect">
            <a:avLst/>
          </a:prstGeom>
          <a:noFill/>
          <a:ln>
            <a:noFill/>
          </a:ln>
        </p:spPr>
      </p:pic>
      <p:pic>
        <p:nvPicPr>
          <p:cNvPr id="9" name="Graphic 8" descr="Arrow: Straight with solid fill">
            <a:extLst>
              <a:ext uri="{FF2B5EF4-FFF2-40B4-BE49-F238E27FC236}">
                <a16:creationId xmlns:a16="http://schemas.microsoft.com/office/drawing/2014/main" id="{D410EFB1-3D2E-74A6-B03D-D3A958232C0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H="1">
            <a:off x="3256259" y="2131329"/>
            <a:ext cx="396000" cy="396000"/>
          </a:xfrm>
          <a:prstGeom prst="rect">
            <a:avLst/>
          </a:prstGeom>
          <a:effectLst>
            <a:outerShdw blurRad="50800" dist="38100" dir="5400000" algn="t" rotWithShape="0">
              <a:prstClr val="black">
                <a:alpha val="40000"/>
              </a:prstClr>
            </a:outerShdw>
          </a:effectLst>
        </p:spPr>
      </p:pic>
      <p:sp>
        <p:nvSpPr>
          <p:cNvPr id="6" name="Google Shape;1897;p101">
            <a:extLst>
              <a:ext uri="{FF2B5EF4-FFF2-40B4-BE49-F238E27FC236}">
                <a16:creationId xmlns:a16="http://schemas.microsoft.com/office/drawing/2014/main" id="{94C45BE6-846D-416B-8E66-B713D73F1E73}"/>
              </a:ext>
            </a:extLst>
          </p:cNvPr>
          <p:cNvSpPr txBox="1"/>
          <p:nvPr/>
        </p:nvSpPr>
        <p:spPr>
          <a:xfrm>
            <a:off x="449792" y="4127967"/>
            <a:ext cx="2988311" cy="426987"/>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Class Weighting</a:t>
            </a:r>
          </a:p>
        </p:txBody>
      </p:sp>
      <p:pic>
        <p:nvPicPr>
          <p:cNvPr id="13" name="Picture 12">
            <a:extLst>
              <a:ext uri="{FF2B5EF4-FFF2-40B4-BE49-F238E27FC236}">
                <a16:creationId xmlns:a16="http://schemas.microsoft.com/office/drawing/2014/main" id="{81070600-333D-C515-3753-B9A555B1AF77}"/>
              </a:ext>
            </a:extLst>
          </p:cNvPr>
          <p:cNvPicPr>
            <a:picLocks noChangeAspect="1"/>
          </p:cNvPicPr>
          <p:nvPr/>
        </p:nvPicPr>
        <p:blipFill>
          <a:blip r:embed="rId3"/>
          <a:stretch>
            <a:fillRect/>
          </a:stretch>
        </p:blipFill>
        <p:spPr>
          <a:xfrm>
            <a:off x="0" y="4131152"/>
            <a:ext cx="540000" cy="540000"/>
          </a:xfrm>
          <a:prstGeom prst="rect">
            <a:avLst/>
          </a:prstGeom>
        </p:spPr>
      </p:pic>
      <p:graphicFrame>
        <p:nvGraphicFramePr>
          <p:cNvPr id="14" name="Table 13">
            <a:extLst>
              <a:ext uri="{FF2B5EF4-FFF2-40B4-BE49-F238E27FC236}">
                <a16:creationId xmlns:a16="http://schemas.microsoft.com/office/drawing/2014/main" id="{0CB69C73-ADB2-0398-0670-03FFC0CC77C9}"/>
              </a:ext>
            </a:extLst>
          </p:cNvPr>
          <p:cNvGraphicFramePr>
            <a:graphicFrameLocks noGrp="1"/>
          </p:cNvGraphicFramePr>
          <p:nvPr>
            <p:extLst>
              <p:ext uri="{D42A27DB-BD31-4B8C-83A1-F6EECF244321}">
                <p14:modId xmlns:p14="http://schemas.microsoft.com/office/powerpoint/2010/main" val="3511378306"/>
              </p:ext>
            </p:extLst>
          </p:nvPr>
        </p:nvGraphicFramePr>
        <p:xfrm>
          <a:off x="6446090" y="1421822"/>
          <a:ext cx="5520322" cy="3249330"/>
        </p:xfrm>
        <a:graphic>
          <a:graphicData uri="http://schemas.openxmlformats.org/drawingml/2006/table">
            <a:tbl>
              <a:tblPr firstRow="1" firstCol="1" bandRow="1">
                <a:tableStyleId>{5C22544A-7EE6-4342-B048-85BDC9FD1C3A}</a:tableStyleId>
              </a:tblPr>
              <a:tblGrid>
                <a:gridCol w="696322">
                  <a:extLst>
                    <a:ext uri="{9D8B030D-6E8A-4147-A177-3AD203B41FA5}">
                      <a16:colId xmlns:a16="http://schemas.microsoft.com/office/drawing/2014/main" val="3097662644"/>
                    </a:ext>
                  </a:extLst>
                </a:gridCol>
                <a:gridCol w="1368000">
                  <a:extLst>
                    <a:ext uri="{9D8B030D-6E8A-4147-A177-3AD203B41FA5}">
                      <a16:colId xmlns:a16="http://schemas.microsoft.com/office/drawing/2014/main" val="392732401"/>
                    </a:ext>
                  </a:extLst>
                </a:gridCol>
                <a:gridCol w="864000">
                  <a:extLst>
                    <a:ext uri="{9D8B030D-6E8A-4147-A177-3AD203B41FA5}">
                      <a16:colId xmlns:a16="http://schemas.microsoft.com/office/drawing/2014/main" val="1527001443"/>
                    </a:ext>
                  </a:extLst>
                </a:gridCol>
                <a:gridCol w="864000">
                  <a:extLst>
                    <a:ext uri="{9D8B030D-6E8A-4147-A177-3AD203B41FA5}">
                      <a16:colId xmlns:a16="http://schemas.microsoft.com/office/drawing/2014/main" val="2669806238"/>
                    </a:ext>
                  </a:extLst>
                </a:gridCol>
                <a:gridCol w="864000">
                  <a:extLst>
                    <a:ext uri="{9D8B030D-6E8A-4147-A177-3AD203B41FA5}">
                      <a16:colId xmlns:a16="http://schemas.microsoft.com/office/drawing/2014/main" val="4279104350"/>
                    </a:ext>
                  </a:extLst>
                </a:gridCol>
                <a:gridCol w="864000">
                  <a:extLst>
                    <a:ext uri="{9D8B030D-6E8A-4147-A177-3AD203B41FA5}">
                      <a16:colId xmlns:a16="http://schemas.microsoft.com/office/drawing/2014/main" val="374471500"/>
                    </a:ext>
                  </a:extLst>
                </a:gridCol>
              </a:tblGrid>
              <a:tr h="324000">
                <a:tc>
                  <a:txBody>
                    <a:bodyPr/>
                    <a:lstStyle/>
                    <a:p>
                      <a:pPr algn="ctr">
                        <a:lnSpc>
                          <a:spcPct val="150000"/>
                        </a:lnSpc>
                        <a:buNone/>
                      </a:pPr>
                      <a:endParaRPr lang="en-MY" sz="1200" dirty="0">
                        <a:effectLst/>
                        <a:latin typeface="+mn-lt"/>
                        <a:ea typeface="Calibri" panose="020F0502020204030204" pitchFamily="34" charset="0"/>
                        <a:cs typeface="Arial" panose="020B0604020202020204" pitchFamily="34" charset="0"/>
                      </a:endParaRPr>
                    </a:p>
                  </a:txBody>
                  <a:tcPr marL="68580" marR="68580" marT="0" marB="0" anchor="ctr">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endParaRPr lang="en-MY" sz="1200" dirty="0">
                        <a:effectLst/>
                        <a:latin typeface="+mn-lt"/>
                        <a:ea typeface="Calibri" panose="020F0502020204030204" pitchFamily="34" charset="0"/>
                        <a:cs typeface="Arial" panose="020B0604020202020204" pitchFamily="34" charset="0"/>
                      </a:endParaRPr>
                    </a:p>
                  </a:txBody>
                  <a:tcPr marL="68580" marR="68580" marT="0" marB="0" anchor="ctr">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Precision</a:t>
                      </a:r>
                    </a:p>
                  </a:txBody>
                  <a:tcPr marL="68580" marR="68580" marT="0" marB="0">
                    <a:lnB w="12700" cap="flat" cmpd="sng" algn="ctr">
                      <a:solidFill>
                        <a:schemeClr val="accent1"/>
                      </a:solidFill>
                      <a:prstDash val="solid"/>
                      <a:round/>
                      <a:headEnd type="none" w="med" len="med"/>
                      <a:tailEnd type="none" w="med" len="med"/>
                    </a:lnB>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Recall</a:t>
                      </a:r>
                    </a:p>
                  </a:txBody>
                  <a:tcPr marL="68580" marR="68580" marT="0" marB="0">
                    <a:lnB w="12700" cap="flat" cmpd="sng" algn="ctr">
                      <a:solidFill>
                        <a:schemeClr val="accent1"/>
                      </a:solidFill>
                      <a:prstDash val="solid"/>
                      <a:round/>
                      <a:headEnd type="none" w="med" len="med"/>
                      <a:tailEnd type="none" w="med" len="med"/>
                    </a:lnB>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F1-Score</a:t>
                      </a:r>
                    </a:p>
                  </a:txBody>
                  <a:tcPr marL="68580" marR="68580" marT="0" marB="0">
                    <a:lnB w="12700" cap="flat" cmpd="sng" algn="ctr">
                      <a:solidFill>
                        <a:schemeClr val="accent1"/>
                      </a:solidFill>
                      <a:prstDash val="solid"/>
                      <a:round/>
                      <a:headEnd type="none" w="med" len="med"/>
                      <a:tailEnd type="none" w="med" len="med"/>
                    </a:lnB>
                  </a:tcPr>
                </a:tc>
                <a:tc>
                  <a:txBody>
                    <a:bodyPr/>
                    <a:lstStyle/>
                    <a:p>
                      <a:pPr marL="0" algn="ctr" defTabSz="914400" rtl="0" eaLnBrk="1" latinLnBrk="0" hangingPunct="1">
                        <a:lnSpc>
                          <a:spcPct val="150000"/>
                        </a:lnSpc>
                        <a:buNone/>
                      </a:pPr>
                      <a:r>
                        <a:rPr lang="en-MY" sz="1200" b="1" kern="1200" dirty="0">
                          <a:solidFill>
                            <a:schemeClr val="lt1"/>
                          </a:solidFill>
                          <a:effectLst/>
                          <a:latin typeface="+mn-lt"/>
                          <a:ea typeface="Calibri" panose="020F0502020204030204" pitchFamily="34" charset="0"/>
                          <a:cs typeface="Arial" panose="020B0604020202020204" pitchFamily="34" charset="0"/>
                        </a:rPr>
                        <a:t>Accuracy</a:t>
                      </a:r>
                    </a:p>
                  </a:txBody>
                  <a:tcPr marL="68580" marR="68580" marT="0" marB="0">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286765864"/>
                  </a:ext>
                </a:extLst>
              </a:tr>
              <a:tr h="506750">
                <a:tc rowSpan="3">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Random Forest</a:t>
                      </a:r>
                    </a:p>
                  </a:txBody>
                  <a:tcPr marL="68580" marR="68580" marT="0" marB="0" anchor="ctr">
                    <a:lnL w="12700" cap="flat" cmpd="sng" algn="ctr">
                      <a:solidFill>
                        <a:schemeClr val="accent1"/>
                      </a:solidFill>
                      <a:prstDash val="solid"/>
                      <a:round/>
                      <a:headEnd type="none" w="med" len="med"/>
                      <a:tailEnd type="none" w="med" len="med"/>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2">
                        <a:lumMod val="60000"/>
                        <a:lumOff val="40000"/>
                      </a:schemeClr>
                    </a:solidFill>
                  </a:tcPr>
                </a:tc>
                <a:tc>
                  <a:txBody>
                    <a:bodyPr/>
                    <a:lstStyle/>
                    <a:p>
                      <a:pPr algn="ctr">
                        <a:lnSpc>
                          <a:spcPct val="150000"/>
                        </a:lnSpc>
                        <a:buNone/>
                      </a:pPr>
                      <a:r>
                        <a:rPr lang="en-US" sz="1200" b="1" dirty="0">
                          <a:solidFill>
                            <a:schemeClr val="tx1"/>
                          </a:solidFill>
                          <a:effectLst/>
                          <a:latin typeface="+mn-lt"/>
                        </a:rPr>
                        <a:t>Baseline</a:t>
                      </a:r>
                      <a:endParaRPr lang="en-MY" sz="1200" b="1" dirty="0">
                        <a:solidFill>
                          <a:schemeClr val="tx1"/>
                        </a:solidFill>
                        <a:effectLst/>
                        <a:latin typeface="+mn-lt"/>
                        <a:ea typeface="Calibri" panose="020F0502020204030204" pitchFamily="34" charset="0"/>
                        <a:cs typeface="Arial" panose="020B0604020202020204" pitchFamily="34" charset="0"/>
                      </a:endParaRPr>
                    </a:p>
                  </a:txBody>
                  <a:tcPr marL="68580" marR="68580" marT="0" marB="0" anchor="ct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C000"/>
                    </a:solidFill>
                  </a:tcPr>
                </a:tc>
                <a:tc>
                  <a:txBody>
                    <a:bodyPr/>
                    <a:lstStyle/>
                    <a:p>
                      <a:pPr marL="0" algn="ctr" defTabSz="914400" rtl="0" eaLnBrk="1" latinLnBrk="0" hangingPunct="1">
                        <a:lnSpc>
                          <a:spcPct val="150000"/>
                        </a:lnSpc>
                        <a:buNone/>
                      </a:pPr>
                      <a:r>
                        <a:rPr lang="en-MY" sz="1200" b="0" kern="1200" dirty="0">
                          <a:solidFill>
                            <a:schemeClr val="tx1"/>
                          </a:solidFill>
                          <a:effectLst/>
                          <a:latin typeface="+mn-lt"/>
                          <a:ea typeface="Calibri" panose="020F0502020204030204" pitchFamily="34" charset="0"/>
                          <a:cs typeface="Arial" panose="020B0604020202020204" pitchFamily="34" charset="0"/>
                        </a:rPr>
                        <a:t>0.9894</a:t>
                      </a:r>
                    </a:p>
                  </a:txBody>
                  <a:tcPr marL="68580" marR="68580" marT="0" marB="0" anchor="ctr">
                    <a:lnL w="12700" cmpd="sng">
                      <a:noFill/>
                    </a:lnL>
                    <a:lnT w="12700" cap="flat" cmpd="sng" algn="ctr">
                      <a:solidFill>
                        <a:schemeClr val="accent1"/>
                      </a:solidFill>
                      <a:prstDash val="solid"/>
                      <a:round/>
                      <a:headEnd type="none" w="med" len="med"/>
                      <a:tailEnd type="none" w="med" len="med"/>
                    </a:lnT>
                    <a:lnB w="12700" cmpd="sng">
                      <a:noFill/>
                    </a:lnB>
                    <a:solidFill>
                      <a:srgbClr val="FFC000"/>
                    </a:solid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0.6919</a:t>
                      </a:r>
                    </a:p>
                  </a:txBody>
                  <a:tcPr marL="68580" marR="68580" marT="0" marB="0" anchor="ctr">
                    <a:lnT w="12700" cap="flat" cmpd="sng" algn="ctr">
                      <a:solidFill>
                        <a:schemeClr val="accent1"/>
                      </a:solidFill>
                      <a:prstDash val="solid"/>
                      <a:round/>
                      <a:headEnd type="none" w="med" len="med"/>
                      <a:tailEnd type="none" w="med" len="med"/>
                    </a:lnT>
                    <a:lnB w="12700" cmpd="sng">
                      <a:noFill/>
                    </a:lnB>
                    <a:solidFill>
                      <a:srgbClr val="FFC000"/>
                    </a:solid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0.8143</a:t>
                      </a:r>
                    </a:p>
                  </a:txBody>
                  <a:tcPr marL="68580" marR="68580" marT="0" marB="0" anchor="ctr">
                    <a:lnT w="12700" cap="flat" cmpd="sng" algn="ctr">
                      <a:solidFill>
                        <a:schemeClr val="accent1"/>
                      </a:solidFill>
                      <a:prstDash val="solid"/>
                      <a:round/>
                      <a:headEnd type="none" w="med" len="med"/>
                      <a:tailEnd type="none" w="med" len="med"/>
                    </a:lnT>
                    <a:lnB w="12700" cmpd="sng">
                      <a:noFill/>
                    </a:lnB>
                    <a:solidFill>
                      <a:srgbClr val="FFC000"/>
                    </a:solidFill>
                  </a:tcPr>
                </a:tc>
                <a:tc>
                  <a:txBody>
                    <a:bodyPr/>
                    <a:lstStyle/>
                    <a:p>
                      <a:pPr algn="ctr"/>
                      <a:r>
                        <a:rPr lang="en-MY" sz="1200" b="0" dirty="0">
                          <a:solidFill>
                            <a:schemeClr val="tx1"/>
                          </a:solidFill>
                          <a:latin typeface="+mn-lt"/>
                        </a:rPr>
                        <a:t>0.9997</a:t>
                      </a:r>
                    </a:p>
                  </a:txBody>
                  <a:tcPr marL="68580" marR="68580"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mpd="sng">
                      <a:noFill/>
                    </a:lnB>
                    <a:solidFill>
                      <a:srgbClr val="FFC000"/>
                    </a:solidFill>
                  </a:tcPr>
                </a:tc>
                <a:extLst>
                  <a:ext uri="{0D108BD9-81ED-4DB2-BD59-A6C34878D82A}">
                    <a16:rowId xmlns:a16="http://schemas.microsoft.com/office/drawing/2014/main" val="2513934009"/>
                  </a:ext>
                </a:extLst>
              </a:tr>
              <a:tr h="483716">
                <a:tc vMerge="1">
                  <a:txBody>
                    <a:bodyPr/>
                    <a:lstStyle/>
                    <a:p>
                      <a:pPr algn="ctr">
                        <a:lnSpc>
                          <a:spcPct val="150000"/>
                        </a:lnSpc>
                        <a:buNone/>
                      </a:pPr>
                      <a:endParaRPr lang="en-MY" sz="1400" dirty="0">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buNone/>
                      </a:pPr>
                      <a:r>
                        <a:rPr lang="en-US" sz="1200" b="1" dirty="0">
                          <a:effectLst/>
                          <a:latin typeface="+mn-lt"/>
                          <a:ea typeface="Calibri" panose="020F0502020204030204" pitchFamily="34" charset="0"/>
                          <a:cs typeface="Arial" panose="020B0604020202020204" pitchFamily="34" charset="0"/>
                        </a:rPr>
                        <a:t>With RUS</a:t>
                      </a:r>
                      <a:endParaRPr lang="en-MY" sz="1200" b="1" dirty="0">
                        <a:effectLst/>
                        <a:latin typeface="+mn-lt"/>
                        <a:ea typeface="Calibri" panose="020F0502020204030204" pitchFamily="34" charset="0"/>
                        <a:cs typeface="Arial" panose="020B0604020202020204" pitchFamily="34" charset="0"/>
                      </a:endParaRPr>
                    </a:p>
                  </a:txBody>
                  <a:tcPr marL="68580" marR="6858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lnSpc>
                          <a:spcPct val="150000"/>
                        </a:lnSpc>
                        <a:buNone/>
                      </a:pPr>
                      <a:r>
                        <a:rPr lang="en-MY" sz="1200" kern="1200" dirty="0">
                          <a:solidFill>
                            <a:schemeClr val="dk1"/>
                          </a:solidFill>
                          <a:effectLst/>
                          <a:latin typeface="+mn-lt"/>
                          <a:ea typeface="Calibri" panose="020F0502020204030204" pitchFamily="34" charset="0"/>
                          <a:cs typeface="Arial" panose="020B0604020202020204" pitchFamily="34" charset="0"/>
                        </a:rPr>
                        <a:t>0.0214</a:t>
                      </a:r>
                    </a:p>
                  </a:txBody>
                  <a:tcPr marL="68580" marR="6858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0.9479</a:t>
                      </a:r>
                    </a:p>
                  </a:txBody>
                  <a:tcPr marL="68580" marR="6858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0.0419</a:t>
                      </a:r>
                    </a:p>
                  </a:txBody>
                  <a:tcPr marL="68580" marR="6858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MY" sz="1200" dirty="0">
                          <a:latin typeface="+mn-lt"/>
                        </a:rPr>
                        <a:t>0.9550</a:t>
                      </a:r>
                    </a:p>
                  </a:txBody>
                  <a:tcPr marL="68580" marR="68580" marT="0" marB="0" anchor="ctr">
                    <a:lnL w="12700" cmpd="sng">
                      <a:noFill/>
                    </a:lnL>
                    <a:lnR w="12700" cap="flat" cmpd="sng" algn="ctr">
                      <a:solidFill>
                        <a:schemeClr val="accent1"/>
                      </a:solid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4638092"/>
                  </a:ext>
                </a:extLst>
              </a:tr>
              <a:tr h="483716">
                <a:tc vMerge="1">
                  <a:txBody>
                    <a:bodyPr/>
                    <a:lstStyle/>
                    <a:p>
                      <a:pPr algn="ctr">
                        <a:lnSpc>
                          <a:spcPct val="150000"/>
                        </a:lnSpc>
                        <a:buNone/>
                      </a:pPr>
                      <a:endParaRPr lang="en-MY" sz="1200" dirty="0">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2">
                        <a:lumMod val="60000"/>
                        <a:lumOff val="40000"/>
                      </a:schemeClr>
                    </a:solidFill>
                  </a:tcPr>
                </a:tc>
                <a:tc>
                  <a:txBody>
                    <a:bodyPr/>
                    <a:lstStyle/>
                    <a:p>
                      <a:pPr algn="ctr">
                        <a:lnSpc>
                          <a:spcPct val="150000"/>
                        </a:lnSpc>
                        <a:buNone/>
                      </a:pPr>
                      <a:r>
                        <a:rPr lang="en-MY" sz="1200" b="1" dirty="0">
                          <a:effectLst/>
                          <a:latin typeface="+mn-lt"/>
                          <a:ea typeface="Calibri" panose="020F0502020204030204" pitchFamily="34" charset="0"/>
                          <a:cs typeface="Arial" panose="020B0604020202020204" pitchFamily="34" charset="0"/>
                        </a:rPr>
                        <a:t>With Class Weight</a:t>
                      </a:r>
                    </a:p>
                  </a:txBody>
                  <a:tcPr marL="68580" marR="68580" marT="0" marB="0" anchor="ctr">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lnSpc>
                          <a:spcPct val="150000"/>
                        </a:lnSpc>
                        <a:buNone/>
                      </a:pPr>
                      <a:r>
                        <a:rPr lang="en-MY" sz="1200" kern="1200" dirty="0">
                          <a:solidFill>
                            <a:schemeClr val="dk1"/>
                          </a:solidFill>
                          <a:effectLst/>
                          <a:latin typeface="+mn-lt"/>
                          <a:ea typeface="Calibri" panose="020F0502020204030204" pitchFamily="34" charset="0"/>
                          <a:cs typeface="Arial" panose="020B0604020202020204" pitchFamily="34" charset="0"/>
                        </a:rPr>
                        <a:t>0.9929</a:t>
                      </a:r>
                    </a:p>
                  </a:txBody>
                  <a:tcPr marL="68580" marR="68580" marT="0" marB="0" anchor="ctr">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0.6669</a:t>
                      </a:r>
                    </a:p>
                  </a:txBody>
                  <a:tcPr marL="68580" marR="68580" marT="0" marB="0" anchor="ctr">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0.7979</a:t>
                      </a:r>
                    </a:p>
                  </a:txBody>
                  <a:tcPr marL="68580" marR="68580" marT="0" marB="0" anchor="ctr">
                    <a:lnL w="12700" cmpd="sng">
                      <a:noFill/>
                    </a:lnL>
                    <a:lnR w="12700" cmpd="sng">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MY" sz="1200" dirty="0">
                          <a:latin typeface="+mn-lt"/>
                        </a:rPr>
                        <a:t>0.9996</a:t>
                      </a:r>
                    </a:p>
                  </a:txBody>
                  <a:tcPr marL="68580" marR="68580" marT="0" marB="0" anchor="ctr">
                    <a:lnL w="12700" cmpd="sng">
                      <a:noFill/>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2185917"/>
                  </a:ext>
                </a:extLst>
              </a:tr>
              <a:tr h="483716">
                <a:tc rowSpan="3">
                  <a:txBody>
                    <a:bodyPr/>
                    <a:lstStyle/>
                    <a:p>
                      <a:pPr algn="ctr">
                        <a:lnSpc>
                          <a:spcPct val="150000"/>
                        </a:lnSpc>
                        <a:buNone/>
                      </a:pPr>
                      <a:r>
                        <a:rPr lang="en-MY" sz="1200" dirty="0" err="1">
                          <a:effectLst/>
                          <a:latin typeface="+mn-lt"/>
                          <a:ea typeface="Calibri" panose="020F0502020204030204" pitchFamily="34" charset="0"/>
                          <a:cs typeface="Arial" panose="020B0604020202020204" pitchFamily="34" charset="0"/>
                        </a:rPr>
                        <a:t>XGBoost</a:t>
                      </a:r>
                      <a:endParaRPr lang="en-MY" sz="1200" dirty="0">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60000"/>
                        <a:lumOff val="40000"/>
                      </a:schemeClr>
                    </a:solidFill>
                  </a:tcPr>
                </a:tc>
                <a:tc>
                  <a:txBody>
                    <a:bodyPr/>
                    <a:lstStyle/>
                    <a:p>
                      <a:pPr algn="ctr">
                        <a:lnSpc>
                          <a:spcPct val="150000"/>
                        </a:lnSpc>
                        <a:buNone/>
                      </a:pPr>
                      <a:r>
                        <a:rPr lang="en-US" sz="1200" b="1" dirty="0">
                          <a:solidFill>
                            <a:schemeClr val="tx1"/>
                          </a:solidFill>
                          <a:effectLst/>
                          <a:latin typeface="+mn-lt"/>
                        </a:rPr>
                        <a:t>Baseline</a:t>
                      </a:r>
                      <a:endParaRPr lang="en-MY" sz="1200" b="1" dirty="0">
                        <a:solidFill>
                          <a:schemeClr val="tx1"/>
                        </a:solidFill>
                        <a:effectLst/>
                        <a:latin typeface="+mn-lt"/>
                        <a:ea typeface="Calibri" panose="020F0502020204030204" pitchFamily="34" charset="0"/>
                        <a:cs typeface="Arial" panose="020B0604020202020204" pitchFamily="34" charset="0"/>
                      </a:endParaRPr>
                    </a:p>
                  </a:txBody>
                  <a:tcPr marL="68580" marR="68580" marT="0" marB="0" anchor="ct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C000"/>
                    </a:solid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0.8923</a:t>
                      </a:r>
                    </a:p>
                  </a:txBody>
                  <a:tcPr marL="68580" marR="68580" marT="0" marB="0" anchor="ct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C000"/>
                    </a:solid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0.6845</a:t>
                      </a:r>
                    </a:p>
                  </a:txBody>
                  <a:tcPr marL="68580" marR="68580" marT="0" marB="0" anchor="ct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C000"/>
                    </a:solid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0.7747</a:t>
                      </a:r>
                    </a:p>
                  </a:txBody>
                  <a:tcPr marL="68580" marR="68580" marT="0" marB="0" anchor="ct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C000"/>
                    </a:solidFill>
                  </a:tcPr>
                </a:tc>
                <a:tc>
                  <a:txBody>
                    <a:bodyPr/>
                    <a:lstStyle/>
                    <a:p>
                      <a:pPr algn="ctr"/>
                      <a:r>
                        <a:rPr lang="en-MY" sz="1200" b="0" dirty="0">
                          <a:solidFill>
                            <a:schemeClr val="tx1"/>
                          </a:solidFill>
                          <a:latin typeface="+mn-lt"/>
                        </a:rPr>
                        <a:t>0.9996</a:t>
                      </a:r>
                    </a:p>
                  </a:txBody>
                  <a:tcPr marL="68580" marR="68580" marT="0" marB="0" anchor="ctr">
                    <a:lnL w="12700" cmpd="sng">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3053793190"/>
                  </a:ext>
                </a:extLst>
              </a:tr>
              <a:tr h="483716">
                <a:tc vMerge="1">
                  <a:txBody>
                    <a:bodyPr/>
                    <a:lstStyle/>
                    <a:p>
                      <a:pPr algn="ctr">
                        <a:lnSpc>
                          <a:spcPct val="150000"/>
                        </a:lnSpc>
                        <a:buNone/>
                      </a:pPr>
                      <a:endParaRPr lang="en-MY" sz="1400" dirty="0">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buNone/>
                      </a:pPr>
                      <a:r>
                        <a:rPr lang="en-US" sz="1200" b="1" dirty="0">
                          <a:effectLst/>
                          <a:latin typeface="+mn-lt"/>
                          <a:ea typeface="Calibri" panose="020F0502020204030204" pitchFamily="34" charset="0"/>
                          <a:cs typeface="Arial" panose="020B0604020202020204" pitchFamily="34" charset="0"/>
                        </a:rPr>
                        <a:t>With RUS</a:t>
                      </a:r>
                      <a:endParaRPr lang="en-MY" sz="1200" b="1" dirty="0">
                        <a:effectLst/>
                        <a:latin typeface="+mn-lt"/>
                        <a:ea typeface="Calibri" panose="020F0502020204030204" pitchFamily="34" charset="0"/>
                        <a:cs typeface="Arial" panose="020B0604020202020204" pitchFamily="34" charset="0"/>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0.0234</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0.9553</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0.0456</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MY" sz="1200" b="0" dirty="0">
                          <a:solidFill>
                            <a:schemeClr val="tx1"/>
                          </a:solidFill>
                          <a:latin typeface="+mn-lt"/>
                        </a:rPr>
                        <a:t>0.9585</a:t>
                      </a:r>
                    </a:p>
                  </a:txBody>
                  <a:tcPr marL="68580" marR="68580" marT="0" marB="0" anchor="ctr">
                    <a:lnL w="12700" cmpd="sng">
                      <a:noFill/>
                    </a:lnL>
                    <a:lnR w="12700" cap="flat" cmpd="sng" algn="ctr">
                      <a:solidFill>
                        <a:schemeClr val="accent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4908856"/>
                  </a:ext>
                </a:extLst>
              </a:tr>
              <a:tr h="483716">
                <a:tc vMerge="1">
                  <a:txBody>
                    <a:bodyPr/>
                    <a:lstStyle/>
                    <a:p>
                      <a:pPr algn="ctr">
                        <a:lnSpc>
                          <a:spcPct val="150000"/>
                        </a:lnSpc>
                        <a:buNone/>
                      </a:pPr>
                      <a:endParaRPr lang="en-MY" sz="1200" dirty="0">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60000"/>
                        <a:lumOff val="40000"/>
                      </a:schemeClr>
                    </a:solidFill>
                  </a:tcPr>
                </a:tc>
                <a:tc>
                  <a:txBody>
                    <a:bodyPr/>
                    <a:lstStyle/>
                    <a:p>
                      <a:pPr algn="ctr">
                        <a:lnSpc>
                          <a:spcPct val="150000"/>
                        </a:lnSpc>
                        <a:buNone/>
                      </a:pPr>
                      <a:r>
                        <a:rPr lang="en-MY" sz="1200" b="1" dirty="0">
                          <a:effectLst/>
                          <a:latin typeface="+mn-lt"/>
                          <a:ea typeface="Calibri" panose="020F0502020204030204" pitchFamily="34" charset="0"/>
                          <a:cs typeface="Arial" panose="020B0604020202020204" pitchFamily="34" charset="0"/>
                        </a:rPr>
                        <a:t>With Class Weight</a:t>
                      </a:r>
                    </a:p>
                  </a:txBody>
                  <a:tcPr marL="68580" marR="68580" marT="0" marB="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0.0648</a:t>
                      </a:r>
                    </a:p>
                  </a:txBody>
                  <a:tcPr marL="68580" marR="68580" marT="0" marB="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0.9242</a:t>
                      </a:r>
                    </a:p>
                  </a:txBody>
                  <a:tcPr marL="68580" marR="68580" marT="0" marB="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0.1211</a:t>
                      </a:r>
                    </a:p>
                  </a:txBody>
                  <a:tcPr marL="68580" marR="68580" marT="0" marB="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MY" sz="1200" b="0" dirty="0">
                          <a:solidFill>
                            <a:schemeClr val="tx1"/>
                          </a:solidFill>
                          <a:latin typeface="+mn-lt"/>
                        </a:rPr>
                        <a:t>0.9861</a:t>
                      </a:r>
                    </a:p>
                  </a:txBody>
                  <a:tcPr marL="68580" marR="68580" marT="0" marB="0" anchor="ctr">
                    <a:lnL w="12700" cmpd="sng">
                      <a:noFill/>
                    </a:lnL>
                    <a:lnR w="12700" cap="flat" cmpd="sng" algn="ctr">
                      <a:solidFill>
                        <a:schemeClr val="accent1"/>
                      </a:solidFill>
                      <a:prstDash val="solid"/>
                      <a:round/>
                      <a:headEnd type="none" w="med" len="med"/>
                      <a:tailEnd type="none" w="med" len="med"/>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9472136"/>
                  </a:ext>
                </a:extLst>
              </a:tr>
            </a:tbl>
          </a:graphicData>
        </a:graphic>
      </p:graphicFrame>
      <p:sp>
        <p:nvSpPr>
          <p:cNvPr id="15" name="Google Shape;1897;p101">
            <a:extLst>
              <a:ext uri="{FF2B5EF4-FFF2-40B4-BE49-F238E27FC236}">
                <a16:creationId xmlns:a16="http://schemas.microsoft.com/office/drawing/2014/main" id="{901ABF0D-506E-585E-5A29-078647D968A1}"/>
              </a:ext>
            </a:extLst>
          </p:cNvPr>
          <p:cNvSpPr txBox="1"/>
          <p:nvPr/>
        </p:nvSpPr>
        <p:spPr>
          <a:xfrm>
            <a:off x="6635999" y="1053505"/>
            <a:ext cx="2988311" cy="426987"/>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Result Comparison:</a:t>
            </a:r>
          </a:p>
        </p:txBody>
      </p:sp>
      <p:pic>
        <p:nvPicPr>
          <p:cNvPr id="16" name="Picture 15">
            <a:extLst>
              <a:ext uri="{FF2B5EF4-FFF2-40B4-BE49-F238E27FC236}">
                <a16:creationId xmlns:a16="http://schemas.microsoft.com/office/drawing/2014/main" id="{71109F4A-8EAC-ADF3-8A9B-70E05D04AD61}"/>
              </a:ext>
            </a:extLst>
          </p:cNvPr>
          <p:cNvPicPr>
            <a:picLocks noChangeAspect="1"/>
          </p:cNvPicPr>
          <p:nvPr/>
        </p:nvPicPr>
        <p:blipFill>
          <a:blip r:embed="rId3"/>
          <a:stretch>
            <a:fillRect/>
          </a:stretch>
        </p:blipFill>
        <p:spPr>
          <a:xfrm>
            <a:off x="6096000" y="991892"/>
            <a:ext cx="540000" cy="540000"/>
          </a:xfrm>
          <a:prstGeom prst="rect">
            <a:avLst/>
          </a:prstGeom>
        </p:spPr>
      </p:pic>
      <p:sp>
        <p:nvSpPr>
          <p:cNvPr id="17" name="Google Shape;1281;p68">
            <a:extLst>
              <a:ext uri="{FF2B5EF4-FFF2-40B4-BE49-F238E27FC236}">
                <a16:creationId xmlns:a16="http://schemas.microsoft.com/office/drawing/2014/main" id="{3872E0D2-3112-A659-8AB9-629F44F7A1D1}"/>
              </a:ext>
            </a:extLst>
          </p:cNvPr>
          <p:cNvSpPr txBox="1">
            <a:spLocks/>
          </p:cNvSpPr>
          <p:nvPr/>
        </p:nvSpPr>
        <p:spPr>
          <a:xfrm>
            <a:off x="425318" y="4361881"/>
            <a:ext cx="5670682" cy="492023"/>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de-DE" sz="1200" dirty="0">
                <a:latin typeface="+mn-lt"/>
              </a:rPr>
              <a:t>Assign higher weight to minority class so that the model penalizes more severely on the misclassification of suspicious transactions</a:t>
            </a:r>
          </a:p>
          <a:p>
            <a:endParaRPr lang="de-DE" sz="1200" dirty="0">
              <a:latin typeface="+mn-lt"/>
            </a:endParaRPr>
          </a:p>
          <a:p>
            <a:endParaRPr lang="de-DE" sz="1200" dirty="0">
              <a:latin typeface="+mn-lt"/>
            </a:endParaRPr>
          </a:p>
          <a:p>
            <a:endParaRPr lang="de-DE" sz="1200" dirty="0">
              <a:latin typeface="+mn-lt"/>
            </a:endParaRPr>
          </a:p>
        </p:txBody>
      </p:sp>
      <p:graphicFrame>
        <p:nvGraphicFramePr>
          <p:cNvPr id="18" name="Table 17">
            <a:extLst>
              <a:ext uri="{FF2B5EF4-FFF2-40B4-BE49-F238E27FC236}">
                <a16:creationId xmlns:a16="http://schemas.microsoft.com/office/drawing/2014/main" id="{6D516E84-AC0C-9F00-AF65-A1204B3ECBD8}"/>
              </a:ext>
            </a:extLst>
          </p:cNvPr>
          <p:cNvGraphicFramePr>
            <a:graphicFrameLocks noGrp="1"/>
          </p:cNvGraphicFramePr>
          <p:nvPr>
            <p:extLst>
              <p:ext uri="{D42A27DB-BD31-4B8C-83A1-F6EECF244321}">
                <p14:modId xmlns:p14="http://schemas.microsoft.com/office/powerpoint/2010/main" val="3513531190"/>
              </p:ext>
            </p:extLst>
          </p:nvPr>
        </p:nvGraphicFramePr>
        <p:xfrm>
          <a:off x="139401" y="4901881"/>
          <a:ext cx="5940000" cy="1730980"/>
        </p:xfrm>
        <a:graphic>
          <a:graphicData uri="http://schemas.openxmlformats.org/drawingml/2006/table">
            <a:tbl>
              <a:tblPr firstRow="1" firstCol="1" bandRow="1">
                <a:tableStyleId>{5C22544A-7EE6-4342-B048-85BDC9FD1C3A}</a:tableStyleId>
              </a:tblPr>
              <a:tblGrid>
                <a:gridCol w="3276000">
                  <a:extLst>
                    <a:ext uri="{9D8B030D-6E8A-4147-A177-3AD203B41FA5}">
                      <a16:colId xmlns:a16="http://schemas.microsoft.com/office/drawing/2014/main" val="2203496632"/>
                    </a:ext>
                  </a:extLst>
                </a:gridCol>
                <a:gridCol w="2664000">
                  <a:extLst>
                    <a:ext uri="{9D8B030D-6E8A-4147-A177-3AD203B41FA5}">
                      <a16:colId xmlns:a16="http://schemas.microsoft.com/office/drawing/2014/main" val="1074286017"/>
                    </a:ext>
                  </a:extLst>
                </a:gridCol>
              </a:tblGrid>
              <a:tr h="216533">
                <a:tc>
                  <a:txBody>
                    <a:bodyPr/>
                    <a:lstStyle/>
                    <a:p>
                      <a:pPr algn="ctr">
                        <a:lnSpc>
                          <a:spcPct val="150000"/>
                        </a:lnSpc>
                        <a:buNone/>
                      </a:pPr>
                      <a:r>
                        <a:rPr lang="en-US" sz="1200" dirty="0">
                          <a:effectLst/>
                        </a:rPr>
                        <a:t>Random Forest</a:t>
                      </a:r>
                      <a:endParaRPr lang="en-MY"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solidFill>
                      <a:schemeClr val="accent2">
                        <a:lumMod val="60000"/>
                        <a:lumOff val="40000"/>
                      </a:schemeClr>
                    </a:solidFill>
                  </a:tcPr>
                </a:tc>
                <a:tc>
                  <a:txBody>
                    <a:bodyPr/>
                    <a:lstStyle/>
                    <a:p>
                      <a:pPr algn="ctr">
                        <a:lnSpc>
                          <a:spcPct val="150000"/>
                        </a:lnSpc>
                        <a:buNone/>
                      </a:pPr>
                      <a:r>
                        <a:rPr lang="en-US" sz="1200" dirty="0" err="1">
                          <a:effectLst/>
                        </a:rPr>
                        <a:t>XGBoost</a:t>
                      </a:r>
                      <a:endParaRPr lang="en-MY"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solidFill>
                      <a:schemeClr val="accent1">
                        <a:lumMod val="60000"/>
                        <a:lumOff val="40000"/>
                      </a:schemeClr>
                    </a:solidFill>
                  </a:tcPr>
                </a:tc>
                <a:extLst>
                  <a:ext uri="{0D108BD9-81ED-4DB2-BD59-A6C34878D82A}">
                    <a16:rowId xmlns:a16="http://schemas.microsoft.com/office/drawing/2014/main" val="338059634"/>
                  </a:ext>
                </a:extLst>
              </a:tr>
              <a:tr h="1485933">
                <a:tc>
                  <a:txBody>
                    <a:bodyPr/>
                    <a:lstStyle/>
                    <a:p>
                      <a:pPr marL="171450" lvl="0" indent="-171450">
                        <a:lnSpc>
                          <a:spcPct val="100000"/>
                        </a:lnSpc>
                        <a:buFontTx/>
                        <a:buChar char="-"/>
                      </a:pPr>
                      <a:r>
                        <a:rPr lang="en-MY" sz="1200" b="0" dirty="0">
                          <a:solidFill>
                            <a:schemeClr val="tx1"/>
                          </a:solidFill>
                          <a:effectLst/>
                          <a:latin typeface="+mn-lt"/>
                          <a:ea typeface="Calibri" panose="020F0502020204030204" pitchFamily="34" charset="0"/>
                          <a:cs typeface="Arial" panose="020B0604020202020204" pitchFamily="34" charset="0"/>
                        </a:rPr>
                        <a:t>Parameter: </a:t>
                      </a:r>
                      <a:r>
                        <a:rPr lang="en-MY" sz="1200" b="0" dirty="0" err="1">
                          <a:solidFill>
                            <a:schemeClr val="tx1"/>
                          </a:solidFill>
                          <a:effectLst/>
                          <a:latin typeface="+mn-lt"/>
                          <a:ea typeface="Calibri" panose="020F0502020204030204" pitchFamily="34" charset="0"/>
                          <a:cs typeface="Arial" panose="020B0604020202020204" pitchFamily="34" charset="0"/>
                        </a:rPr>
                        <a:t>class_weight</a:t>
                      </a:r>
                      <a:r>
                        <a:rPr lang="en-MY" sz="1200" b="0" dirty="0">
                          <a:solidFill>
                            <a:schemeClr val="tx1"/>
                          </a:solidFill>
                          <a:effectLst/>
                          <a:latin typeface="+mn-lt"/>
                          <a:ea typeface="Calibri" panose="020F0502020204030204" pitchFamily="34" charset="0"/>
                          <a:cs typeface="Arial" panose="020B0604020202020204" pitchFamily="34" charset="0"/>
                        </a:rPr>
                        <a:t> = ‘balanced’</a:t>
                      </a:r>
                    </a:p>
                    <a:p>
                      <a:pPr marL="171450" lvl="0" indent="-171450">
                        <a:lnSpc>
                          <a:spcPct val="100000"/>
                        </a:lnSpc>
                        <a:buFontTx/>
                        <a:buChar char="-"/>
                      </a:pPr>
                      <a:r>
                        <a:rPr lang="en-MY" sz="1200" b="0" dirty="0">
                          <a:solidFill>
                            <a:schemeClr val="tx1"/>
                          </a:solidFill>
                          <a:effectLst/>
                          <a:latin typeface="+mn-lt"/>
                          <a:ea typeface="Calibri" panose="020F0502020204030204" pitchFamily="34" charset="0"/>
                          <a:cs typeface="Arial" panose="020B0604020202020204" pitchFamily="34" charset="0"/>
                        </a:rPr>
                        <a:t>Automatically compute class weight:</a:t>
                      </a:r>
                    </a:p>
                    <a:p>
                      <a:pPr marL="0" lvl="0" indent="0" algn="ctr">
                        <a:lnSpc>
                          <a:spcPct val="100000"/>
                        </a:lnSpc>
                        <a:buFontTx/>
                        <a:buNone/>
                      </a:pPr>
                      <a:r>
                        <a:rPr lang="en-MY" sz="1200" b="1" dirty="0">
                          <a:solidFill>
                            <a:schemeClr val="tx1"/>
                          </a:solidFill>
                          <a:effectLst/>
                          <a:latin typeface="+mn-lt"/>
                          <a:ea typeface="Calibri" panose="020F0502020204030204" pitchFamily="34" charset="0"/>
                          <a:cs typeface="Arial" panose="020B0604020202020204" pitchFamily="34" charset="0"/>
                        </a:rPr>
                        <a:t>Normal = 0.50</a:t>
                      </a:r>
                    </a:p>
                    <a:p>
                      <a:pPr marL="0" lvl="0" indent="0" algn="ctr">
                        <a:lnSpc>
                          <a:spcPct val="100000"/>
                        </a:lnSpc>
                        <a:buFontTx/>
                        <a:buNone/>
                      </a:pPr>
                      <a:r>
                        <a:rPr lang="en-MY" sz="1200" b="1" dirty="0">
                          <a:solidFill>
                            <a:schemeClr val="tx1"/>
                          </a:solidFill>
                          <a:effectLst/>
                          <a:latin typeface="+mn-lt"/>
                          <a:ea typeface="Calibri" panose="020F0502020204030204" pitchFamily="34" charset="0"/>
                          <a:cs typeface="Arial" panose="020B0604020202020204" pitchFamily="34" charset="0"/>
                        </a:rPr>
                        <a:t>Suspicious = 481.43</a:t>
                      </a:r>
                    </a:p>
                    <a:p>
                      <a:pPr marL="0" lvl="0" indent="0" algn="ctr">
                        <a:lnSpc>
                          <a:spcPct val="100000"/>
                        </a:lnSpc>
                        <a:buFontTx/>
                        <a:buNone/>
                      </a:pPr>
                      <a:endParaRPr lang="en-MY" sz="1200" b="1" dirty="0">
                        <a:solidFill>
                          <a:schemeClr val="tx1"/>
                        </a:solidFill>
                        <a:effectLst/>
                        <a:latin typeface="+mn-lt"/>
                        <a:ea typeface="Calibri" panose="020F0502020204030204" pitchFamily="34" charset="0"/>
                        <a:cs typeface="Arial" panose="020B0604020202020204" pitchFamily="34" charset="0"/>
                      </a:endParaRPr>
                    </a:p>
                    <a:p>
                      <a:pPr marL="171450" lvl="0" indent="-171450" algn="l" defTabSz="914400" rtl="0" eaLnBrk="1" latinLnBrk="0" hangingPunct="1">
                        <a:lnSpc>
                          <a:spcPct val="100000"/>
                        </a:lnSpc>
                        <a:buFontTx/>
                        <a:buChar char="-"/>
                      </a:pPr>
                      <a:r>
                        <a:rPr lang="en-MY" sz="1200" b="0" kern="1200" dirty="0">
                          <a:solidFill>
                            <a:schemeClr val="tx1"/>
                          </a:solidFill>
                          <a:effectLst/>
                          <a:latin typeface="+mn-lt"/>
                          <a:ea typeface="Calibri" panose="020F0502020204030204" pitchFamily="34" charset="0"/>
                          <a:cs typeface="Arial" panose="020B0604020202020204" pitchFamily="34" charset="0"/>
                        </a:rPr>
                        <a:t>Suspicious transactions were treated 481 times more important than normal transactions during splitting in tree construction</a:t>
                      </a:r>
                    </a:p>
                  </a:txBody>
                  <a:tcPr marL="68580" marR="68580" marT="0" marB="0">
                    <a:lnR w="12700" cap="flat" cmpd="sng" algn="ctr">
                      <a:solidFill>
                        <a:schemeClr val="accent1"/>
                      </a:solidFill>
                      <a:prstDash val="solid"/>
                      <a:round/>
                      <a:headEnd type="none" w="med" len="med"/>
                      <a:tailEnd type="none" w="med" len="med"/>
                    </a:lnR>
                    <a:solidFill>
                      <a:schemeClr val="bg1"/>
                    </a:solidFill>
                  </a:tcPr>
                </a:tc>
                <a:tc>
                  <a:txBody>
                    <a:bodyPr/>
                    <a:lstStyle/>
                    <a:p>
                      <a:pPr marL="171450" lvl="0" indent="-171450" algn="l" defTabSz="914400" rtl="0" eaLnBrk="1" latinLnBrk="0" hangingPunct="1">
                        <a:lnSpc>
                          <a:spcPct val="100000"/>
                        </a:lnSpc>
                        <a:buFontTx/>
                        <a:buChar char="-"/>
                      </a:pPr>
                      <a:r>
                        <a:rPr lang="en-MY" sz="1200" b="0" kern="1200" dirty="0">
                          <a:solidFill>
                            <a:schemeClr val="tx1"/>
                          </a:solidFill>
                          <a:effectLst/>
                          <a:latin typeface="+mn-lt"/>
                          <a:ea typeface="Calibri" panose="020F0502020204030204" pitchFamily="34" charset="0"/>
                          <a:cs typeface="Arial" panose="020B0604020202020204" pitchFamily="34" charset="0"/>
                        </a:rPr>
                        <a:t>Parameter: </a:t>
                      </a:r>
                      <a:r>
                        <a:rPr lang="en-MY" sz="1200" b="0" kern="1200" dirty="0" err="1">
                          <a:solidFill>
                            <a:schemeClr val="tx1"/>
                          </a:solidFill>
                          <a:effectLst/>
                          <a:latin typeface="+mn-lt"/>
                          <a:ea typeface="Calibri" panose="020F0502020204030204" pitchFamily="34" charset="0"/>
                          <a:cs typeface="Arial" panose="020B0604020202020204" pitchFamily="34" charset="0"/>
                        </a:rPr>
                        <a:t>scale_pos_weight</a:t>
                      </a:r>
                      <a:endParaRPr lang="en-MY" sz="1200" b="0" kern="1200" dirty="0">
                        <a:solidFill>
                          <a:schemeClr val="tx1"/>
                        </a:solidFill>
                        <a:effectLst/>
                        <a:latin typeface="+mn-lt"/>
                        <a:ea typeface="Calibri" panose="020F0502020204030204" pitchFamily="34" charset="0"/>
                        <a:cs typeface="Arial" panose="020B0604020202020204" pitchFamily="34" charset="0"/>
                      </a:endParaRPr>
                    </a:p>
                    <a:p>
                      <a:pPr marL="0" lvl="0" indent="0" algn="l" defTabSz="914400" rtl="0" eaLnBrk="1" latinLnBrk="0" hangingPunct="1">
                        <a:lnSpc>
                          <a:spcPct val="100000"/>
                        </a:lnSpc>
                        <a:buFontTx/>
                        <a:buNone/>
                      </a:pPr>
                      <a:endParaRPr lang="en-MY" sz="1200" b="0" kern="1200" dirty="0">
                        <a:solidFill>
                          <a:schemeClr val="tx1"/>
                        </a:solidFill>
                        <a:effectLst/>
                        <a:latin typeface="+mn-lt"/>
                        <a:ea typeface="Calibri" panose="020F0502020204030204" pitchFamily="34" charset="0"/>
                        <a:cs typeface="Arial" panose="020B0604020202020204" pitchFamily="34" charset="0"/>
                      </a:endParaRPr>
                    </a:p>
                    <a:p>
                      <a:pPr marL="171450" lvl="0" indent="-171450" algn="l" defTabSz="914400" rtl="0" eaLnBrk="1" latinLnBrk="0" hangingPunct="1">
                        <a:lnSpc>
                          <a:spcPct val="100000"/>
                        </a:lnSpc>
                        <a:buFontTx/>
                        <a:buChar char="-"/>
                      </a:pPr>
                      <a:r>
                        <a:rPr lang="en-MY" sz="1200" b="0" kern="1200" dirty="0">
                          <a:solidFill>
                            <a:schemeClr val="tx1"/>
                          </a:solidFill>
                          <a:effectLst/>
                          <a:latin typeface="+mn-lt"/>
                          <a:ea typeface="Calibri" panose="020F0502020204030204" pitchFamily="34" charset="0"/>
                          <a:cs typeface="Arial" panose="020B0604020202020204" pitchFamily="34" charset="0"/>
                        </a:rPr>
                        <a:t>Value computed using formula:</a:t>
                      </a:r>
                    </a:p>
                    <a:p>
                      <a:pPr marL="0" lvl="0" indent="0" algn="l" defTabSz="914400" rtl="0" eaLnBrk="1" latinLnBrk="0" hangingPunct="1">
                        <a:lnSpc>
                          <a:spcPct val="100000"/>
                        </a:lnSpc>
                        <a:buFontTx/>
                        <a:buNone/>
                      </a:pPr>
                      <a:r>
                        <a:rPr lang="en-MY" sz="1200" b="1" kern="1200" dirty="0">
                          <a:solidFill>
                            <a:schemeClr val="tx1"/>
                          </a:solidFill>
                          <a:effectLst/>
                          <a:latin typeface="+mn-lt"/>
                          <a:ea typeface="Calibri" panose="020F0502020204030204" pitchFamily="34" charset="0"/>
                          <a:cs typeface="Arial" panose="020B0604020202020204" pitchFamily="34" charset="0"/>
                        </a:rPr>
                        <a:t>Total Majority / Total Minority = 961.71</a:t>
                      </a:r>
                    </a:p>
                    <a:p>
                      <a:pPr marL="0" lvl="0" indent="0" algn="l" defTabSz="914400" rtl="0" eaLnBrk="1" latinLnBrk="0" hangingPunct="1">
                        <a:lnSpc>
                          <a:spcPct val="100000"/>
                        </a:lnSpc>
                        <a:buFontTx/>
                        <a:buNone/>
                      </a:pPr>
                      <a:endParaRPr lang="en-MY" sz="1200" b="0" kern="1200" dirty="0">
                        <a:solidFill>
                          <a:schemeClr val="tx1"/>
                        </a:solidFill>
                        <a:effectLst/>
                        <a:latin typeface="+mn-lt"/>
                        <a:ea typeface="Calibri" panose="020F0502020204030204" pitchFamily="34" charset="0"/>
                        <a:cs typeface="Arial" panose="020B0604020202020204" pitchFamily="34" charset="0"/>
                      </a:endParaRPr>
                    </a:p>
                    <a:p>
                      <a:pPr marL="171450" lvl="0" indent="-171450" algn="l" defTabSz="914400" rtl="0" eaLnBrk="1" latinLnBrk="0" hangingPunct="1">
                        <a:lnSpc>
                          <a:spcPct val="100000"/>
                        </a:lnSpc>
                        <a:buFontTx/>
                        <a:buChar char="-"/>
                      </a:pPr>
                      <a:r>
                        <a:rPr lang="en-MY" sz="1200" b="0" kern="1200" dirty="0">
                          <a:solidFill>
                            <a:schemeClr val="tx1"/>
                          </a:solidFill>
                          <a:effectLst/>
                          <a:latin typeface="+mn-lt"/>
                          <a:ea typeface="Calibri" panose="020F0502020204030204" pitchFamily="34" charset="0"/>
                          <a:cs typeface="Arial" panose="020B0604020202020204" pitchFamily="34" charset="0"/>
                        </a:rPr>
                        <a:t>Suspicious transactions are 962 times rarer than normal transactions.</a:t>
                      </a:r>
                    </a:p>
                    <a:p>
                      <a:pPr marL="171450" lvl="0" indent="-171450" algn="l" defTabSz="914400" rtl="0" eaLnBrk="1" latinLnBrk="0" hangingPunct="1">
                        <a:lnSpc>
                          <a:spcPct val="100000"/>
                        </a:lnSpc>
                        <a:buFontTx/>
                        <a:buChar char="-"/>
                      </a:pPr>
                      <a:endParaRPr lang="en-MY" sz="1200" b="0" kern="1200" dirty="0">
                        <a:solidFill>
                          <a:schemeClr val="tx1"/>
                        </a:solidFill>
                        <a:effectLst/>
                        <a:latin typeface="+mn-lt"/>
                        <a:ea typeface="Calibri" panose="020F0502020204030204" pitchFamily="34"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solidFill>
                      <a:schemeClr val="bg1"/>
                    </a:solidFill>
                  </a:tcPr>
                </a:tc>
                <a:extLst>
                  <a:ext uri="{0D108BD9-81ED-4DB2-BD59-A6C34878D82A}">
                    <a16:rowId xmlns:a16="http://schemas.microsoft.com/office/drawing/2014/main" val="1899634311"/>
                  </a:ext>
                </a:extLst>
              </a:tr>
            </a:tbl>
          </a:graphicData>
        </a:graphic>
      </p:graphicFrame>
      <p:pic>
        <p:nvPicPr>
          <p:cNvPr id="20" name="Picture 19">
            <a:extLst>
              <a:ext uri="{FF2B5EF4-FFF2-40B4-BE49-F238E27FC236}">
                <a16:creationId xmlns:a16="http://schemas.microsoft.com/office/drawing/2014/main" id="{67E74B6A-E0A5-39BF-F408-E13ECF527461}"/>
              </a:ext>
            </a:extLst>
          </p:cNvPr>
          <p:cNvPicPr>
            <a:picLocks noChangeAspect="1"/>
          </p:cNvPicPr>
          <p:nvPr/>
        </p:nvPicPr>
        <p:blipFill>
          <a:blip r:embed="rId8"/>
          <a:stretch>
            <a:fillRect/>
          </a:stretch>
        </p:blipFill>
        <p:spPr>
          <a:xfrm>
            <a:off x="2641500" y="5566652"/>
            <a:ext cx="712273" cy="369492"/>
          </a:xfrm>
          <a:prstGeom prst="rect">
            <a:avLst/>
          </a:prstGeom>
        </p:spPr>
      </p:pic>
      <p:sp>
        <p:nvSpPr>
          <p:cNvPr id="24" name="Google Shape;2020;p104">
            <a:extLst>
              <a:ext uri="{FF2B5EF4-FFF2-40B4-BE49-F238E27FC236}">
                <a16:creationId xmlns:a16="http://schemas.microsoft.com/office/drawing/2014/main" id="{3C3F19CA-B696-3E45-EF43-156D67C027A3}"/>
              </a:ext>
            </a:extLst>
          </p:cNvPr>
          <p:cNvSpPr txBox="1"/>
          <p:nvPr/>
        </p:nvSpPr>
        <p:spPr>
          <a:xfrm>
            <a:off x="6417930" y="4853904"/>
            <a:ext cx="2618241" cy="891812"/>
          </a:xfrm>
          <a:prstGeom prst="rect">
            <a:avLst/>
          </a:prstGeom>
          <a:noFill/>
          <a:ln>
            <a:noFill/>
          </a:ln>
        </p:spPr>
        <p:txBody>
          <a:bodyPr spcFirstLastPara="1" wrap="square" lIns="121900" tIns="121900" rIns="121900" bIns="121900" anchor="ctr" anchorCtr="0">
            <a:noAutofit/>
          </a:bodyPr>
          <a:lstStyle/>
          <a:p>
            <a:r>
              <a:rPr lang="en-MY" sz="1200" b="1" dirty="0">
                <a:solidFill>
                  <a:schemeClr val="dk1"/>
                </a:solidFill>
                <a:ea typeface="Oswald"/>
                <a:cs typeface="Oswald"/>
                <a:sym typeface="Oswald"/>
              </a:rPr>
              <a:t>Random Under Sampling:</a:t>
            </a:r>
          </a:p>
          <a:p>
            <a:pPr marL="171450" indent="-171450">
              <a:buFontTx/>
              <a:buChar char="-"/>
            </a:pPr>
            <a:r>
              <a:rPr lang="en-MY" sz="1200" dirty="0">
                <a:solidFill>
                  <a:schemeClr val="dk1"/>
                </a:solidFill>
                <a:ea typeface="Oswald"/>
                <a:cs typeface="Oswald"/>
                <a:sym typeface="Oswald"/>
              </a:rPr>
              <a:t>Degraded both model performance (based on F1-score)</a:t>
            </a:r>
          </a:p>
          <a:p>
            <a:pPr marL="171450" indent="-171450">
              <a:buFontTx/>
              <a:buChar char="-"/>
            </a:pPr>
            <a:r>
              <a:rPr lang="en-MY" sz="1200" dirty="0">
                <a:solidFill>
                  <a:schemeClr val="dk1"/>
                </a:solidFill>
                <a:ea typeface="Oswald"/>
                <a:cs typeface="Oswald"/>
                <a:sym typeface="Oswald"/>
              </a:rPr>
              <a:t>Recall increase from 0.6 to 0.9, but precision drop significantly</a:t>
            </a:r>
          </a:p>
        </p:txBody>
      </p:sp>
      <p:sp>
        <p:nvSpPr>
          <p:cNvPr id="25" name="TextBox 24">
            <a:extLst>
              <a:ext uri="{FF2B5EF4-FFF2-40B4-BE49-F238E27FC236}">
                <a16:creationId xmlns:a16="http://schemas.microsoft.com/office/drawing/2014/main" id="{EFAFCA58-40DA-29D4-E9E8-A01E73054D07}"/>
              </a:ext>
            </a:extLst>
          </p:cNvPr>
          <p:cNvSpPr txBox="1"/>
          <p:nvPr/>
        </p:nvSpPr>
        <p:spPr>
          <a:xfrm>
            <a:off x="8967716" y="4752889"/>
            <a:ext cx="2998696" cy="1200329"/>
          </a:xfrm>
          <a:prstGeom prst="rect">
            <a:avLst/>
          </a:prstGeom>
          <a:noFill/>
        </p:spPr>
        <p:txBody>
          <a:bodyPr wrap="square">
            <a:spAutoFit/>
          </a:bodyPr>
          <a:lstStyle/>
          <a:p>
            <a:r>
              <a:rPr lang="en-MY" sz="1200" b="1" dirty="0">
                <a:solidFill>
                  <a:schemeClr val="dk1"/>
                </a:solidFill>
                <a:ea typeface="Oswald"/>
                <a:cs typeface="Oswald"/>
                <a:sym typeface="Oswald"/>
              </a:rPr>
              <a:t>Class Weighting:</a:t>
            </a:r>
          </a:p>
          <a:p>
            <a:pPr marL="171450" indent="-171450">
              <a:buFontTx/>
              <a:buChar char="-"/>
            </a:pPr>
            <a:r>
              <a:rPr lang="en-MY" sz="1200" b="1" dirty="0" err="1">
                <a:solidFill>
                  <a:schemeClr val="dk1"/>
                </a:solidFill>
                <a:ea typeface="Oswald"/>
                <a:cs typeface="Oswald"/>
                <a:sym typeface="Oswald"/>
              </a:rPr>
              <a:t>XGBoost</a:t>
            </a:r>
            <a:r>
              <a:rPr lang="en-MY" sz="1200" dirty="0">
                <a:solidFill>
                  <a:schemeClr val="dk1"/>
                </a:solidFill>
                <a:ea typeface="Oswald"/>
                <a:cs typeface="Oswald"/>
                <a:sym typeface="Oswald"/>
              </a:rPr>
              <a:t>: Very high recall, very low precision. (Drastic effect)</a:t>
            </a:r>
          </a:p>
          <a:p>
            <a:pPr marL="171450" indent="-171450">
              <a:buFontTx/>
              <a:buChar char="-"/>
            </a:pPr>
            <a:r>
              <a:rPr lang="en-MY" sz="1200" b="1" dirty="0">
                <a:solidFill>
                  <a:schemeClr val="dk1"/>
                </a:solidFill>
                <a:ea typeface="Oswald"/>
                <a:cs typeface="Oswald"/>
                <a:sym typeface="Oswald"/>
              </a:rPr>
              <a:t>Random Forest:</a:t>
            </a:r>
            <a:r>
              <a:rPr lang="en-MY" sz="1200" dirty="0">
                <a:solidFill>
                  <a:schemeClr val="dk1"/>
                </a:solidFill>
                <a:ea typeface="Oswald"/>
                <a:cs typeface="Oswald"/>
                <a:sym typeface="Oswald"/>
              </a:rPr>
              <a:t>. Maintain high precision, with slightly decline in recall. Still less balance than baseline.</a:t>
            </a:r>
          </a:p>
        </p:txBody>
      </p:sp>
      <p:sp>
        <p:nvSpPr>
          <p:cNvPr id="26" name="Google Shape;2020;p104">
            <a:extLst>
              <a:ext uri="{FF2B5EF4-FFF2-40B4-BE49-F238E27FC236}">
                <a16:creationId xmlns:a16="http://schemas.microsoft.com/office/drawing/2014/main" id="{033008DB-6853-430E-8FB6-AAC835884B35}"/>
              </a:ext>
            </a:extLst>
          </p:cNvPr>
          <p:cNvSpPr txBox="1"/>
          <p:nvPr/>
        </p:nvSpPr>
        <p:spPr>
          <a:xfrm>
            <a:off x="6417930" y="5979259"/>
            <a:ext cx="5520322" cy="544992"/>
          </a:xfrm>
          <a:prstGeom prst="rect">
            <a:avLst/>
          </a:prstGeom>
          <a:solidFill>
            <a:schemeClr val="accent6">
              <a:lumMod val="60000"/>
              <a:lumOff val="40000"/>
            </a:schemeClr>
          </a:solidFill>
          <a:ln>
            <a:noFill/>
          </a:ln>
        </p:spPr>
        <p:txBody>
          <a:bodyPr spcFirstLastPara="1" wrap="square" lIns="121900" tIns="121900" rIns="121900" bIns="121900" anchor="ctr" anchorCtr="0">
            <a:noAutofit/>
          </a:bodyPr>
          <a:lstStyle/>
          <a:p>
            <a:r>
              <a:rPr lang="en-MY" sz="1200" dirty="0">
                <a:solidFill>
                  <a:schemeClr val="bg1"/>
                </a:solidFill>
                <a:ea typeface="Oswald"/>
                <a:cs typeface="Oswald"/>
                <a:sym typeface="Oswald"/>
              </a:rPr>
              <a:t>Therefore, these imbalanced handling methods will not be applied in the next stage as the result is not satisfactory. </a:t>
            </a:r>
          </a:p>
        </p:txBody>
      </p:sp>
      <p:cxnSp>
        <p:nvCxnSpPr>
          <p:cNvPr id="27" name="Straight Connector 26">
            <a:extLst>
              <a:ext uri="{FF2B5EF4-FFF2-40B4-BE49-F238E27FC236}">
                <a16:creationId xmlns:a16="http://schemas.microsoft.com/office/drawing/2014/main" id="{7C597358-423F-53A6-624A-02A8E4A36B86}"/>
              </a:ext>
            </a:extLst>
          </p:cNvPr>
          <p:cNvCxnSpPr>
            <a:cxnSpLocks/>
          </p:cNvCxnSpPr>
          <p:nvPr/>
        </p:nvCxnSpPr>
        <p:spPr>
          <a:xfrm>
            <a:off x="6081578" y="976447"/>
            <a:ext cx="0" cy="5868000"/>
          </a:xfrm>
          <a:prstGeom prst="line">
            <a:avLst/>
          </a:prstGeom>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28328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81">
          <a:extLst>
            <a:ext uri="{FF2B5EF4-FFF2-40B4-BE49-F238E27FC236}">
              <a16:creationId xmlns:a16="http://schemas.microsoft.com/office/drawing/2014/main" id="{6D7CEFE4-9AC5-672E-8740-DAF2B3BCB985}"/>
            </a:ext>
          </a:extLst>
        </p:cNvPr>
        <p:cNvGrpSpPr/>
        <p:nvPr/>
      </p:nvGrpSpPr>
      <p:grpSpPr>
        <a:xfrm>
          <a:off x="0" y="0"/>
          <a:ext cx="0" cy="0"/>
          <a:chOff x="0" y="0"/>
          <a:chExt cx="0" cy="0"/>
        </a:xfrm>
      </p:grpSpPr>
      <p:sp>
        <p:nvSpPr>
          <p:cNvPr id="11" name="Google Shape;1281;p68">
            <a:extLst>
              <a:ext uri="{FF2B5EF4-FFF2-40B4-BE49-F238E27FC236}">
                <a16:creationId xmlns:a16="http://schemas.microsoft.com/office/drawing/2014/main" id="{28E49011-EB5F-A95D-7630-6AED49512E86}"/>
              </a:ext>
            </a:extLst>
          </p:cNvPr>
          <p:cNvSpPr txBox="1">
            <a:spLocks/>
          </p:cNvSpPr>
          <p:nvPr/>
        </p:nvSpPr>
        <p:spPr>
          <a:xfrm>
            <a:off x="138812" y="1403147"/>
            <a:ext cx="5271385" cy="3678599"/>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1450" indent="-171450">
              <a:buFontTx/>
              <a:buChar char="-"/>
            </a:pPr>
            <a:r>
              <a:rPr lang="de-DE" sz="1200" dirty="0">
                <a:latin typeface="+mn-lt"/>
              </a:rPr>
              <a:t>Control how the model learn form the data and to balance overfitting and underfitting.</a:t>
            </a:r>
          </a:p>
          <a:p>
            <a:pPr marL="171450" indent="-171450">
              <a:buFontTx/>
              <a:buChar char="-"/>
            </a:pPr>
            <a:r>
              <a:rPr lang="de-DE" sz="1200" dirty="0">
                <a:latin typeface="+mn-lt"/>
              </a:rPr>
              <a:t>To reduce computational cost:</a:t>
            </a:r>
          </a:p>
          <a:p>
            <a:pPr marL="628650" lvl="1" indent="-171450">
              <a:buFontTx/>
              <a:buChar char="-"/>
            </a:pPr>
            <a:r>
              <a:rPr lang="de-DE" sz="1200" dirty="0">
                <a:latin typeface="+mn-lt"/>
              </a:rPr>
              <a:t>Use subsample of 200k from training dataset with stratified sampling. Then, refitted on the full training dataset once the best hyperparameters are identified.</a:t>
            </a:r>
          </a:p>
          <a:p>
            <a:pPr marL="628650" lvl="1" indent="-171450">
              <a:buFontTx/>
              <a:buChar char="-"/>
            </a:pPr>
            <a:r>
              <a:rPr lang="de-DE" sz="1200" dirty="0">
                <a:latin typeface="+mn-lt"/>
              </a:rPr>
              <a:t>Use Randomized Search with 3-fold CV. Randomly select a subset of hyperparameter combination from the parameter grid.</a:t>
            </a:r>
          </a:p>
          <a:p>
            <a:pPr lvl="1"/>
            <a:endParaRPr lang="de-DE" sz="1200" dirty="0">
              <a:latin typeface="+mn-lt"/>
            </a:endParaRPr>
          </a:p>
          <a:p>
            <a:pPr marL="171450" indent="-171450">
              <a:buFontTx/>
              <a:buChar char="-"/>
            </a:pPr>
            <a:r>
              <a:rPr lang="de-DE" sz="1200" b="1" dirty="0">
                <a:latin typeface="+mn-lt"/>
              </a:rPr>
              <a:t>Best hyperparameters:  </a:t>
            </a:r>
          </a:p>
          <a:p>
            <a:pPr marL="171450" indent="-171450">
              <a:buFontTx/>
              <a:buChar char="-"/>
            </a:pPr>
            <a:endParaRPr lang="de-DE" sz="1200" dirty="0">
              <a:latin typeface="+mn-lt"/>
            </a:endParaRPr>
          </a:p>
          <a:p>
            <a:pPr marL="171450" indent="-171450">
              <a:buFontTx/>
              <a:buChar char="-"/>
            </a:pPr>
            <a:endParaRPr lang="de-DE" sz="1200" dirty="0">
              <a:latin typeface="+mn-lt"/>
            </a:endParaRPr>
          </a:p>
          <a:p>
            <a:pPr marL="171450" indent="-171450">
              <a:buFontTx/>
              <a:buChar char="-"/>
            </a:pPr>
            <a:endParaRPr lang="de-DE" sz="1200" dirty="0">
              <a:latin typeface="+mn-lt"/>
            </a:endParaRPr>
          </a:p>
          <a:p>
            <a:pPr marL="171450" indent="-171450">
              <a:buFontTx/>
              <a:buChar char="-"/>
            </a:pPr>
            <a:endParaRPr lang="de-DE" sz="1200" dirty="0">
              <a:latin typeface="+mn-lt"/>
            </a:endParaRPr>
          </a:p>
          <a:p>
            <a:pPr marL="171450" indent="-171450">
              <a:buFontTx/>
              <a:buChar char="-"/>
            </a:pPr>
            <a:endParaRPr lang="de-DE" sz="1200" dirty="0">
              <a:latin typeface="+mn-lt"/>
            </a:endParaRPr>
          </a:p>
          <a:p>
            <a:pPr marL="171450" indent="-171450">
              <a:buFontTx/>
              <a:buChar char="-"/>
            </a:pPr>
            <a:endParaRPr lang="de-DE" sz="1200" dirty="0">
              <a:latin typeface="+mn-lt"/>
            </a:endParaRPr>
          </a:p>
          <a:p>
            <a:pPr marL="171450" indent="-171450">
              <a:buFontTx/>
              <a:buChar char="-"/>
            </a:pPr>
            <a:endParaRPr lang="de-DE" sz="1200" dirty="0">
              <a:latin typeface="+mn-lt"/>
            </a:endParaRPr>
          </a:p>
          <a:p>
            <a:pPr marL="171450" indent="-171450">
              <a:buFontTx/>
              <a:buChar char="-"/>
            </a:pPr>
            <a:endParaRPr lang="de-DE" sz="1200" dirty="0">
              <a:latin typeface="+mn-lt"/>
            </a:endParaRPr>
          </a:p>
          <a:p>
            <a:pPr marL="171450" indent="-171450">
              <a:buFontTx/>
              <a:buChar char="-"/>
            </a:pPr>
            <a:r>
              <a:rPr lang="de-DE" sz="1200" b="1" dirty="0">
                <a:latin typeface="+mn-lt"/>
              </a:rPr>
              <a:t>Result after Tuning:</a:t>
            </a:r>
          </a:p>
        </p:txBody>
      </p:sp>
      <p:sp>
        <p:nvSpPr>
          <p:cNvPr id="4" name="Rectangle 3">
            <a:extLst>
              <a:ext uri="{FF2B5EF4-FFF2-40B4-BE49-F238E27FC236}">
                <a16:creationId xmlns:a16="http://schemas.microsoft.com/office/drawing/2014/main" id="{AD4E1580-AD32-834A-2E4E-0D57353BF71B}"/>
              </a:ext>
            </a:extLst>
          </p:cNvPr>
          <p:cNvSpPr/>
          <p:nvPr/>
        </p:nvSpPr>
        <p:spPr>
          <a:xfrm>
            <a:off x="0" y="385235"/>
            <a:ext cx="10287000"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1">
            <a:extLst>
              <a:ext uri="{FF2B5EF4-FFF2-40B4-BE49-F238E27FC236}">
                <a16:creationId xmlns:a16="http://schemas.microsoft.com/office/drawing/2014/main" id="{09611900-F231-F02C-68DD-DDD4F53BC2C2}"/>
              </a:ext>
            </a:extLst>
          </p:cNvPr>
          <p:cNvSpPr txBox="1">
            <a:spLocks/>
          </p:cNvSpPr>
          <p:nvPr/>
        </p:nvSpPr>
        <p:spPr>
          <a:xfrm>
            <a:off x="138814" y="417620"/>
            <a:ext cx="7008745" cy="5111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900" dirty="0">
                <a:solidFill>
                  <a:schemeClr val="bg1"/>
                </a:solidFill>
                <a:effectLst>
                  <a:outerShdw blurRad="38100" dist="38100" dir="2700000" algn="tl">
                    <a:srgbClr val="000000">
                      <a:alpha val="43137"/>
                    </a:srgbClr>
                  </a:outerShdw>
                </a:effectLst>
              </a:rPr>
              <a:t>2-STAGE MODEL OPTIMIZATION</a:t>
            </a:r>
          </a:p>
        </p:txBody>
      </p:sp>
      <p:sp>
        <p:nvSpPr>
          <p:cNvPr id="2" name="Google Shape;1897;p101">
            <a:extLst>
              <a:ext uri="{FF2B5EF4-FFF2-40B4-BE49-F238E27FC236}">
                <a16:creationId xmlns:a16="http://schemas.microsoft.com/office/drawing/2014/main" id="{8CF294A6-84F8-3D2E-4786-515C2EED3A93}"/>
              </a:ext>
            </a:extLst>
          </p:cNvPr>
          <p:cNvSpPr txBox="1"/>
          <p:nvPr/>
        </p:nvSpPr>
        <p:spPr>
          <a:xfrm>
            <a:off x="475862" y="1041093"/>
            <a:ext cx="5102862" cy="426987"/>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Tune Hyperparameter using Randomized SearchCV</a:t>
            </a:r>
          </a:p>
        </p:txBody>
      </p:sp>
      <p:pic>
        <p:nvPicPr>
          <p:cNvPr id="3" name="Picture 2">
            <a:extLst>
              <a:ext uri="{FF2B5EF4-FFF2-40B4-BE49-F238E27FC236}">
                <a16:creationId xmlns:a16="http://schemas.microsoft.com/office/drawing/2014/main" id="{3506E47B-5EBC-6791-AECF-422A8C0384C0}"/>
              </a:ext>
            </a:extLst>
          </p:cNvPr>
          <p:cNvPicPr>
            <a:picLocks noChangeAspect="1"/>
          </p:cNvPicPr>
          <p:nvPr/>
        </p:nvPicPr>
        <p:blipFill>
          <a:blip r:embed="rId3"/>
          <a:stretch>
            <a:fillRect/>
          </a:stretch>
        </p:blipFill>
        <p:spPr>
          <a:xfrm>
            <a:off x="29535" y="991892"/>
            <a:ext cx="540000" cy="540000"/>
          </a:xfrm>
          <a:prstGeom prst="rect">
            <a:avLst/>
          </a:prstGeom>
        </p:spPr>
      </p:pic>
      <p:sp>
        <p:nvSpPr>
          <p:cNvPr id="15" name="Google Shape;1897;p101">
            <a:extLst>
              <a:ext uri="{FF2B5EF4-FFF2-40B4-BE49-F238E27FC236}">
                <a16:creationId xmlns:a16="http://schemas.microsoft.com/office/drawing/2014/main" id="{B9251A52-C55A-3A4E-32B7-873FC8039CDC}"/>
              </a:ext>
            </a:extLst>
          </p:cNvPr>
          <p:cNvSpPr txBox="1"/>
          <p:nvPr/>
        </p:nvSpPr>
        <p:spPr>
          <a:xfrm>
            <a:off x="6635999" y="1053505"/>
            <a:ext cx="2988311" cy="426987"/>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Adjust Threshold</a:t>
            </a:r>
          </a:p>
        </p:txBody>
      </p:sp>
      <p:pic>
        <p:nvPicPr>
          <p:cNvPr id="16" name="Picture 15">
            <a:extLst>
              <a:ext uri="{FF2B5EF4-FFF2-40B4-BE49-F238E27FC236}">
                <a16:creationId xmlns:a16="http://schemas.microsoft.com/office/drawing/2014/main" id="{64C89C7B-3DDB-3660-6303-2FBA2FF4570A}"/>
              </a:ext>
            </a:extLst>
          </p:cNvPr>
          <p:cNvPicPr>
            <a:picLocks noChangeAspect="1"/>
          </p:cNvPicPr>
          <p:nvPr/>
        </p:nvPicPr>
        <p:blipFill>
          <a:blip r:embed="rId3"/>
          <a:stretch>
            <a:fillRect/>
          </a:stretch>
        </p:blipFill>
        <p:spPr>
          <a:xfrm>
            <a:off x="6096000" y="991892"/>
            <a:ext cx="540000" cy="540000"/>
          </a:xfrm>
          <a:prstGeom prst="rect">
            <a:avLst/>
          </a:prstGeom>
        </p:spPr>
      </p:pic>
      <p:graphicFrame>
        <p:nvGraphicFramePr>
          <p:cNvPr id="10" name="Table 9">
            <a:extLst>
              <a:ext uri="{FF2B5EF4-FFF2-40B4-BE49-F238E27FC236}">
                <a16:creationId xmlns:a16="http://schemas.microsoft.com/office/drawing/2014/main" id="{E3D3614A-B52B-3176-50D0-703BF7CAECA6}"/>
              </a:ext>
            </a:extLst>
          </p:cNvPr>
          <p:cNvGraphicFramePr>
            <a:graphicFrameLocks noGrp="1"/>
          </p:cNvGraphicFramePr>
          <p:nvPr>
            <p:extLst>
              <p:ext uri="{D42A27DB-BD31-4B8C-83A1-F6EECF244321}">
                <p14:modId xmlns:p14="http://schemas.microsoft.com/office/powerpoint/2010/main" val="2355700319"/>
              </p:ext>
            </p:extLst>
          </p:nvPr>
        </p:nvGraphicFramePr>
        <p:xfrm>
          <a:off x="138812" y="5081746"/>
          <a:ext cx="3576322" cy="1328035"/>
        </p:xfrm>
        <a:graphic>
          <a:graphicData uri="http://schemas.openxmlformats.org/drawingml/2006/table">
            <a:tbl>
              <a:tblPr firstRow="1" firstCol="1" bandRow="1">
                <a:tableStyleId>{5C22544A-7EE6-4342-B048-85BDC9FD1C3A}</a:tableStyleId>
              </a:tblPr>
              <a:tblGrid>
                <a:gridCol w="696322">
                  <a:extLst>
                    <a:ext uri="{9D8B030D-6E8A-4147-A177-3AD203B41FA5}">
                      <a16:colId xmlns:a16="http://schemas.microsoft.com/office/drawing/2014/main" val="3097662644"/>
                    </a:ext>
                  </a:extLst>
                </a:gridCol>
                <a:gridCol w="720000">
                  <a:extLst>
                    <a:ext uri="{9D8B030D-6E8A-4147-A177-3AD203B41FA5}">
                      <a16:colId xmlns:a16="http://schemas.microsoft.com/office/drawing/2014/main" val="1527001443"/>
                    </a:ext>
                  </a:extLst>
                </a:gridCol>
                <a:gridCol w="720000">
                  <a:extLst>
                    <a:ext uri="{9D8B030D-6E8A-4147-A177-3AD203B41FA5}">
                      <a16:colId xmlns:a16="http://schemas.microsoft.com/office/drawing/2014/main" val="2669806238"/>
                    </a:ext>
                  </a:extLst>
                </a:gridCol>
                <a:gridCol w="720000">
                  <a:extLst>
                    <a:ext uri="{9D8B030D-6E8A-4147-A177-3AD203B41FA5}">
                      <a16:colId xmlns:a16="http://schemas.microsoft.com/office/drawing/2014/main" val="4279104350"/>
                    </a:ext>
                  </a:extLst>
                </a:gridCol>
                <a:gridCol w="720000">
                  <a:extLst>
                    <a:ext uri="{9D8B030D-6E8A-4147-A177-3AD203B41FA5}">
                      <a16:colId xmlns:a16="http://schemas.microsoft.com/office/drawing/2014/main" val="374471500"/>
                    </a:ext>
                  </a:extLst>
                </a:gridCol>
              </a:tblGrid>
              <a:tr h="324000">
                <a:tc>
                  <a:txBody>
                    <a:bodyPr/>
                    <a:lstStyle/>
                    <a:p>
                      <a:pPr algn="ctr">
                        <a:lnSpc>
                          <a:spcPct val="150000"/>
                        </a:lnSpc>
                        <a:buNone/>
                      </a:pPr>
                      <a:endParaRPr lang="en-MY" sz="1200" dirty="0">
                        <a:effectLst/>
                        <a:latin typeface="+mn-lt"/>
                        <a:ea typeface="Calibri" panose="020F0502020204030204" pitchFamily="34" charset="0"/>
                        <a:cs typeface="Arial" panose="020B0604020202020204" pitchFamily="34" charset="0"/>
                      </a:endParaRPr>
                    </a:p>
                  </a:txBody>
                  <a:tcPr marL="68580" marR="68580" marT="0" marB="0" anchor="ctr">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Precision</a:t>
                      </a:r>
                    </a:p>
                  </a:txBody>
                  <a:tcPr marL="68580" marR="68580" marT="0" marB="0">
                    <a:lnB w="12700" cap="flat" cmpd="sng" algn="ctr">
                      <a:solidFill>
                        <a:schemeClr val="accent1"/>
                      </a:solidFill>
                      <a:prstDash val="solid"/>
                      <a:round/>
                      <a:headEnd type="none" w="med" len="med"/>
                      <a:tailEnd type="none" w="med" len="med"/>
                    </a:lnB>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Recall</a:t>
                      </a:r>
                    </a:p>
                  </a:txBody>
                  <a:tcPr marL="68580" marR="68580" marT="0" marB="0">
                    <a:lnB w="12700" cap="flat" cmpd="sng" algn="ctr">
                      <a:solidFill>
                        <a:schemeClr val="accent1"/>
                      </a:solidFill>
                      <a:prstDash val="solid"/>
                      <a:round/>
                      <a:headEnd type="none" w="med" len="med"/>
                      <a:tailEnd type="none" w="med" len="med"/>
                    </a:lnB>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F1-Score</a:t>
                      </a:r>
                    </a:p>
                  </a:txBody>
                  <a:tcPr marL="68580" marR="68580" marT="0" marB="0">
                    <a:lnB w="12700" cap="flat" cmpd="sng" algn="ctr">
                      <a:solidFill>
                        <a:schemeClr val="accent1"/>
                      </a:solidFill>
                      <a:prstDash val="solid"/>
                      <a:round/>
                      <a:headEnd type="none" w="med" len="med"/>
                      <a:tailEnd type="none" w="med" len="med"/>
                    </a:lnB>
                  </a:tcPr>
                </a:tc>
                <a:tc>
                  <a:txBody>
                    <a:bodyPr/>
                    <a:lstStyle/>
                    <a:p>
                      <a:pPr marL="0" algn="ctr" defTabSz="914400" rtl="0" eaLnBrk="1" latinLnBrk="0" hangingPunct="1">
                        <a:lnSpc>
                          <a:spcPct val="150000"/>
                        </a:lnSpc>
                        <a:buNone/>
                      </a:pPr>
                      <a:r>
                        <a:rPr lang="en-MY" sz="1200" b="1" kern="1200" dirty="0">
                          <a:solidFill>
                            <a:schemeClr val="lt1"/>
                          </a:solidFill>
                          <a:effectLst/>
                          <a:latin typeface="+mn-lt"/>
                          <a:ea typeface="Calibri" panose="020F0502020204030204" pitchFamily="34" charset="0"/>
                          <a:cs typeface="Arial" panose="020B0604020202020204" pitchFamily="34" charset="0"/>
                        </a:rPr>
                        <a:t>Accuracy</a:t>
                      </a:r>
                    </a:p>
                  </a:txBody>
                  <a:tcPr marL="68580" marR="68580" marT="0" marB="0">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286765864"/>
                  </a:ext>
                </a:extLst>
              </a:tr>
              <a:tr h="506750">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Random Forest</a:t>
                      </a: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2">
                        <a:lumMod val="60000"/>
                        <a:lumOff val="40000"/>
                      </a:schemeClr>
                    </a:solidFill>
                  </a:tcPr>
                </a:tc>
                <a:tc>
                  <a:txBody>
                    <a:bodyPr/>
                    <a:lstStyle/>
                    <a:p>
                      <a:pPr marL="0" algn="ctr" defTabSz="914400" rtl="0" eaLnBrk="1" latinLnBrk="0" hangingPunct="1">
                        <a:lnSpc>
                          <a:spcPct val="150000"/>
                        </a:lnSpc>
                        <a:buNone/>
                      </a:pPr>
                      <a:r>
                        <a:rPr lang="en-MY" sz="1200" b="0" kern="1200" dirty="0">
                          <a:solidFill>
                            <a:schemeClr val="tx1"/>
                          </a:solidFill>
                          <a:effectLst/>
                          <a:latin typeface="+mn-lt"/>
                          <a:ea typeface="Calibri" panose="020F0502020204030204" pitchFamily="34" charset="0"/>
                          <a:cs typeface="Arial" panose="020B0604020202020204" pitchFamily="34" charset="0"/>
                        </a:rPr>
                        <a:t>0.9894</a:t>
                      </a:r>
                    </a:p>
                  </a:txBody>
                  <a:tcPr marL="68580" marR="68580"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0.6919</a:t>
                      </a:r>
                    </a:p>
                  </a:txBody>
                  <a:tcPr marL="68580" marR="68580" marT="0"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0.8143</a:t>
                      </a:r>
                    </a:p>
                  </a:txBody>
                  <a:tcPr marL="68580" marR="68580" marT="0"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algn="ctr" defTabSz="914400" rtl="0" eaLnBrk="1" latinLnBrk="0" hangingPunct="1">
                        <a:lnSpc>
                          <a:spcPct val="150000"/>
                        </a:lnSpc>
                        <a:buNone/>
                      </a:pPr>
                      <a:r>
                        <a:rPr lang="en-MY" sz="1200" b="0" kern="1200" dirty="0">
                          <a:solidFill>
                            <a:schemeClr val="tx1"/>
                          </a:solidFill>
                          <a:effectLst/>
                          <a:latin typeface="+mn-lt"/>
                          <a:ea typeface="Calibri" panose="020F0502020204030204" pitchFamily="34" charset="0"/>
                          <a:cs typeface="Arial" panose="020B0604020202020204" pitchFamily="34" charset="0"/>
                        </a:rPr>
                        <a:t>0.9997</a:t>
                      </a:r>
                    </a:p>
                  </a:txBody>
                  <a:tcPr marL="68580" marR="68580"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513934009"/>
                  </a:ext>
                </a:extLst>
              </a:tr>
              <a:tr h="483716">
                <a:tc>
                  <a:txBody>
                    <a:bodyPr/>
                    <a:lstStyle/>
                    <a:p>
                      <a:pPr algn="ctr">
                        <a:lnSpc>
                          <a:spcPct val="150000"/>
                        </a:lnSpc>
                        <a:buNone/>
                      </a:pPr>
                      <a:r>
                        <a:rPr lang="en-MY" sz="1200" dirty="0" err="1">
                          <a:effectLst/>
                          <a:latin typeface="+mn-lt"/>
                          <a:ea typeface="Calibri" panose="020F0502020204030204" pitchFamily="34" charset="0"/>
                          <a:cs typeface="Arial" panose="020B0604020202020204" pitchFamily="34" charset="0"/>
                        </a:rPr>
                        <a:t>XGBoost</a:t>
                      </a:r>
                      <a:endParaRPr lang="en-MY" sz="1200" dirty="0">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60000"/>
                        <a:lumOff val="40000"/>
                      </a:schemeClr>
                    </a:solid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0.9614</a:t>
                      </a:r>
                    </a:p>
                  </a:txBody>
                  <a:tcPr marL="68580" marR="68580" marT="0" marB="0" anchor="ctr">
                    <a:lnL w="12700" cap="flat" cmpd="sng" algn="ctr">
                      <a:solidFill>
                        <a:schemeClr val="accent1"/>
                      </a:solidFill>
                      <a:prstDash val="solid"/>
                      <a:round/>
                      <a:headEnd type="none" w="med" len="med"/>
                      <a:tailEnd type="none" w="med" len="med"/>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0.6750</a:t>
                      </a:r>
                    </a:p>
                  </a:txBody>
                  <a:tcPr marL="68580" marR="6858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0.7932</a:t>
                      </a:r>
                    </a:p>
                  </a:txBody>
                  <a:tcPr marL="68580" marR="6858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lnSpc>
                          <a:spcPct val="150000"/>
                        </a:lnSpc>
                        <a:buNone/>
                      </a:pPr>
                      <a:r>
                        <a:rPr lang="en-MY" sz="1200" b="0" kern="1200" dirty="0">
                          <a:solidFill>
                            <a:schemeClr val="tx1"/>
                          </a:solidFill>
                          <a:effectLst/>
                          <a:latin typeface="+mn-lt"/>
                          <a:ea typeface="Calibri" panose="020F0502020204030204" pitchFamily="34" charset="0"/>
                          <a:cs typeface="Arial" panose="020B0604020202020204" pitchFamily="34" charset="0"/>
                        </a:rPr>
                        <a:t>0.9996</a:t>
                      </a:r>
                    </a:p>
                  </a:txBody>
                  <a:tcPr marL="68580" marR="68580" marT="0" marB="0" anchor="ctr">
                    <a:lnL w="12700" cmpd="sng">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3793190"/>
                  </a:ext>
                </a:extLst>
              </a:tr>
            </a:tbl>
          </a:graphicData>
        </a:graphic>
      </p:graphicFrame>
      <p:graphicFrame>
        <p:nvGraphicFramePr>
          <p:cNvPr id="18" name="Table 17">
            <a:extLst>
              <a:ext uri="{FF2B5EF4-FFF2-40B4-BE49-F238E27FC236}">
                <a16:creationId xmlns:a16="http://schemas.microsoft.com/office/drawing/2014/main" id="{4532DECD-995F-2BB0-4137-5EE6A4974249}"/>
              </a:ext>
            </a:extLst>
          </p:cNvPr>
          <p:cNvGraphicFramePr>
            <a:graphicFrameLocks noGrp="1"/>
          </p:cNvGraphicFramePr>
          <p:nvPr>
            <p:extLst>
              <p:ext uri="{D42A27DB-BD31-4B8C-83A1-F6EECF244321}">
                <p14:modId xmlns:p14="http://schemas.microsoft.com/office/powerpoint/2010/main" val="1076951013"/>
              </p:ext>
            </p:extLst>
          </p:nvPr>
        </p:nvGraphicFramePr>
        <p:xfrm>
          <a:off x="678813" y="3378235"/>
          <a:ext cx="4320000" cy="1392959"/>
        </p:xfrm>
        <a:graphic>
          <a:graphicData uri="http://schemas.openxmlformats.org/drawingml/2006/table">
            <a:tbl>
              <a:tblPr firstRow="1" firstCol="1" bandRow="1">
                <a:tableStyleId>{5C22544A-7EE6-4342-B048-85BDC9FD1C3A}</a:tableStyleId>
              </a:tblPr>
              <a:tblGrid>
                <a:gridCol w="2160000">
                  <a:extLst>
                    <a:ext uri="{9D8B030D-6E8A-4147-A177-3AD203B41FA5}">
                      <a16:colId xmlns:a16="http://schemas.microsoft.com/office/drawing/2014/main" val="2203496632"/>
                    </a:ext>
                  </a:extLst>
                </a:gridCol>
                <a:gridCol w="2160000">
                  <a:extLst>
                    <a:ext uri="{9D8B030D-6E8A-4147-A177-3AD203B41FA5}">
                      <a16:colId xmlns:a16="http://schemas.microsoft.com/office/drawing/2014/main" val="1074286017"/>
                    </a:ext>
                  </a:extLst>
                </a:gridCol>
              </a:tblGrid>
              <a:tr h="324000">
                <a:tc>
                  <a:txBody>
                    <a:bodyPr/>
                    <a:lstStyle/>
                    <a:p>
                      <a:pPr algn="ctr">
                        <a:lnSpc>
                          <a:spcPct val="150000"/>
                        </a:lnSpc>
                        <a:buNone/>
                      </a:pPr>
                      <a:r>
                        <a:rPr lang="en-US" sz="1200" dirty="0">
                          <a:effectLst/>
                        </a:rPr>
                        <a:t>Random Forest</a:t>
                      </a:r>
                      <a:endParaRPr lang="en-MY"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solidFill>
                      <a:schemeClr val="accent2">
                        <a:lumMod val="60000"/>
                        <a:lumOff val="40000"/>
                      </a:schemeClr>
                    </a:solidFill>
                  </a:tcPr>
                </a:tc>
                <a:tc>
                  <a:txBody>
                    <a:bodyPr/>
                    <a:lstStyle/>
                    <a:p>
                      <a:pPr algn="ctr">
                        <a:lnSpc>
                          <a:spcPct val="150000"/>
                        </a:lnSpc>
                        <a:buNone/>
                      </a:pPr>
                      <a:r>
                        <a:rPr lang="en-US" sz="1200" dirty="0" err="1">
                          <a:effectLst/>
                        </a:rPr>
                        <a:t>XGBoost</a:t>
                      </a:r>
                      <a:endParaRPr lang="en-MY" sz="1200" dirty="0">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solidFill>
                      <a:schemeClr val="accent1">
                        <a:lumMod val="60000"/>
                        <a:lumOff val="40000"/>
                      </a:schemeClr>
                    </a:solidFill>
                  </a:tcPr>
                </a:tc>
                <a:extLst>
                  <a:ext uri="{0D108BD9-81ED-4DB2-BD59-A6C34878D82A}">
                    <a16:rowId xmlns:a16="http://schemas.microsoft.com/office/drawing/2014/main" val="338059634"/>
                  </a:ext>
                </a:extLst>
              </a:tr>
              <a:tr h="26752">
                <a:tc>
                  <a:txBody>
                    <a:bodyPr/>
                    <a:lstStyle/>
                    <a:p>
                      <a:pPr marL="342900" lvl="0" indent="-342900">
                        <a:lnSpc>
                          <a:spcPct val="150000"/>
                        </a:lnSpc>
                        <a:buFont typeface="+mj-lt"/>
                        <a:buAutoNum type="alphaLcParenBoth"/>
                      </a:pPr>
                      <a:r>
                        <a:rPr lang="en-US" sz="1200" b="0" dirty="0" err="1">
                          <a:solidFill>
                            <a:schemeClr val="tx1"/>
                          </a:solidFill>
                          <a:effectLst/>
                        </a:rPr>
                        <a:t>n_estimators</a:t>
                      </a:r>
                      <a:r>
                        <a:rPr lang="en-US" sz="1200" b="0" dirty="0">
                          <a:solidFill>
                            <a:schemeClr val="tx1"/>
                          </a:solidFill>
                          <a:effectLst/>
                        </a:rPr>
                        <a:t> =100</a:t>
                      </a:r>
                      <a:endParaRPr lang="en-MY" sz="1200" b="0" dirty="0">
                        <a:solidFill>
                          <a:schemeClr val="tx1"/>
                        </a:solidFill>
                        <a:effectLst/>
                      </a:endParaRPr>
                    </a:p>
                    <a:p>
                      <a:pPr marL="342900" lvl="0" indent="-342900">
                        <a:lnSpc>
                          <a:spcPct val="150000"/>
                        </a:lnSpc>
                        <a:buFont typeface="+mj-lt"/>
                        <a:buAutoNum type="alphaLcParenBoth"/>
                      </a:pPr>
                      <a:r>
                        <a:rPr lang="en-US" sz="1200" b="0" dirty="0" err="1">
                          <a:solidFill>
                            <a:schemeClr val="tx1"/>
                          </a:solidFill>
                          <a:effectLst/>
                        </a:rPr>
                        <a:t>max_depth</a:t>
                      </a:r>
                      <a:r>
                        <a:rPr lang="en-US" sz="1200" b="0" dirty="0">
                          <a:solidFill>
                            <a:schemeClr val="tx1"/>
                          </a:solidFill>
                          <a:effectLst/>
                        </a:rPr>
                        <a:t> = None</a:t>
                      </a:r>
                      <a:endParaRPr lang="en-MY" sz="1200" b="0" dirty="0">
                        <a:solidFill>
                          <a:schemeClr val="tx1"/>
                        </a:solidFill>
                        <a:effectLst/>
                      </a:endParaRPr>
                    </a:p>
                    <a:p>
                      <a:pPr marL="342900" lvl="0" indent="-342900">
                        <a:lnSpc>
                          <a:spcPct val="150000"/>
                        </a:lnSpc>
                        <a:buFont typeface="+mj-lt"/>
                        <a:buAutoNum type="alphaLcParenBoth"/>
                      </a:pPr>
                      <a:r>
                        <a:rPr lang="en-US" sz="1200" b="0" dirty="0" err="1">
                          <a:solidFill>
                            <a:schemeClr val="tx1"/>
                          </a:solidFill>
                          <a:effectLst/>
                        </a:rPr>
                        <a:t>min_samples_split</a:t>
                      </a:r>
                      <a:r>
                        <a:rPr lang="en-US" sz="1200" b="0" dirty="0">
                          <a:solidFill>
                            <a:schemeClr val="tx1"/>
                          </a:solidFill>
                          <a:effectLst/>
                        </a:rPr>
                        <a:t> = 2</a:t>
                      </a:r>
                      <a:endParaRPr lang="en-MY" sz="1200" b="0" dirty="0">
                        <a:solidFill>
                          <a:schemeClr val="tx1"/>
                        </a:solidFill>
                        <a:effectLst/>
                      </a:endParaRPr>
                    </a:p>
                  </a:txBody>
                  <a:tcPr marL="68580" marR="68580" marT="0" marB="0">
                    <a:lnR w="12700" cap="flat" cmpd="sng" algn="ctr">
                      <a:solidFill>
                        <a:schemeClr val="accent1"/>
                      </a:solidFill>
                      <a:prstDash val="solid"/>
                      <a:round/>
                      <a:headEnd type="none" w="med" len="med"/>
                      <a:tailEnd type="none" w="med" len="med"/>
                    </a:lnR>
                    <a:solidFill>
                      <a:schemeClr val="bg1"/>
                    </a:solidFill>
                  </a:tcPr>
                </a:tc>
                <a:tc>
                  <a:txBody>
                    <a:bodyPr/>
                    <a:lstStyle/>
                    <a:p>
                      <a:pPr marL="342900" lvl="0" indent="-342900" algn="l" defTabSz="914400" rtl="0" eaLnBrk="1" latinLnBrk="0" hangingPunct="1">
                        <a:lnSpc>
                          <a:spcPct val="150000"/>
                        </a:lnSpc>
                        <a:buFont typeface="+mj-lt"/>
                        <a:buAutoNum type="alphaLcParenBoth"/>
                      </a:pPr>
                      <a:r>
                        <a:rPr lang="en-US" sz="1200" b="0" kern="1200" dirty="0" err="1">
                          <a:solidFill>
                            <a:schemeClr val="tx1"/>
                          </a:solidFill>
                          <a:effectLst/>
                          <a:latin typeface="+mn-lt"/>
                          <a:ea typeface="+mn-ea"/>
                          <a:cs typeface="+mn-cs"/>
                        </a:rPr>
                        <a:t>n_estimators</a:t>
                      </a:r>
                      <a:r>
                        <a:rPr lang="en-US" sz="1200" b="0" kern="1200" dirty="0">
                          <a:solidFill>
                            <a:schemeClr val="tx1"/>
                          </a:solidFill>
                          <a:effectLst/>
                          <a:latin typeface="+mn-lt"/>
                          <a:ea typeface="+mn-ea"/>
                          <a:cs typeface="+mn-cs"/>
                        </a:rPr>
                        <a:t> = 100</a:t>
                      </a:r>
                      <a:endParaRPr lang="en-MY" sz="1200" b="0" kern="1200" dirty="0">
                        <a:solidFill>
                          <a:schemeClr val="tx1"/>
                        </a:solidFill>
                        <a:effectLst/>
                        <a:latin typeface="+mn-lt"/>
                        <a:ea typeface="+mn-ea"/>
                        <a:cs typeface="+mn-cs"/>
                      </a:endParaRPr>
                    </a:p>
                    <a:p>
                      <a:pPr marL="342900" lvl="0" indent="-342900" algn="l" defTabSz="914400" rtl="0" eaLnBrk="1" latinLnBrk="0" hangingPunct="1">
                        <a:lnSpc>
                          <a:spcPct val="150000"/>
                        </a:lnSpc>
                        <a:buFont typeface="+mj-lt"/>
                        <a:buAutoNum type="alphaLcParenBoth"/>
                      </a:pPr>
                      <a:r>
                        <a:rPr lang="en-US" sz="1200" b="0" kern="1200" dirty="0" err="1">
                          <a:solidFill>
                            <a:schemeClr val="tx1"/>
                          </a:solidFill>
                          <a:effectLst/>
                          <a:latin typeface="+mn-lt"/>
                          <a:ea typeface="+mn-ea"/>
                          <a:cs typeface="+mn-cs"/>
                        </a:rPr>
                        <a:t>max_depth</a:t>
                      </a:r>
                      <a:r>
                        <a:rPr lang="en-US" sz="1200" b="0" kern="1200" dirty="0">
                          <a:solidFill>
                            <a:schemeClr val="tx1"/>
                          </a:solidFill>
                          <a:effectLst/>
                          <a:latin typeface="+mn-lt"/>
                          <a:ea typeface="+mn-ea"/>
                          <a:cs typeface="+mn-cs"/>
                        </a:rPr>
                        <a:t> = 6</a:t>
                      </a:r>
                      <a:endParaRPr lang="en-MY" sz="1200" b="0" kern="1200" dirty="0">
                        <a:solidFill>
                          <a:schemeClr val="tx1"/>
                        </a:solidFill>
                        <a:effectLst/>
                        <a:latin typeface="+mn-lt"/>
                        <a:ea typeface="+mn-ea"/>
                        <a:cs typeface="+mn-cs"/>
                      </a:endParaRPr>
                    </a:p>
                    <a:p>
                      <a:pPr marL="342900" lvl="0" indent="-342900" algn="l" defTabSz="914400" rtl="0" eaLnBrk="1" latinLnBrk="0" hangingPunct="1">
                        <a:lnSpc>
                          <a:spcPct val="150000"/>
                        </a:lnSpc>
                        <a:buFont typeface="+mj-lt"/>
                        <a:buAutoNum type="alphaLcParenBoth"/>
                      </a:pPr>
                      <a:r>
                        <a:rPr lang="en-US" sz="1200" b="0" kern="1200" dirty="0" err="1">
                          <a:solidFill>
                            <a:schemeClr val="tx1"/>
                          </a:solidFill>
                          <a:effectLst/>
                          <a:latin typeface="+mn-lt"/>
                          <a:ea typeface="+mn-ea"/>
                          <a:cs typeface="+mn-cs"/>
                        </a:rPr>
                        <a:t>learning_rate</a:t>
                      </a:r>
                      <a:r>
                        <a:rPr lang="en-US" sz="1200" b="0" kern="1200" dirty="0">
                          <a:solidFill>
                            <a:schemeClr val="tx1"/>
                          </a:solidFill>
                          <a:effectLst/>
                          <a:latin typeface="+mn-lt"/>
                          <a:ea typeface="+mn-ea"/>
                          <a:cs typeface="+mn-cs"/>
                        </a:rPr>
                        <a:t> = 0.1</a:t>
                      </a:r>
                      <a:endParaRPr lang="en-MY" sz="1200" b="0" kern="1200" dirty="0">
                        <a:solidFill>
                          <a:schemeClr val="tx1"/>
                        </a:solidFill>
                        <a:effectLst/>
                        <a:latin typeface="+mn-lt"/>
                        <a:ea typeface="+mn-ea"/>
                        <a:cs typeface="+mn-cs"/>
                      </a:endParaRPr>
                    </a:p>
                    <a:p>
                      <a:pPr marL="342900" lvl="0" indent="-342900" algn="l" defTabSz="914400" rtl="0" eaLnBrk="1" latinLnBrk="0" hangingPunct="1">
                        <a:lnSpc>
                          <a:spcPct val="150000"/>
                        </a:lnSpc>
                        <a:buFont typeface="+mj-lt"/>
                        <a:buAutoNum type="alphaLcParenBoth"/>
                      </a:pPr>
                      <a:r>
                        <a:rPr lang="en-US" sz="1200" b="0" kern="1200" dirty="0">
                          <a:solidFill>
                            <a:schemeClr val="tx1"/>
                          </a:solidFill>
                          <a:effectLst/>
                          <a:latin typeface="+mn-lt"/>
                          <a:ea typeface="+mn-ea"/>
                          <a:cs typeface="+mn-cs"/>
                        </a:rPr>
                        <a:t>subsample = 1</a:t>
                      </a:r>
                      <a:endParaRPr lang="en-MY" sz="1200" b="0" kern="1200" dirty="0">
                        <a:solidFill>
                          <a:schemeClr val="tx1"/>
                        </a:solidFill>
                        <a:effectLst/>
                        <a:latin typeface="+mn-lt"/>
                        <a:ea typeface="+mn-ea"/>
                        <a:cs typeface="+mn-cs"/>
                      </a:endParaRPr>
                    </a:p>
                  </a:txBody>
                  <a:tcPr marL="68580" marR="68580" marT="0" marB="0">
                    <a:lnL w="12700" cap="flat" cmpd="sng" algn="ctr">
                      <a:solidFill>
                        <a:schemeClr val="accent1"/>
                      </a:solidFill>
                      <a:prstDash val="solid"/>
                      <a:round/>
                      <a:headEnd type="none" w="med" len="med"/>
                      <a:tailEnd type="none" w="med" len="med"/>
                    </a:lnL>
                    <a:solidFill>
                      <a:schemeClr val="bg1"/>
                    </a:solidFill>
                  </a:tcPr>
                </a:tc>
                <a:extLst>
                  <a:ext uri="{0D108BD9-81ED-4DB2-BD59-A6C34878D82A}">
                    <a16:rowId xmlns:a16="http://schemas.microsoft.com/office/drawing/2014/main" val="1899634311"/>
                  </a:ext>
                </a:extLst>
              </a:tr>
            </a:tbl>
          </a:graphicData>
        </a:graphic>
      </p:graphicFrame>
      <p:sp>
        <p:nvSpPr>
          <p:cNvPr id="20" name="Google Shape;2020;p104">
            <a:extLst>
              <a:ext uri="{FF2B5EF4-FFF2-40B4-BE49-F238E27FC236}">
                <a16:creationId xmlns:a16="http://schemas.microsoft.com/office/drawing/2014/main" id="{85A8E425-DB09-5100-7570-25866125ED67}"/>
              </a:ext>
            </a:extLst>
          </p:cNvPr>
          <p:cNvSpPr txBox="1"/>
          <p:nvPr/>
        </p:nvSpPr>
        <p:spPr>
          <a:xfrm>
            <a:off x="0" y="6281035"/>
            <a:ext cx="5976258" cy="540000"/>
          </a:xfrm>
          <a:prstGeom prst="rect">
            <a:avLst/>
          </a:prstGeom>
          <a:noFill/>
          <a:ln>
            <a:noFill/>
          </a:ln>
        </p:spPr>
        <p:txBody>
          <a:bodyPr spcFirstLastPara="1" wrap="square" lIns="121900" tIns="121900" rIns="121900" bIns="121900" anchor="ctr" anchorCtr="0">
            <a:noAutofit/>
          </a:bodyPr>
          <a:lstStyle/>
          <a:p>
            <a:r>
              <a:rPr lang="en-MY" sz="1100" b="1" dirty="0">
                <a:solidFill>
                  <a:schemeClr val="dk1"/>
                </a:solidFill>
                <a:ea typeface="Oswald"/>
                <a:cs typeface="Oswald"/>
                <a:sym typeface="Oswald"/>
              </a:rPr>
              <a:t>Random Forest achieved slightly better F1-score, fewer false positives and fewer misclassifications</a:t>
            </a:r>
            <a:endParaRPr lang="en-MY" sz="1100" dirty="0">
              <a:solidFill>
                <a:schemeClr val="dk1"/>
              </a:solidFill>
              <a:ea typeface="Oswald"/>
              <a:cs typeface="Oswald"/>
              <a:sym typeface="Oswald"/>
            </a:endParaRPr>
          </a:p>
        </p:txBody>
      </p:sp>
      <p:sp>
        <p:nvSpPr>
          <p:cNvPr id="22" name="Arrow: Pentagon 21">
            <a:extLst>
              <a:ext uri="{FF2B5EF4-FFF2-40B4-BE49-F238E27FC236}">
                <a16:creationId xmlns:a16="http://schemas.microsoft.com/office/drawing/2014/main" id="{19566EED-A2C8-773B-40AE-89016ACD2AB6}"/>
              </a:ext>
            </a:extLst>
          </p:cNvPr>
          <p:cNvSpPr/>
          <p:nvPr/>
        </p:nvSpPr>
        <p:spPr>
          <a:xfrm rot="10800000" flipV="1">
            <a:off x="3712999" y="5511364"/>
            <a:ext cx="2153980" cy="362186"/>
          </a:xfrm>
          <a:prstGeom prst="homePlat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000" dirty="0"/>
              <a:t>Same result as baseline. </a:t>
            </a:r>
          </a:p>
          <a:p>
            <a:pPr algn="ctr"/>
            <a:r>
              <a:rPr lang="en-MY" sz="1000" dirty="0"/>
              <a:t>Default parameter = Best parameter</a:t>
            </a:r>
          </a:p>
        </p:txBody>
      </p:sp>
      <p:sp>
        <p:nvSpPr>
          <p:cNvPr id="23" name="Arrow: Pentagon 22">
            <a:extLst>
              <a:ext uri="{FF2B5EF4-FFF2-40B4-BE49-F238E27FC236}">
                <a16:creationId xmlns:a16="http://schemas.microsoft.com/office/drawing/2014/main" id="{4A59BFA6-BA13-9CEE-5258-284B59B18A98}"/>
              </a:ext>
            </a:extLst>
          </p:cNvPr>
          <p:cNvSpPr/>
          <p:nvPr/>
        </p:nvSpPr>
        <p:spPr>
          <a:xfrm rot="10800000" flipV="1">
            <a:off x="3712999" y="5962458"/>
            <a:ext cx="2153980" cy="362186"/>
          </a:xfrm>
          <a:prstGeom prst="homePlate">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000" dirty="0"/>
              <a:t>Result improved than baseline</a:t>
            </a:r>
          </a:p>
        </p:txBody>
      </p:sp>
      <p:cxnSp>
        <p:nvCxnSpPr>
          <p:cNvPr id="31" name="Straight Connector 30">
            <a:extLst>
              <a:ext uri="{FF2B5EF4-FFF2-40B4-BE49-F238E27FC236}">
                <a16:creationId xmlns:a16="http://schemas.microsoft.com/office/drawing/2014/main" id="{99D5EB76-E456-C214-99AD-AB540458EB45}"/>
              </a:ext>
            </a:extLst>
          </p:cNvPr>
          <p:cNvCxnSpPr>
            <a:cxnSpLocks/>
          </p:cNvCxnSpPr>
          <p:nvPr/>
        </p:nvCxnSpPr>
        <p:spPr>
          <a:xfrm>
            <a:off x="5976257" y="952068"/>
            <a:ext cx="0" cy="5868000"/>
          </a:xfrm>
          <a:prstGeom prst="line">
            <a:avLst/>
          </a:prstGeom>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3" name="Google Shape;1281;p68">
            <a:extLst>
              <a:ext uri="{FF2B5EF4-FFF2-40B4-BE49-F238E27FC236}">
                <a16:creationId xmlns:a16="http://schemas.microsoft.com/office/drawing/2014/main" id="{4E17143B-A323-9913-97CC-5EAEEBAE93F3}"/>
              </a:ext>
            </a:extLst>
          </p:cNvPr>
          <p:cNvSpPr txBox="1">
            <a:spLocks/>
          </p:cNvSpPr>
          <p:nvPr/>
        </p:nvSpPr>
        <p:spPr>
          <a:xfrm>
            <a:off x="6095999" y="1408995"/>
            <a:ext cx="5856513" cy="3678599"/>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1450" indent="-171450">
              <a:buFontTx/>
              <a:buChar char="-"/>
            </a:pPr>
            <a:r>
              <a:rPr lang="de-DE" sz="1200" dirty="0">
                <a:latin typeface="+mn-lt"/>
              </a:rPr>
              <a:t>By default, classifiers algorithm use threshold = 0.5 on the predicted probability to decide the class.</a:t>
            </a:r>
          </a:p>
          <a:p>
            <a:pPr marL="171450" indent="-171450">
              <a:buFontTx/>
              <a:buChar char="-"/>
            </a:pPr>
            <a:r>
              <a:rPr lang="de-DE" sz="1200" dirty="0">
                <a:latin typeface="+mn-lt"/>
              </a:rPr>
              <a:t>Evaluate different probability threshold between 0.1 to 0.9 to select the best threshold that maximize F1-score.</a:t>
            </a:r>
          </a:p>
          <a:p>
            <a:endParaRPr lang="de-DE" sz="1200" dirty="0">
              <a:latin typeface="+mn-lt"/>
            </a:endParaRPr>
          </a:p>
          <a:p>
            <a:pPr marL="171450" indent="-171450">
              <a:buFontTx/>
              <a:buChar char="-"/>
            </a:pPr>
            <a:r>
              <a:rPr lang="de-DE" sz="1200" b="1" dirty="0">
                <a:latin typeface="+mn-lt"/>
              </a:rPr>
              <a:t>Best Threshold:</a:t>
            </a:r>
          </a:p>
          <a:p>
            <a:r>
              <a:rPr lang="de-DE" sz="1200" b="1" dirty="0">
                <a:latin typeface="+mn-lt"/>
              </a:rPr>
              <a:t>	</a:t>
            </a:r>
            <a:r>
              <a:rPr lang="de-DE" sz="1200" dirty="0">
                <a:latin typeface="+mn-lt"/>
              </a:rPr>
              <a:t>Random Forest = 0.24</a:t>
            </a:r>
          </a:p>
          <a:p>
            <a:r>
              <a:rPr lang="de-DE" sz="1200" dirty="0">
                <a:latin typeface="+mn-lt"/>
              </a:rPr>
              <a:t>	XGBoost = 0.28  </a:t>
            </a:r>
          </a:p>
          <a:p>
            <a:endParaRPr lang="de-DE" sz="1200" dirty="0">
              <a:latin typeface="+mn-lt"/>
            </a:endParaRPr>
          </a:p>
          <a:p>
            <a:endParaRPr lang="de-DE" sz="1200" dirty="0">
              <a:latin typeface="+mn-lt"/>
            </a:endParaRPr>
          </a:p>
          <a:p>
            <a:pPr marL="171450" indent="-171450">
              <a:buFontTx/>
              <a:buChar char="-"/>
            </a:pPr>
            <a:r>
              <a:rPr lang="de-DE" sz="1200" b="1" dirty="0">
                <a:latin typeface="+mn-lt"/>
              </a:rPr>
              <a:t>Result after Tuning &amp; Adjust Threshold:</a:t>
            </a:r>
          </a:p>
        </p:txBody>
      </p:sp>
      <p:graphicFrame>
        <p:nvGraphicFramePr>
          <p:cNvPr id="34" name="Table 33">
            <a:extLst>
              <a:ext uri="{FF2B5EF4-FFF2-40B4-BE49-F238E27FC236}">
                <a16:creationId xmlns:a16="http://schemas.microsoft.com/office/drawing/2014/main" id="{742FFFA2-3110-AB47-5173-7F7286A4CDFD}"/>
              </a:ext>
            </a:extLst>
          </p:cNvPr>
          <p:cNvGraphicFramePr>
            <a:graphicFrameLocks noGrp="1"/>
          </p:cNvGraphicFramePr>
          <p:nvPr>
            <p:extLst>
              <p:ext uri="{D42A27DB-BD31-4B8C-83A1-F6EECF244321}">
                <p14:modId xmlns:p14="http://schemas.microsoft.com/office/powerpoint/2010/main" val="301778618"/>
              </p:ext>
            </p:extLst>
          </p:nvPr>
        </p:nvGraphicFramePr>
        <p:xfrm>
          <a:off x="7147559" y="3703505"/>
          <a:ext cx="3576322" cy="1328035"/>
        </p:xfrm>
        <a:graphic>
          <a:graphicData uri="http://schemas.openxmlformats.org/drawingml/2006/table">
            <a:tbl>
              <a:tblPr firstRow="1" firstCol="1" bandRow="1">
                <a:tableStyleId>{5C22544A-7EE6-4342-B048-85BDC9FD1C3A}</a:tableStyleId>
              </a:tblPr>
              <a:tblGrid>
                <a:gridCol w="696322">
                  <a:extLst>
                    <a:ext uri="{9D8B030D-6E8A-4147-A177-3AD203B41FA5}">
                      <a16:colId xmlns:a16="http://schemas.microsoft.com/office/drawing/2014/main" val="3097662644"/>
                    </a:ext>
                  </a:extLst>
                </a:gridCol>
                <a:gridCol w="720000">
                  <a:extLst>
                    <a:ext uri="{9D8B030D-6E8A-4147-A177-3AD203B41FA5}">
                      <a16:colId xmlns:a16="http://schemas.microsoft.com/office/drawing/2014/main" val="1527001443"/>
                    </a:ext>
                  </a:extLst>
                </a:gridCol>
                <a:gridCol w="720000">
                  <a:extLst>
                    <a:ext uri="{9D8B030D-6E8A-4147-A177-3AD203B41FA5}">
                      <a16:colId xmlns:a16="http://schemas.microsoft.com/office/drawing/2014/main" val="2669806238"/>
                    </a:ext>
                  </a:extLst>
                </a:gridCol>
                <a:gridCol w="720000">
                  <a:extLst>
                    <a:ext uri="{9D8B030D-6E8A-4147-A177-3AD203B41FA5}">
                      <a16:colId xmlns:a16="http://schemas.microsoft.com/office/drawing/2014/main" val="4279104350"/>
                    </a:ext>
                  </a:extLst>
                </a:gridCol>
                <a:gridCol w="720000">
                  <a:extLst>
                    <a:ext uri="{9D8B030D-6E8A-4147-A177-3AD203B41FA5}">
                      <a16:colId xmlns:a16="http://schemas.microsoft.com/office/drawing/2014/main" val="374471500"/>
                    </a:ext>
                  </a:extLst>
                </a:gridCol>
              </a:tblGrid>
              <a:tr h="324000">
                <a:tc>
                  <a:txBody>
                    <a:bodyPr/>
                    <a:lstStyle/>
                    <a:p>
                      <a:pPr algn="ctr">
                        <a:lnSpc>
                          <a:spcPct val="150000"/>
                        </a:lnSpc>
                        <a:buNone/>
                      </a:pPr>
                      <a:endParaRPr lang="en-MY" sz="1200" dirty="0">
                        <a:effectLst/>
                        <a:latin typeface="+mn-lt"/>
                        <a:ea typeface="Calibri" panose="020F0502020204030204" pitchFamily="34" charset="0"/>
                        <a:cs typeface="Arial" panose="020B0604020202020204" pitchFamily="34" charset="0"/>
                      </a:endParaRPr>
                    </a:p>
                  </a:txBody>
                  <a:tcPr marL="68580" marR="68580" marT="0" marB="0" anchor="ctr">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Precision</a:t>
                      </a:r>
                    </a:p>
                  </a:txBody>
                  <a:tcPr marL="68580" marR="68580" marT="0" marB="0">
                    <a:lnB w="12700" cap="flat" cmpd="sng" algn="ctr">
                      <a:solidFill>
                        <a:schemeClr val="accent1"/>
                      </a:solidFill>
                      <a:prstDash val="solid"/>
                      <a:round/>
                      <a:headEnd type="none" w="med" len="med"/>
                      <a:tailEnd type="none" w="med" len="med"/>
                    </a:lnB>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Recall</a:t>
                      </a:r>
                    </a:p>
                  </a:txBody>
                  <a:tcPr marL="68580" marR="68580" marT="0" marB="0">
                    <a:lnB w="12700" cap="flat" cmpd="sng" algn="ctr">
                      <a:solidFill>
                        <a:schemeClr val="accent1"/>
                      </a:solidFill>
                      <a:prstDash val="solid"/>
                      <a:round/>
                      <a:headEnd type="none" w="med" len="med"/>
                      <a:tailEnd type="none" w="med" len="med"/>
                    </a:lnB>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F1-Score</a:t>
                      </a:r>
                    </a:p>
                  </a:txBody>
                  <a:tcPr marL="68580" marR="68580" marT="0" marB="0">
                    <a:lnB w="12700" cap="flat" cmpd="sng" algn="ctr">
                      <a:solidFill>
                        <a:schemeClr val="accent1"/>
                      </a:solidFill>
                      <a:prstDash val="solid"/>
                      <a:round/>
                      <a:headEnd type="none" w="med" len="med"/>
                      <a:tailEnd type="none" w="med" len="med"/>
                    </a:lnB>
                  </a:tcPr>
                </a:tc>
                <a:tc>
                  <a:txBody>
                    <a:bodyPr/>
                    <a:lstStyle/>
                    <a:p>
                      <a:pPr marL="0" algn="ctr" defTabSz="914400" rtl="0" eaLnBrk="1" latinLnBrk="0" hangingPunct="1">
                        <a:lnSpc>
                          <a:spcPct val="150000"/>
                        </a:lnSpc>
                        <a:buNone/>
                      </a:pPr>
                      <a:r>
                        <a:rPr lang="en-MY" sz="1200" b="1" kern="1200" dirty="0">
                          <a:solidFill>
                            <a:schemeClr val="lt1"/>
                          </a:solidFill>
                          <a:effectLst/>
                          <a:latin typeface="+mn-lt"/>
                          <a:ea typeface="Calibri" panose="020F0502020204030204" pitchFamily="34" charset="0"/>
                          <a:cs typeface="Arial" panose="020B0604020202020204" pitchFamily="34" charset="0"/>
                        </a:rPr>
                        <a:t>Accuracy</a:t>
                      </a:r>
                    </a:p>
                  </a:txBody>
                  <a:tcPr marL="68580" marR="68580" marT="0" marB="0">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286765864"/>
                  </a:ext>
                </a:extLst>
              </a:tr>
              <a:tr h="506750">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Random Forest</a:t>
                      </a: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2">
                        <a:lumMod val="60000"/>
                        <a:lumOff val="40000"/>
                      </a:schemeClr>
                    </a:solidFill>
                  </a:tcPr>
                </a:tc>
                <a:tc>
                  <a:txBody>
                    <a:bodyPr/>
                    <a:lstStyle/>
                    <a:p>
                      <a:pPr marL="0" algn="ctr" defTabSz="914400" rtl="0" eaLnBrk="1" latinLnBrk="0" hangingPunct="1">
                        <a:lnSpc>
                          <a:spcPct val="150000"/>
                        </a:lnSpc>
                        <a:buNone/>
                      </a:pPr>
                      <a:r>
                        <a:rPr lang="en-MY" sz="1200" b="0" kern="1200" dirty="0">
                          <a:solidFill>
                            <a:schemeClr val="tx1"/>
                          </a:solidFill>
                          <a:effectLst/>
                          <a:latin typeface="+mn-lt"/>
                          <a:ea typeface="Calibri" panose="020F0502020204030204" pitchFamily="34" charset="0"/>
                          <a:cs typeface="Arial" panose="020B0604020202020204" pitchFamily="34" charset="0"/>
                        </a:rPr>
                        <a:t>0.9185</a:t>
                      </a:r>
                    </a:p>
                  </a:txBody>
                  <a:tcPr marL="68580" marR="68580"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0.7630</a:t>
                      </a:r>
                    </a:p>
                  </a:txBody>
                  <a:tcPr marL="68580" marR="68580" marT="0"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0.8336</a:t>
                      </a:r>
                    </a:p>
                  </a:txBody>
                  <a:tcPr marL="68580" marR="68580" marT="0"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algn="ctr" defTabSz="914400" rtl="0" eaLnBrk="1" latinLnBrk="0" hangingPunct="1">
                        <a:lnSpc>
                          <a:spcPct val="150000"/>
                        </a:lnSpc>
                        <a:buNone/>
                      </a:pPr>
                      <a:r>
                        <a:rPr lang="en-MY" sz="1200" b="0" kern="1200" dirty="0">
                          <a:solidFill>
                            <a:schemeClr val="tx1"/>
                          </a:solidFill>
                          <a:effectLst/>
                          <a:latin typeface="+mn-lt"/>
                          <a:ea typeface="Calibri" panose="020F0502020204030204" pitchFamily="34" charset="0"/>
                          <a:cs typeface="Arial" panose="020B0604020202020204" pitchFamily="34" charset="0"/>
                        </a:rPr>
                        <a:t>0.9997</a:t>
                      </a:r>
                    </a:p>
                  </a:txBody>
                  <a:tcPr marL="68580" marR="68580"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513934009"/>
                  </a:ext>
                </a:extLst>
              </a:tr>
              <a:tr h="483716">
                <a:tc>
                  <a:txBody>
                    <a:bodyPr/>
                    <a:lstStyle/>
                    <a:p>
                      <a:pPr algn="ctr">
                        <a:lnSpc>
                          <a:spcPct val="150000"/>
                        </a:lnSpc>
                        <a:buNone/>
                      </a:pPr>
                      <a:r>
                        <a:rPr lang="en-MY" sz="1200" dirty="0" err="1">
                          <a:effectLst/>
                          <a:latin typeface="+mn-lt"/>
                          <a:ea typeface="Calibri" panose="020F0502020204030204" pitchFamily="34" charset="0"/>
                          <a:cs typeface="Arial" panose="020B0604020202020204" pitchFamily="34" charset="0"/>
                        </a:rPr>
                        <a:t>XGBoost</a:t>
                      </a:r>
                      <a:endParaRPr lang="en-MY" sz="1200" dirty="0">
                        <a:effectLst/>
                        <a:latin typeface="+mn-lt"/>
                        <a:ea typeface="Calibri" panose="020F0502020204030204" pitchFamily="34" charset="0"/>
                        <a:cs typeface="Arial" panose="020B0604020202020204" pitchFamily="34" charset="0"/>
                      </a:endParaRP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60000"/>
                        <a:lumOff val="40000"/>
                      </a:schemeClr>
                    </a:solid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0.9236</a:t>
                      </a:r>
                    </a:p>
                  </a:txBody>
                  <a:tcPr marL="68580" marR="68580" marT="0" marB="0" anchor="ctr">
                    <a:lnL w="12700" cap="flat" cmpd="sng" algn="ctr">
                      <a:solidFill>
                        <a:schemeClr val="accent1"/>
                      </a:solidFill>
                      <a:prstDash val="solid"/>
                      <a:round/>
                      <a:headEnd type="none" w="med" len="med"/>
                      <a:tailEnd type="none" w="med" len="med"/>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0.7041</a:t>
                      </a:r>
                    </a:p>
                  </a:txBody>
                  <a:tcPr marL="68580" marR="6858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0.7991</a:t>
                      </a:r>
                    </a:p>
                  </a:txBody>
                  <a:tcPr marL="68580" marR="6858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lnSpc>
                          <a:spcPct val="150000"/>
                        </a:lnSpc>
                        <a:buNone/>
                      </a:pPr>
                      <a:r>
                        <a:rPr lang="en-MY" sz="1200" b="0" kern="1200" dirty="0">
                          <a:solidFill>
                            <a:schemeClr val="tx1"/>
                          </a:solidFill>
                          <a:effectLst/>
                          <a:latin typeface="+mn-lt"/>
                          <a:ea typeface="Calibri" panose="020F0502020204030204" pitchFamily="34" charset="0"/>
                          <a:cs typeface="Arial" panose="020B0604020202020204" pitchFamily="34" charset="0"/>
                        </a:rPr>
                        <a:t>0.9996</a:t>
                      </a:r>
                    </a:p>
                  </a:txBody>
                  <a:tcPr marL="68580" marR="68580" marT="0" marB="0" anchor="ctr">
                    <a:lnL w="12700" cmpd="sng">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3793190"/>
                  </a:ext>
                </a:extLst>
              </a:tr>
            </a:tbl>
          </a:graphicData>
        </a:graphic>
      </p:graphicFrame>
      <p:sp>
        <p:nvSpPr>
          <p:cNvPr id="36" name="Google Shape;2020;p104">
            <a:extLst>
              <a:ext uri="{FF2B5EF4-FFF2-40B4-BE49-F238E27FC236}">
                <a16:creationId xmlns:a16="http://schemas.microsoft.com/office/drawing/2014/main" id="{CE8104B2-AC3D-0B3B-6961-6F7BAFFA0AEC}"/>
              </a:ext>
            </a:extLst>
          </p:cNvPr>
          <p:cNvSpPr txBox="1"/>
          <p:nvPr/>
        </p:nvSpPr>
        <p:spPr>
          <a:xfrm>
            <a:off x="6089595" y="5191125"/>
            <a:ext cx="5753637" cy="1666875"/>
          </a:xfrm>
          <a:prstGeom prst="rect">
            <a:avLst/>
          </a:prstGeom>
          <a:noFill/>
          <a:ln>
            <a:noFill/>
          </a:ln>
        </p:spPr>
        <p:txBody>
          <a:bodyPr spcFirstLastPara="1" wrap="square" lIns="121900" tIns="121900" rIns="121900" bIns="121900" anchor="ctr" anchorCtr="0">
            <a:noAutofit/>
          </a:bodyPr>
          <a:lstStyle/>
          <a:p>
            <a:pPr marL="171450" indent="-171450">
              <a:buFontTx/>
              <a:buChar char="-"/>
            </a:pPr>
            <a:r>
              <a:rPr lang="en-MY" sz="1200" dirty="0">
                <a:solidFill>
                  <a:schemeClr val="dk1"/>
                </a:solidFill>
                <a:ea typeface="Oswald"/>
                <a:cs typeface="Oswald"/>
                <a:sym typeface="Oswald"/>
              </a:rPr>
              <a:t>Adjusting threshold below 0.5 makes the model classify more true suspicious case, hence the increase in recall. Even the precision have slightly dropped, it still above 0.90. Hence, the F1-Score improved for both model. </a:t>
            </a:r>
          </a:p>
          <a:p>
            <a:pPr marL="171450" indent="-171450">
              <a:buFontTx/>
              <a:buChar char="-"/>
            </a:pPr>
            <a:endParaRPr lang="en-MY" sz="1200" dirty="0">
              <a:solidFill>
                <a:schemeClr val="dk1"/>
              </a:solidFill>
              <a:ea typeface="Oswald"/>
              <a:cs typeface="Oswald"/>
              <a:sym typeface="Oswald"/>
            </a:endParaRPr>
          </a:p>
          <a:p>
            <a:pPr marL="171450" indent="-171450">
              <a:buFontTx/>
              <a:buChar char="-"/>
            </a:pPr>
            <a:r>
              <a:rPr lang="en-MY" sz="1200" dirty="0">
                <a:solidFill>
                  <a:schemeClr val="dk1"/>
                </a:solidFill>
                <a:ea typeface="Oswald"/>
                <a:cs typeface="Oswald"/>
                <a:sym typeface="Oswald"/>
              </a:rPr>
              <a:t>Threshold tuning also proven to handle imbalanced dataset. High accuracy in this model is due to dominance of majority class. Hence, adjusting threshold allowed the models to make better trade-offs between detecting suspicious transactions and minimizing false positives</a:t>
            </a:r>
          </a:p>
        </p:txBody>
      </p:sp>
    </p:spTree>
    <p:extLst>
      <p:ext uri="{BB962C8B-B14F-4D97-AF65-F5344CB8AC3E}">
        <p14:creationId xmlns:p14="http://schemas.microsoft.com/office/powerpoint/2010/main" val="24510396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81">
          <a:extLst>
            <a:ext uri="{FF2B5EF4-FFF2-40B4-BE49-F238E27FC236}">
              <a16:creationId xmlns:a16="http://schemas.microsoft.com/office/drawing/2014/main" id="{601E083C-A60C-A7F8-8E4C-7F579F79A92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1CF986D-2313-7739-3BC7-14B8EFA04D8D}"/>
              </a:ext>
            </a:extLst>
          </p:cNvPr>
          <p:cNvSpPr/>
          <p:nvPr/>
        </p:nvSpPr>
        <p:spPr>
          <a:xfrm>
            <a:off x="0" y="385235"/>
            <a:ext cx="10287000"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1">
            <a:extLst>
              <a:ext uri="{FF2B5EF4-FFF2-40B4-BE49-F238E27FC236}">
                <a16:creationId xmlns:a16="http://schemas.microsoft.com/office/drawing/2014/main" id="{DCD60B4C-D09C-A24F-2864-E717E19CC932}"/>
              </a:ext>
            </a:extLst>
          </p:cNvPr>
          <p:cNvSpPr txBox="1">
            <a:spLocks/>
          </p:cNvSpPr>
          <p:nvPr/>
        </p:nvSpPr>
        <p:spPr>
          <a:xfrm>
            <a:off x="138814" y="448219"/>
            <a:ext cx="7648826" cy="44819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900" dirty="0">
                <a:solidFill>
                  <a:schemeClr val="bg1"/>
                </a:solidFill>
                <a:effectLst>
                  <a:outerShdw blurRad="38100" dist="38100" dir="2700000" algn="tl">
                    <a:srgbClr val="000000">
                      <a:alpha val="43137"/>
                    </a:srgbClr>
                  </a:outerShdw>
                </a:effectLst>
              </a:rPr>
              <a:t>FINAL EVALUATION</a:t>
            </a:r>
          </a:p>
        </p:txBody>
      </p:sp>
      <p:sp>
        <p:nvSpPr>
          <p:cNvPr id="2" name="Google Shape;1897;p101">
            <a:extLst>
              <a:ext uri="{FF2B5EF4-FFF2-40B4-BE49-F238E27FC236}">
                <a16:creationId xmlns:a16="http://schemas.microsoft.com/office/drawing/2014/main" id="{B22F2A2B-DC21-1EAB-70F4-5FDF362AC351}"/>
              </a:ext>
            </a:extLst>
          </p:cNvPr>
          <p:cNvSpPr txBox="1"/>
          <p:nvPr/>
        </p:nvSpPr>
        <p:spPr>
          <a:xfrm>
            <a:off x="202137" y="1120887"/>
            <a:ext cx="4608000" cy="746625"/>
          </a:xfrm>
          <a:prstGeom prst="roundRect">
            <a:avLst/>
          </a:prstGeom>
          <a:solidFill>
            <a:schemeClr val="accent4">
              <a:lumMod val="60000"/>
              <a:lumOff val="40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p>
            <a:pPr marL="0" lvl="0" indent="0" algn="ctr" rtl="0">
              <a:spcBef>
                <a:spcPts val="0"/>
              </a:spcBef>
              <a:spcAft>
                <a:spcPts val="0"/>
              </a:spcAft>
              <a:buNone/>
            </a:pPr>
            <a:r>
              <a:rPr lang="de" sz="1400" b="1" dirty="0">
                <a:solidFill>
                  <a:srgbClr val="020304"/>
                </a:solidFill>
                <a:ea typeface="Oswald"/>
                <a:cs typeface="Oswald"/>
                <a:sym typeface="Oswald"/>
              </a:rPr>
              <a:t>Retrained models on the c</a:t>
            </a:r>
            <a:r>
              <a:rPr lang="en-MY" sz="1400" b="1" dirty="0">
                <a:solidFill>
                  <a:srgbClr val="020304"/>
                </a:solidFill>
                <a:ea typeface="Oswald"/>
                <a:cs typeface="Oswald"/>
                <a:sym typeface="Oswald"/>
              </a:rPr>
              <a:t>o</a:t>
            </a:r>
            <a:r>
              <a:rPr lang="de" sz="1400" b="1" dirty="0">
                <a:solidFill>
                  <a:srgbClr val="020304"/>
                </a:solidFill>
                <a:ea typeface="Oswald"/>
                <a:cs typeface="Oswald"/>
                <a:sym typeface="Oswald"/>
              </a:rPr>
              <a:t>mbined Training+Validation Set using Best Hyperparameters </a:t>
            </a:r>
          </a:p>
        </p:txBody>
      </p:sp>
      <p:graphicFrame>
        <p:nvGraphicFramePr>
          <p:cNvPr id="7" name="Table 6">
            <a:extLst>
              <a:ext uri="{FF2B5EF4-FFF2-40B4-BE49-F238E27FC236}">
                <a16:creationId xmlns:a16="http://schemas.microsoft.com/office/drawing/2014/main" id="{F83205B0-00DE-7055-C7E6-AD9FEEC432B6}"/>
              </a:ext>
            </a:extLst>
          </p:cNvPr>
          <p:cNvGraphicFramePr>
            <a:graphicFrameLocks noGrp="1"/>
          </p:cNvGraphicFramePr>
          <p:nvPr>
            <p:extLst>
              <p:ext uri="{D42A27DB-BD31-4B8C-83A1-F6EECF244321}">
                <p14:modId xmlns:p14="http://schemas.microsoft.com/office/powerpoint/2010/main" val="1073021024"/>
              </p:ext>
            </p:extLst>
          </p:nvPr>
        </p:nvGraphicFramePr>
        <p:xfrm>
          <a:off x="467126" y="2555796"/>
          <a:ext cx="3816000" cy="1884957"/>
        </p:xfrm>
        <a:graphic>
          <a:graphicData uri="http://schemas.openxmlformats.org/drawingml/2006/table">
            <a:tbl>
              <a:tblPr firstRow="1" firstCol="1" bandRow="1">
                <a:tableStyleId>{5C22544A-7EE6-4342-B048-85BDC9FD1C3A}</a:tableStyleId>
              </a:tblPr>
              <a:tblGrid>
                <a:gridCol w="792000">
                  <a:extLst>
                    <a:ext uri="{9D8B030D-6E8A-4147-A177-3AD203B41FA5}">
                      <a16:colId xmlns:a16="http://schemas.microsoft.com/office/drawing/2014/main" val="3097662644"/>
                    </a:ext>
                  </a:extLst>
                </a:gridCol>
                <a:gridCol w="756000">
                  <a:extLst>
                    <a:ext uri="{9D8B030D-6E8A-4147-A177-3AD203B41FA5}">
                      <a16:colId xmlns:a16="http://schemas.microsoft.com/office/drawing/2014/main" val="1527001443"/>
                    </a:ext>
                  </a:extLst>
                </a:gridCol>
                <a:gridCol w="756000">
                  <a:extLst>
                    <a:ext uri="{9D8B030D-6E8A-4147-A177-3AD203B41FA5}">
                      <a16:colId xmlns:a16="http://schemas.microsoft.com/office/drawing/2014/main" val="2669806238"/>
                    </a:ext>
                  </a:extLst>
                </a:gridCol>
                <a:gridCol w="756000">
                  <a:extLst>
                    <a:ext uri="{9D8B030D-6E8A-4147-A177-3AD203B41FA5}">
                      <a16:colId xmlns:a16="http://schemas.microsoft.com/office/drawing/2014/main" val="4279104350"/>
                    </a:ext>
                  </a:extLst>
                </a:gridCol>
                <a:gridCol w="756000">
                  <a:extLst>
                    <a:ext uri="{9D8B030D-6E8A-4147-A177-3AD203B41FA5}">
                      <a16:colId xmlns:a16="http://schemas.microsoft.com/office/drawing/2014/main" val="374471500"/>
                    </a:ext>
                  </a:extLst>
                </a:gridCol>
              </a:tblGrid>
              <a:tr h="324000">
                <a:tc>
                  <a:txBody>
                    <a:bodyPr/>
                    <a:lstStyle/>
                    <a:p>
                      <a:pPr algn="ctr">
                        <a:lnSpc>
                          <a:spcPct val="150000"/>
                        </a:lnSpc>
                        <a:buNone/>
                      </a:pPr>
                      <a:endParaRPr lang="en-MY" sz="1200" dirty="0">
                        <a:effectLst/>
                        <a:latin typeface="+mn-lt"/>
                        <a:ea typeface="Calibri" panose="020F0502020204030204" pitchFamily="34" charset="0"/>
                        <a:cs typeface="Arial" panose="020B0604020202020204" pitchFamily="34" charset="0"/>
                      </a:endParaRPr>
                    </a:p>
                  </a:txBody>
                  <a:tcPr marL="68580" marR="68580" marT="0" marB="0" anchor="ctr">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Precision</a:t>
                      </a:r>
                    </a:p>
                  </a:txBody>
                  <a:tcPr marL="68580" marR="68580" marT="0" marB="0">
                    <a:lnB w="12700" cap="flat" cmpd="sng" algn="ctr">
                      <a:solidFill>
                        <a:schemeClr val="accent1"/>
                      </a:solidFill>
                      <a:prstDash val="solid"/>
                      <a:round/>
                      <a:headEnd type="none" w="med" len="med"/>
                      <a:tailEnd type="none" w="med" len="med"/>
                    </a:lnB>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Recall</a:t>
                      </a:r>
                    </a:p>
                  </a:txBody>
                  <a:tcPr marL="68580" marR="68580" marT="0" marB="0">
                    <a:lnB w="12700" cap="flat" cmpd="sng" algn="ctr">
                      <a:solidFill>
                        <a:schemeClr val="accent1"/>
                      </a:solidFill>
                      <a:prstDash val="solid"/>
                      <a:round/>
                      <a:headEnd type="none" w="med" len="med"/>
                      <a:tailEnd type="none" w="med" len="med"/>
                    </a:lnB>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F1-Score</a:t>
                      </a:r>
                    </a:p>
                  </a:txBody>
                  <a:tcPr marL="68580" marR="68580" marT="0" marB="0">
                    <a:lnB w="12700" cap="flat" cmpd="sng" algn="ctr">
                      <a:solidFill>
                        <a:schemeClr val="accent1"/>
                      </a:solidFill>
                      <a:prstDash val="solid"/>
                      <a:round/>
                      <a:headEnd type="none" w="med" len="med"/>
                      <a:tailEnd type="none" w="med" len="med"/>
                    </a:lnB>
                  </a:tcPr>
                </a:tc>
                <a:tc>
                  <a:txBody>
                    <a:bodyPr/>
                    <a:lstStyle/>
                    <a:p>
                      <a:pPr marL="0" algn="ctr" defTabSz="914400" rtl="0" eaLnBrk="1" latinLnBrk="0" hangingPunct="1">
                        <a:lnSpc>
                          <a:spcPct val="150000"/>
                        </a:lnSpc>
                        <a:buNone/>
                      </a:pPr>
                      <a:r>
                        <a:rPr lang="en-MY" sz="1200" b="1" kern="1200" dirty="0">
                          <a:solidFill>
                            <a:schemeClr val="lt1"/>
                          </a:solidFill>
                          <a:effectLst/>
                          <a:latin typeface="+mn-lt"/>
                          <a:ea typeface="Calibri" panose="020F0502020204030204" pitchFamily="34" charset="0"/>
                          <a:cs typeface="Arial" panose="020B0604020202020204" pitchFamily="34" charset="0"/>
                        </a:rPr>
                        <a:t>Accuracy</a:t>
                      </a:r>
                    </a:p>
                  </a:txBody>
                  <a:tcPr marL="68580" marR="68580" marT="0" marB="0">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286765864"/>
                  </a:ext>
                </a:extLst>
              </a:tr>
              <a:tr h="506750">
                <a:tc>
                  <a:txBody>
                    <a:bodyPr/>
                    <a:lstStyle/>
                    <a:p>
                      <a:pPr algn="ctr">
                        <a:lnSpc>
                          <a:spcPct val="150000"/>
                        </a:lnSpc>
                        <a:buNone/>
                      </a:pPr>
                      <a:r>
                        <a:rPr lang="en-MY" sz="1200" dirty="0">
                          <a:solidFill>
                            <a:schemeClr val="tx1"/>
                          </a:solidFill>
                          <a:effectLst/>
                          <a:latin typeface="+mn-lt"/>
                          <a:ea typeface="Calibri" panose="020F0502020204030204" pitchFamily="34" charset="0"/>
                          <a:cs typeface="Arial" panose="020B0604020202020204" pitchFamily="34" charset="0"/>
                        </a:rPr>
                        <a:t>Training Set</a:t>
                      </a: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4">
                        <a:lumMod val="20000"/>
                        <a:lumOff val="80000"/>
                      </a:schemeClr>
                    </a:solidFill>
                  </a:tcPr>
                </a:tc>
                <a:tc>
                  <a:txBody>
                    <a:bodyPr/>
                    <a:lstStyle/>
                    <a:p>
                      <a:pPr marL="0" algn="ctr" defTabSz="914400" rtl="0" eaLnBrk="1" latinLnBrk="0" hangingPunct="1">
                        <a:lnSpc>
                          <a:spcPct val="150000"/>
                        </a:lnSpc>
                        <a:buNone/>
                      </a:pPr>
                      <a:r>
                        <a:rPr lang="en-MY" sz="1200" b="0" kern="1200" dirty="0">
                          <a:solidFill>
                            <a:schemeClr val="tx1"/>
                          </a:solidFill>
                          <a:effectLst/>
                          <a:latin typeface="+mn-lt"/>
                          <a:ea typeface="Calibri" panose="020F0502020204030204" pitchFamily="34" charset="0"/>
                          <a:cs typeface="Arial" panose="020B0604020202020204" pitchFamily="34" charset="0"/>
                        </a:rPr>
                        <a:t>0.9978</a:t>
                      </a:r>
                    </a:p>
                  </a:txBody>
                  <a:tcPr marL="68580" marR="68580"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1.0000</a:t>
                      </a:r>
                    </a:p>
                  </a:txBody>
                  <a:tcPr marL="68580" marR="68580" marT="0"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0.9989</a:t>
                      </a:r>
                    </a:p>
                  </a:txBody>
                  <a:tcPr marL="68580" marR="68580" marT="0"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algn="ctr" defTabSz="914400" rtl="0" eaLnBrk="1" latinLnBrk="0" hangingPunct="1">
                        <a:lnSpc>
                          <a:spcPct val="150000"/>
                        </a:lnSpc>
                        <a:buNone/>
                      </a:pPr>
                      <a:r>
                        <a:rPr lang="en-MY" sz="1200" b="0" kern="1200" dirty="0">
                          <a:solidFill>
                            <a:schemeClr val="tx1"/>
                          </a:solidFill>
                          <a:effectLst/>
                          <a:latin typeface="+mn-lt"/>
                          <a:ea typeface="Calibri" panose="020F0502020204030204" pitchFamily="34" charset="0"/>
                          <a:cs typeface="Arial" panose="020B0604020202020204" pitchFamily="34" charset="0"/>
                        </a:rPr>
                        <a:t>1.0000</a:t>
                      </a:r>
                    </a:p>
                  </a:txBody>
                  <a:tcPr marL="68580" marR="68580"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513934009"/>
                  </a:ext>
                </a:extLst>
              </a:tr>
              <a:tr h="483716">
                <a:tc>
                  <a:txBody>
                    <a:bodyPr/>
                    <a:lstStyle/>
                    <a:p>
                      <a:pPr algn="ctr">
                        <a:lnSpc>
                          <a:spcPct val="150000"/>
                        </a:lnSpc>
                        <a:buNone/>
                      </a:pPr>
                      <a:r>
                        <a:rPr lang="en-MY" sz="1200" dirty="0">
                          <a:solidFill>
                            <a:schemeClr val="tx1"/>
                          </a:solidFill>
                          <a:effectLst/>
                          <a:latin typeface="+mn-lt"/>
                          <a:ea typeface="Calibri" panose="020F0502020204030204" pitchFamily="34" charset="0"/>
                          <a:cs typeface="Arial" panose="020B0604020202020204" pitchFamily="34" charset="0"/>
                        </a:rPr>
                        <a:t>Validation Set</a:t>
                      </a: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0.9185</a:t>
                      </a:r>
                    </a:p>
                  </a:txBody>
                  <a:tcPr marL="68580" marR="68580" marT="0" marB="0" anchor="ctr">
                    <a:lnL w="12700" cap="flat" cmpd="sng" algn="ctr">
                      <a:solidFill>
                        <a:schemeClr val="accent1"/>
                      </a:solidFill>
                      <a:prstDash val="solid"/>
                      <a:round/>
                      <a:headEnd type="none" w="med" len="med"/>
                      <a:tailEnd type="none" w="med" len="med"/>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0.7630</a:t>
                      </a:r>
                    </a:p>
                  </a:txBody>
                  <a:tcPr marL="68580" marR="6858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0.8336</a:t>
                      </a:r>
                    </a:p>
                  </a:txBody>
                  <a:tcPr marL="68580" marR="6858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lnSpc>
                          <a:spcPct val="150000"/>
                        </a:lnSpc>
                        <a:buNone/>
                      </a:pPr>
                      <a:r>
                        <a:rPr lang="en-MY" sz="1200" b="0" kern="1200" dirty="0">
                          <a:solidFill>
                            <a:schemeClr val="tx1"/>
                          </a:solidFill>
                          <a:effectLst/>
                          <a:latin typeface="+mn-lt"/>
                          <a:ea typeface="Calibri" panose="020F0502020204030204" pitchFamily="34" charset="0"/>
                          <a:cs typeface="Arial" panose="020B0604020202020204" pitchFamily="34" charset="0"/>
                        </a:rPr>
                        <a:t>0.9997</a:t>
                      </a:r>
                    </a:p>
                  </a:txBody>
                  <a:tcPr marL="68580" marR="68580" marT="0" marB="0" anchor="ctr">
                    <a:lnL w="12700" cmpd="sng">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3793190"/>
                  </a:ext>
                </a:extLst>
              </a:tr>
              <a:tr h="483716">
                <a:tc>
                  <a:txBody>
                    <a:bodyPr/>
                    <a:lstStyle/>
                    <a:p>
                      <a:pPr algn="ctr">
                        <a:lnSpc>
                          <a:spcPct val="150000"/>
                        </a:lnSpc>
                        <a:buNone/>
                      </a:pPr>
                      <a:r>
                        <a:rPr lang="en-MY" sz="1200" dirty="0">
                          <a:solidFill>
                            <a:schemeClr val="tx1"/>
                          </a:solidFill>
                          <a:effectLst/>
                          <a:latin typeface="+mn-lt"/>
                          <a:ea typeface="Calibri" panose="020F0502020204030204" pitchFamily="34" charset="0"/>
                          <a:cs typeface="Arial" panose="020B0604020202020204" pitchFamily="34" charset="0"/>
                        </a:rPr>
                        <a:t>Testing </a:t>
                      </a:r>
                    </a:p>
                    <a:p>
                      <a:pPr algn="ctr">
                        <a:lnSpc>
                          <a:spcPct val="150000"/>
                        </a:lnSpc>
                        <a:buNone/>
                      </a:pPr>
                      <a:r>
                        <a:rPr lang="en-MY" sz="1200" dirty="0">
                          <a:solidFill>
                            <a:schemeClr val="tx1"/>
                          </a:solidFill>
                          <a:effectLst/>
                          <a:latin typeface="+mn-lt"/>
                          <a:ea typeface="Calibri" panose="020F0502020204030204" pitchFamily="34" charset="0"/>
                          <a:cs typeface="Arial" panose="020B0604020202020204" pitchFamily="34" charset="0"/>
                        </a:rPr>
                        <a:t>Set</a:t>
                      </a: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4">
                        <a:lumMod val="60000"/>
                        <a:lumOff val="40000"/>
                      </a:schemeClr>
                    </a:solid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0.9113</a:t>
                      </a:r>
                    </a:p>
                  </a:txBody>
                  <a:tcPr marL="68580" marR="68580" marT="0" marB="0" anchor="ctr">
                    <a:lnL w="12700" cap="flat" cmpd="sng" algn="ctr">
                      <a:solidFill>
                        <a:schemeClr val="accent1"/>
                      </a:solidFill>
                      <a:prstDash val="solid"/>
                      <a:round/>
                      <a:headEnd type="none" w="med" len="med"/>
                      <a:tailEnd type="none" w="med" len="med"/>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0.7698</a:t>
                      </a:r>
                    </a:p>
                  </a:txBody>
                  <a:tcPr marL="68580" marR="6858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0.8346</a:t>
                      </a:r>
                    </a:p>
                  </a:txBody>
                  <a:tcPr marL="68580" marR="6858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lnSpc>
                          <a:spcPct val="150000"/>
                        </a:lnSpc>
                        <a:buNone/>
                      </a:pPr>
                      <a:r>
                        <a:rPr lang="en-MY" sz="1200" b="0" kern="1200" dirty="0">
                          <a:solidFill>
                            <a:schemeClr val="tx1"/>
                          </a:solidFill>
                          <a:effectLst/>
                          <a:latin typeface="+mn-lt"/>
                          <a:ea typeface="Calibri" panose="020F0502020204030204" pitchFamily="34" charset="0"/>
                          <a:cs typeface="Arial" panose="020B0604020202020204" pitchFamily="34" charset="0"/>
                        </a:rPr>
                        <a:t>0.9997</a:t>
                      </a:r>
                    </a:p>
                  </a:txBody>
                  <a:tcPr marL="68580" marR="68580" marT="0" marB="0" anchor="ctr">
                    <a:lnL w="12700" cmpd="sng">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7824514"/>
                  </a:ext>
                </a:extLst>
              </a:tr>
            </a:tbl>
          </a:graphicData>
        </a:graphic>
      </p:graphicFrame>
      <p:graphicFrame>
        <p:nvGraphicFramePr>
          <p:cNvPr id="12" name="Table 11">
            <a:extLst>
              <a:ext uri="{FF2B5EF4-FFF2-40B4-BE49-F238E27FC236}">
                <a16:creationId xmlns:a16="http://schemas.microsoft.com/office/drawing/2014/main" id="{B4F71024-21FF-44B0-4A36-361D066E885A}"/>
              </a:ext>
            </a:extLst>
          </p:cNvPr>
          <p:cNvGraphicFramePr>
            <a:graphicFrameLocks noGrp="1"/>
          </p:cNvGraphicFramePr>
          <p:nvPr>
            <p:extLst>
              <p:ext uri="{D42A27DB-BD31-4B8C-83A1-F6EECF244321}">
                <p14:modId xmlns:p14="http://schemas.microsoft.com/office/powerpoint/2010/main" val="32171502"/>
              </p:ext>
            </p:extLst>
          </p:nvPr>
        </p:nvGraphicFramePr>
        <p:xfrm>
          <a:off x="6096000" y="2485761"/>
          <a:ext cx="3816000" cy="1884957"/>
        </p:xfrm>
        <a:graphic>
          <a:graphicData uri="http://schemas.openxmlformats.org/drawingml/2006/table">
            <a:tbl>
              <a:tblPr firstRow="1" firstCol="1" bandRow="1">
                <a:tableStyleId>{5C22544A-7EE6-4342-B048-85BDC9FD1C3A}</a:tableStyleId>
              </a:tblPr>
              <a:tblGrid>
                <a:gridCol w="792000">
                  <a:extLst>
                    <a:ext uri="{9D8B030D-6E8A-4147-A177-3AD203B41FA5}">
                      <a16:colId xmlns:a16="http://schemas.microsoft.com/office/drawing/2014/main" val="3097662644"/>
                    </a:ext>
                  </a:extLst>
                </a:gridCol>
                <a:gridCol w="756000">
                  <a:extLst>
                    <a:ext uri="{9D8B030D-6E8A-4147-A177-3AD203B41FA5}">
                      <a16:colId xmlns:a16="http://schemas.microsoft.com/office/drawing/2014/main" val="1527001443"/>
                    </a:ext>
                  </a:extLst>
                </a:gridCol>
                <a:gridCol w="756000">
                  <a:extLst>
                    <a:ext uri="{9D8B030D-6E8A-4147-A177-3AD203B41FA5}">
                      <a16:colId xmlns:a16="http://schemas.microsoft.com/office/drawing/2014/main" val="2669806238"/>
                    </a:ext>
                  </a:extLst>
                </a:gridCol>
                <a:gridCol w="756000">
                  <a:extLst>
                    <a:ext uri="{9D8B030D-6E8A-4147-A177-3AD203B41FA5}">
                      <a16:colId xmlns:a16="http://schemas.microsoft.com/office/drawing/2014/main" val="4279104350"/>
                    </a:ext>
                  </a:extLst>
                </a:gridCol>
                <a:gridCol w="756000">
                  <a:extLst>
                    <a:ext uri="{9D8B030D-6E8A-4147-A177-3AD203B41FA5}">
                      <a16:colId xmlns:a16="http://schemas.microsoft.com/office/drawing/2014/main" val="374471500"/>
                    </a:ext>
                  </a:extLst>
                </a:gridCol>
              </a:tblGrid>
              <a:tr h="324000">
                <a:tc>
                  <a:txBody>
                    <a:bodyPr/>
                    <a:lstStyle/>
                    <a:p>
                      <a:pPr algn="ctr">
                        <a:lnSpc>
                          <a:spcPct val="150000"/>
                        </a:lnSpc>
                        <a:buNone/>
                      </a:pPr>
                      <a:endParaRPr lang="en-MY" sz="1200" dirty="0">
                        <a:effectLst/>
                        <a:latin typeface="+mn-lt"/>
                        <a:ea typeface="Calibri" panose="020F0502020204030204" pitchFamily="34" charset="0"/>
                        <a:cs typeface="Arial" panose="020B0604020202020204" pitchFamily="34" charset="0"/>
                      </a:endParaRPr>
                    </a:p>
                  </a:txBody>
                  <a:tcPr marL="68580" marR="68580" marT="0" marB="0" anchor="ctr">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Precision</a:t>
                      </a:r>
                    </a:p>
                  </a:txBody>
                  <a:tcPr marL="68580" marR="68580" marT="0" marB="0">
                    <a:lnB w="12700" cap="flat" cmpd="sng" algn="ctr">
                      <a:solidFill>
                        <a:schemeClr val="accent1"/>
                      </a:solidFill>
                      <a:prstDash val="solid"/>
                      <a:round/>
                      <a:headEnd type="none" w="med" len="med"/>
                      <a:tailEnd type="none" w="med" len="med"/>
                    </a:lnB>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Recall</a:t>
                      </a:r>
                    </a:p>
                  </a:txBody>
                  <a:tcPr marL="68580" marR="68580" marT="0" marB="0">
                    <a:lnB w="12700" cap="flat" cmpd="sng" algn="ctr">
                      <a:solidFill>
                        <a:schemeClr val="accent1"/>
                      </a:solidFill>
                      <a:prstDash val="solid"/>
                      <a:round/>
                      <a:headEnd type="none" w="med" len="med"/>
                      <a:tailEnd type="none" w="med" len="med"/>
                    </a:lnB>
                  </a:tcPr>
                </a:tc>
                <a:tc>
                  <a:txBody>
                    <a:bodyPr/>
                    <a:lstStyle/>
                    <a:p>
                      <a:pPr algn="ctr">
                        <a:lnSpc>
                          <a:spcPct val="150000"/>
                        </a:lnSpc>
                        <a:buNone/>
                      </a:pPr>
                      <a:r>
                        <a:rPr lang="en-MY" sz="1200" dirty="0">
                          <a:effectLst/>
                          <a:latin typeface="+mn-lt"/>
                          <a:ea typeface="Calibri" panose="020F0502020204030204" pitchFamily="34" charset="0"/>
                          <a:cs typeface="Arial" panose="020B0604020202020204" pitchFamily="34" charset="0"/>
                        </a:rPr>
                        <a:t>F1-Score</a:t>
                      </a:r>
                    </a:p>
                  </a:txBody>
                  <a:tcPr marL="68580" marR="68580" marT="0" marB="0">
                    <a:lnB w="12700" cap="flat" cmpd="sng" algn="ctr">
                      <a:solidFill>
                        <a:schemeClr val="accent1"/>
                      </a:solidFill>
                      <a:prstDash val="solid"/>
                      <a:round/>
                      <a:headEnd type="none" w="med" len="med"/>
                      <a:tailEnd type="none" w="med" len="med"/>
                    </a:lnB>
                  </a:tcPr>
                </a:tc>
                <a:tc>
                  <a:txBody>
                    <a:bodyPr/>
                    <a:lstStyle/>
                    <a:p>
                      <a:pPr marL="0" algn="ctr" defTabSz="914400" rtl="0" eaLnBrk="1" latinLnBrk="0" hangingPunct="1">
                        <a:lnSpc>
                          <a:spcPct val="150000"/>
                        </a:lnSpc>
                        <a:buNone/>
                      </a:pPr>
                      <a:r>
                        <a:rPr lang="en-MY" sz="1200" b="1" kern="1200" dirty="0">
                          <a:solidFill>
                            <a:schemeClr val="lt1"/>
                          </a:solidFill>
                          <a:effectLst/>
                          <a:latin typeface="+mn-lt"/>
                          <a:ea typeface="Calibri" panose="020F0502020204030204" pitchFamily="34" charset="0"/>
                          <a:cs typeface="Arial" panose="020B0604020202020204" pitchFamily="34" charset="0"/>
                        </a:rPr>
                        <a:t>Accuracy</a:t>
                      </a:r>
                    </a:p>
                  </a:txBody>
                  <a:tcPr marL="68580" marR="68580" marT="0" marB="0">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2286765864"/>
                  </a:ext>
                </a:extLst>
              </a:tr>
              <a:tr h="506750">
                <a:tc>
                  <a:txBody>
                    <a:bodyPr/>
                    <a:lstStyle/>
                    <a:p>
                      <a:pPr algn="ctr">
                        <a:lnSpc>
                          <a:spcPct val="150000"/>
                        </a:lnSpc>
                        <a:buNone/>
                      </a:pPr>
                      <a:r>
                        <a:rPr lang="en-MY" sz="1200" dirty="0">
                          <a:solidFill>
                            <a:schemeClr val="tx1"/>
                          </a:solidFill>
                          <a:effectLst/>
                          <a:latin typeface="+mn-lt"/>
                          <a:ea typeface="Calibri" panose="020F0502020204030204" pitchFamily="34" charset="0"/>
                          <a:cs typeface="Arial" panose="020B0604020202020204" pitchFamily="34" charset="0"/>
                        </a:rPr>
                        <a:t>Training Set</a:t>
                      </a: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4">
                        <a:lumMod val="20000"/>
                        <a:lumOff val="80000"/>
                      </a:schemeClr>
                    </a:solidFill>
                  </a:tcPr>
                </a:tc>
                <a:tc>
                  <a:txBody>
                    <a:bodyPr/>
                    <a:lstStyle/>
                    <a:p>
                      <a:pPr marL="0" algn="ctr" defTabSz="914400" rtl="0" eaLnBrk="1" latinLnBrk="0" hangingPunct="1">
                        <a:lnSpc>
                          <a:spcPct val="150000"/>
                        </a:lnSpc>
                        <a:buNone/>
                      </a:pPr>
                      <a:r>
                        <a:rPr lang="en-MY" sz="1200" b="0" kern="1200" dirty="0">
                          <a:solidFill>
                            <a:schemeClr val="tx1"/>
                          </a:solidFill>
                          <a:effectLst/>
                          <a:latin typeface="+mn-lt"/>
                          <a:ea typeface="Calibri" panose="020F0502020204030204" pitchFamily="34" charset="0"/>
                          <a:cs typeface="Arial" panose="020B0604020202020204" pitchFamily="34" charset="0"/>
                        </a:rPr>
                        <a:t>0.9340</a:t>
                      </a:r>
                    </a:p>
                  </a:txBody>
                  <a:tcPr marL="68580" marR="68580"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0.7138</a:t>
                      </a:r>
                    </a:p>
                  </a:txBody>
                  <a:tcPr marL="68580" marR="68580" marT="0"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0.8092</a:t>
                      </a:r>
                    </a:p>
                  </a:txBody>
                  <a:tcPr marL="68580" marR="68580" marT="0" marB="0" anchor="ct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algn="ctr" defTabSz="914400" rtl="0" eaLnBrk="1" latinLnBrk="0" hangingPunct="1">
                        <a:lnSpc>
                          <a:spcPct val="150000"/>
                        </a:lnSpc>
                        <a:buNone/>
                      </a:pPr>
                      <a:r>
                        <a:rPr lang="en-MY" sz="1200" b="0" kern="1200" dirty="0">
                          <a:solidFill>
                            <a:schemeClr val="tx1"/>
                          </a:solidFill>
                          <a:effectLst/>
                          <a:latin typeface="+mn-lt"/>
                          <a:ea typeface="Calibri" panose="020F0502020204030204" pitchFamily="34" charset="0"/>
                          <a:cs typeface="Arial" panose="020B0604020202020204" pitchFamily="34" charset="0"/>
                        </a:rPr>
                        <a:t>0.9997</a:t>
                      </a:r>
                    </a:p>
                  </a:txBody>
                  <a:tcPr marL="68580" marR="68580" marT="0" marB="0" anchor="ctr">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513934009"/>
                  </a:ext>
                </a:extLst>
              </a:tr>
              <a:tr h="483716">
                <a:tc>
                  <a:txBody>
                    <a:bodyPr/>
                    <a:lstStyle/>
                    <a:p>
                      <a:pPr algn="ctr">
                        <a:lnSpc>
                          <a:spcPct val="150000"/>
                        </a:lnSpc>
                        <a:buNone/>
                      </a:pPr>
                      <a:r>
                        <a:rPr lang="en-MY" sz="1200" dirty="0">
                          <a:solidFill>
                            <a:schemeClr val="tx1"/>
                          </a:solidFill>
                          <a:effectLst/>
                          <a:latin typeface="+mn-lt"/>
                          <a:ea typeface="Calibri" panose="020F0502020204030204" pitchFamily="34" charset="0"/>
                          <a:cs typeface="Arial" panose="020B0604020202020204" pitchFamily="34" charset="0"/>
                        </a:rPr>
                        <a:t>Validation Set</a:t>
                      </a: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4">
                        <a:lumMod val="40000"/>
                        <a:lumOff val="60000"/>
                      </a:schemeClr>
                    </a:solid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0.9236</a:t>
                      </a:r>
                    </a:p>
                  </a:txBody>
                  <a:tcPr marL="68580" marR="68580" marT="0" marB="0" anchor="ctr">
                    <a:lnL w="12700" cap="flat" cmpd="sng" algn="ctr">
                      <a:solidFill>
                        <a:schemeClr val="accent1"/>
                      </a:solidFill>
                      <a:prstDash val="solid"/>
                      <a:round/>
                      <a:headEnd type="none" w="med" len="med"/>
                      <a:tailEnd type="none" w="med" len="med"/>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0.7041</a:t>
                      </a:r>
                    </a:p>
                  </a:txBody>
                  <a:tcPr marL="68580" marR="6858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0.7991</a:t>
                      </a:r>
                    </a:p>
                  </a:txBody>
                  <a:tcPr marL="68580" marR="6858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lnSpc>
                          <a:spcPct val="150000"/>
                        </a:lnSpc>
                        <a:buNone/>
                      </a:pPr>
                      <a:r>
                        <a:rPr lang="en-MY" sz="1200" b="0" kern="1200" dirty="0">
                          <a:solidFill>
                            <a:schemeClr val="tx1"/>
                          </a:solidFill>
                          <a:effectLst/>
                          <a:latin typeface="+mn-lt"/>
                          <a:ea typeface="Calibri" panose="020F0502020204030204" pitchFamily="34" charset="0"/>
                          <a:cs typeface="Arial" panose="020B0604020202020204" pitchFamily="34" charset="0"/>
                        </a:rPr>
                        <a:t>0.9996</a:t>
                      </a:r>
                    </a:p>
                  </a:txBody>
                  <a:tcPr marL="68580" marR="68580" marT="0" marB="0" anchor="ctr">
                    <a:lnL w="12700" cmpd="sng">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3793190"/>
                  </a:ext>
                </a:extLst>
              </a:tr>
              <a:tr h="483716">
                <a:tc>
                  <a:txBody>
                    <a:bodyPr/>
                    <a:lstStyle/>
                    <a:p>
                      <a:pPr algn="ctr">
                        <a:lnSpc>
                          <a:spcPct val="150000"/>
                        </a:lnSpc>
                        <a:buNone/>
                      </a:pPr>
                      <a:r>
                        <a:rPr lang="en-MY" sz="1200" dirty="0">
                          <a:solidFill>
                            <a:schemeClr val="tx1"/>
                          </a:solidFill>
                          <a:effectLst/>
                          <a:latin typeface="+mn-lt"/>
                          <a:ea typeface="Calibri" panose="020F0502020204030204" pitchFamily="34" charset="0"/>
                          <a:cs typeface="Arial" panose="020B0604020202020204" pitchFamily="34" charset="0"/>
                        </a:rPr>
                        <a:t>Testing </a:t>
                      </a:r>
                    </a:p>
                    <a:p>
                      <a:pPr algn="ctr">
                        <a:lnSpc>
                          <a:spcPct val="150000"/>
                        </a:lnSpc>
                        <a:buNone/>
                      </a:pPr>
                      <a:r>
                        <a:rPr lang="en-MY" sz="1200" dirty="0">
                          <a:solidFill>
                            <a:schemeClr val="tx1"/>
                          </a:solidFill>
                          <a:effectLst/>
                          <a:latin typeface="+mn-lt"/>
                          <a:ea typeface="Calibri" panose="020F0502020204030204" pitchFamily="34" charset="0"/>
                          <a:cs typeface="Arial" panose="020B0604020202020204" pitchFamily="34" charset="0"/>
                        </a:rPr>
                        <a:t>Set</a:t>
                      </a:r>
                    </a:p>
                  </a:txBody>
                  <a:tcPr marL="68580" marR="68580"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4">
                        <a:lumMod val="60000"/>
                        <a:lumOff val="40000"/>
                      </a:schemeClr>
                    </a:solid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0.9261</a:t>
                      </a:r>
                    </a:p>
                  </a:txBody>
                  <a:tcPr marL="68580" marR="68580" marT="0" marB="0" anchor="ctr">
                    <a:lnL w="12700" cap="flat" cmpd="sng" algn="ctr">
                      <a:solidFill>
                        <a:schemeClr val="accent1"/>
                      </a:solidFill>
                      <a:prstDash val="solid"/>
                      <a:round/>
                      <a:headEnd type="none" w="med" len="med"/>
                      <a:tailEnd type="none" w="med" len="med"/>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0.6935</a:t>
                      </a:r>
                    </a:p>
                  </a:txBody>
                  <a:tcPr marL="68580" marR="6858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50000"/>
                        </a:lnSpc>
                        <a:buNone/>
                      </a:pPr>
                      <a:r>
                        <a:rPr lang="en-MY" sz="1200" b="0" dirty="0">
                          <a:solidFill>
                            <a:schemeClr val="tx1"/>
                          </a:solidFill>
                          <a:effectLst/>
                          <a:latin typeface="+mn-lt"/>
                          <a:ea typeface="Calibri" panose="020F0502020204030204" pitchFamily="34" charset="0"/>
                          <a:cs typeface="Arial" panose="020B0604020202020204" pitchFamily="34" charset="0"/>
                        </a:rPr>
                        <a:t>0.7931</a:t>
                      </a:r>
                    </a:p>
                  </a:txBody>
                  <a:tcPr marL="68580" marR="68580" marT="0" marB="0"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lnSpc>
                          <a:spcPct val="150000"/>
                        </a:lnSpc>
                        <a:buNone/>
                      </a:pPr>
                      <a:r>
                        <a:rPr lang="en-MY" sz="1200" b="0" kern="1200" dirty="0">
                          <a:solidFill>
                            <a:schemeClr val="tx1"/>
                          </a:solidFill>
                          <a:effectLst/>
                          <a:latin typeface="+mn-lt"/>
                          <a:ea typeface="Calibri" panose="020F0502020204030204" pitchFamily="34" charset="0"/>
                          <a:cs typeface="Arial" panose="020B0604020202020204" pitchFamily="34" charset="0"/>
                        </a:rPr>
                        <a:t>0.9996</a:t>
                      </a:r>
                    </a:p>
                  </a:txBody>
                  <a:tcPr marL="68580" marR="68580" marT="0" marB="0" anchor="ctr">
                    <a:lnL w="12700" cmpd="sng">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47824514"/>
                  </a:ext>
                </a:extLst>
              </a:tr>
            </a:tbl>
          </a:graphicData>
        </a:graphic>
      </p:graphicFrame>
      <p:sp>
        <p:nvSpPr>
          <p:cNvPr id="13" name="Google Shape;2020;p104">
            <a:extLst>
              <a:ext uri="{FF2B5EF4-FFF2-40B4-BE49-F238E27FC236}">
                <a16:creationId xmlns:a16="http://schemas.microsoft.com/office/drawing/2014/main" id="{176C046C-48F9-1425-4D4F-EE8E9E52AF45}"/>
              </a:ext>
            </a:extLst>
          </p:cNvPr>
          <p:cNvSpPr txBox="1"/>
          <p:nvPr/>
        </p:nvSpPr>
        <p:spPr>
          <a:xfrm>
            <a:off x="202137" y="4462088"/>
            <a:ext cx="4776347" cy="1666875"/>
          </a:xfrm>
          <a:prstGeom prst="rect">
            <a:avLst/>
          </a:prstGeom>
          <a:noFill/>
          <a:ln>
            <a:noFill/>
          </a:ln>
        </p:spPr>
        <p:txBody>
          <a:bodyPr spcFirstLastPara="1" wrap="square" lIns="121900" tIns="121900" rIns="121900" bIns="121900" anchor="ctr" anchorCtr="0">
            <a:noAutofit/>
          </a:bodyPr>
          <a:lstStyle/>
          <a:p>
            <a:pPr marL="171450" indent="-171450">
              <a:buFontTx/>
              <a:buChar char="-"/>
            </a:pPr>
            <a:r>
              <a:rPr lang="en-MY" sz="1200" dirty="0">
                <a:solidFill>
                  <a:schemeClr val="dk1"/>
                </a:solidFill>
                <a:sym typeface="Oswald"/>
              </a:rPr>
              <a:t>Nearly perfect performance in Training Set. </a:t>
            </a:r>
          </a:p>
          <a:p>
            <a:pPr marL="171450" indent="-171450">
              <a:buFontTx/>
              <a:buChar char="-"/>
            </a:pPr>
            <a:r>
              <a:rPr lang="en-MY" sz="1200" dirty="0">
                <a:solidFill>
                  <a:schemeClr val="dk1"/>
                </a:solidFill>
                <a:ea typeface="Oswald"/>
                <a:cs typeface="Oswald"/>
                <a:sym typeface="Oswald"/>
              </a:rPr>
              <a:t>Slightly lower performance in Validation &amp; Testing Set.</a:t>
            </a:r>
          </a:p>
          <a:p>
            <a:pPr marL="628650" lvl="1" indent="-171450">
              <a:buFontTx/>
              <a:buChar char="-"/>
            </a:pPr>
            <a:r>
              <a:rPr lang="en-MY" sz="1200" dirty="0">
                <a:solidFill>
                  <a:schemeClr val="dk1"/>
                </a:solidFill>
                <a:ea typeface="Oswald"/>
                <a:cs typeface="Oswald"/>
                <a:sym typeface="Oswald"/>
              </a:rPr>
              <a:t>Not much difference in the performance. </a:t>
            </a:r>
          </a:p>
          <a:p>
            <a:pPr marL="628650" lvl="1" indent="-171450">
              <a:buFontTx/>
              <a:buChar char="-"/>
            </a:pPr>
            <a:r>
              <a:rPr lang="en-MY" sz="1200" dirty="0">
                <a:solidFill>
                  <a:schemeClr val="dk1"/>
                </a:solidFill>
                <a:ea typeface="Oswald"/>
                <a:cs typeface="Oswald"/>
                <a:sym typeface="Oswald"/>
              </a:rPr>
              <a:t>Precision &gt; 0.91, Recall &gt; 0.76, F1-Score &gt; 0.83</a:t>
            </a:r>
          </a:p>
          <a:p>
            <a:pPr marL="628650" lvl="1" indent="-171450">
              <a:buFontTx/>
              <a:buChar char="-"/>
            </a:pPr>
            <a:r>
              <a:rPr lang="en-MY" sz="1200" dirty="0">
                <a:solidFill>
                  <a:schemeClr val="dk1"/>
                </a:solidFill>
                <a:ea typeface="Oswald"/>
                <a:cs typeface="Oswald"/>
                <a:sym typeface="Oswald"/>
              </a:rPr>
              <a:t>Effective in minimizing false alarms but less effective in capturing all suspicious transactions.</a:t>
            </a:r>
          </a:p>
          <a:p>
            <a:pPr marL="171450" indent="-171450">
              <a:buFontTx/>
              <a:buChar char="-"/>
            </a:pPr>
            <a:r>
              <a:rPr lang="en-MY" sz="1200" dirty="0">
                <a:solidFill>
                  <a:schemeClr val="dk1"/>
                </a:solidFill>
                <a:ea typeface="Oswald"/>
                <a:cs typeface="Oswald"/>
                <a:sym typeface="Oswald"/>
              </a:rPr>
              <a:t>Consistent and reliable result in validation and testing prove that the model can generalize well</a:t>
            </a:r>
          </a:p>
        </p:txBody>
      </p:sp>
      <p:sp>
        <p:nvSpPr>
          <p:cNvPr id="14" name="Google Shape;2020;p104">
            <a:extLst>
              <a:ext uri="{FF2B5EF4-FFF2-40B4-BE49-F238E27FC236}">
                <a16:creationId xmlns:a16="http://schemas.microsoft.com/office/drawing/2014/main" id="{6C389A21-EC5E-757B-4E0A-5B4106B93CB6}"/>
              </a:ext>
            </a:extLst>
          </p:cNvPr>
          <p:cNvSpPr txBox="1"/>
          <p:nvPr/>
        </p:nvSpPr>
        <p:spPr>
          <a:xfrm>
            <a:off x="5673201" y="4462088"/>
            <a:ext cx="4608000" cy="1289724"/>
          </a:xfrm>
          <a:prstGeom prst="rect">
            <a:avLst/>
          </a:prstGeom>
          <a:noFill/>
          <a:ln>
            <a:noFill/>
          </a:ln>
        </p:spPr>
        <p:txBody>
          <a:bodyPr spcFirstLastPara="1" wrap="square" lIns="121900" tIns="121900" rIns="121900" bIns="121900" anchor="ctr" anchorCtr="0">
            <a:noAutofit/>
          </a:bodyPr>
          <a:lstStyle/>
          <a:p>
            <a:pPr marL="171450" indent="-171450">
              <a:buFontTx/>
              <a:buChar char="-"/>
            </a:pPr>
            <a:r>
              <a:rPr lang="en-MY" sz="1200" dirty="0">
                <a:solidFill>
                  <a:schemeClr val="dk1"/>
                </a:solidFill>
                <a:ea typeface="Oswald"/>
                <a:cs typeface="Oswald"/>
                <a:sym typeface="Oswald"/>
              </a:rPr>
              <a:t>The model produced consistent result with minor variations throughout training until testing. Maintaining:</a:t>
            </a:r>
          </a:p>
          <a:p>
            <a:pPr marL="628650" lvl="1" indent="-171450">
              <a:buFontTx/>
              <a:buChar char="-"/>
            </a:pPr>
            <a:r>
              <a:rPr lang="en-MY" sz="1200" dirty="0">
                <a:solidFill>
                  <a:schemeClr val="dk1"/>
                </a:solidFill>
                <a:ea typeface="Oswald"/>
                <a:cs typeface="Oswald"/>
                <a:sym typeface="Oswald"/>
              </a:rPr>
              <a:t>Precision (0.92-0.93), Recall (0.69-0.71),F1-Score (0.79-0.80)</a:t>
            </a:r>
          </a:p>
          <a:p>
            <a:pPr marL="171450" indent="-171450">
              <a:buFontTx/>
              <a:buChar char="-"/>
            </a:pPr>
            <a:r>
              <a:rPr lang="en-MY" sz="1200" dirty="0">
                <a:solidFill>
                  <a:schemeClr val="dk1"/>
                </a:solidFill>
                <a:ea typeface="Oswald"/>
                <a:cs typeface="Oswald"/>
                <a:sym typeface="Oswald"/>
              </a:rPr>
              <a:t>Performs well in reducing false alarms but a bit struggle to capture all true suspicious (High Precision Low Recall)</a:t>
            </a:r>
          </a:p>
          <a:p>
            <a:pPr marL="171450" indent="-171450">
              <a:buFontTx/>
              <a:buChar char="-"/>
            </a:pPr>
            <a:r>
              <a:rPr lang="en-MY" sz="1200" dirty="0">
                <a:solidFill>
                  <a:schemeClr val="dk1"/>
                </a:solidFill>
                <a:ea typeface="Oswald"/>
                <a:cs typeface="Oswald"/>
                <a:sym typeface="Oswald"/>
              </a:rPr>
              <a:t>Model generalizes well and  not overfitting.</a:t>
            </a:r>
          </a:p>
        </p:txBody>
      </p:sp>
      <p:pic>
        <p:nvPicPr>
          <p:cNvPr id="19" name="Picture 18">
            <a:extLst>
              <a:ext uri="{FF2B5EF4-FFF2-40B4-BE49-F238E27FC236}">
                <a16:creationId xmlns:a16="http://schemas.microsoft.com/office/drawing/2014/main" id="{A0DD2D8D-3A72-2DAE-73EF-BF4D367542FB}"/>
              </a:ext>
            </a:extLst>
          </p:cNvPr>
          <p:cNvPicPr>
            <a:picLocks noChangeAspect="1"/>
          </p:cNvPicPr>
          <p:nvPr/>
        </p:nvPicPr>
        <p:blipFill>
          <a:blip r:embed="rId3"/>
          <a:stretch>
            <a:fillRect/>
          </a:stretch>
        </p:blipFill>
        <p:spPr>
          <a:xfrm>
            <a:off x="1812084" y="2136365"/>
            <a:ext cx="360000" cy="360000"/>
          </a:xfrm>
          <a:prstGeom prst="rect">
            <a:avLst/>
          </a:prstGeom>
          <a:effectLst>
            <a:innerShdw blurRad="63500" dist="50800" dir="16200000">
              <a:prstClr val="black">
                <a:alpha val="50000"/>
              </a:prstClr>
            </a:innerShdw>
          </a:effectLst>
        </p:spPr>
      </p:pic>
      <p:pic>
        <p:nvPicPr>
          <p:cNvPr id="24" name="Picture 23">
            <a:extLst>
              <a:ext uri="{FF2B5EF4-FFF2-40B4-BE49-F238E27FC236}">
                <a16:creationId xmlns:a16="http://schemas.microsoft.com/office/drawing/2014/main" id="{AA7F81EB-6A3C-51F9-ED3F-C898B1A094AA}"/>
              </a:ext>
            </a:extLst>
          </p:cNvPr>
          <p:cNvPicPr>
            <a:picLocks noChangeAspect="1"/>
          </p:cNvPicPr>
          <p:nvPr/>
        </p:nvPicPr>
        <p:blipFill>
          <a:blip r:embed="rId4"/>
          <a:stretch>
            <a:fillRect/>
          </a:stretch>
        </p:blipFill>
        <p:spPr>
          <a:xfrm>
            <a:off x="7787640" y="2141789"/>
            <a:ext cx="288000" cy="288000"/>
          </a:xfrm>
          <a:prstGeom prst="rect">
            <a:avLst/>
          </a:prstGeom>
          <a:effectLst>
            <a:innerShdw blurRad="63500" dist="50800" dir="16200000">
              <a:prstClr val="black">
                <a:alpha val="50000"/>
              </a:prstClr>
            </a:innerShdw>
          </a:effectLst>
        </p:spPr>
      </p:pic>
      <p:sp>
        <p:nvSpPr>
          <p:cNvPr id="25" name="Google Shape;2020;p104">
            <a:extLst>
              <a:ext uri="{FF2B5EF4-FFF2-40B4-BE49-F238E27FC236}">
                <a16:creationId xmlns:a16="http://schemas.microsoft.com/office/drawing/2014/main" id="{C5AB9640-C069-CFCB-CDC4-35C80ADF1268}"/>
              </a:ext>
            </a:extLst>
          </p:cNvPr>
          <p:cNvSpPr txBox="1"/>
          <p:nvPr/>
        </p:nvSpPr>
        <p:spPr>
          <a:xfrm>
            <a:off x="202137" y="6200269"/>
            <a:ext cx="10084864" cy="544992"/>
          </a:xfrm>
          <a:prstGeom prst="rect">
            <a:avLst/>
          </a:prstGeom>
          <a:solidFill>
            <a:schemeClr val="accent6">
              <a:lumMod val="60000"/>
              <a:lumOff val="40000"/>
            </a:schemeClr>
          </a:solidFill>
          <a:ln>
            <a:noFill/>
          </a:ln>
        </p:spPr>
        <p:txBody>
          <a:bodyPr spcFirstLastPara="1" wrap="square" lIns="121900" tIns="121900" rIns="121900" bIns="121900" anchor="ctr" anchorCtr="0">
            <a:noAutofit/>
          </a:bodyPr>
          <a:lstStyle/>
          <a:p>
            <a:pPr algn="ctr"/>
            <a:r>
              <a:rPr lang="en-MY" sz="1200" dirty="0">
                <a:solidFill>
                  <a:schemeClr val="bg1"/>
                </a:solidFill>
                <a:ea typeface="Oswald"/>
                <a:cs typeface="Oswald"/>
                <a:sym typeface="Oswald"/>
              </a:rPr>
              <a:t>Random Forest outperform </a:t>
            </a:r>
            <a:r>
              <a:rPr lang="en-MY" sz="1200" dirty="0" err="1">
                <a:solidFill>
                  <a:schemeClr val="bg1"/>
                </a:solidFill>
                <a:ea typeface="Oswald"/>
                <a:cs typeface="Oswald"/>
                <a:sym typeface="Oswald"/>
              </a:rPr>
              <a:t>XGBoost</a:t>
            </a:r>
            <a:r>
              <a:rPr lang="en-MY" sz="1200" dirty="0">
                <a:solidFill>
                  <a:schemeClr val="bg1"/>
                </a:solidFill>
                <a:ea typeface="Oswald"/>
                <a:cs typeface="Oswald"/>
                <a:sym typeface="Oswald"/>
              </a:rPr>
              <a:t> in terms of recall and F1 Score across validation and testing set. Hence, it becomes the preferred model since it offers overall effectiveness in detecting money laundering transactions</a:t>
            </a:r>
          </a:p>
        </p:txBody>
      </p:sp>
      <p:pic>
        <p:nvPicPr>
          <p:cNvPr id="28" name="Graphic 27" descr="Arrow: Straight with solid fill">
            <a:extLst>
              <a:ext uri="{FF2B5EF4-FFF2-40B4-BE49-F238E27FC236}">
                <a16:creationId xmlns:a16="http://schemas.microsoft.com/office/drawing/2014/main" id="{5C7DA425-0A49-9B13-34F6-0AC03DDCE1D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flipH="1">
            <a:off x="4945479" y="1302652"/>
            <a:ext cx="396000" cy="396000"/>
          </a:xfrm>
          <a:prstGeom prst="rect">
            <a:avLst/>
          </a:prstGeom>
          <a:effectLst>
            <a:outerShdw blurRad="50800" dist="38100" dir="5400000" algn="t" rotWithShape="0">
              <a:prstClr val="black">
                <a:alpha val="40000"/>
              </a:prstClr>
            </a:outerShdw>
          </a:effectLst>
        </p:spPr>
      </p:pic>
      <p:sp>
        <p:nvSpPr>
          <p:cNvPr id="30" name="Google Shape;1897;p101">
            <a:extLst>
              <a:ext uri="{FF2B5EF4-FFF2-40B4-BE49-F238E27FC236}">
                <a16:creationId xmlns:a16="http://schemas.microsoft.com/office/drawing/2014/main" id="{991E59DF-D4A4-FFD5-FCED-95D242E2C0F9}"/>
              </a:ext>
            </a:extLst>
          </p:cNvPr>
          <p:cNvSpPr txBox="1"/>
          <p:nvPr/>
        </p:nvSpPr>
        <p:spPr>
          <a:xfrm>
            <a:off x="5679000" y="1120886"/>
            <a:ext cx="4608000" cy="746625"/>
          </a:xfrm>
          <a:prstGeom prst="roundRect">
            <a:avLst/>
          </a:prstGeom>
          <a:solidFill>
            <a:schemeClr val="accent4">
              <a:lumMod val="60000"/>
              <a:lumOff val="40000"/>
            </a:schemeClr>
          </a:solidFill>
          <a:ln>
            <a:noFill/>
          </a:ln>
          <a:effectLst>
            <a:outerShdw blurRad="50800" dist="38100" dir="5400000" algn="t" rotWithShape="0">
              <a:prstClr val="black">
                <a:alpha val="40000"/>
              </a:prstClr>
            </a:outerShdw>
          </a:effectLst>
        </p:spPr>
        <p:txBody>
          <a:bodyPr spcFirstLastPara="1" wrap="square" lIns="91425" tIns="91425" rIns="91425" bIns="91425" anchor="b" anchorCtr="0">
            <a:noAutofit/>
          </a:bodyPr>
          <a:lstStyle/>
          <a:p>
            <a:pPr marL="0" lvl="0" indent="0" algn="ctr" rtl="0">
              <a:spcBef>
                <a:spcPts val="0"/>
              </a:spcBef>
              <a:spcAft>
                <a:spcPts val="0"/>
              </a:spcAft>
              <a:buNone/>
            </a:pPr>
            <a:r>
              <a:rPr lang="en-MY" sz="1400" b="1" dirty="0">
                <a:solidFill>
                  <a:srgbClr val="020304"/>
                </a:solidFill>
                <a:ea typeface="Oswald"/>
                <a:cs typeface="Oswald"/>
                <a:sym typeface="Oswald"/>
              </a:rPr>
              <a:t>Predict the Testing Set using </a:t>
            </a:r>
          </a:p>
          <a:p>
            <a:pPr marL="0" lvl="0" indent="0" algn="ctr" rtl="0">
              <a:spcBef>
                <a:spcPts val="0"/>
              </a:spcBef>
              <a:spcAft>
                <a:spcPts val="0"/>
              </a:spcAft>
              <a:buNone/>
            </a:pPr>
            <a:r>
              <a:rPr lang="en-MY" sz="1400" b="1" dirty="0">
                <a:solidFill>
                  <a:srgbClr val="020304"/>
                </a:solidFill>
                <a:ea typeface="Oswald"/>
                <a:cs typeface="Oswald"/>
                <a:sym typeface="Oswald"/>
              </a:rPr>
              <a:t>Best Probability Threshold</a:t>
            </a:r>
            <a:endParaRPr lang="de" sz="1400" b="1" dirty="0">
              <a:solidFill>
                <a:srgbClr val="020304"/>
              </a:solidFill>
              <a:ea typeface="Oswald"/>
              <a:cs typeface="Oswald"/>
              <a:sym typeface="Oswald"/>
            </a:endParaRPr>
          </a:p>
        </p:txBody>
      </p:sp>
      <p:sp>
        <p:nvSpPr>
          <p:cNvPr id="32" name="Google Shape;1897;p101">
            <a:extLst>
              <a:ext uri="{FF2B5EF4-FFF2-40B4-BE49-F238E27FC236}">
                <a16:creationId xmlns:a16="http://schemas.microsoft.com/office/drawing/2014/main" id="{0FFF7743-F522-C306-F647-19F5272EA17A}"/>
              </a:ext>
            </a:extLst>
          </p:cNvPr>
          <p:cNvSpPr txBox="1"/>
          <p:nvPr/>
        </p:nvSpPr>
        <p:spPr>
          <a:xfrm>
            <a:off x="4810138" y="2028075"/>
            <a:ext cx="1345650" cy="426987"/>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Final Result:</a:t>
            </a:r>
          </a:p>
        </p:txBody>
      </p:sp>
      <p:pic>
        <p:nvPicPr>
          <p:cNvPr id="35" name="Picture 34">
            <a:extLst>
              <a:ext uri="{FF2B5EF4-FFF2-40B4-BE49-F238E27FC236}">
                <a16:creationId xmlns:a16="http://schemas.microsoft.com/office/drawing/2014/main" id="{F4B7AAD3-7237-F590-0CAC-E1A28A414243}"/>
              </a:ext>
            </a:extLst>
          </p:cNvPr>
          <p:cNvPicPr>
            <a:picLocks noChangeAspect="1"/>
          </p:cNvPicPr>
          <p:nvPr/>
        </p:nvPicPr>
        <p:blipFill>
          <a:blip r:embed="rId7"/>
          <a:stretch>
            <a:fillRect/>
          </a:stretch>
        </p:blipFill>
        <p:spPr>
          <a:xfrm>
            <a:off x="4473697" y="1980300"/>
            <a:ext cx="401839" cy="401839"/>
          </a:xfrm>
          <a:prstGeom prst="rect">
            <a:avLst/>
          </a:prstGeom>
        </p:spPr>
      </p:pic>
      <p:cxnSp>
        <p:nvCxnSpPr>
          <p:cNvPr id="37" name="Straight Connector 36">
            <a:extLst>
              <a:ext uri="{FF2B5EF4-FFF2-40B4-BE49-F238E27FC236}">
                <a16:creationId xmlns:a16="http://schemas.microsoft.com/office/drawing/2014/main" id="{12F759E4-811D-19DB-1F43-7D4ABC8DCEA6}"/>
              </a:ext>
            </a:extLst>
          </p:cNvPr>
          <p:cNvCxnSpPr>
            <a:cxnSpLocks/>
          </p:cNvCxnSpPr>
          <p:nvPr/>
        </p:nvCxnSpPr>
        <p:spPr>
          <a:xfrm>
            <a:off x="5325842" y="2365611"/>
            <a:ext cx="0" cy="3816000"/>
          </a:xfrm>
          <a:prstGeom prst="line">
            <a:avLst/>
          </a:prstGeom>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5FAA6A3-42C8-F74D-3FB5-2681EB8252AB}"/>
              </a:ext>
            </a:extLst>
          </p:cNvPr>
          <p:cNvCxnSpPr>
            <a:cxnSpLocks/>
          </p:cNvCxnSpPr>
          <p:nvPr/>
        </p:nvCxnSpPr>
        <p:spPr>
          <a:xfrm rot="16200000">
            <a:off x="5314742" y="1560972"/>
            <a:ext cx="0" cy="1584000"/>
          </a:xfrm>
          <a:prstGeom prst="line">
            <a:avLst/>
          </a:prstGeom>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9" name="Google Shape;1897;p101">
            <a:extLst>
              <a:ext uri="{FF2B5EF4-FFF2-40B4-BE49-F238E27FC236}">
                <a16:creationId xmlns:a16="http://schemas.microsoft.com/office/drawing/2014/main" id="{0406425C-DE7D-ADBE-585C-FE547543625F}"/>
              </a:ext>
            </a:extLst>
          </p:cNvPr>
          <p:cNvSpPr txBox="1"/>
          <p:nvPr/>
        </p:nvSpPr>
        <p:spPr>
          <a:xfrm>
            <a:off x="2093519" y="2088843"/>
            <a:ext cx="1345650" cy="426987"/>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sz="1400" b="1" dirty="0">
                <a:solidFill>
                  <a:srgbClr val="020304"/>
                </a:solidFill>
                <a:ea typeface="Oswald"/>
                <a:cs typeface="Oswald"/>
                <a:sym typeface="Oswald"/>
              </a:rPr>
              <a:t>Random Forest</a:t>
            </a:r>
          </a:p>
        </p:txBody>
      </p:sp>
      <p:sp>
        <p:nvSpPr>
          <p:cNvPr id="40" name="Google Shape;1897;p101">
            <a:extLst>
              <a:ext uri="{FF2B5EF4-FFF2-40B4-BE49-F238E27FC236}">
                <a16:creationId xmlns:a16="http://schemas.microsoft.com/office/drawing/2014/main" id="{3AF5E7FD-8537-7601-CB88-DCE98452F226}"/>
              </a:ext>
            </a:extLst>
          </p:cNvPr>
          <p:cNvSpPr txBox="1"/>
          <p:nvPr/>
        </p:nvSpPr>
        <p:spPr>
          <a:xfrm>
            <a:off x="8008965" y="2069378"/>
            <a:ext cx="864835" cy="426987"/>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sz="1400" b="1" dirty="0">
                <a:solidFill>
                  <a:srgbClr val="020304"/>
                </a:solidFill>
                <a:ea typeface="Oswald"/>
                <a:cs typeface="Oswald"/>
                <a:sym typeface="Oswald"/>
              </a:rPr>
              <a:t>XGBoost</a:t>
            </a:r>
          </a:p>
        </p:txBody>
      </p:sp>
    </p:spTree>
    <p:extLst>
      <p:ext uri="{BB962C8B-B14F-4D97-AF65-F5344CB8AC3E}">
        <p14:creationId xmlns:p14="http://schemas.microsoft.com/office/powerpoint/2010/main" val="15982857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81">
          <a:extLst>
            <a:ext uri="{FF2B5EF4-FFF2-40B4-BE49-F238E27FC236}">
              <a16:creationId xmlns:a16="http://schemas.microsoft.com/office/drawing/2014/main" id="{D2CA9D5A-8753-CB7B-1755-AD1A28B69A18}"/>
            </a:ext>
          </a:extLst>
        </p:cNvPr>
        <p:cNvGrpSpPr/>
        <p:nvPr/>
      </p:nvGrpSpPr>
      <p:grpSpPr>
        <a:xfrm>
          <a:off x="0" y="0"/>
          <a:ext cx="0" cy="0"/>
          <a:chOff x="0" y="0"/>
          <a:chExt cx="0" cy="0"/>
        </a:xfrm>
      </p:grpSpPr>
      <p:sp>
        <p:nvSpPr>
          <p:cNvPr id="20" name="Rectangle: Rounded Corners 19">
            <a:extLst>
              <a:ext uri="{FF2B5EF4-FFF2-40B4-BE49-F238E27FC236}">
                <a16:creationId xmlns:a16="http://schemas.microsoft.com/office/drawing/2014/main" id="{6B3BF044-9392-C14E-F94E-F90B2D76DD35}"/>
              </a:ext>
            </a:extLst>
          </p:cNvPr>
          <p:cNvSpPr/>
          <p:nvPr/>
        </p:nvSpPr>
        <p:spPr>
          <a:xfrm>
            <a:off x="457200" y="2439609"/>
            <a:ext cx="5772150" cy="3618291"/>
          </a:xfrm>
          <a:prstGeom prst="roundRect">
            <a:avLst>
              <a:gd name="adj" fmla="val 4328"/>
            </a:avLst>
          </a:prstGeom>
          <a:solidFill>
            <a:schemeClr val="accent4">
              <a:lumMod val="20000"/>
              <a:lumOff val="80000"/>
            </a:schemeClr>
          </a:solid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 name="Rectangle 3">
            <a:extLst>
              <a:ext uri="{FF2B5EF4-FFF2-40B4-BE49-F238E27FC236}">
                <a16:creationId xmlns:a16="http://schemas.microsoft.com/office/drawing/2014/main" id="{319A371C-46DC-0EA5-EC2C-93ABE7317C74}"/>
              </a:ext>
            </a:extLst>
          </p:cNvPr>
          <p:cNvSpPr/>
          <p:nvPr/>
        </p:nvSpPr>
        <p:spPr>
          <a:xfrm>
            <a:off x="0" y="385235"/>
            <a:ext cx="10287000"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1">
            <a:extLst>
              <a:ext uri="{FF2B5EF4-FFF2-40B4-BE49-F238E27FC236}">
                <a16:creationId xmlns:a16="http://schemas.microsoft.com/office/drawing/2014/main" id="{F4A59ECB-EE14-CE10-0931-288A2E5B8C2D}"/>
              </a:ext>
            </a:extLst>
          </p:cNvPr>
          <p:cNvSpPr txBox="1">
            <a:spLocks/>
          </p:cNvSpPr>
          <p:nvPr/>
        </p:nvSpPr>
        <p:spPr>
          <a:xfrm>
            <a:off x="138814" y="448219"/>
            <a:ext cx="9786236" cy="44819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900" dirty="0">
                <a:solidFill>
                  <a:schemeClr val="bg1"/>
                </a:solidFill>
                <a:effectLst>
                  <a:outerShdw blurRad="38100" dist="38100" dir="2700000" algn="tl">
                    <a:srgbClr val="000000">
                      <a:alpha val="43137"/>
                    </a:srgbClr>
                  </a:outerShdw>
                </a:effectLst>
              </a:rPr>
              <a:t>FEATURE IMPORTANCE ANALYSIS BASED ON RANDOM FOREST</a:t>
            </a:r>
          </a:p>
        </p:txBody>
      </p:sp>
      <p:graphicFrame>
        <p:nvGraphicFramePr>
          <p:cNvPr id="6" name="Table 5">
            <a:extLst>
              <a:ext uri="{FF2B5EF4-FFF2-40B4-BE49-F238E27FC236}">
                <a16:creationId xmlns:a16="http://schemas.microsoft.com/office/drawing/2014/main" id="{08BEBB14-B585-2B6B-DF37-EA385F9D0867}"/>
              </a:ext>
            </a:extLst>
          </p:cNvPr>
          <p:cNvGraphicFramePr>
            <a:graphicFrameLocks noGrp="1"/>
          </p:cNvGraphicFramePr>
          <p:nvPr>
            <p:extLst>
              <p:ext uri="{D42A27DB-BD31-4B8C-83A1-F6EECF244321}">
                <p14:modId xmlns:p14="http://schemas.microsoft.com/office/powerpoint/2010/main" val="3350466903"/>
              </p:ext>
            </p:extLst>
          </p:nvPr>
        </p:nvGraphicFramePr>
        <p:xfrm>
          <a:off x="640714" y="2790754"/>
          <a:ext cx="3024000" cy="2916000"/>
        </p:xfrm>
        <a:graphic>
          <a:graphicData uri="http://schemas.openxmlformats.org/drawingml/2006/table">
            <a:tbl>
              <a:tblPr firstRow="1" firstCol="1" bandRow="1">
                <a:effectLst>
                  <a:outerShdw blurRad="50800" dist="38100" algn="l" rotWithShape="0">
                    <a:prstClr val="black">
                      <a:alpha val="40000"/>
                    </a:prstClr>
                  </a:outerShdw>
                </a:effectLst>
                <a:tableStyleId>{125E5076-3810-47DD-B79F-674D7AD40C01}</a:tableStyleId>
              </a:tblPr>
              <a:tblGrid>
                <a:gridCol w="1764000">
                  <a:extLst>
                    <a:ext uri="{9D8B030D-6E8A-4147-A177-3AD203B41FA5}">
                      <a16:colId xmlns:a16="http://schemas.microsoft.com/office/drawing/2014/main" val="755014123"/>
                    </a:ext>
                  </a:extLst>
                </a:gridCol>
                <a:gridCol w="1260000">
                  <a:extLst>
                    <a:ext uri="{9D8B030D-6E8A-4147-A177-3AD203B41FA5}">
                      <a16:colId xmlns:a16="http://schemas.microsoft.com/office/drawing/2014/main" val="2688733697"/>
                    </a:ext>
                  </a:extLst>
                </a:gridCol>
              </a:tblGrid>
              <a:tr h="324000">
                <a:tc>
                  <a:txBody>
                    <a:bodyPr/>
                    <a:lstStyle/>
                    <a:p>
                      <a:pPr algn="ctr">
                        <a:lnSpc>
                          <a:spcPct val="150000"/>
                        </a:lnSpc>
                        <a:buNone/>
                      </a:pPr>
                      <a:r>
                        <a:rPr lang="en-MY" sz="1200" dirty="0">
                          <a:effectLst/>
                        </a:rPr>
                        <a:t>Feature</a:t>
                      </a:r>
                      <a:endParaRPr lang="en-MY" sz="1200" dirty="0">
                        <a:effectLst/>
                        <a:latin typeface="Times New Roman" panose="02020603050405020304" pitchFamily="18" charset="0"/>
                        <a:ea typeface="Calibri" panose="020F0502020204030204" pitchFamily="34" charset="0"/>
                        <a:cs typeface="Arial" panose="020B0604020202020204" pitchFamily="34" charset="0"/>
                      </a:endParaRPr>
                    </a:p>
                  </a:txBody>
                  <a:tcPr marL="38738" marR="38738"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75000"/>
                      </a:schemeClr>
                    </a:solidFill>
                  </a:tcPr>
                </a:tc>
                <a:tc>
                  <a:txBody>
                    <a:bodyPr/>
                    <a:lstStyle/>
                    <a:p>
                      <a:pPr marL="0" algn="ctr" defTabSz="914400" rtl="0" eaLnBrk="1" latinLnBrk="0" hangingPunct="1">
                        <a:lnSpc>
                          <a:spcPct val="150000"/>
                        </a:lnSpc>
                        <a:buNone/>
                      </a:pPr>
                      <a:r>
                        <a:rPr lang="en-MY" sz="1200" b="1" kern="1200" dirty="0">
                          <a:solidFill>
                            <a:schemeClr val="lt1"/>
                          </a:solidFill>
                          <a:effectLst/>
                          <a:latin typeface="+mn-lt"/>
                          <a:ea typeface="+mn-ea"/>
                          <a:cs typeface="+mn-cs"/>
                        </a:rPr>
                        <a:t>Importance Score</a:t>
                      </a:r>
                      <a:endParaRPr sz="1200" b="1" kern="1200" dirty="0">
                        <a:solidFill>
                          <a:schemeClr val="lt1"/>
                        </a:solidFill>
                        <a:effectLst/>
                        <a:latin typeface="+mn-lt"/>
                        <a:ea typeface="+mn-ea"/>
                        <a:cs typeface="+mn-cs"/>
                      </a:endParaRPr>
                    </a:p>
                  </a:txBody>
                  <a:tcPr marL="38738" marR="38738" marT="0"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292688043"/>
                  </a:ext>
                </a:extLst>
              </a:tr>
              <a:tr h="288000">
                <a:tc>
                  <a:txBody>
                    <a:bodyPr/>
                    <a:lstStyle/>
                    <a:p>
                      <a:pPr>
                        <a:lnSpc>
                          <a:spcPct val="150000"/>
                        </a:lnSpc>
                        <a:buNone/>
                      </a:pPr>
                      <a:r>
                        <a:rPr lang="en-US" sz="1200" dirty="0">
                          <a:solidFill>
                            <a:schemeClr val="tx1"/>
                          </a:solidFill>
                          <a:effectLst/>
                        </a:rPr>
                        <a:t>1. </a:t>
                      </a:r>
                      <a:r>
                        <a:rPr lang="en-US" sz="1200" dirty="0" err="1">
                          <a:solidFill>
                            <a:schemeClr val="tx1"/>
                          </a:solidFill>
                          <a:effectLst/>
                        </a:rPr>
                        <a:t>Laundering_Structure</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0.4666</a:t>
                      </a: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032853515"/>
                  </a:ext>
                </a:extLst>
              </a:tr>
              <a:tr h="288000">
                <a:tc>
                  <a:txBody>
                    <a:bodyPr/>
                    <a:lstStyle/>
                    <a:p>
                      <a:pPr>
                        <a:lnSpc>
                          <a:spcPct val="150000"/>
                        </a:lnSpc>
                        <a:buNone/>
                      </a:pPr>
                      <a:r>
                        <a:rPr lang="en-US" sz="1200" dirty="0">
                          <a:solidFill>
                            <a:schemeClr val="tx1"/>
                          </a:solidFill>
                          <a:effectLst/>
                        </a:rPr>
                        <a:t>2. Amount</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0.1413</a:t>
                      </a: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4016801435"/>
                  </a:ext>
                </a:extLst>
              </a:tr>
              <a:tr h="288000">
                <a:tc>
                  <a:txBody>
                    <a:bodyPr/>
                    <a:lstStyle/>
                    <a:p>
                      <a:pPr>
                        <a:lnSpc>
                          <a:spcPct val="150000"/>
                        </a:lnSpc>
                        <a:buNone/>
                      </a:pPr>
                      <a:r>
                        <a:rPr lang="en-US" sz="1200" dirty="0">
                          <a:solidFill>
                            <a:schemeClr val="tx1"/>
                          </a:solidFill>
                          <a:effectLst/>
                        </a:rPr>
                        <a:t>3. </a:t>
                      </a:r>
                      <a:r>
                        <a:rPr lang="en-US" sz="1200" dirty="0" err="1">
                          <a:solidFill>
                            <a:schemeClr val="tx1"/>
                          </a:solidFill>
                          <a:effectLst/>
                        </a:rPr>
                        <a:t>Avg_Amount_Sent</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0.1386</a:t>
                      </a: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78372968"/>
                  </a:ext>
                </a:extLst>
              </a:tr>
              <a:tr h="288000">
                <a:tc>
                  <a:txBody>
                    <a:bodyPr/>
                    <a:lstStyle/>
                    <a:p>
                      <a:pPr>
                        <a:lnSpc>
                          <a:spcPct val="150000"/>
                        </a:lnSpc>
                        <a:buNone/>
                      </a:pPr>
                      <a:r>
                        <a:rPr lang="en-US" sz="1200" dirty="0">
                          <a:solidFill>
                            <a:schemeClr val="tx1"/>
                          </a:solidFill>
                          <a:effectLst/>
                        </a:rPr>
                        <a:t>4. </a:t>
                      </a:r>
                      <a:r>
                        <a:rPr lang="en-US" sz="1200" dirty="0" err="1">
                          <a:solidFill>
                            <a:schemeClr val="tx1"/>
                          </a:solidFill>
                          <a:effectLst/>
                        </a:rPr>
                        <a:t>Tx_Interval</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0.1143</a:t>
                      </a: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110782998"/>
                  </a:ext>
                </a:extLst>
              </a:tr>
              <a:tr h="288000">
                <a:tc>
                  <a:txBody>
                    <a:bodyPr/>
                    <a:lstStyle/>
                    <a:p>
                      <a:pPr>
                        <a:lnSpc>
                          <a:spcPct val="150000"/>
                        </a:lnSpc>
                        <a:buNone/>
                      </a:pPr>
                      <a:r>
                        <a:rPr lang="en-US" sz="1200" dirty="0">
                          <a:solidFill>
                            <a:schemeClr val="tx1"/>
                          </a:solidFill>
                          <a:effectLst/>
                        </a:rPr>
                        <a:t>5. </a:t>
                      </a:r>
                      <a:r>
                        <a:rPr lang="en-US" sz="1200" dirty="0" err="1">
                          <a:solidFill>
                            <a:schemeClr val="tx1"/>
                          </a:solidFill>
                          <a:effectLst/>
                        </a:rPr>
                        <a:t>Payment_type</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0.0710</a:t>
                      </a: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23078648"/>
                  </a:ext>
                </a:extLst>
              </a:tr>
              <a:tr h="288000">
                <a:tc>
                  <a:txBody>
                    <a:bodyPr/>
                    <a:lstStyle/>
                    <a:p>
                      <a:pPr>
                        <a:lnSpc>
                          <a:spcPct val="150000"/>
                        </a:lnSpc>
                        <a:buNone/>
                      </a:pPr>
                      <a:r>
                        <a:rPr lang="en-US" sz="1200" dirty="0">
                          <a:solidFill>
                            <a:schemeClr val="tx1"/>
                          </a:solidFill>
                          <a:effectLst/>
                        </a:rPr>
                        <a:t>6. </a:t>
                      </a:r>
                      <a:r>
                        <a:rPr lang="en-US" sz="1200" dirty="0" err="1">
                          <a:solidFill>
                            <a:schemeClr val="tx1"/>
                          </a:solidFill>
                          <a:effectLst/>
                        </a:rPr>
                        <a:t>Pair_bank_location</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0.0291</a:t>
                      </a: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939047118"/>
                  </a:ext>
                </a:extLst>
              </a:tr>
              <a:tr h="288000">
                <a:tc>
                  <a:txBody>
                    <a:bodyPr/>
                    <a:lstStyle/>
                    <a:p>
                      <a:pPr>
                        <a:lnSpc>
                          <a:spcPct val="150000"/>
                        </a:lnSpc>
                        <a:buNone/>
                      </a:pPr>
                      <a:r>
                        <a:rPr lang="en-US" sz="1200" dirty="0">
                          <a:solidFill>
                            <a:schemeClr val="tx1"/>
                          </a:solidFill>
                          <a:effectLst/>
                        </a:rPr>
                        <a:t>7. </a:t>
                      </a:r>
                      <a:r>
                        <a:rPr lang="en-US" sz="1200" dirty="0" err="1">
                          <a:solidFill>
                            <a:schemeClr val="tx1"/>
                          </a:solidFill>
                          <a:effectLst/>
                        </a:rPr>
                        <a:t>Tx_per_Day</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0.0253</a:t>
                      </a: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567558525"/>
                  </a:ext>
                </a:extLst>
              </a:tr>
              <a:tr h="288000">
                <a:tc>
                  <a:txBody>
                    <a:bodyPr/>
                    <a:lstStyle/>
                    <a:p>
                      <a:pPr>
                        <a:lnSpc>
                          <a:spcPct val="150000"/>
                        </a:lnSpc>
                        <a:buNone/>
                      </a:pPr>
                      <a:r>
                        <a:rPr lang="en-US" sz="1200" dirty="0">
                          <a:solidFill>
                            <a:schemeClr val="tx1"/>
                          </a:solidFill>
                          <a:effectLst/>
                        </a:rPr>
                        <a:t>8. </a:t>
                      </a:r>
                      <a:r>
                        <a:rPr lang="en-US" sz="1200" dirty="0" err="1">
                          <a:solidFill>
                            <a:schemeClr val="tx1"/>
                          </a:solidFill>
                          <a:effectLst/>
                        </a:rPr>
                        <a:t>Is_Weekend</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0.0079</a:t>
                      </a: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3163566485"/>
                  </a:ext>
                </a:extLst>
              </a:tr>
              <a:tr h="288000">
                <a:tc>
                  <a:txBody>
                    <a:bodyPr/>
                    <a:lstStyle/>
                    <a:p>
                      <a:pPr>
                        <a:lnSpc>
                          <a:spcPct val="150000"/>
                        </a:lnSpc>
                        <a:buNone/>
                      </a:pPr>
                      <a:r>
                        <a:rPr lang="en-US" sz="1200" dirty="0">
                          <a:solidFill>
                            <a:schemeClr val="tx1"/>
                          </a:solidFill>
                          <a:effectLst/>
                        </a:rPr>
                        <a:t>9. </a:t>
                      </a:r>
                      <a:r>
                        <a:rPr lang="en-US" sz="1200" dirty="0" err="1">
                          <a:solidFill>
                            <a:schemeClr val="tx1"/>
                          </a:solidFill>
                          <a:effectLst/>
                        </a:rPr>
                        <a:t>TimeOfDay</a:t>
                      </a:r>
                      <a:endPar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b">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algn="ctr">
                        <a:lnSpc>
                          <a:spcPct val="150000"/>
                        </a:lnSpc>
                        <a:buNone/>
                      </a:pPr>
                      <a:r>
                        <a:rPr lang="en-MY" sz="1200" dirty="0">
                          <a:solidFill>
                            <a:schemeClr val="tx1"/>
                          </a:solidFill>
                          <a:effectLst/>
                          <a:latin typeface="Times New Roman" panose="02020603050405020304" pitchFamily="18" charset="0"/>
                          <a:ea typeface="Calibri" panose="020F0502020204030204" pitchFamily="34" charset="0"/>
                          <a:cs typeface="Arial" panose="020B0604020202020204" pitchFamily="34" charset="0"/>
                        </a:rPr>
                        <a:t>0.0059</a:t>
                      </a:r>
                    </a:p>
                  </a:txBody>
                  <a:tcPr marL="38738" marR="38738" marT="0" marB="0" anchor="ctr">
                    <a:lnL w="12700" cap="flat" cmpd="sng" algn="ctr">
                      <a:solidFill>
                        <a:schemeClr val="accent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79424863"/>
                  </a:ext>
                </a:extLst>
              </a:tr>
            </a:tbl>
          </a:graphicData>
        </a:graphic>
      </p:graphicFrame>
      <p:sp>
        <p:nvSpPr>
          <p:cNvPr id="8" name="Google Shape;1281;p68">
            <a:extLst>
              <a:ext uri="{FF2B5EF4-FFF2-40B4-BE49-F238E27FC236}">
                <a16:creationId xmlns:a16="http://schemas.microsoft.com/office/drawing/2014/main" id="{4235DC59-ADB7-4C57-47B8-45DC7011F0AF}"/>
              </a:ext>
            </a:extLst>
          </p:cNvPr>
          <p:cNvSpPr txBox="1">
            <a:spLocks/>
          </p:cNvSpPr>
          <p:nvPr/>
        </p:nvSpPr>
        <p:spPr>
          <a:xfrm>
            <a:off x="370714" y="1330005"/>
            <a:ext cx="9916286" cy="723634"/>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1450" indent="-171450">
              <a:buFontTx/>
              <a:buChar char="-"/>
            </a:pPr>
            <a:r>
              <a:rPr lang="de-DE" dirty="0">
                <a:latin typeface="+mn-lt"/>
              </a:rPr>
              <a:t>Represents the contributions of each feature to the model‘s predictions. </a:t>
            </a:r>
          </a:p>
          <a:p>
            <a:pPr marL="171450" indent="-171450">
              <a:buFontTx/>
              <a:buChar char="-"/>
            </a:pPr>
            <a:r>
              <a:rPr lang="de-DE" dirty="0">
                <a:latin typeface="+mn-lt"/>
              </a:rPr>
              <a:t>In Random Forest, it is calculated based on how much each feature decreases the Gini impurity across all decision trees.</a:t>
            </a:r>
          </a:p>
          <a:p>
            <a:pPr marL="171450" indent="-171450">
              <a:buFontTx/>
              <a:buChar char="-"/>
            </a:pPr>
            <a:r>
              <a:rPr lang="de-DE" dirty="0">
                <a:latin typeface="+mn-lt"/>
              </a:rPr>
              <a:t>Features that consistently create better split have higher importance score. </a:t>
            </a:r>
          </a:p>
        </p:txBody>
      </p:sp>
      <p:sp>
        <p:nvSpPr>
          <p:cNvPr id="9" name="Google Shape;1897;p101">
            <a:extLst>
              <a:ext uri="{FF2B5EF4-FFF2-40B4-BE49-F238E27FC236}">
                <a16:creationId xmlns:a16="http://schemas.microsoft.com/office/drawing/2014/main" id="{DCE0CEF2-6105-D49E-DC9A-AD102C225F09}"/>
              </a:ext>
            </a:extLst>
          </p:cNvPr>
          <p:cNvSpPr txBox="1"/>
          <p:nvPr/>
        </p:nvSpPr>
        <p:spPr>
          <a:xfrm>
            <a:off x="4132736" y="3021063"/>
            <a:ext cx="2181118" cy="426987"/>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sz="1400" b="1" dirty="0">
                <a:solidFill>
                  <a:srgbClr val="00B050"/>
                </a:solidFill>
                <a:ea typeface="Oswald"/>
                <a:cs typeface="Oswald"/>
                <a:sym typeface="Oswald"/>
              </a:rPr>
              <a:t>Most Influential Features</a:t>
            </a:r>
          </a:p>
        </p:txBody>
      </p:sp>
      <p:sp>
        <p:nvSpPr>
          <p:cNvPr id="10" name="Google Shape;1897;p101">
            <a:extLst>
              <a:ext uri="{FF2B5EF4-FFF2-40B4-BE49-F238E27FC236}">
                <a16:creationId xmlns:a16="http://schemas.microsoft.com/office/drawing/2014/main" id="{F4BF988D-EC3F-86F2-4A41-3AD179EEFE17}"/>
              </a:ext>
            </a:extLst>
          </p:cNvPr>
          <p:cNvSpPr txBox="1"/>
          <p:nvPr/>
        </p:nvSpPr>
        <p:spPr>
          <a:xfrm>
            <a:off x="4132736" y="5314501"/>
            <a:ext cx="2181118" cy="426987"/>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sz="1400" b="1" dirty="0">
                <a:solidFill>
                  <a:schemeClr val="accent1"/>
                </a:solidFill>
                <a:ea typeface="Oswald"/>
                <a:cs typeface="Oswald"/>
                <a:sym typeface="Oswald"/>
              </a:rPr>
              <a:t>Least Influential Features</a:t>
            </a:r>
          </a:p>
        </p:txBody>
      </p:sp>
      <p:sp>
        <p:nvSpPr>
          <p:cNvPr id="11" name="Google Shape;2020;p104">
            <a:extLst>
              <a:ext uri="{FF2B5EF4-FFF2-40B4-BE49-F238E27FC236}">
                <a16:creationId xmlns:a16="http://schemas.microsoft.com/office/drawing/2014/main" id="{CCD3A0A2-51A4-A70B-9048-183EBAD1FB80}"/>
              </a:ext>
            </a:extLst>
          </p:cNvPr>
          <p:cNvSpPr txBox="1"/>
          <p:nvPr/>
        </p:nvSpPr>
        <p:spPr>
          <a:xfrm>
            <a:off x="6709854" y="3429000"/>
            <a:ext cx="4841432" cy="1214489"/>
          </a:xfrm>
          <a:prstGeom prst="rect">
            <a:avLst/>
          </a:prstGeom>
          <a:solidFill>
            <a:schemeClr val="accent6">
              <a:lumMod val="60000"/>
              <a:lumOff val="40000"/>
            </a:schemeClr>
          </a:solidFill>
          <a:ln>
            <a:noFill/>
          </a:ln>
          <a:effectLst>
            <a:outerShdw blurRad="50800" dist="38100" dir="5400000" algn="t" rotWithShape="0">
              <a:prstClr val="black">
                <a:alpha val="40000"/>
              </a:prstClr>
            </a:outerShdw>
          </a:effectLst>
        </p:spPr>
        <p:txBody>
          <a:bodyPr spcFirstLastPara="1" wrap="square" lIns="121900" tIns="121900" rIns="121900" bIns="121900" anchor="ctr" anchorCtr="0">
            <a:noAutofit/>
          </a:bodyPr>
          <a:lstStyle/>
          <a:p>
            <a:pPr algn="ctr"/>
            <a:r>
              <a:rPr lang="en-MY" sz="1200" dirty="0">
                <a:solidFill>
                  <a:schemeClr val="bg1"/>
                </a:solidFill>
                <a:ea typeface="Oswald"/>
                <a:cs typeface="Oswald"/>
                <a:sym typeface="Oswald"/>
              </a:rPr>
              <a:t>Random Forest is most sensitive to structural and monetary characteristics of transactions while temporal features  have lesser contribution to the overall prediction. </a:t>
            </a:r>
          </a:p>
          <a:p>
            <a:pPr algn="ctr"/>
            <a:endParaRPr lang="en-MY" sz="1200" dirty="0">
              <a:solidFill>
                <a:schemeClr val="bg1"/>
              </a:solidFill>
              <a:ea typeface="Oswald"/>
              <a:cs typeface="Oswald"/>
              <a:sym typeface="Oswald"/>
            </a:endParaRPr>
          </a:p>
          <a:p>
            <a:pPr algn="ctr"/>
            <a:r>
              <a:rPr lang="en-MY" sz="1200" dirty="0">
                <a:solidFill>
                  <a:schemeClr val="bg1"/>
                </a:solidFill>
                <a:ea typeface="Oswald"/>
                <a:cs typeface="Oswald"/>
                <a:sym typeface="Oswald"/>
              </a:rPr>
              <a:t>It corresponds with expectation in money laundering where structuring and manipulation of transaction value are key red flags</a:t>
            </a:r>
          </a:p>
        </p:txBody>
      </p:sp>
      <p:pic>
        <p:nvPicPr>
          <p:cNvPr id="15" name="Graphic 14" descr="Arrow: Straight with solid fill">
            <a:extLst>
              <a:ext uri="{FF2B5EF4-FFF2-40B4-BE49-F238E27FC236}">
                <a16:creationId xmlns:a16="http://schemas.microsoft.com/office/drawing/2014/main" id="{DE1D834D-A244-0B6E-452F-59D56BA0604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36736" y="3052050"/>
            <a:ext cx="396000" cy="396000"/>
          </a:xfrm>
          <a:prstGeom prst="rect">
            <a:avLst/>
          </a:prstGeom>
          <a:effectLst>
            <a:outerShdw blurRad="50800" dist="38100" dir="5400000" algn="t" rotWithShape="0">
              <a:prstClr val="black">
                <a:alpha val="40000"/>
              </a:prstClr>
            </a:outerShdw>
          </a:effectLst>
        </p:spPr>
      </p:pic>
      <p:pic>
        <p:nvPicPr>
          <p:cNvPr id="16" name="Graphic 15" descr="Arrow: Straight with solid fill">
            <a:extLst>
              <a:ext uri="{FF2B5EF4-FFF2-40B4-BE49-F238E27FC236}">
                <a16:creationId xmlns:a16="http://schemas.microsoft.com/office/drawing/2014/main" id="{77D07FE4-2786-2746-5F0B-D45C01F104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53809" y="5329995"/>
            <a:ext cx="396000" cy="3960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F9F6D4F4-E691-E7DE-EB4A-7BC3B692128A}"/>
              </a:ext>
            </a:extLst>
          </p:cNvPr>
          <p:cNvPicPr>
            <a:picLocks noChangeAspect="1"/>
          </p:cNvPicPr>
          <p:nvPr/>
        </p:nvPicPr>
        <p:blipFill>
          <a:blip r:embed="rId5"/>
          <a:stretch>
            <a:fillRect/>
          </a:stretch>
        </p:blipFill>
        <p:spPr>
          <a:xfrm>
            <a:off x="100714" y="1007019"/>
            <a:ext cx="540000" cy="540000"/>
          </a:xfrm>
          <a:prstGeom prst="rect">
            <a:avLst/>
          </a:prstGeom>
        </p:spPr>
      </p:pic>
      <p:sp>
        <p:nvSpPr>
          <p:cNvPr id="18" name="Google Shape;1897;p101">
            <a:extLst>
              <a:ext uri="{FF2B5EF4-FFF2-40B4-BE49-F238E27FC236}">
                <a16:creationId xmlns:a16="http://schemas.microsoft.com/office/drawing/2014/main" id="{6CF22E54-CE00-995A-5E7B-BA604CD0B375}"/>
              </a:ext>
            </a:extLst>
          </p:cNvPr>
          <p:cNvSpPr txBox="1"/>
          <p:nvPr/>
        </p:nvSpPr>
        <p:spPr>
          <a:xfrm>
            <a:off x="557062" y="1092359"/>
            <a:ext cx="2988311" cy="426987"/>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Feature Importance</a:t>
            </a:r>
          </a:p>
        </p:txBody>
      </p:sp>
      <p:pic>
        <p:nvPicPr>
          <p:cNvPr id="21" name="Picture 20">
            <a:extLst>
              <a:ext uri="{FF2B5EF4-FFF2-40B4-BE49-F238E27FC236}">
                <a16:creationId xmlns:a16="http://schemas.microsoft.com/office/drawing/2014/main" id="{21405E47-DAA7-F027-9A85-EAC119BB516B}"/>
              </a:ext>
            </a:extLst>
          </p:cNvPr>
          <p:cNvPicPr>
            <a:picLocks noChangeAspect="1"/>
          </p:cNvPicPr>
          <p:nvPr/>
        </p:nvPicPr>
        <p:blipFill>
          <a:blip r:embed="rId6"/>
          <a:stretch>
            <a:fillRect/>
          </a:stretch>
        </p:blipFill>
        <p:spPr>
          <a:xfrm>
            <a:off x="6439854" y="3250050"/>
            <a:ext cx="540000" cy="5400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6342500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12E3A-AAD4-0C48-CAF0-9E001AD07BD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5BE4AEE-EEC7-0BB6-62DD-A7BDD2B1C01D}"/>
              </a:ext>
            </a:extLst>
          </p:cNvPr>
          <p:cNvSpPr txBox="1"/>
          <p:nvPr/>
        </p:nvSpPr>
        <p:spPr>
          <a:xfrm>
            <a:off x="4180114" y="2641219"/>
            <a:ext cx="5943600" cy="461665"/>
          </a:xfrm>
          <a:prstGeom prst="rect">
            <a:avLst/>
          </a:prstGeom>
          <a:noFill/>
        </p:spPr>
        <p:txBody>
          <a:bodyPr wrap="square" rtlCol="0">
            <a:spAutoFit/>
          </a:bodyPr>
          <a:lstStyle/>
          <a:p>
            <a:r>
              <a:rPr lang="en-MY" sz="2400" spc="300" dirty="0">
                <a:solidFill>
                  <a:schemeClr val="tx1">
                    <a:lumMod val="75000"/>
                    <a:lumOff val="25000"/>
                  </a:schemeClr>
                </a:solidFill>
                <a:effectLst>
                  <a:innerShdw blurRad="114300">
                    <a:prstClr val="black"/>
                  </a:innerShdw>
                </a:effectLst>
              </a:rPr>
              <a:t>CHAPTER 6</a:t>
            </a:r>
          </a:p>
        </p:txBody>
      </p:sp>
      <p:sp>
        <p:nvSpPr>
          <p:cNvPr id="4" name="TextBox 3">
            <a:extLst>
              <a:ext uri="{FF2B5EF4-FFF2-40B4-BE49-F238E27FC236}">
                <a16:creationId xmlns:a16="http://schemas.microsoft.com/office/drawing/2014/main" id="{57A74E09-29C5-D3B0-8511-AB8BA8ED9742}"/>
              </a:ext>
            </a:extLst>
          </p:cNvPr>
          <p:cNvSpPr txBox="1"/>
          <p:nvPr/>
        </p:nvSpPr>
        <p:spPr>
          <a:xfrm>
            <a:off x="4180114" y="2930121"/>
            <a:ext cx="7825420" cy="1938992"/>
          </a:xfrm>
          <a:prstGeom prst="rect">
            <a:avLst/>
          </a:prstGeom>
          <a:noFill/>
        </p:spPr>
        <p:txBody>
          <a:bodyPr wrap="square" rtlCol="0">
            <a:spAutoFit/>
            <a:scene3d>
              <a:camera prst="orthographicFront"/>
              <a:lightRig rig="threePt" dir="t"/>
            </a:scene3d>
            <a:sp3d extrusionH="57150">
              <a:bevelT w="38100" h="38100" prst="angle"/>
            </a:sp3d>
          </a:bodyPr>
          <a:lstStyle/>
          <a:p>
            <a:r>
              <a:rPr lang="en-US" sz="6000" b="1" kern="0" dirty="0">
                <a:solidFill>
                  <a:srgbClr val="6C1D35"/>
                </a:solidFill>
              </a:rPr>
              <a:t>DASHBOARD DEVELOPMENT</a:t>
            </a:r>
          </a:p>
        </p:txBody>
      </p:sp>
      <p:pic>
        <p:nvPicPr>
          <p:cNvPr id="5" name="Picture 4">
            <a:extLst>
              <a:ext uri="{FF2B5EF4-FFF2-40B4-BE49-F238E27FC236}">
                <a16:creationId xmlns:a16="http://schemas.microsoft.com/office/drawing/2014/main" id="{C7F6F03E-8681-A29C-7CCD-643CF12D5B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2795" y="344422"/>
            <a:ext cx="2249407" cy="751894"/>
          </a:xfrm>
          <a:prstGeom prst="rect">
            <a:avLst/>
          </a:prstGeom>
        </p:spPr>
      </p:pic>
      <p:pic>
        <p:nvPicPr>
          <p:cNvPr id="9" name="Picture 8">
            <a:extLst>
              <a:ext uri="{FF2B5EF4-FFF2-40B4-BE49-F238E27FC236}">
                <a16:creationId xmlns:a16="http://schemas.microsoft.com/office/drawing/2014/main" id="{0E4FAA67-A893-3350-2FB1-6A33A0481C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3714" y="6529906"/>
            <a:ext cx="2060121" cy="155037"/>
          </a:xfrm>
          <a:prstGeom prst="rect">
            <a:avLst/>
          </a:prstGeom>
        </p:spPr>
      </p:pic>
      <p:cxnSp>
        <p:nvCxnSpPr>
          <p:cNvPr id="10" name="Straight Connector 9">
            <a:extLst>
              <a:ext uri="{FF2B5EF4-FFF2-40B4-BE49-F238E27FC236}">
                <a16:creationId xmlns:a16="http://schemas.microsoft.com/office/drawing/2014/main" id="{44A6621E-7BF4-A4F3-26DF-64235E3A8041}"/>
              </a:ext>
            </a:extLst>
          </p:cNvPr>
          <p:cNvCxnSpPr>
            <a:cxnSpLocks/>
          </p:cNvCxnSpPr>
          <p:nvPr/>
        </p:nvCxnSpPr>
        <p:spPr>
          <a:xfrm>
            <a:off x="0" y="6626873"/>
            <a:ext cx="10286999" cy="0"/>
          </a:xfrm>
          <a:prstGeom prst="line">
            <a:avLst/>
          </a:prstGeom>
          <a:ln w="28575"/>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028215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881">
          <a:extLst>
            <a:ext uri="{FF2B5EF4-FFF2-40B4-BE49-F238E27FC236}">
              <a16:creationId xmlns:a16="http://schemas.microsoft.com/office/drawing/2014/main" id="{9DA31966-97F0-2CF2-EE74-78E99FD7246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FF930F8-179D-8860-D31F-59E313B0A194}"/>
              </a:ext>
            </a:extLst>
          </p:cNvPr>
          <p:cNvSpPr/>
          <p:nvPr/>
        </p:nvSpPr>
        <p:spPr>
          <a:xfrm>
            <a:off x="0" y="385235"/>
            <a:ext cx="10287000" cy="558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1">
            <a:extLst>
              <a:ext uri="{FF2B5EF4-FFF2-40B4-BE49-F238E27FC236}">
                <a16:creationId xmlns:a16="http://schemas.microsoft.com/office/drawing/2014/main" id="{F99DB4C6-34D8-F5BF-8264-9A9655C8383D}"/>
              </a:ext>
            </a:extLst>
          </p:cNvPr>
          <p:cNvSpPr txBox="1">
            <a:spLocks/>
          </p:cNvSpPr>
          <p:nvPr/>
        </p:nvSpPr>
        <p:spPr>
          <a:xfrm>
            <a:off x="138814" y="432860"/>
            <a:ext cx="6985886" cy="4635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900" dirty="0">
                <a:solidFill>
                  <a:schemeClr val="bg1"/>
                </a:solidFill>
                <a:effectLst>
                  <a:outerShdw blurRad="38100" dist="38100" dir="2700000" algn="tl">
                    <a:srgbClr val="000000">
                      <a:alpha val="43137"/>
                    </a:srgbClr>
                  </a:outerShdw>
                </a:effectLst>
              </a:rPr>
              <a:t>DATA PREPARATION FOR DASHBOARD</a:t>
            </a:r>
          </a:p>
        </p:txBody>
      </p:sp>
      <p:pic>
        <p:nvPicPr>
          <p:cNvPr id="3" name="Picture 2">
            <a:extLst>
              <a:ext uri="{FF2B5EF4-FFF2-40B4-BE49-F238E27FC236}">
                <a16:creationId xmlns:a16="http://schemas.microsoft.com/office/drawing/2014/main" id="{706E6C26-F7A9-110B-9D54-445EF4ADEDF8}"/>
              </a:ext>
            </a:extLst>
          </p:cNvPr>
          <p:cNvPicPr>
            <a:picLocks noChangeAspect="1"/>
          </p:cNvPicPr>
          <p:nvPr/>
        </p:nvPicPr>
        <p:blipFill>
          <a:blip r:embed="rId3"/>
          <a:stretch>
            <a:fillRect/>
          </a:stretch>
        </p:blipFill>
        <p:spPr>
          <a:xfrm>
            <a:off x="37213" y="1392321"/>
            <a:ext cx="540000" cy="540000"/>
          </a:xfrm>
          <a:prstGeom prst="rect">
            <a:avLst/>
          </a:prstGeom>
        </p:spPr>
      </p:pic>
      <p:pic>
        <p:nvPicPr>
          <p:cNvPr id="6" name="Picture 5">
            <a:extLst>
              <a:ext uri="{FF2B5EF4-FFF2-40B4-BE49-F238E27FC236}">
                <a16:creationId xmlns:a16="http://schemas.microsoft.com/office/drawing/2014/main" id="{347C7BE0-9512-4955-1E83-C10529EB7204}"/>
              </a:ext>
            </a:extLst>
          </p:cNvPr>
          <p:cNvPicPr>
            <a:picLocks noChangeAspect="1"/>
          </p:cNvPicPr>
          <p:nvPr/>
        </p:nvPicPr>
        <p:blipFill>
          <a:blip r:embed="rId4"/>
          <a:stretch>
            <a:fillRect/>
          </a:stretch>
        </p:blipFill>
        <p:spPr>
          <a:xfrm>
            <a:off x="4914900" y="1361848"/>
            <a:ext cx="6875290" cy="5063292"/>
          </a:xfrm>
          <a:prstGeom prst="rect">
            <a:avLst/>
          </a:prstGeom>
          <a:effectLst>
            <a:outerShdw blurRad="50800" dist="38100" dir="10800000" algn="r" rotWithShape="0">
              <a:prstClr val="black">
                <a:alpha val="40000"/>
              </a:prstClr>
            </a:outerShdw>
          </a:effectLst>
        </p:spPr>
      </p:pic>
      <p:pic>
        <p:nvPicPr>
          <p:cNvPr id="8" name="Picture 7">
            <a:extLst>
              <a:ext uri="{FF2B5EF4-FFF2-40B4-BE49-F238E27FC236}">
                <a16:creationId xmlns:a16="http://schemas.microsoft.com/office/drawing/2014/main" id="{96314E70-C617-EA7B-A09E-D107F78F8B4B}"/>
              </a:ext>
            </a:extLst>
          </p:cNvPr>
          <p:cNvPicPr>
            <a:picLocks noChangeAspect="1"/>
          </p:cNvPicPr>
          <p:nvPr/>
        </p:nvPicPr>
        <p:blipFill>
          <a:blip r:embed="rId3"/>
          <a:stretch>
            <a:fillRect/>
          </a:stretch>
        </p:blipFill>
        <p:spPr>
          <a:xfrm>
            <a:off x="37213" y="2293627"/>
            <a:ext cx="540000" cy="540000"/>
          </a:xfrm>
          <a:prstGeom prst="rect">
            <a:avLst/>
          </a:prstGeom>
        </p:spPr>
      </p:pic>
      <p:sp>
        <p:nvSpPr>
          <p:cNvPr id="9" name="Google Shape;1897;p101">
            <a:extLst>
              <a:ext uri="{FF2B5EF4-FFF2-40B4-BE49-F238E27FC236}">
                <a16:creationId xmlns:a16="http://schemas.microsoft.com/office/drawing/2014/main" id="{C79E619D-EFAB-7852-5C8B-294A6E5B10E9}"/>
              </a:ext>
            </a:extLst>
          </p:cNvPr>
          <p:cNvSpPr txBox="1"/>
          <p:nvPr/>
        </p:nvSpPr>
        <p:spPr>
          <a:xfrm>
            <a:off x="593518" y="1361847"/>
            <a:ext cx="4029282" cy="635007"/>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Include Transcation ID</a:t>
            </a:r>
          </a:p>
          <a:p>
            <a:pPr marL="171450" lvl="0" indent="-171450">
              <a:spcBef>
                <a:spcPts val="0"/>
              </a:spcBef>
              <a:spcAft>
                <a:spcPts val="0"/>
              </a:spcAft>
              <a:buFontTx/>
              <a:buChar char="-"/>
            </a:pPr>
            <a:r>
              <a:rPr lang="en-MY" sz="1200" dirty="0">
                <a:sym typeface="Oswald"/>
              </a:rPr>
              <a:t>Primary key for linking different tables</a:t>
            </a:r>
            <a:endParaRPr lang="en-US" sz="1200" dirty="0"/>
          </a:p>
        </p:txBody>
      </p:sp>
      <p:sp>
        <p:nvSpPr>
          <p:cNvPr id="12" name="Google Shape;1897;p101">
            <a:extLst>
              <a:ext uri="{FF2B5EF4-FFF2-40B4-BE49-F238E27FC236}">
                <a16:creationId xmlns:a16="http://schemas.microsoft.com/office/drawing/2014/main" id="{56748F60-343C-1B50-2EAD-ED8DC49B16DB}"/>
              </a:ext>
            </a:extLst>
          </p:cNvPr>
          <p:cNvSpPr txBox="1"/>
          <p:nvPr/>
        </p:nvSpPr>
        <p:spPr>
          <a:xfrm>
            <a:off x="577213" y="2209031"/>
            <a:ext cx="3880487" cy="1674872"/>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Separate the dataset into Fact Tables, Dimension Tables, and Result Tables</a:t>
            </a:r>
          </a:p>
          <a:p>
            <a:pPr marL="171450" lvl="0" indent="-171450" algn="just">
              <a:spcBef>
                <a:spcPts val="0"/>
              </a:spcBef>
              <a:spcAft>
                <a:spcPts val="0"/>
              </a:spcAft>
              <a:buFontTx/>
              <a:buChar char="-"/>
            </a:pPr>
            <a:r>
              <a:rPr lang="en-MY" sz="1200" dirty="0">
                <a:sym typeface="Oswald"/>
              </a:rPr>
              <a:t>Fact Table: contain IDs and transactional details (Amount, </a:t>
            </a:r>
            <a:r>
              <a:rPr lang="en-MY" sz="1200" dirty="0" err="1">
                <a:sym typeface="Oswald"/>
              </a:rPr>
              <a:t>Transaction_ID</a:t>
            </a:r>
            <a:r>
              <a:rPr lang="en-MY" sz="1200" dirty="0">
                <a:sym typeface="Oswald"/>
              </a:rPr>
              <a:t>)</a:t>
            </a:r>
          </a:p>
          <a:p>
            <a:pPr marL="171450" lvl="0" indent="-171450" algn="just">
              <a:spcBef>
                <a:spcPts val="0"/>
              </a:spcBef>
              <a:spcAft>
                <a:spcPts val="0"/>
              </a:spcAft>
              <a:buFontTx/>
              <a:buChar char="-"/>
            </a:pPr>
            <a:r>
              <a:rPr lang="en-MY" sz="1200" dirty="0">
                <a:sym typeface="Oswald"/>
              </a:rPr>
              <a:t>Dimension Tables: contain descriptive information (Location, </a:t>
            </a:r>
            <a:r>
              <a:rPr lang="en-MY" sz="1200" dirty="0" err="1">
                <a:sym typeface="Oswald"/>
              </a:rPr>
              <a:t>Payment_type</a:t>
            </a:r>
            <a:r>
              <a:rPr lang="en-MY" sz="1200" dirty="0">
                <a:sym typeface="Oswald"/>
              </a:rPr>
              <a:t>)</a:t>
            </a:r>
          </a:p>
          <a:p>
            <a:pPr marL="171450" lvl="0" indent="-171450" algn="just">
              <a:spcBef>
                <a:spcPts val="0"/>
              </a:spcBef>
              <a:spcAft>
                <a:spcPts val="0"/>
              </a:spcAft>
              <a:buFontTx/>
              <a:buChar char="-"/>
            </a:pPr>
            <a:r>
              <a:rPr lang="en-MY" sz="1200" dirty="0">
                <a:sym typeface="Oswald"/>
              </a:rPr>
              <a:t>Result Tables: stores predicted labels and metrics</a:t>
            </a:r>
          </a:p>
        </p:txBody>
      </p:sp>
      <p:pic>
        <p:nvPicPr>
          <p:cNvPr id="20" name="Picture 19">
            <a:extLst>
              <a:ext uri="{FF2B5EF4-FFF2-40B4-BE49-F238E27FC236}">
                <a16:creationId xmlns:a16="http://schemas.microsoft.com/office/drawing/2014/main" id="{840BAB4B-F541-AC97-B6F8-8B79C7DF96F9}"/>
              </a:ext>
            </a:extLst>
          </p:cNvPr>
          <p:cNvPicPr>
            <a:picLocks noChangeAspect="1"/>
          </p:cNvPicPr>
          <p:nvPr/>
        </p:nvPicPr>
        <p:blipFill>
          <a:blip r:embed="rId3"/>
          <a:stretch>
            <a:fillRect/>
          </a:stretch>
        </p:blipFill>
        <p:spPr>
          <a:xfrm>
            <a:off x="37213" y="5014822"/>
            <a:ext cx="540000" cy="540000"/>
          </a:xfrm>
          <a:prstGeom prst="rect">
            <a:avLst/>
          </a:prstGeom>
        </p:spPr>
      </p:pic>
      <p:sp>
        <p:nvSpPr>
          <p:cNvPr id="21" name="Google Shape;1897;p101">
            <a:extLst>
              <a:ext uri="{FF2B5EF4-FFF2-40B4-BE49-F238E27FC236}">
                <a16:creationId xmlns:a16="http://schemas.microsoft.com/office/drawing/2014/main" id="{7CEAB4D5-AE35-B2E4-75AB-0391750FE69E}"/>
              </a:ext>
            </a:extLst>
          </p:cNvPr>
          <p:cNvSpPr txBox="1"/>
          <p:nvPr/>
        </p:nvSpPr>
        <p:spPr>
          <a:xfrm>
            <a:off x="577213" y="5014822"/>
            <a:ext cx="4029282" cy="1175007"/>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b="1" dirty="0">
                <a:solidFill>
                  <a:srgbClr val="020304"/>
                </a:solidFill>
                <a:ea typeface="Oswald"/>
                <a:cs typeface="Oswald"/>
                <a:sym typeface="Oswald"/>
              </a:rPr>
              <a:t>Construct Star Schema</a:t>
            </a:r>
          </a:p>
          <a:p>
            <a:pPr marL="171450" lvl="0" indent="-171450">
              <a:spcBef>
                <a:spcPts val="0"/>
              </a:spcBef>
              <a:spcAft>
                <a:spcPts val="0"/>
              </a:spcAft>
              <a:buFontTx/>
              <a:buChar char="-"/>
            </a:pPr>
            <a:r>
              <a:rPr lang="en-MY" sz="1200" dirty="0">
                <a:sym typeface="Oswald"/>
              </a:rPr>
              <a:t>Fact tables at the centre connecting with dimension tables and certain result tables through foreign key.</a:t>
            </a:r>
          </a:p>
          <a:p>
            <a:pPr marL="171450" lvl="0" indent="-171450">
              <a:spcBef>
                <a:spcPts val="0"/>
              </a:spcBef>
              <a:spcAft>
                <a:spcPts val="0"/>
              </a:spcAft>
              <a:buFontTx/>
              <a:buChar char="-"/>
            </a:pPr>
            <a:r>
              <a:rPr lang="en-MY" sz="1200" dirty="0">
                <a:sym typeface="Oswald"/>
              </a:rPr>
              <a:t>Enables aggregation, filtering, and slicing data to be done efficiently when developing dashboard.</a:t>
            </a:r>
            <a:endParaRPr lang="en-US" sz="1200" dirty="0"/>
          </a:p>
        </p:txBody>
      </p:sp>
      <p:sp>
        <p:nvSpPr>
          <p:cNvPr id="23" name="TextBox 22">
            <a:extLst>
              <a:ext uri="{FF2B5EF4-FFF2-40B4-BE49-F238E27FC236}">
                <a16:creationId xmlns:a16="http://schemas.microsoft.com/office/drawing/2014/main" id="{CAA60AD2-144D-1422-5811-1919C6896472}"/>
              </a:ext>
            </a:extLst>
          </p:cNvPr>
          <p:cNvSpPr txBox="1"/>
          <p:nvPr/>
        </p:nvSpPr>
        <p:spPr>
          <a:xfrm>
            <a:off x="577213" y="4178049"/>
            <a:ext cx="3880486" cy="461665"/>
          </a:xfrm>
          <a:prstGeom prst="rect">
            <a:avLst/>
          </a:prstGeom>
          <a:solidFill>
            <a:schemeClr val="accent6">
              <a:lumMod val="60000"/>
              <a:lumOff val="40000"/>
            </a:schemeClr>
          </a:solidFill>
        </p:spPr>
        <p:txBody>
          <a:bodyPr wrap="square">
            <a:spAutoFit/>
          </a:bodyPr>
          <a:lstStyle/>
          <a:p>
            <a:pPr lvl="0" algn="just">
              <a:spcBef>
                <a:spcPts val="0"/>
              </a:spcBef>
              <a:spcAft>
                <a:spcPts val="0"/>
              </a:spcAft>
            </a:pPr>
            <a:r>
              <a:rPr lang="en-MY" sz="1200" dirty="0">
                <a:solidFill>
                  <a:schemeClr val="bg1"/>
                </a:solidFill>
                <a:sym typeface="Oswald"/>
              </a:rPr>
              <a:t>To improve query efficiency and makes the dashboard easier to maintain and navigate</a:t>
            </a:r>
          </a:p>
        </p:txBody>
      </p:sp>
      <p:pic>
        <p:nvPicPr>
          <p:cNvPr id="17" name="Picture 16">
            <a:extLst>
              <a:ext uri="{FF2B5EF4-FFF2-40B4-BE49-F238E27FC236}">
                <a16:creationId xmlns:a16="http://schemas.microsoft.com/office/drawing/2014/main" id="{F27B53FB-DDD7-4810-8460-FAC635BD8D4A}"/>
              </a:ext>
            </a:extLst>
          </p:cNvPr>
          <p:cNvPicPr>
            <a:picLocks noChangeAspect="1"/>
          </p:cNvPicPr>
          <p:nvPr/>
        </p:nvPicPr>
        <p:blipFill>
          <a:blip r:embed="rId5"/>
          <a:stretch>
            <a:fillRect/>
          </a:stretch>
        </p:blipFill>
        <p:spPr>
          <a:xfrm>
            <a:off x="593518" y="3731708"/>
            <a:ext cx="540000" cy="540000"/>
          </a:xfrm>
          <a:prstGeom prst="rect">
            <a:avLst/>
          </a:prstGeom>
          <a:effectLst>
            <a:innerShdw blurRad="63500" dist="50800" dir="16200000">
              <a:prstClr val="black">
                <a:alpha val="50000"/>
              </a:prstClr>
            </a:innerShdw>
          </a:effectLst>
        </p:spPr>
      </p:pic>
    </p:spTree>
    <p:extLst>
      <p:ext uri="{BB962C8B-B14F-4D97-AF65-F5344CB8AC3E}">
        <p14:creationId xmlns:p14="http://schemas.microsoft.com/office/powerpoint/2010/main" val="6123529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DF504-806A-46FB-A4E4-63B29A11771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872E10E-E92F-135F-7BF0-F5B4023846A2}"/>
              </a:ext>
            </a:extLst>
          </p:cNvPr>
          <p:cNvSpPr txBox="1"/>
          <p:nvPr/>
        </p:nvSpPr>
        <p:spPr>
          <a:xfrm>
            <a:off x="4180114" y="2641219"/>
            <a:ext cx="5943600" cy="461665"/>
          </a:xfrm>
          <a:prstGeom prst="rect">
            <a:avLst/>
          </a:prstGeom>
          <a:noFill/>
        </p:spPr>
        <p:txBody>
          <a:bodyPr wrap="square" rtlCol="0">
            <a:spAutoFit/>
          </a:bodyPr>
          <a:lstStyle/>
          <a:p>
            <a:r>
              <a:rPr lang="en-MY" sz="2400" spc="300" dirty="0">
                <a:solidFill>
                  <a:schemeClr val="tx1">
                    <a:lumMod val="75000"/>
                    <a:lumOff val="25000"/>
                  </a:schemeClr>
                </a:solidFill>
                <a:effectLst>
                  <a:innerShdw blurRad="114300">
                    <a:prstClr val="black"/>
                  </a:innerShdw>
                </a:effectLst>
              </a:rPr>
              <a:t>CHAPTER 7</a:t>
            </a:r>
          </a:p>
        </p:txBody>
      </p:sp>
      <p:sp>
        <p:nvSpPr>
          <p:cNvPr id="4" name="TextBox 3">
            <a:extLst>
              <a:ext uri="{FF2B5EF4-FFF2-40B4-BE49-F238E27FC236}">
                <a16:creationId xmlns:a16="http://schemas.microsoft.com/office/drawing/2014/main" id="{9B835B8C-F087-1805-25BE-B9EA7449E42C}"/>
              </a:ext>
            </a:extLst>
          </p:cNvPr>
          <p:cNvSpPr txBox="1"/>
          <p:nvPr/>
        </p:nvSpPr>
        <p:spPr>
          <a:xfrm>
            <a:off x="4180114" y="2930121"/>
            <a:ext cx="7825420" cy="1015663"/>
          </a:xfrm>
          <a:prstGeom prst="rect">
            <a:avLst/>
          </a:prstGeom>
          <a:noFill/>
        </p:spPr>
        <p:txBody>
          <a:bodyPr wrap="square" rtlCol="0">
            <a:spAutoFit/>
            <a:scene3d>
              <a:camera prst="orthographicFront"/>
              <a:lightRig rig="threePt" dir="t"/>
            </a:scene3d>
            <a:sp3d extrusionH="57150">
              <a:bevelT w="38100" h="38100" prst="angle"/>
            </a:sp3d>
          </a:bodyPr>
          <a:lstStyle/>
          <a:p>
            <a:r>
              <a:rPr lang="en-US" sz="6000" b="1" kern="0" dirty="0">
                <a:solidFill>
                  <a:srgbClr val="6C1D35"/>
                </a:solidFill>
              </a:rPr>
              <a:t>CONCLUSION</a:t>
            </a:r>
          </a:p>
        </p:txBody>
      </p:sp>
      <p:pic>
        <p:nvPicPr>
          <p:cNvPr id="5" name="Picture 4">
            <a:extLst>
              <a:ext uri="{FF2B5EF4-FFF2-40B4-BE49-F238E27FC236}">
                <a16:creationId xmlns:a16="http://schemas.microsoft.com/office/drawing/2014/main" id="{7A8D2089-86DB-4AC8-2F16-A2956463B0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2795" y="344422"/>
            <a:ext cx="2249407" cy="751894"/>
          </a:xfrm>
          <a:prstGeom prst="rect">
            <a:avLst/>
          </a:prstGeom>
        </p:spPr>
      </p:pic>
      <p:pic>
        <p:nvPicPr>
          <p:cNvPr id="9" name="Picture 8">
            <a:extLst>
              <a:ext uri="{FF2B5EF4-FFF2-40B4-BE49-F238E27FC236}">
                <a16:creationId xmlns:a16="http://schemas.microsoft.com/office/drawing/2014/main" id="{2CB077F7-38F9-9408-CD4F-B3C6DD1F68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23714" y="6529906"/>
            <a:ext cx="2060121" cy="155037"/>
          </a:xfrm>
          <a:prstGeom prst="rect">
            <a:avLst/>
          </a:prstGeom>
        </p:spPr>
      </p:pic>
      <p:cxnSp>
        <p:nvCxnSpPr>
          <p:cNvPr id="10" name="Straight Connector 9">
            <a:extLst>
              <a:ext uri="{FF2B5EF4-FFF2-40B4-BE49-F238E27FC236}">
                <a16:creationId xmlns:a16="http://schemas.microsoft.com/office/drawing/2014/main" id="{B62EC528-73CF-F7E1-0137-C09CA73245EC}"/>
              </a:ext>
            </a:extLst>
          </p:cNvPr>
          <p:cNvCxnSpPr>
            <a:cxnSpLocks/>
          </p:cNvCxnSpPr>
          <p:nvPr/>
        </p:nvCxnSpPr>
        <p:spPr>
          <a:xfrm>
            <a:off x="0" y="6626873"/>
            <a:ext cx="10286999" cy="0"/>
          </a:xfrm>
          <a:prstGeom prst="line">
            <a:avLst/>
          </a:prstGeom>
          <a:ln w="28575"/>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157654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98"/>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5A479F79-669A-4F98-CA68-59285B586C59}"/>
              </a:ext>
            </a:extLst>
          </p:cNvPr>
          <p:cNvSpPr/>
          <p:nvPr/>
        </p:nvSpPr>
        <p:spPr>
          <a:xfrm>
            <a:off x="-4355" y="1064625"/>
            <a:ext cx="4083251" cy="5273040"/>
          </a:xfrm>
          <a:prstGeom prst="roundRect">
            <a:avLst>
              <a:gd name="adj" fmla="val 6494"/>
            </a:avLst>
          </a:prstGeom>
          <a:solidFill>
            <a:schemeClr val="accent2">
              <a:lumMod val="20000"/>
              <a:lumOff val="80000"/>
            </a:scheme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4" name="Rectangle: Rounded Corners 23">
            <a:extLst>
              <a:ext uri="{FF2B5EF4-FFF2-40B4-BE49-F238E27FC236}">
                <a16:creationId xmlns:a16="http://schemas.microsoft.com/office/drawing/2014/main" id="{065BD7E9-AE5A-BAC8-ED45-C4EA2BC715D1}"/>
              </a:ext>
            </a:extLst>
          </p:cNvPr>
          <p:cNvSpPr/>
          <p:nvPr/>
        </p:nvSpPr>
        <p:spPr>
          <a:xfrm>
            <a:off x="4022078" y="1064625"/>
            <a:ext cx="4083251" cy="5273040"/>
          </a:xfrm>
          <a:prstGeom prst="roundRect">
            <a:avLst>
              <a:gd name="adj" fmla="val 6494"/>
            </a:avLst>
          </a:prstGeom>
          <a:solidFill>
            <a:schemeClr val="accent1">
              <a:lumMod val="20000"/>
              <a:lumOff val="80000"/>
            </a:scheme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5" name="Rectangle: Rounded Corners 24">
            <a:extLst>
              <a:ext uri="{FF2B5EF4-FFF2-40B4-BE49-F238E27FC236}">
                <a16:creationId xmlns:a16="http://schemas.microsoft.com/office/drawing/2014/main" id="{15A945A1-3C6A-8CC7-8DCE-88F83FE2656C}"/>
              </a:ext>
            </a:extLst>
          </p:cNvPr>
          <p:cNvSpPr/>
          <p:nvPr/>
        </p:nvSpPr>
        <p:spPr>
          <a:xfrm>
            <a:off x="8108749" y="1064625"/>
            <a:ext cx="4083251" cy="5273040"/>
          </a:xfrm>
          <a:prstGeom prst="roundRect">
            <a:avLst>
              <a:gd name="adj" fmla="val 6494"/>
            </a:avLst>
          </a:prstGeom>
          <a:solidFill>
            <a:schemeClr val="accent6">
              <a:lumMod val="40000"/>
              <a:lumOff val="60000"/>
            </a:schemeClr>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Title 1">
            <a:extLst>
              <a:ext uri="{FF2B5EF4-FFF2-40B4-BE49-F238E27FC236}">
                <a16:creationId xmlns:a16="http://schemas.microsoft.com/office/drawing/2014/main" id="{017BEDB9-F815-8612-D913-BD774E513FA5}"/>
              </a:ext>
            </a:extLst>
          </p:cNvPr>
          <p:cNvSpPr txBox="1">
            <a:spLocks/>
          </p:cNvSpPr>
          <p:nvPr/>
        </p:nvSpPr>
        <p:spPr>
          <a:xfrm>
            <a:off x="1140887" y="1179569"/>
            <a:ext cx="2030966" cy="5111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900" dirty="0">
                <a:solidFill>
                  <a:schemeClr val="accent6">
                    <a:lumMod val="75000"/>
                  </a:schemeClr>
                </a:solidFill>
                <a:effectLst>
                  <a:outerShdw blurRad="38100" dist="38100" dir="2700000" algn="tl">
                    <a:srgbClr val="000000">
                      <a:alpha val="43137"/>
                    </a:srgbClr>
                  </a:outerShdw>
                </a:effectLst>
              </a:rPr>
              <a:t>SUMMARY</a:t>
            </a:r>
          </a:p>
        </p:txBody>
      </p:sp>
      <p:sp>
        <p:nvSpPr>
          <p:cNvPr id="4" name="Google Shape;1897;p101">
            <a:extLst>
              <a:ext uri="{FF2B5EF4-FFF2-40B4-BE49-F238E27FC236}">
                <a16:creationId xmlns:a16="http://schemas.microsoft.com/office/drawing/2014/main" id="{E7B7D77E-B3FC-A3C1-7300-C6D637C0A924}"/>
              </a:ext>
            </a:extLst>
          </p:cNvPr>
          <p:cNvSpPr txBox="1"/>
          <p:nvPr/>
        </p:nvSpPr>
        <p:spPr>
          <a:xfrm>
            <a:off x="546216" y="1883638"/>
            <a:ext cx="3369100" cy="1332152"/>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sz="1600" b="1" dirty="0">
                <a:solidFill>
                  <a:srgbClr val="020304"/>
                </a:solidFill>
                <a:ea typeface="Oswald"/>
                <a:cs typeface="Oswald"/>
                <a:sym typeface="Oswald"/>
              </a:rPr>
              <a:t>Achieved Objective 1 – C</a:t>
            </a:r>
            <a:r>
              <a:rPr lang="en-MY" sz="1600" b="1" dirty="0">
                <a:solidFill>
                  <a:srgbClr val="020304"/>
                </a:solidFill>
                <a:ea typeface="Oswald"/>
                <a:cs typeface="Oswald"/>
                <a:sym typeface="Oswald"/>
              </a:rPr>
              <a:t>o</a:t>
            </a:r>
            <a:r>
              <a:rPr lang="de" sz="1600" b="1" dirty="0">
                <a:solidFill>
                  <a:srgbClr val="020304"/>
                </a:solidFill>
                <a:ea typeface="Oswald"/>
                <a:cs typeface="Oswald"/>
                <a:sym typeface="Oswald"/>
              </a:rPr>
              <a:t>mpleted data preprocessing and EDA</a:t>
            </a:r>
          </a:p>
          <a:p>
            <a:pPr marL="171450" lvl="0" indent="-171450">
              <a:spcBef>
                <a:spcPts val="0"/>
              </a:spcBef>
              <a:spcAft>
                <a:spcPts val="0"/>
              </a:spcAft>
              <a:buFont typeface="Wingdings" panose="05000000000000000000" pitchFamily="2" charset="2"/>
              <a:buChar char="ü"/>
            </a:pPr>
            <a:r>
              <a:rPr lang="de" sz="1200" dirty="0">
                <a:sym typeface="Oswald"/>
              </a:rPr>
              <a:t>Cleaned, transformed, and derived new features</a:t>
            </a:r>
          </a:p>
          <a:p>
            <a:pPr marL="171450" lvl="0" indent="-171450">
              <a:spcBef>
                <a:spcPts val="0"/>
              </a:spcBef>
              <a:spcAft>
                <a:spcPts val="0"/>
              </a:spcAft>
              <a:buFont typeface="Wingdings" panose="05000000000000000000" pitchFamily="2" charset="2"/>
              <a:buChar char="ü"/>
            </a:pPr>
            <a:r>
              <a:rPr lang="de" sz="1200" dirty="0">
                <a:sym typeface="Oswald"/>
              </a:rPr>
              <a:t>Explore transaction patterns such as most preferred payment types and high-risk pair countries</a:t>
            </a:r>
          </a:p>
        </p:txBody>
      </p:sp>
      <p:pic>
        <p:nvPicPr>
          <p:cNvPr id="7" name="Picture 6">
            <a:extLst>
              <a:ext uri="{FF2B5EF4-FFF2-40B4-BE49-F238E27FC236}">
                <a16:creationId xmlns:a16="http://schemas.microsoft.com/office/drawing/2014/main" id="{6DEA9885-7AFF-F2F5-516F-673CE25F1FCB}"/>
              </a:ext>
            </a:extLst>
          </p:cNvPr>
          <p:cNvPicPr>
            <a:picLocks noChangeAspect="1"/>
          </p:cNvPicPr>
          <p:nvPr/>
        </p:nvPicPr>
        <p:blipFill>
          <a:blip r:embed="rId3"/>
          <a:stretch>
            <a:fillRect/>
          </a:stretch>
        </p:blipFill>
        <p:spPr>
          <a:xfrm>
            <a:off x="6216" y="1883638"/>
            <a:ext cx="540000" cy="540000"/>
          </a:xfrm>
          <a:prstGeom prst="rect">
            <a:avLst/>
          </a:prstGeom>
          <a:effectLst>
            <a:outerShdw blurRad="50800" dist="38100" algn="l" rotWithShape="0">
              <a:prstClr val="black">
                <a:alpha val="40000"/>
              </a:prstClr>
            </a:outerShdw>
          </a:effectLst>
        </p:spPr>
      </p:pic>
      <p:sp>
        <p:nvSpPr>
          <p:cNvPr id="11" name="Title 1">
            <a:extLst>
              <a:ext uri="{FF2B5EF4-FFF2-40B4-BE49-F238E27FC236}">
                <a16:creationId xmlns:a16="http://schemas.microsoft.com/office/drawing/2014/main" id="{214CF450-8441-135F-F733-12BF522CC8B6}"/>
              </a:ext>
            </a:extLst>
          </p:cNvPr>
          <p:cNvSpPr txBox="1">
            <a:spLocks/>
          </p:cNvSpPr>
          <p:nvPr/>
        </p:nvSpPr>
        <p:spPr>
          <a:xfrm>
            <a:off x="5104079" y="1179570"/>
            <a:ext cx="2124326" cy="5111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900" dirty="0">
                <a:solidFill>
                  <a:schemeClr val="accent6">
                    <a:lumMod val="75000"/>
                  </a:schemeClr>
                </a:solidFill>
                <a:effectLst>
                  <a:outerShdw blurRad="38100" dist="38100" dir="2700000" algn="tl">
                    <a:srgbClr val="000000">
                      <a:alpha val="43137"/>
                    </a:srgbClr>
                  </a:outerShdw>
                </a:effectLst>
              </a:rPr>
              <a:t>LIMITATION</a:t>
            </a:r>
          </a:p>
        </p:txBody>
      </p:sp>
      <p:sp>
        <p:nvSpPr>
          <p:cNvPr id="13" name="Title 1">
            <a:extLst>
              <a:ext uri="{FF2B5EF4-FFF2-40B4-BE49-F238E27FC236}">
                <a16:creationId xmlns:a16="http://schemas.microsoft.com/office/drawing/2014/main" id="{B2156B72-5F58-DF9E-1E4B-822CFD2C2676}"/>
              </a:ext>
            </a:extLst>
          </p:cNvPr>
          <p:cNvSpPr txBox="1">
            <a:spLocks/>
          </p:cNvSpPr>
          <p:nvPr/>
        </p:nvSpPr>
        <p:spPr>
          <a:xfrm>
            <a:off x="8843628" y="1205815"/>
            <a:ext cx="2579606" cy="5111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n-lt"/>
                <a:ea typeface="+mj-ea"/>
                <a:cs typeface="+mj-cs"/>
              </a:defRPr>
            </a:lvl1pPr>
          </a:lstStyle>
          <a:p>
            <a:r>
              <a:rPr lang="en-US" sz="2900" dirty="0">
                <a:solidFill>
                  <a:schemeClr val="accent6">
                    <a:lumMod val="75000"/>
                  </a:schemeClr>
                </a:solidFill>
                <a:effectLst>
                  <a:outerShdw blurRad="38100" dist="38100" dir="2700000" algn="tl">
                    <a:srgbClr val="000000">
                      <a:alpha val="43137"/>
                    </a:srgbClr>
                  </a:outerShdw>
                </a:effectLst>
              </a:rPr>
              <a:t>FUTURE WORK</a:t>
            </a:r>
          </a:p>
        </p:txBody>
      </p:sp>
      <p:sp>
        <p:nvSpPr>
          <p:cNvPr id="17" name="Google Shape;1897;p101">
            <a:extLst>
              <a:ext uri="{FF2B5EF4-FFF2-40B4-BE49-F238E27FC236}">
                <a16:creationId xmlns:a16="http://schemas.microsoft.com/office/drawing/2014/main" id="{B253630E-FA43-3411-24BF-DCC3156AF1B1}"/>
              </a:ext>
            </a:extLst>
          </p:cNvPr>
          <p:cNvSpPr txBox="1"/>
          <p:nvPr/>
        </p:nvSpPr>
        <p:spPr>
          <a:xfrm>
            <a:off x="546216" y="3103673"/>
            <a:ext cx="3369100" cy="1532081"/>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sz="1600" b="1" dirty="0">
                <a:solidFill>
                  <a:srgbClr val="020304"/>
                </a:solidFill>
                <a:ea typeface="Oswald"/>
                <a:cs typeface="Oswald"/>
                <a:sym typeface="Oswald"/>
              </a:rPr>
              <a:t>Achieved Objective 2 – </a:t>
            </a:r>
            <a:r>
              <a:rPr lang="en-MY" sz="1600" b="1" dirty="0">
                <a:solidFill>
                  <a:srgbClr val="020304"/>
                </a:solidFill>
                <a:ea typeface="Oswald"/>
                <a:cs typeface="Oswald"/>
                <a:sym typeface="Oswald"/>
              </a:rPr>
              <a:t>Built and evaluated classification models</a:t>
            </a:r>
            <a:endParaRPr lang="de" sz="1600" b="1" dirty="0">
              <a:solidFill>
                <a:srgbClr val="020304"/>
              </a:solidFill>
              <a:ea typeface="Oswald"/>
              <a:cs typeface="Oswald"/>
              <a:sym typeface="Oswald"/>
            </a:endParaRPr>
          </a:p>
          <a:p>
            <a:pPr marL="171450" indent="-171450">
              <a:buFont typeface="Wingdings" panose="05000000000000000000" pitchFamily="2" charset="2"/>
              <a:buChar char="ü"/>
            </a:pPr>
            <a:r>
              <a:rPr lang="de" sz="1200" dirty="0">
                <a:sym typeface="Oswald"/>
              </a:rPr>
              <a:t>Developed Random Forest &amp; XGBoost, then tuned and tested</a:t>
            </a:r>
          </a:p>
          <a:p>
            <a:pPr marL="171450" indent="-171450">
              <a:buFont typeface="Wingdings" panose="05000000000000000000" pitchFamily="2" charset="2"/>
              <a:buChar char="ü"/>
            </a:pPr>
            <a:r>
              <a:rPr lang="de" sz="1200" dirty="0">
                <a:sym typeface="Oswald"/>
              </a:rPr>
              <a:t>Result shows that Random Forest performed slightly better</a:t>
            </a:r>
          </a:p>
        </p:txBody>
      </p:sp>
      <p:pic>
        <p:nvPicPr>
          <p:cNvPr id="18" name="Picture 17">
            <a:extLst>
              <a:ext uri="{FF2B5EF4-FFF2-40B4-BE49-F238E27FC236}">
                <a16:creationId xmlns:a16="http://schemas.microsoft.com/office/drawing/2014/main" id="{61048CDA-CDFF-670B-0E5C-8A5623AC59B5}"/>
              </a:ext>
            </a:extLst>
          </p:cNvPr>
          <p:cNvPicPr>
            <a:picLocks noChangeAspect="1"/>
          </p:cNvPicPr>
          <p:nvPr/>
        </p:nvPicPr>
        <p:blipFill>
          <a:blip r:embed="rId3"/>
          <a:stretch>
            <a:fillRect/>
          </a:stretch>
        </p:blipFill>
        <p:spPr>
          <a:xfrm>
            <a:off x="-7775" y="3327378"/>
            <a:ext cx="540000" cy="540000"/>
          </a:xfrm>
          <a:prstGeom prst="rect">
            <a:avLst/>
          </a:prstGeom>
          <a:effectLst>
            <a:outerShdw blurRad="50800" dist="38100" algn="l" rotWithShape="0">
              <a:prstClr val="black">
                <a:alpha val="40000"/>
              </a:prstClr>
            </a:outerShdw>
          </a:effectLst>
        </p:spPr>
      </p:pic>
      <p:sp>
        <p:nvSpPr>
          <p:cNvPr id="19" name="Google Shape;1897;p101">
            <a:extLst>
              <a:ext uri="{FF2B5EF4-FFF2-40B4-BE49-F238E27FC236}">
                <a16:creationId xmlns:a16="http://schemas.microsoft.com/office/drawing/2014/main" id="{CED74B80-09A7-7F73-EBA4-225665C2F6DF}"/>
              </a:ext>
            </a:extLst>
          </p:cNvPr>
          <p:cNvSpPr txBox="1"/>
          <p:nvPr/>
        </p:nvSpPr>
        <p:spPr>
          <a:xfrm>
            <a:off x="546217" y="4630317"/>
            <a:ext cx="3369100" cy="1499213"/>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de" sz="1600" b="1" dirty="0">
                <a:solidFill>
                  <a:srgbClr val="020304"/>
                </a:solidFill>
                <a:ea typeface="Oswald"/>
                <a:cs typeface="Oswald"/>
                <a:sym typeface="Oswald"/>
              </a:rPr>
              <a:t>Achieved Objective 3 – </a:t>
            </a:r>
            <a:r>
              <a:rPr lang="en-MY" sz="1600" b="1" dirty="0">
                <a:solidFill>
                  <a:srgbClr val="020304"/>
                </a:solidFill>
                <a:ea typeface="Oswald"/>
                <a:cs typeface="Oswald"/>
                <a:sym typeface="Oswald"/>
              </a:rPr>
              <a:t>Developed interactive dashboard</a:t>
            </a:r>
            <a:endParaRPr lang="de" sz="1600" b="1" dirty="0">
              <a:solidFill>
                <a:srgbClr val="020304"/>
              </a:solidFill>
              <a:ea typeface="Oswald"/>
              <a:cs typeface="Oswald"/>
              <a:sym typeface="Oswald"/>
            </a:endParaRPr>
          </a:p>
          <a:p>
            <a:pPr marL="171450" lvl="0" indent="-171450">
              <a:spcBef>
                <a:spcPts val="0"/>
              </a:spcBef>
              <a:spcAft>
                <a:spcPts val="0"/>
              </a:spcAft>
              <a:buFont typeface="Wingdings" panose="05000000000000000000" pitchFamily="2" charset="2"/>
              <a:buChar char="ü"/>
            </a:pPr>
            <a:r>
              <a:rPr lang="de" sz="1200" dirty="0">
                <a:sym typeface="Oswald"/>
              </a:rPr>
              <a:t>Built dashboard using PowerBI with fact, dimension, and result tables</a:t>
            </a:r>
          </a:p>
          <a:p>
            <a:pPr marL="171450" lvl="0" indent="-171450">
              <a:spcBef>
                <a:spcPts val="0"/>
              </a:spcBef>
              <a:spcAft>
                <a:spcPts val="0"/>
              </a:spcAft>
              <a:buFont typeface="Wingdings" panose="05000000000000000000" pitchFamily="2" charset="2"/>
              <a:buChar char="ü"/>
            </a:pPr>
            <a:r>
              <a:rPr lang="de" sz="1200" dirty="0">
                <a:sym typeface="Oswald"/>
              </a:rPr>
              <a:t>Visualize insights based on descriptive, diagnostic, predictive, and prescriptive analytics</a:t>
            </a:r>
          </a:p>
        </p:txBody>
      </p:sp>
      <p:pic>
        <p:nvPicPr>
          <p:cNvPr id="20" name="Picture 19">
            <a:extLst>
              <a:ext uri="{FF2B5EF4-FFF2-40B4-BE49-F238E27FC236}">
                <a16:creationId xmlns:a16="http://schemas.microsoft.com/office/drawing/2014/main" id="{C287C701-7A7E-07E8-41F5-24CA2255AAFA}"/>
              </a:ext>
            </a:extLst>
          </p:cNvPr>
          <p:cNvPicPr>
            <a:picLocks noChangeAspect="1"/>
          </p:cNvPicPr>
          <p:nvPr/>
        </p:nvPicPr>
        <p:blipFill>
          <a:blip r:embed="rId3"/>
          <a:stretch>
            <a:fillRect/>
          </a:stretch>
        </p:blipFill>
        <p:spPr>
          <a:xfrm>
            <a:off x="-7775" y="4839114"/>
            <a:ext cx="540000" cy="540000"/>
          </a:xfrm>
          <a:prstGeom prst="rect">
            <a:avLst/>
          </a:prstGeom>
          <a:effectLst>
            <a:outerShdw blurRad="50800" dist="38100" algn="l" rotWithShape="0">
              <a:prstClr val="black">
                <a:alpha val="40000"/>
              </a:prstClr>
            </a:outerShdw>
          </a:effectLst>
        </p:spPr>
      </p:pic>
      <p:pic>
        <p:nvPicPr>
          <p:cNvPr id="27" name="Picture 26">
            <a:extLst>
              <a:ext uri="{FF2B5EF4-FFF2-40B4-BE49-F238E27FC236}">
                <a16:creationId xmlns:a16="http://schemas.microsoft.com/office/drawing/2014/main" id="{6D154119-B12F-B908-0BE4-4FCD4C4E4C40}"/>
              </a:ext>
            </a:extLst>
          </p:cNvPr>
          <p:cNvPicPr>
            <a:picLocks noChangeAspect="1"/>
          </p:cNvPicPr>
          <p:nvPr/>
        </p:nvPicPr>
        <p:blipFill>
          <a:blip r:embed="rId4"/>
          <a:stretch>
            <a:fillRect/>
          </a:stretch>
        </p:blipFill>
        <p:spPr>
          <a:xfrm>
            <a:off x="4096618" y="1964484"/>
            <a:ext cx="540000" cy="540000"/>
          </a:xfrm>
          <a:prstGeom prst="rect">
            <a:avLst/>
          </a:prstGeom>
          <a:effectLst>
            <a:outerShdw blurRad="50800" dist="38100" algn="l" rotWithShape="0">
              <a:prstClr val="black">
                <a:alpha val="40000"/>
              </a:prstClr>
            </a:outerShdw>
          </a:effectLst>
        </p:spPr>
      </p:pic>
      <p:sp>
        <p:nvSpPr>
          <p:cNvPr id="28" name="Google Shape;1897;p101">
            <a:extLst>
              <a:ext uri="{FF2B5EF4-FFF2-40B4-BE49-F238E27FC236}">
                <a16:creationId xmlns:a16="http://schemas.microsoft.com/office/drawing/2014/main" id="{498A5603-DE96-EA70-C018-BC0215CF9989}"/>
              </a:ext>
            </a:extLst>
          </p:cNvPr>
          <p:cNvSpPr txBox="1"/>
          <p:nvPr/>
        </p:nvSpPr>
        <p:spPr>
          <a:xfrm>
            <a:off x="4664814" y="1805690"/>
            <a:ext cx="3194673" cy="859135"/>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MY" sz="1600" b="1" dirty="0">
                <a:solidFill>
                  <a:srgbClr val="020304"/>
                </a:solidFill>
                <a:ea typeface="Oswald"/>
                <a:cs typeface="Oswald"/>
                <a:sym typeface="Oswald"/>
              </a:rPr>
              <a:t>Synthetic data </a:t>
            </a:r>
            <a:r>
              <a:rPr lang="en-MY" sz="1400" dirty="0">
                <a:solidFill>
                  <a:srgbClr val="020304"/>
                </a:solidFill>
                <a:ea typeface="Oswald"/>
                <a:cs typeface="Oswald"/>
                <a:sym typeface="Oswald"/>
              </a:rPr>
              <a:t>may not fully  capture the complexity of real-world financial transactions.</a:t>
            </a:r>
            <a:endParaRPr lang="en-MY" sz="1600" dirty="0">
              <a:solidFill>
                <a:srgbClr val="020304"/>
              </a:solidFill>
              <a:ea typeface="Oswald"/>
              <a:cs typeface="Oswald"/>
              <a:sym typeface="Oswald"/>
            </a:endParaRPr>
          </a:p>
        </p:txBody>
      </p:sp>
      <p:pic>
        <p:nvPicPr>
          <p:cNvPr id="29" name="Picture 28">
            <a:extLst>
              <a:ext uri="{FF2B5EF4-FFF2-40B4-BE49-F238E27FC236}">
                <a16:creationId xmlns:a16="http://schemas.microsoft.com/office/drawing/2014/main" id="{1DF0C0D3-89A3-D067-64A8-E908B9D31B5B}"/>
              </a:ext>
            </a:extLst>
          </p:cNvPr>
          <p:cNvPicPr>
            <a:picLocks noChangeAspect="1"/>
          </p:cNvPicPr>
          <p:nvPr/>
        </p:nvPicPr>
        <p:blipFill>
          <a:blip r:embed="rId4"/>
          <a:stretch>
            <a:fillRect/>
          </a:stretch>
        </p:blipFill>
        <p:spPr>
          <a:xfrm>
            <a:off x="4096618" y="3327378"/>
            <a:ext cx="540000" cy="540000"/>
          </a:xfrm>
          <a:prstGeom prst="rect">
            <a:avLst/>
          </a:prstGeom>
          <a:effectLst>
            <a:outerShdw blurRad="50800" dist="38100" algn="l" rotWithShape="0">
              <a:prstClr val="black">
                <a:alpha val="40000"/>
              </a:prstClr>
            </a:outerShdw>
          </a:effectLst>
        </p:spPr>
      </p:pic>
      <p:sp>
        <p:nvSpPr>
          <p:cNvPr id="30" name="Google Shape;1897;p101">
            <a:extLst>
              <a:ext uri="{FF2B5EF4-FFF2-40B4-BE49-F238E27FC236}">
                <a16:creationId xmlns:a16="http://schemas.microsoft.com/office/drawing/2014/main" id="{31D3A3FC-652B-3661-18CB-7A9FBBB3AFC1}"/>
              </a:ext>
            </a:extLst>
          </p:cNvPr>
          <p:cNvSpPr txBox="1"/>
          <p:nvPr/>
        </p:nvSpPr>
        <p:spPr>
          <a:xfrm>
            <a:off x="4629467" y="3266041"/>
            <a:ext cx="3230020" cy="82315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MY" sz="1600" b="1" dirty="0">
                <a:solidFill>
                  <a:srgbClr val="020304"/>
                </a:solidFill>
                <a:ea typeface="Oswald"/>
                <a:cs typeface="Oswald"/>
                <a:sym typeface="Oswald"/>
              </a:rPr>
              <a:t>Only Random Forest and </a:t>
            </a:r>
            <a:r>
              <a:rPr lang="en-MY" sz="1600" b="1" dirty="0" err="1">
                <a:solidFill>
                  <a:srgbClr val="020304"/>
                </a:solidFill>
                <a:ea typeface="Oswald"/>
                <a:cs typeface="Oswald"/>
                <a:sym typeface="Oswald"/>
              </a:rPr>
              <a:t>XGBoost</a:t>
            </a:r>
            <a:r>
              <a:rPr lang="en-MY" sz="1600" b="1" dirty="0">
                <a:solidFill>
                  <a:srgbClr val="020304"/>
                </a:solidFill>
                <a:ea typeface="Oswald"/>
                <a:cs typeface="Oswald"/>
                <a:sym typeface="Oswald"/>
              </a:rPr>
              <a:t> </a:t>
            </a:r>
            <a:r>
              <a:rPr lang="en-MY" sz="1400" dirty="0">
                <a:solidFill>
                  <a:srgbClr val="020304"/>
                </a:solidFill>
                <a:ea typeface="Oswald"/>
                <a:cs typeface="Oswald"/>
                <a:sym typeface="Oswald"/>
              </a:rPr>
              <a:t>are tested (no deep learning or graph-based method).</a:t>
            </a:r>
            <a:endParaRPr lang="en-MY" sz="1600" dirty="0">
              <a:solidFill>
                <a:srgbClr val="020304"/>
              </a:solidFill>
              <a:ea typeface="Oswald"/>
              <a:cs typeface="Oswald"/>
              <a:sym typeface="Oswald"/>
            </a:endParaRPr>
          </a:p>
        </p:txBody>
      </p:sp>
      <p:pic>
        <p:nvPicPr>
          <p:cNvPr id="31" name="Picture 30">
            <a:extLst>
              <a:ext uri="{FF2B5EF4-FFF2-40B4-BE49-F238E27FC236}">
                <a16:creationId xmlns:a16="http://schemas.microsoft.com/office/drawing/2014/main" id="{F43D3605-FA2C-D5E7-C03D-79E0C860A16E}"/>
              </a:ext>
            </a:extLst>
          </p:cNvPr>
          <p:cNvPicPr>
            <a:picLocks noChangeAspect="1"/>
          </p:cNvPicPr>
          <p:nvPr/>
        </p:nvPicPr>
        <p:blipFill>
          <a:blip r:embed="rId4"/>
          <a:stretch>
            <a:fillRect/>
          </a:stretch>
        </p:blipFill>
        <p:spPr>
          <a:xfrm>
            <a:off x="4078896" y="4839114"/>
            <a:ext cx="540000" cy="540000"/>
          </a:xfrm>
          <a:prstGeom prst="rect">
            <a:avLst/>
          </a:prstGeom>
          <a:effectLst>
            <a:outerShdw blurRad="50800" dist="38100" algn="l" rotWithShape="0">
              <a:prstClr val="black">
                <a:alpha val="40000"/>
              </a:prstClr>
            </a:outerShdw>
          </a:effectLst>
        </p:spPr>
      </p:pic>
      <p:sp>
        <p:nvSpPr>
          <p:cNvPr id="32" name="Google Shape;1897;p101">
            <a:extLst>
              <a:ext uri="{FF2B5EF4-FFF2-40B4-BE49-F238E27FC236}">
                <a16:creationId xmlns:a16="http://schemas.microsoft.com/office/drawing/2014/main" id="{D340DAE1-E8FF-6BAD-2A58-8D4938940301}"/>
              </a:ext>
            </a:extLst>
          </p:cNvPr>
          <p:cNvSpPr txBox="1"/>
          <p:nvPr/>
        </p:nvSpPr>
        <p:spPr>
          <a:xfrm>
            <a:off x="4661394" y="4726741"/>
            <a:ext cx="3305132" cy="882130"/>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MY" sz="1400" dirty="0">
                <a:solidFill>
                  <a:srgbClr val="020304"/>
                </a:solidFill>
                <a:ea typeface="Oswald"/>
                <a:cs typeface="Oswald"/>
                <a:sym typeface="Oswald"/>
              </a:rPr>
              <a:t>Models still has </a:t>
            </a:r>
            <a:r>
              <a:rPr lang="en-MY" sz="1600" b="1" dirty="0">
                <a:solidFill>
                  <a:srgbClr val="020304"/>
                </a:solidFill>
                <a:ea typeface="Oswald"/>
                <a:cs typeface="Oswald"/>
                <a:sym typeface="Oswald"/>
              </a:rPr>
              <a:t>limited interpretability. </a:t>
            </a:r>
            <a:r>
              <a:rPr lang="en-MY" sz="1400" dirty="0">
                <a:solidFill>
                  <a:srgbClr val="020304"/>
                </a:solidFill>
                <a:ea typeface="Oswald"/>
                <a:cs typeface="Oswald"/>
                <a:sym typeface="Oswald"/>
              </a:rPr>
              <a:t>Feature importance offers limited transparency to compliance officers.</a:t>
            </a:r>
            <a:endParaRPr lang="en-MY" sz="1600" dirty="0">
              <a:solidFill>
                <a:srgbClr val="020304"/>
              </a:solidFill>
              <a:ea typeface="Oswald"/>
              <a:cs typeface="Oswald"/>
              <a:sym typeface="Oswald"/>
            </a:endParaRPr>
          </a:p>
        </p:txBody>
      </p:sp>
      <p:pic>
        <p:nvPicPr>
          <p:cNvPr id="34" name="Picture 33">
            <a:extLst>
              <a:ext uri="{FF2B5EF4-FFF2-40B4-BE49-F238E27FC236}">
                <a16:creationId xmlns:a16="http://schemas.microsoft.com/office/drawing/2014/main" id="{534AC328-4DB1-3948-4806-AD4261FD48E0}"/>
              </a:ext>
            </a:extLst>
          </p:cNvPr>
          <p:cNvPicPr>
            <a:picLocks noChangeAspect="1"/>
          </p:cNvPicPr>
          <p:nvPr/>
        </p:nvPicPr>
        <p:blipFill>
          <a:blip r:embed="rId5"/>
          <a:stretch>
            <a:fillRect/>
          </a:stretch>
        </p:blipFill>
        <p:spPr>
          <a:xfrm>
            <a:off x="8130105" y="1945254"/>
            <a:ext cx="540000" cy="540000"/>
          </a:xfrm>
          <a:prstGeom prst="rect">
            <a:avLst/>
          </a:prstGeom>
          <a:effectLst>
            <a:outerShdw blurRad="50800" dist="38100" algn="l" rotWithShape="0">
              <a:prstClr val="black">
                <a:alpha val="40000"/>
              </a:prstClr>
            </a:outerShdw>
          </a:effectLst>
        </p:spPr>
      </p:pic>
      <p:sp>
        <p:nvSpPr>
          <p:cNvPr id="35" name="Google Shape;1897;p101">
            <a:extLst>
              <a:ext uri="{FF2B5EF4-FFF2-40B4-BE49-F238E27FC236}">
                <a16:creationId xmlns:a16="http://schemas.microsoft.com/office/drawing/2014/main" id="{AFB797F5-F927-2D16-0083-8AF7933E785B}"/>
              </a:ext>
            </a:extLst>
          </p:cNvPr>
          <p:cNvSpPr txBox="1"/>
          <p:nvPr/>
        </p:nvSpPr>
        <p:spPr>
          <a:xfrm>
            <a:off x="8645330" y="1883638"/>
            <a:ext cx="3351938" cy="663233"/>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MY" sz="1400" dirty="0">
                <a:solidFill>
                  <a:srgbClr val="020304"/>
                </a:solidFill>
                <a:ea typeface="Oswald"/>
                <a:cs typeface="Oswald"/>
                <a:sym typeface="Oswald"/>
              </a:rPr>
              <a:t>Collaborate with financial institutions to apply methodology on </a:t>
            </a:r>
            <a:r>
              <a:rPr lang="en-MY" sz="1600" b="1" dirty="0">
                <a:solidFill>
                  <a:srgbClr val="020304"/>
                </a:solidFill>
                <a:ea typeface="Oswald"/>
                <a:cs typeface="Oswald"/>
                <a:sym typeface="Oswald"/>
              </a:rPr>
              <a:t>real dataset.</a:t>
            </a:r>
            <a:endParaRPr lang="en-MY" sz="1600" dirty="0">
              <a:solidFill>
                <a:srgbClr val="020304"/>
              </a:solidFill>
              <a:ea typeface="Oswald"/>
              <a:cs typeface="Oswald"/>
              <a:sym typeface="Oswald"/>
            </a:endParaRPr>
          </a:p>
        </p:txBody>
      </p:sp>
      <p:sp>
        <p:nvSpPr>
          <p:cNvPr id="50" name="Google Shape;1897;p101">
            <a:extLst>
              <a:ext uri="{FF2B5EF4-FFF2-40B4-BE49-F238E27FC236}">
                <a16:creationId xmlns:a16="http://schemas.microsoft.com/office/drawing/2014/main" id="{131CC15A-BF8D-D993-5550-6BDBC550C65B}"/>
              </a:ext>
            </a:extLst>
          </p:cNvPr>
          <p:cNvSpPr txBox="1"/>
          <p:nvPr/>
        </p:nvSpPr>
        <p:spPr>
          <a:xfrm>
            <a:off x="8730441" y="3204145"/>
            <a:ext cx="3182160" cy="663233"/>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MY" sz="1400" dirty="0">
                <a:solidFill>
                  <a:srgbClr val="020304"/>
                </a:solidFill>
                <a:ea typeface="Oswald"/>
                <a:cs typeface="Oswald"/>
                <a:sym typeface="Oswald"/>
              </a:rPr>
              <a:t>Expand the models approach to </a:t>
            </a:r>
            <a:r>
              <a:rPr lang="en-MY" sz="1600" b="1" dirty="0">
                <a:solidFill>
                  <a:srgbClr val="020304"/>
                </a:solidFill>
                <a:ea typeface="Oswald"/>
                <a:cs typeface="Oswald"/>
                <a:sym typeface="Oswald"/>
              </a:rPr>
              <a:t>deep learning, graph-based, and hybrid.</a:t>
            </a:r>
            <a:endParaRPr lang="en-MY" sz="1600" dirty="0">
              <a:solidFill>
                <a:srgbClr val="020304"/>
              </a:solidFill>
              <a:ea typeface="Oswald"/>
              <a:cs typeface="Oswald"/>
              <a:sym typeface="Oswald"/>
            </a:endParaRPr>
          </a:p>
        </p:txBody>
      </p:sp>
      <p:sp>
        <p:nvSpPr>
          <p:cNvPr id="51" name="Google Shape;1897;p101">
            <a:extLst>
              <a:ext uri="{FF2B5EF4-FFF2-40B4-BE49-F238E27FC236}">
                <a16:creationId xmlns:a16="http://schemas.microsoft.com/office/drawing/2014/main" id="{884BBDEE-89A5-6E4D-4751-A220B0C2BBFE}"/>
              </a:ext>
            </a:extLst>
          </p:cNvPr>
          <p:cNvSpPr txBox="1"/>
          <p:nvPr/>
        </p:nvSpPr>
        <p:spPr>
          <a:xfrm>
            <a:off x="8723288" y="4715881"/>
            <a:ext cx="3351939" cy="663233"/>
          </a:xfrm>
          <a:prstGeom prst="rect">
            <a:avLst/>
          </a:prstGeom>
          <a:noFill/>
          <a:ln>
            <a:noFill/>
          </a:ln>
        </p:spPr>
        <p:txBody>
          <a:bodyPr spcFirstLastPara="1" wrap="square" lIns="91425" tIns="91425" rIns="91425" bIns="91425" anchor="b" anchorCtr="0">
            <a:noAutofit/>
          </a:bodyPr>
          <a:lstStyle/>
          <a:p>
            <a:pPr marL="0" lvl="0" indent="0" rtl="0">
              <a:spcBef>
                <a:spcPts val="0"/>
              </a:spcBef>
              <a:spcAft>
                <a:spcPts val="0"/>
              </a:spcAft>
              <a:buNone/>
            </a:pPr>
            <a:r>
              <a:rPr lang="en-MY" sz="1600" b="1" dirty="0">
                <a:solidFill>
                  <a:srgbClr val="020304"/>
                </a:solidFill>
                <a:ea typeface="Oswald"/>
                <a:cs typeface="Oswald"/>
                <a:sym typeface="Oswald"/>
              </a:rPr>
              <a:t>Use SHAP to enhance explainability </a:t>
            </a:r>
            <a:r>
              <a:rPr lang="en-MY" sz="1400" dirty="0">
                <a:solidFill>
                  <a:srgbClr val="020304"/>
                </a:solidFill>
                <a:ea typeface="Oswald"/>
                <a:cs typeface="Oswald"/>
                <a:sym typeface="Oswald"/>
              </a:rPr>
              <a:t>for transparency and regulatory trust.</a:t>
            </a:r>
            <a:endParaRPr lang="en-MY" sz="1600" dirty="0">
              <a:solidFill>
                <a:srgbClr val="020304"/>
              </a:solidFill>
              <a:ea typeface="Oswald"/>
              <a:cs typeface="Oswald"/>
              <a:sym typeface="Oswald"/>
            </a:endParaRPr>
          </a:p>
        </p:txBody>
      </p:sp>
      <p:pic>
        <p:nvPicPr>
          <p:cNvPr id="52" name="Picture 51">
            <a:extLst>
              <a:ext uri="{FF2B5EF4-FFF2-40B4-BE49-F238E27FC236}">
                <a16:creationId xmlns:a16="http://schemas.microsoft.com/office/drawing/2014/main" id="{8311764F-0882-345B-B0C0-D1A77D3D83F8}"/>
              </a:ext>
            </a:extLst>
          </p:cNvPr>
          <p:cNvPicPr>
            <a:picLocks noChangeAspect="1"/>
          </p:cNvPicPr>
          <p:nvPr/>
        </p:nvPicPr>
        <p:blipFill>
          <a:blip r:embed="rId5"/>
          <a:stretch>
            <a:fillRect/>
          </a:stretch>
        </p:blipFill>
        <p:spPr>
          <a:xfrm>
            <a:off x="8115900" y="3327378"/>
            <a:ext cx="540000" cy="540000"/>
          </a:xfrm>
          <a:prstGeom prst="rect">
            <a:avLst/>
          </a:prstGeom>
          <a:effectLst>
            <a:outerShdw blurRad="50800" dist="38100" algn="l" rotWithShape="0">
              <a:prstClr val="black">
                <a:alpha val="40000"/>
              </a:prstClr>
            </a:outerShdw>
          </a:effectLst>
        </p:spPr>
      </p:pic>
      <p:pic>
        <p:nvPicPr>
          <p:cNvPr id="53" name="Picture 52">
            <a:extLst>
              <a:ext uri="{FF2B5EF4-FFF2-40B4-BE49-F238E27FC236}">
                <a16:creationId xmlns:a16="http://schemas.microsoft.com/office/drawing/2014/main" id="{E780E908-3EA2-5973-94CF-1DF13C6F18D8}"/>
              </a:ext>
            </a:extLst>
          </p:cNvPr>
          <p:cNvPicPr>
            <a:picLocks noChangeAspect="1"/>
          </p:cNvPicPr>
          <p:nvPr/>
        </p:nvPicPr>
        <p:blipFill>
          <a:blip r:embed="rId5"/>
          <a:stretch>
            <a:fillRect/>
          </a:stretch>
        </p:blipFill>
        <p:spPr>
          <a:xfrm>
            <a:off x="8115900" y="4839114"/>
            <a:ext cx="540000" cy="540000"/>
          </a:xfrm>
          <a:prstGeom prst="rect">
            <a:avLst/>
          </a:prstGeom>
          <a:effectLst>
            <a:outerShdw blurRad="50800" dist="38100" algn="l" rotWithShape="0">
              <a:prstClr val="black">
                <a:alpha val="40000"/>
              </a:prstClr>
            </a:outerShdw>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12983-8563-C900-D5AB-83BD5D7FF2D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AB5140B-A941-A5BE-53AE-DA20AC81FBBE}"/>
              </a:ext>
            </a:extLst>
          </p:cNvPr>
          <p:cNvSpPr txBox="1"/>
          <p:nvPr/>
        </p:nvSpPr>
        <p:spPr bwMode="auto">
          <a:xfrm>
            <a:off x="3742531" y="2921169"/>
            <a:ext cx="4706938" cy="1015663"/>
          </a:xfrm>
          <a:prstGeom prst="rect">
            <a:avLst/>
          </a:prstGeom>
          <a:noFill/>
        </p:spPr>
        <p:txBody>
          <a:bodyPr anchor="ctr">
            <a:spAutoFit/>
          </a:bodyPr>
          <a:lstStyle/>
          <a:p>
            <a:pPr algn="ctr" fontAlgn="auto">
              <a:spcBef>
                <a:spcPts val="0"/>
              </a:spcBef>
              <a:spcAft>
                <a:spcPts val="0"/>
              </a:spcAft>
              <a:defRPr/>
            </a:pPr>
            <a:r>
              <a:rPr lang="en-US" sz="6000" b="1" kern="0" dirty="0">
                <a:solidFill>
                  <a:schemeClr val="bg1"/>
                </a:solidFill>
              </a:rPr>
              <a:t>THANK YOU</a:t>
            </a:r>
          </a:p>
        </p:txBody>
      </p:sp>
    </p:spTree>
    <p:extLst>
      <p:ext uri="{BB962C8B-B14F-4D97-AF65-F5344CB8AC3E}">
        <p14:creationId xmlns:p14="http://schemas.microsoft.com/office/powerpoint/2010/main" val="679623256"/>
      </p:ext>
    </p:extLst>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696464"/>
      </a:dk2>
      <a:lt2>
        <a:srgbClr val="E9E5DC"/>
      </a:lt2>
      <a:accent1>
        <a:srgbClr val="6C1D35"/>
      </a:accent1>
      <a:accent2>
        <a:srgbClr val="9B2D1F"/>
      </a:accent2>
      <a:accent3>
        <a:srgbClr val="A28E6A"/>
      </a:accent3>
      <a:accent4>
        <a:srgbClr val="956251"/>
      </a:accent4>
      <a:accent5>
        <a:srgbClr val="918485"/>
      </a:accent5>
      <a:accent6>
        <a:srgbClr val="6C3636"/>
      </a:accent6>
      <a:hlink>
        <a:srgbClr val="CC9900"/>
      </a:hlink>
      <a:folHlink>
        <a:srgbClr val="96A9A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13160</TotalTime>
  <Words>4567</Words>
  <Application>Microsoft Office PowerPoint</Application>
  <PresentationFormat>Widescreen</PresentationFormat>
  <Paragraphs>740</Paragraphs>
  <Slides>34</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34</vt:i4>
      </vt:variant>
    </vt:vector>
  </HeadingPairs>
  <TitlesOfParts>
    <vt:vector size="44" baseType="lpstr">
      <vt:lpstr>Arial</vt:lpstr>
      <vt:lpstr>Calibri</vt:lpstr>
      <vt:lpstr>Montserrat Semi</vt:lpstr>
      <vt:lpstr>Nunito</vt:lpstr>
      <vt:lpstr>Oswald</vt:lpstr>
      <vt:lpstr>Roboto Condensed Light</vt:lpstr>
      <vt:lpstr>Times New Roman</vt:lpstr>
      <vt:lpstr>Titillium Web</vt:lpstr>
      <vt:lpstr>Wingdings</vt:lpstr>
      <vt:lpstr>Office Theme</vt:lpstr>
      <vt:lpstr>PowerPoint Presentation</vt:lpstr>
      <vt:lpstr>PowerPoint Presentation</vt:lpstr>
      <vt:lpstr>PowerPoint Presentation</vt:lpstr>
      <vt:lpstr>MONEY LAUNDERING</vt:lpstr>
      <vt:lpstr>PROBLEM BACKGROUND</vt:lpstr>
      <vt:lpstr>PROBLEM STATEMENT</vt:lpstr>
      <vt:lpstr>RESEARCH OBJECTIVES</vt:lpstr>
      <vt:lpstr>SCOPE OF THE PROJECT</vt:lpstr>
      <vt:lpstr>PowerPoint Presentation</vt:lpstr>
      <vt:lpstr>PREVIOUS STUDIES</vt:lpstr>
      <vt:lpstr>RESEARCH GAPS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NUR AMALINA BINTI HAMIDI</dc:creator>
  <cp:lastModifiedBy>NUR ADRIANA BATRISYIA BINTI MOHD SUBRI MCS241007</cp:lastModifiedBy>
  <cp:revision>60</cp:revision>
  <dcterms:created xsi:type="dcterms:W3CDTF">2023-12-31T03:09:43Z</dcterms:created>
  <dcterms:modified xsi:type="dcterms:W3CDTF">2026-01-20T16:32:39Z</dcterms:modified>
</cp:coreProperties>
</file>